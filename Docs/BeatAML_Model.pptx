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0.xml" ContentType="application/vnd.openxmlformats-officedocument.presentationml.notesSlide+xml"/>
  <Override PartName="/ppt/notesSlides/notesSlide15.xml" ContentType="application/vnd.openxmlformats-officedocument.presentationml.notesSlide+xml"/>
  <Override PartName="/ppt/notesSlides/_rels/notesSlide17.xml.rels" ContentType="application/vnd.openxmlformats-package.relationships+xml"/>
  <Override PartName="/ppt/notesSlides/_rels/notesSlide15.xml.rels" ContentType="application/vnd.openxmlformats-package.relationships+xml"/>
  <Override PartName="/ppt/notesSlides/_rels/notesSlide10.xml.rels" ContentType="application/vnd.openxmlformats-package.relationships+xml"/>
  <Override PartName="/ppt/notesSlides/_rels/notesSlide20.xml.rels" ContentType="application/vnd.openxmlformats-package.relationships+xml"/>
  <Override PartName="/ppt/notesSlides/_rels/notesSlide13.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2.xml.rels" ContentType="application/vnd.openxmlformats-package.relationships+xml"/>
  <Override PartName="/ppt/notesSlides/notesSlide17.xml" ContentType="application/vnd.openxmlformats-officedocument.presentationml.notesSlid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56.png" ContentType="image/png"/>
  <Override PartName="/ppt/media/image55.png" ContentType="image/png"/>
  <Override PartName="/ppt/media/image54.png" ContentType="image/png"/>
  <Override PartName="/ppt/media/image53.png" ContentType="image/png"/>
  <Override PartName="/ppt/media/image52.png" ContentType="image/png"/>
  <Override PartName="/ppt/media/image95.jpeg" ContentType="image/jpeg"/>
  <Override PartName="/ppt/media/image51.png" ContentType="image/png"/>
  <Override PartName="/ppt/media/image50.png" ContentType="image/png"/>
  <Override PartName="/ppt/media/image46.png" ContentType="image/png"/>
  <Override PartName="/ppt/media/image45.png" ContentType="image/png"/>
  <Override PartName="/ppt/media/image44.png" ContentType="image/png"/>
  <Override PartName="/ppt/media/image43.png" ContentType="image/png"/>
  <Override PartName="/ppt/media/image42.png" ContentType="image/png"/>
  <Override PartName="/ppt/media/image94.jpeg" ContentType="image/jpeg"/>
  <Override PartName="/ppt/media/image41.png" ContentType="image/png"/>
  <Override PartName="/ppt/media/image40.png" ContentType="image/png"/>
  <Override PartName="/ppt/media/image30.png" ContentType="image/png"/>
  <Override PartName="/ppt/media/image39.png" ContentType="image/png"/>
  <Override PartName="/ppt/media/image64.jpeg" ContentType="image/jpeg"/>
  <Override PartName="/ppt/media/image9.png" ContentType="image/png"/>
  <Override PartName="/ppt/media/image13.png" ContentType="image/png"/>
  <Override PartName="/ppt/media/image1.png" ContentType="image/png"/>
  <Override PartName="/ppt/media/image38.png" ContentType="image/png"/>
  <Override PartName="/ppt/media/image8.png" ContentType="image/png"/>
  <Override PartName="/ppt/media/image82.jpeg" ContentType="image/jpeg"/>
  <Override PartName="/ppt/media/image49.png" ContentType="image/png"/>
  <Override PartName="/ppt/media/image65.jpeg" ContentType="image/jpeg"/>
  <Override PartName="/ppt/media/image12.png" ContentType="image/png"/>
  <Override PartName="/ppt/media/image37.png" ContentType="image/png"/>
  <Override PartName="/ppt/media/image7.png" ContentType="image/png"/>
  <Override PartName="/ppt/media/image19.png" ContentType="image/png"/>
  <Override PartName="/ppt/media/image62.jpeg" ContentType="image/jpeg"/>
  <Override PartName="/ppt/media/image79.jpeg" ContentType="image/jpeg"/>
  <Override PartName="/ppt/media/image48.png" ContentType="image/png"/>
  <Override PartName="/ppt/media/image11.png" ContentType="image/png"/>
  <Override PartName="/ppt/media/image36.png" ContentType="image/png"/>
  <Override PartName="/ppt/media/image6.png" ContentType="image/png"/>
  <Override PartName="/ppt/media/image18.png" ContentType="image/png"/>
  <Override PartName="/ppt/media/image29.png" ContentType="image/png"/>
  <Override PartName="/ppt/media/image63.jpeg" ContentType="image/jpeg"/>
  <Override PartName="/ppt/media/image47.png" ContentType="image/png"/>
  <Override PartName="/ppt/media/image10.png" ContentType="image/png"/>
  <Override PartName="/ppt/media/image107.png" ContentType="image/png"/>
  <Override PartName="/ppt/media/image35.png" ContentType="image/png"/>
  <Override PartName="/ppt/media/image5.png" ContentType="image/png"/>
  <Override PartName="/ppt/media/image17.png" ContentType="image/png"/>
  <Override PartName="/ppt/media/image98.jpeg" ContentType="image/jpeg"/>
  <Override PartName="/ppt/media/image28.png" ContentType="image/png"/>
  <Override PartName="/ppt/media/image68.jpeg" ContentType="image/jpeg"/>
  <Override PartName="/ppt/media/image31.png" ContentType="image/png"/>
  <Override PartName="/ppt/media/image69.jpeg" ContentType="image/jpeg"/>
  <Override PartName="/ppt/media/image78.png" ContentType="image/png"/>
  <Override PartName="/ppt/media/image70.jpeg" ContentType="image/jpeg"/>
  <Override PartName="/ppt/media/image74.png" ContentType="image/png"/>
  <Override PartName="/ppt/media/image76.png" ContentType="image/png"/>
  <Override PartName="/ppt/media/image83.jpeg" ContentType="image/jpeg"/>
  <Override PartName="/ppt/media/image84.jpeg" ContentType="image/jpeg"/>
  <Override PartName="/ppt/media/image67.jpeg" ContentType="image/jpeg"/>
  <Override PartName="/ppt/media/image58.png" ContentType="image/png"/>
  <Override PartName="/ppt/media/image106.png" ContentType="image/png"/>
  <Override PartName="/ppt/media/image75.png" ContentType="image/png"/>
  <Override PartName="/ppt/media/image81.jpeg" ContentType="image/jpeg"/>
  <Override PartName="/ppt/media/image23.png" ContentType="image/png"/>
  <Override PartName="/ppt/media/image105.png" ContentType="image/png"/>
  <Override PartName="/ppt/media/image61.png" ContentType="image/png"/>
  <Override PartName="/ppt/media/image77.png" ContentType="image/png"/>
  <Override PartName="/ppt/media/image96.jpeg" ContentType="image/jpeg"/>
  <Override PartName="/ppt/media/image80.jpeg" ContentType="image/jpeg"/>
  <Override PartName="/ppt/media/image100.jpeg" ContentType="image/jpeg"/>
  <Override PartName="/ppt/media/image87.jpeg" ContentType="image/jpeg"/>
  <Override PartName="/ppt/media/image104.png" ContentType="image/png"/>
  <Override PartName="/ppt/media/image90.jpeg" ContentType="image/jpeg"/>
  <Override PartName="/ppt/media/image60.png" ContentType="image/png"/>
  <Override PartName="/ppt/media/image91.jpeg" ContentType="image/jpeg"/>
  <Override PartName="/ppt/media/image86.jpeg" ContentType="image/jpeg"/>
  <Override PartName="/ppt/media/image73.png" ContentType="image/png"/>
  <Override PartName="/ppt/media/image97.jpeg" ContentType="image/jpeg"/>
  <Override PartName="/ppt/media/image71.jpeg" ContentType="image/jpeg"/>
  <Override PartName="/ppt/media/image102.png" ContentType="image/png"/>
  <Override PartName="/ppt/media/image103.png" ContentType="image/png"/>
  <Override PartName="/ppt/media/image88.jpeg" ContentType="image/jpeg"/>
  <Override PartName="/ppt/media/image85.jpeg" ContentType="image/jpeg"/>
  <Override PartName="/ppt/media/image101.png" ContentType="image/png"/>
  <Override PartName="/ppt/media/image66.png" ContentType="image/png"/>
  <Override PartName="/ppt/media/image22.png" ContentType="image/png"/>
  <Override PartName="/ppt/media/image59.png" ContentType="image/png"/>
  <Override PartName="/ppt/media/image21.png" ContentType="image/png"/>
  <Override PartName="/ppt/media/image89.jpeg" ContentType="image/jpeg"/>
  <Override PartName="/ppt/media/image20.png" ContentType="image/png"/>
  <Override PartName="/ppt/media/image57.png" ContentType="image/png"/>
  <Override PartName="/ppt/media/image24.png" ContentType="image/png"/>
  <Override PartName="/ppt/media/image25.png" ContentType="image/png"/>
  <Override PartName="/ppt/media/image14.png" ContentType="image/png"/>
  <Override PartName="/ppt/media/image72.jpeg" ContentType="image/jpeg"/>
  <Override PartName="/ppt/media/image2.png" ContentType="image/png"/>
  <Override PartName="/ppt/media/image32.png" ContentType="image/png"/>
  <Override PartName="/ppt/media/image93.jpeg" ContentType="image/jpeg"/>
  <Override PartName="/ppt/media/image26.png" ContentType="image/png"/>
  <Override PartName="/ppt/media/image15.png" ContentType="image/png"/>
  <Override PartName="/ppt/media/image92.jpeg" ContentType="image/jpeg"/>
  <Override PartName="/ppt/media/image3.png" ContentType="image/png"/>
  <Override PartName="/ppt/media/image33.png" ContentType="image/png"/>
  <Override PartName="/ppt/media/image99.jpeg" ContentType="image/jpeg"/>
  <Override PartName="/ppt/media/image27.png" ContentType="image/png"/>
  <Override PartName="/ppt/media/image16.png" ContentType="image/png"/>
  <Override PartName="/ppt/media/image4.png" ContentType="image/png"/>
  <Override PartName="/ppt/media/image34.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6858000" cy="9144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m</a:t>
            </a:r>
            <a:r>
              <a:rPr b="0" lang="en-US" sz="4400" spc="-1" strike="noStrike">
                <a:latin typeface="Arial"/>
              </a:rPr>
              <a:t>o</a:t>
            </a:r>
            <a:r>
              <a:rPr b="0" lang="en-US" sz="4400" spc="-1" strike="noStrike">
                <a:latin typeface="Arial"/>
              </a:rPr>
              <a:t>v</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s</a:t>
            </a:r>
            <a:r>
              <a:rPr b="0" lang="en-US" sz="4400" spc="-1" strike="noStrike">
                <a:latin typeface="Arial"/>
              </a:rPr>
              <a:t>l</a:t>
            </a:r>
            <a:r>
              <a:rPr b="0" lang="en-US" sz="4400" spc="-1" strike="noStrike">
                <a:latin typeface="Arial"/>
              </a:rPr>
              <a:t>i</a:t>
            </a:r>
            <a:r>
              <a:rPr b="0" lang="en-US" sz="4400" spc="-1" strike="noStrike">
                <a:latin typeface="Arial"/>
              </a:rPr>
              <a:t>d</a:t>
            </a:r>
            <a:r>
              <a:rPr b="0" lang="en-US" sz="4400" spc="-1" strike="noStrike">
                <a:latin typeface="Arial"/>
              </a:rPr>
              <a:t>e</a:t>
            </a:r>
            <a:endParaRPr b="0" lang="en-US" sz="4400" spc="-1" strike="noStrike">
              <a:latin typeface="Arial"/>
            </a:endParaRPr>
          </a:p>
        </p:txBody>
      </p:sp>
      <p:sp>
        <p:nvSpPr>
          <p:cNvPr id="12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a:t>
            </a:r>
            <a:r>
              <a:rPr b="0" lang="en-US" sz="2000" spc="-1" strike="noStrike">
                <a:latin typeface="Arial"/>
              </a:rPr>
              <a:t>l</a:t>
            </a:r>
            <a:r>
              <a:rPr b="0" lang="en-US" sz="2000" spc="-1" strike="noStrike">
                <a:latin typeface="Arial"/>
              </a:rPr>
              <a:t>i</a:t>
            </a:r>
            <a:r>
              <a:rPr b="0" lang="en-US" sz="2000" spc="-1" strike="noStrike">
                <a:latin typeface="Arial"/>
              </a:rPr>
              <a:t>c</a:t>
            </a:r>
            <a:r>
              <a:rPr b="0" lang="en-US" sz="2000" spc="-1" strike="noStrike">
                <a:latin typeface="Arial"/>
              </a:rPr>
              <a:t>k</a:t>
            </a:r>
            <a:r>
              <a:rPr b="0" lang="en-US" sz="2000" spc="-1" strike="noStrike">
                <a:latin typeface="Arial"/>
              </a:rPr>
              <a:t> </a:t>
            </a:r>
            <a:r>
              <a:rPr b="0" lang="en-US" sz="2000" spc="-1" strike="noStrike">
                <a:latin typeface="Arial"/>
              </a:rPr>
              <a:t>t</a:t>
            </a:r>
            <a:r>
              <a:rPr b="0" lang="en-US" sz="2000" spc="-1" strike="noStrike">
                <a:latin typeface="Arial"/>
              </a:rPr>
              <a:t>o</a:t>
            </a:r>
            <a:r>
              <a:rPr b="0" lang="en-US" sz="2000" spc="-1" strike="noStrike">
                <a:latin typeface="Arial"/>
              </a:rPr>
              <a:t> </a:t>
            </a:r>
            <a:r>
              <a:rPr b="0" lang="en-US" sz="2000" spc="-1" strike="noStrike">
                <a:latin typeface="Arial"/>
              </a:rPr>
              <a:t>e</a:t>
            </a:r>
            <a:r>
              <a:rPr b="0" lang="en-US" sz="2000" spc="-1" strike="noStrike">
                <a:latin typeface="Arial"/>
              </a:rPr>
              <a:t>d</a:t>
            </a:r>
            <a:r>
              <a:rPr b="0" lang="en-US" sz="2000" spc="-1" strike="noStrike">
                <a:latin typeface="Arial"/>
              </a:rPr>
              <a:t>i</a:t>
            </a:r>
            <a:r>
              <a:rPr b="0" lang="en-US" sz="2000" spc="-1" strike="noStrike">
                <a:latin typeface="Arial"/>
              </a:rPr>
              <a:t>t</a:t>
            </a:r>
            <a:r>
              <a:rPr b="0" lang="en-US" sz="2000" spc="-1" strike="noStrike">
                <a:latin typeface="Arial"/>
              </a:rPr>
              <a:t> </a:t>
            </a:r>
            <a:r>
              <a:rPr b="0" lang="en-US" sz="2000" spc="-1" strike="noStrike">
                <a:latin typeface="Arial"/>
              </a:rPr>
              <a:t>t</a:t>
            </a:r>
            <a:r>
              <a:rPr b="0" lang="en-US" sz="2000" spc="-1" strike="noStrike">
                <a:latin typeface="Arial"/>
              </a:rPr>
              <a:t>h</a:t>
            </a:r>
            <a:r>
              <a:rPr b="0" lang="en-US" sz="2000" spc="-1" strike="noStrike">
                <a:latin typeface="Arial"/>
              </a:rPr>
              <a:t>e</a:t>
            </a:r>
            <a:r>
              <a:rPr b="0" lang="en-US" sz="2000" spc="-1" strike="noStrike">
                <a:latin typeface="Arial"/>
              </a:rPr>
              <a:t> </a:t>
            </a:r>
            <a:r>
              <a:rPr b="0" lang="en-US" sz="2000" spc="-1" strike="noStrike">
                <a:latin typeface="Arial"/>
              </a:rPr>
              <a:t>n</a:t>
            </a:r>
            <a:r>
              <a:rPr b="0" lang="en-US" sz="2000" spc="-1" strike="noStrike">
                <a:latin typeface="Arial"/>
              </a:rPr>
              <a:t>o</a:t>
            </a:r>
            <a:r>
              <a:rPr b="0" lang="en-US" sz="2000" spc="-1" strike="noStrike">
                <a:latin typeface="Arial"/>
              </a:rPr>
              <a:t>t</a:t>
            </a:r>
            <a:r>
              <a:rPr b="0" lang="en-US" sz="2000" spc="-1" strike="noStrike">
                <a:latin typeface="Arial"/>
              </a:rPr>
              <a:t>e</a:t>
            </a:r>
            <a:r>
              <a:rPr b="0" lang="en-US" sz="2000" spc="-1" strike="noStrike">
                <a:latin typeface="Arial"/>
              </a:rPr>
              <a:t>s</a:t>
            </a:r>
            <a:r>
              <a:rPr b="0" lang="en-US" sz="2000" spc="-1" strike="noStrike">
                <a:latin typeface="Arial"/>
              </a:rPr>
              <a:t> </a:t>
            </a:r>
            <a:r>
              <a:rPr b="0" lang="en-US" sz="2000" spc="-1" strike="noStrike">
                <a:latin typeface="Arial"/>
              </a:rPr>
              <a:t>f</a:t>
            </a:r>
            <a:r>
              <a:rPr b="0" lang="en-US" sz="2000" spc="-1" strike="noStrike">
                <a:latin typeface="Arial"/>
              </a:rPr>
              <a:t>o</a:t>
            </a:r>
            <a:r>
              <a:rPr b="0" lang="en-US" sz="2000" spc="-1" strike="noStrike">
                <a:latin typeface="Arial"/>
              </a:rPr>
              <a:t>r</a:t>
            </a:r>
            <a:r>
              <a:rPr b="0" lang="en-US" sz="2000" spc="-1" strike="noStrike">
                <a:latin typeface="Arial"/>
              </a:rPr>
              <a:t>m</a:t>
            </a:r>
            <a:r>
              <a:rPr b="0" lang="en-US" sz="2000" spc="-1" strike="noStrike">
                <a:latin typeface="Arial"/>
              </a:rPr>
              <a:t>a</a:t>
            </a:r>
            <a:r>
              <a:rPr b="0" lang="en-US" sz="2000" spc="-1" strike="noStrike">
                <a:latin typeface="Arial"/>
              </a:rPr>
              <a:t>t</a:t>
            </a:r>
            <a:endParaRPr b="0" lang="en-US" sz="2000" spc="-1" strike="noStrike">
              <a:latin typeface="Arial"/>
            </a:endParaRPr>
          </a:p>
        </p:txBody>
      </p:sp>
      <p:sp>
        <p:nvSpPr>
          <p:cNvPr id="122"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23" name="PlaceHolder 4"/>
          <p:cNvSpPr>
            <a:spLocks noGrp="1"/>
          </p:cNvSpPr>
          <p:nvPr>
            <p:ph type="dt" idx="7"/>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24" name="PlaceHolder 5"/>
          <p:cNvSpPr>
            <a:spLocks noGrp="1"/>
          </p:cNvSpPr>
          <p:nvPr>
            <p:ph type="ftr" idx="8"/>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25" name="PlaceHolder 6"/>
          <p:cNvSpPr>
            <a:spLocks noGrp="1"/>
          </p:cNvSpPr>
          <p:nvPr>
            <p:ph type="sldNum" idx="9"/>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74724E66-A25B-40E9-8BEB-A5F331779A6B}"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Img"/>
          </p:nvPr>
        </p:nvSpPr>
        <p:spPr>
          <a:xfrm>
            <a:off x="2143080" y="685800"/>
            <a:ext cx="2570040" cy="3427200"/>
          </a:xfrm>
          <a:prstGeom prst="rect">
            <a:avLst/>
          </a:prstGeom>
          <a:ln w="0">
            <a:noFill/>
          </a:ln>
        </p:spPr>
      </p:sp>
      <p:sp>
        <p:nvSpPr>
          <p:cNvPr id="684" name="PlaceHolder 2"/>
          <p:cNvSpPr>
            <a:spLocks noGrp="1"/>
          </p:cNvSpPr>
          <p:nvPr>
            <p:ph type="body"/>
          </p:nvPr>
        </p:nvSpPr>
        <p:spPr>
          <a:xfrm>
            <a:off x="685800" y="4343400"/>
            <a:ext cx="5484600" cy="4113000"/>
          </a:xfrm>
          <a:prstGeom prst="rect">
            <a:avLst/>
          </a:prstGeom>
          <a:noFill/>
          <a:ln w="0">
            <a:noFill/>
          </a:ln>
        </p:spPr>
        <p:txBody>
          <a:bodyPr lIns="0" rIns="0" tIns="0" bIns="0" anchor="t">
            <a:noAutofit/>
          </a:bodyPr>
          <a:p>
            <a:endParaRPr b="0" lang="en-US" sz="2000" spc="-1" strike="noStrike">
              <a:latin typeface="Arial"/>
            </a:endParaRPr>
          </a:p>
        </p:txBody>
      </p:sp>
      <p:sp>
        <p:nvSpPr>
          <p:cNvPr id="685" name="PlaceHolder 3"/>
          <p:cNvSpPr>
            <a:spLocks noGrp="1"/>
          </p:cNvSpPr>
          <p:nvPr>
            <p:ph type="sldNum" idx="10"/>
          </p:nvPr>
        </p:nvSpPr>
        <p:spPr>
          <a:xfrm>
            <a:off x="3884760" y="8685360"/>
            <a:ext cx="2970000" cy="45540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952DC6DA-033E-4326-9760-F5E2305232EF}" type="slidenum">
              <a:rPr b="0" lang="en-US" sz="1400" spc="-1" strike="noStrike">
                <a:latin typeface="Times New Roman"/>
              </a:rPr>
              <a:t>3</a:t>
            </a:fld>
            <a:endParaRPr b="0" lang="en-US" sz="14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sldImg"/>
          </p:nvPr>
        </p:nvSpPr>
        <p:spPr>
          <a:xfrm>
            <a:off x="2143080" y="685800"/>
            <a:ext cx="2570040" cy="3427200"/>
          </a:xfrm>
          <a:prstGeom prst="rect">
            <a:avLst/>
          </a:prstGeom>
          <a:ln w="0">
            <a:noFill/>
          </a:ln>
        </p:spPr>
      </p:sp>
      <p:sp>
        <p:nvSpPr>
          <p:cNvPr id="687" name="PlaceHolder 2"/>
          <p:cNvSpPr>
            <a:spLocks noGrp="1"/>
          </p:cNvSpPr>
          <p:nvPr>
            <p:ph type="body"/>
          </p:nvPr>
        </p:nvSpPr>
        <p:spPr>
          <a:xfrm>
            <a:off x="685800" y="4343400"/>
            <a:ext cx="5484600" cy="4113000"/>
          </a:xfrm>
          <a:prstGeom prst="rect">
            <a:avLst/>
          </a:prstGeom>
          <a:noFill/>
          <a:ln w="0">
            <a:noFill/>
          </a:ln>
        </p:spPr>
        <p:txBody>
          <a:bodyPr lIns="0" rIns="0" tIns="0" bIns="0" anchor="t">
            <a:noAutofit/>
          </a:bodyPr>
          <a:p>
            <a:endParaRPr b="0" lang="en-US" sz="2000" spc="-1" strike="noStrike">
              <a:latin typeface="Arial"/>
            </a:endParaRPr>
          </a:p>
        </p:txBody>
      </p:sp>
      <p:sp>
        <p:nvSpPr>
          <p:cNvPr id="688" name="PlaceHolder 3"/>
          <p:cNvSpPr>
            <a:spLocks noGrp="1"/>
          </p:cNvSpPr>
          <p:nvPr>
            <p:ph type="sldNum" idx="11"/>
          </p:nvPr>
        </p:nvSpPr>
        <p:spPr>
          <a:xfrm>
            <a:off x="3884760" y="8685360"/>
            <a:ext cx="2970000" cy="45540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B545E5A-BB1A-43EA-BB4A-85DD52CE40E1}" type="slidenum">
              <a:rPr b="0" lang="en-US" sz="1400" spc="-1" strike="noStrike">
                <a:latin typeface="Times New Roman"/>
              </a:rPr>
              <a:t>3</a:t>
            </a:fld>
            <a:endParaRPr b="0" lang="en-US" sz="14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sldImg"/>
          </p:nvPr>
        </p:nvSpPr>
        <p:spPr>
          <a:xfrm>
            <a:off x="2143080" y="685800"/>
            <a:ext cx="2570040" cy="3427200"/>
          </a:xfrm>
          <a:prstGeom prst="rect">
            <a:avLst/>
          </a:prstGeom>
          <a:ln w="0">
            <a:noFill/>
          </a:ln>
        </p:spPr>
      </p:sp>
      <p:sp>
        <p:nvSpPr>
          <p:cNvPr id="690" name="PlaceHolder 2"/>
          <p:cNvSpPr>
            <a:spLocks noGrp="1"/>
          </p:cNvSpPr>
          <p:nvPr>
            <p:ph type="body"/>
          </p:nvPr>
        </p:nvSpPr>
        <p:spPr>
          <a:xfrm>
            <a:off x="685800" y="4343400"/>
            <a:ext cx="5484600" cy="4113000"/>
          </a:xfrm>
          <a:prstGeom prst="rect">
            <a:avLst/>
          </a:prstGeom>
          <a:noFill/>
          <a:ln w="0">
            <a:noFill/>
          </a:ln>
        </p:spPr>
        <p:txBody>
          <a:bodyPr lIns="0" rIns="0" tIns="0" bIns="0" anchor="t">
            <a:noAutofit/>
          </a:bodyPr>
          <a:p>
            <a:endParaRPr b="0" lang="en-US" sz="2000" spc="-1" strike="noStrike">
              <a:latin typeface="Arial"/>
            </a:endParaRPr>
          </a:p>
        </p:txBody>
      </p:sp>
      <p:sp>
        <p:nvSpPr>
          <p:cNvPr id="691" name="PlaceHolder 3"/>
          <p:cNvSpPr>
            <a:spLocks noGrp="1"/>
          </p:cNvSpPr>
          <p:nvPr>
            <p:ph type="sldNum" idx="12"/>
          </p:nvPr>
        </p:nvSpPr>
        <p:spPr>
          <a:xfrm>
            <a:off x="3884760" y="8685360"/>
            <a:ext cx="2970000" cy="45540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1B076EC2-7B11-429B-A32C-25B51ED9B818}" type="slidenum">
              <a:rPr b="0" lang="en-US" sz="1400" spc="-1" strike="noStrike">
                <a:latin typeface="Times New Roman"/>
              </a:rPr>
              <a:t>3</a:t>
            </a:fld>
            <a:endParaRPr b="0" lang="en-US" sz="14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sldImg"/>
          </p:nvPr>
        </p:nvSpPr>
        <p:spPr>
          <a:xfrm>
            <a:off x="2143080" y="685800"/>
            <a:ext cx="2570040" cy="3427200"/>
          </a:xfrm>
          <a:prstGeom prst="rect">
            <a:avLst/>
          </a:prstGeom>
          <a:ln w="0">
            <a:noFill/>
          </a:ln>
        </p:spPr>
      </p:sp>
      <p:sp>
        <p:nvSpPr>
          <p:cNvPr id="693" name="PlaceHolder 2"/>
          <p:cNvSpPr>
            <a:spLocks noGrp="1"/>
          </p:cNvSpPr>
          <p:nvPr>
            <p:ph type="body"/>
          </p:nvPr>
        </p:nvSpPr>
        <p:spPr>
          <a:xfrm>
            <a:off x="685800" y="4343400"/>
            <a:ext cx="5484600" cy="4113000"/>
          </a:xfrm>
          <a:prstGeom prst="rect">
            <a:avLst/>
          </a:prstGeom>
          <a:noFill/>
          <a:ln w="0">
            <a:noFill/>
          </a:ln>
        </p:spPr>
        <p:txBody>
          <a:bodyPr lIns="0" rIns="0" tIns="0" bIns="0" anchor="t">
            <a:noAutofit/>
          </a:bodyPr>
          <a:p>
            <a:endParaRPr b="0" lang="en-US" sz="2000" spc="-1" strike="noStrike">
              <a:latin typeface="Arial"/>
            </a:endParaRPr>
          </a:p>
        </p:txBody>
      </p:sp>
      <p:sp>
        <p:nvSpPr>
          <p:cNvPr id="694" name="PlaceHolder 3"/>
          <p:cNvSpPr>
            <a:spLocks noGrp="1"/>
          </p:cNvSpPr>
          <p:nvPr>
            <p:ph type="sldNum" idx="13"/>
          </p:nvPr>
        </p:nvSpPr>
        <p:spPr>
          <a:xfrm>
            <a:off x="3884760" y="8685360"/>
            <a:ext cx="2970000" cy="45540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7E4B78DB-2327-4A8E-91C5-A2F0FC28E179}" type="slidenum">
              <a:rPr b="0" lang="en-US" sz="1400" spc="-1" strike="noStrike">
                <a:latin typeface="Times New Roman"/>
              </a:rPr>
              <a:t>3</a:t>
            </a:fld>
            <a:endParaRPr b="0" lang="en-US" sz="14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sldImg"/>
          </p:nvPr>
        </p:nvSpPr>
        <p:spPr>
          <a:xfrm>
            <a:off x="2470320" y="763560"/>
            <a:ext cx="2828880" cy="3770280"/>
          </a:xfrm>
          <a:prstGeom prst="rect">
            <a:avLst/>
          </a:prstGeom>
          <a:ln w="0">
            <a:noFill/>
          </a:ln>
        </p:spPr>
      </p:sp>
      <p:sp>
        <p:nvSpPr>
          <p:cNvPr id="696" name="PlaceHolder 2"/>
          <p:cNvSpPr>
            <a:spLocks noGrp="1"/>
          </p:cNvSpPr>
          <p:nvPr>
            <p:ph type="body"/>
          </p:nvPr>
        </p:nvSpPr>
        <p:spPr>
          <a:xfrm>
            <a:off x="685800" y="4343400"/>
            <a:ext cx="5484600" cy="4113000"/>
          </a:xfrm>
          <a:prstGeom prst="rect">
            <a:avLst/>
          </a:prstGeom>
          <a:noFill/>
          <a:ln w="0">
            <a:noFill/>
          </a:ln>
        </p:spPr>
        <p:txBody>
          <a:bodyPr lIns="0" rIns="0" tIns="0" bIns="0" anchor="t">
            <a:noAutofit/>
          </a:bodyPr>
          <a:p>
            <a:endParaRPr b="0" lang="en-US" sz="2000" spc="-1" strike="noStrike">
              <a:latin typeface="Arial"/>
            </a:endParaRPr>
          </a:p>
        </p:txBody>
      </p:sp>
      <p:sp>
        <p:nvSpPr>
          <p:cNvPr id="697" name="PlaceHolder 3"/>
          <p:cNvSpPr>
            <a:spLocks noGrp="1"/>
          </p:cNvSpPr>
          <p:nvPr>
            <p:ph type="sldNum" idx="14"/>
          </p:nvPr>
        </p:nvSpPr>
        <p:spPr>
          <a:xfrm>
            <a:off x="3884760" y="8685360"/>
            <a:ext cx="2970000" cy="45540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BF1553E0-253C-40DC-85DC-CFBFA63AEE0B}" type="slidenum">
              <a:rPr b="0" lang="en-US" sz="1400" spc="-1" strike="noStrike">
                <a:latin typeface="Times New Roman"/>
              </a:rPr>
              <a:t>3</a:t>
            </a:fld>
            <a:endParaRPr b="0" lang="en-US" sz="14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sldImg"/>
          </p:nvPr>
        </p:nvSpPr>
        <p:spPr>
          <a:xfrm>
            <a:off x="2470320" y="763560"/>
            <a:ext cx="2828880" cy="3770280"/>
          </a:xfrm>
          <a:prstGeom prst="rect">
            <a:avLst/>
          </a:prstGeom>
          <a:ln w="0">
            <a:noFill/>
          </a:ln>
        </p:spPr>
      </p:sp>
      <p:sp>
        <p:nvSpPr>
          <p:cNvPr id="699" name="PlaceHolder 2"/>
          <p:cNvSpPr>
            <a:spLocks noGrp="1"/>
          </p:cNvSpPr>
          <p:nvPr>
            <p:ph type="body"/>
          </p:nvPr>
        </p:nvSpPr>
        <p:spPr>
          <a:xfrm>
            <a:off x="685800" y="4343400"/>
            <a:ext cx="5484600" cy="4113000"/>
          </a:xfrm>
          <a:prstGeom prst="rect">
            <a:avLst/>
          </a:prstGeom>
          <a:noFill/>
          <a:ln w="0">
            <a:noFill/>
          </a:ln>
        </p:spPr>
        <p:txBody>
          <a:bodyPr lIns="0" rIns="0" tIns="0" bIns="0" anchor="t">
            <a:noAutofit/>
          </a:bodyPr>
          <a:p>
            <a:endParaRPr b="0" lang="en-US" sz="2000" spc="-1" strike="noStrike">
              <a:latin typeface="Arial"/>
            </a:endParaRPr>
          </a:p>
        </p:txBody>
      </p:sp>
      <p:sp>
        <p:nvSpPr>
          <p:cNvPr id="700" name="PlaceHolder 3"/>
          <p:cNvSpPr>
            <a:spLocks noGrp="1"/>
          </p:cNvSpPr>
          <p:nvPr>
            <p:ph type="sldNum" idx="15"/>
          </p:nvPr>
        </p:nvSpPr>
        <p:spPr>
          <a:xfrm>
            <a:off x="3884760" y="8685360"/>
            <a:ext cx="2970000" cy="45540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55CC420-D59F-422C-A2BE-385BDCB327DE}" type="slidenum">
              <a:rPr b="0" lang="en-US" sz="1400" spc="-1" strike="noStrike">
                <a:latin typeface="Times New Roman"/>
              </a:rPr>
              <a:t>&lt;number&gt;</a:t>
            </a:fld>
            <a:endParaRPr b="0" lang="en-US" sz="14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sldImg"/>
          </p:nvPr>
        </p:nvSpPr>
        <p:spPr>
          <a:xfrm>
            <a:off x="2470320" y="763560"/>
            <a:ext cx="2828880" cy="3770280"/>
          </a:xfrm>
          <a:prstGeom prst="rect">
            <a:avLst/>
          </a:prstGeom>
          <a:ln w="0">
            <a:noFill/>
          </a:ln>
        </p:spPr>
      </p:sp>
      <p:sp>
        <p:nvSpPr>
          <p:cNvPr id="702" name="PlaceHolder 2"/>
          <p:cNvSpPr>
            <a:spLocks noGrp="1"/>
          </p:cNvSpPr>
          <p:nvPr>
            <p:ph type="body"/>
          </p:nvPr>
        </p:nvSpPr>
        <p:spPr>
          <a:xfrm>
            <a:off x="685800" y="4343400"/>
            <a:ext cx="5484600" cy="4113000"/>
          </a:xfrm>
          <a:prstGeom prst="rect">
            <a:avLst/>
          </a:prstGeom>
          <a:noFill/>
          <a:ln w="0">
            <a:noFill/>
          </a:ln>
        </p:spPr>
        <p:txBody>
          <a:bodyPr lIns="0" rIns="0" tIns="0" bIns="0" anchor="t">
            <a:noAutofit/>
          </a:bodyPr>
          <a:p>
            <a:endParaRPr b="0" lang="en-US" sz="2000" spc="-1" strike="noStrike">
              <a:latin typeface="Arial"/>
            </a:endParaRPr>
          </a:p>
        </p:txBody>
      </p:sp>
      <p:sp>
        <p:nvSpPr>
          <p:cNvPr id="703" name="PlaceHolder 3"/>
          <p:cNvSpPr>
            <a:spLocks noGrp="1"/>
          </p:cNvSpPr>
          <p:nvPr>
            <p:ph type="sldNum" idx="16"/>
          </p:nvPr>
        </p:nvSpPr>
        <p:spPr>
          <a:xfrm>
            <a:off x="3884760" y="8685360"/>
            <a:ext cx="2970000" cy="45540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F5EAB72-2524-49D2-9C21-25D10326E7AE}" type="slidenum">
              <a:rPr b="0" lang="en-US" sz="1400" spc="-1" strike="noStrike">
                <a:latin typeface="Times New Roman"/>
              </a:rPr>
              <a:t>&lt;number&gt;</a:t>
            </a:fld>
            <a:endParaRPr b="0" lang="en-US" sz="14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type="sldImg"/>
          </p:nvPr>
        </p:nvSpPr>
        <p:spPr>
          <a:xfrm>
            <a:off x="2143080" y="685800"/>
            <a:ext cx="2570040" cy="3427200"/>
          </a:xfrm>
          <a:prstGeom prst="rect">
            <a:avLst/>
          </a:prstGeom>
          <a:ln w="0">
            <a:noFill/>
          </a:ln>
        </p:spPr>
      </p:sp>
      <p:sp>
        <p:nvSpPr>
          <p:cNvPr id="705" name="PlaceHolder 2"/>
          <p:cNvSpPr>
            <a:spLocks noGrp="1"/>
          </p:cNvSpPr>
          <p:nvPr>
            <p:ph type="body"/>
          </p:nvPr>
        </p:nvSpPr>
        <p:spPr>
          <a:xfrm>
            <a:off x="685800" y="4343400"/>
            <a:ext cx="5484600" cy="4113000"/>
          </a:xfrm>
          <a:prstGeom prst="rect">
            <a:avLst/>
          </a:prstGeom>
          <a:noFill/>
          <a:ln w="0">
            <a:noFill/>
          </a:ln>
        </p:spPr>
        <p:txBody>
          <a:bodyPr lIns="0" rIns="0" tIns="0" bIns="0" anchor="t">
            <a:noAutofit/>
          </a:bodyPr>
          <a:p>
            <a:endParaRPr b="0" lang="en-US" sz="2000" spc="-1" strike="noStrike">
              <a:latin typeface="Arial"/>
            </a:endParaRPr>
          </a:p>
        </p:txBody>
      </p:sp>
      <p:sp>
        <p:nvSpPr>
          <p:cNvPr id="706" name="PlaceHolder 3"/>
          <p:cNvSpPr>
            <a:spLocks noGrp="1"/>
          </p:cNvSpPr>
          <p:nvPr>
            <p:ph type="sldNum" idx="17"/>
          </p:nvPr>
        </p:nvSpPr>
        <p:spPr>
          <a:xfrm>
            <a:off x="3884760" y="8685360"/>
            <a:ext cx="2970000" cy="45540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F6DAE959-F039-4F91-AC50-EFB5DFB7CFB1}" type="slidenum">
              <a:rPr b="0" lang="en-US" sz="1400" spc="-1" strike="noStrike">
                <a:latin typeface="Times New Roman"/>
              </a:rPr>
              <a:t>&lt;number&gt;</a:t>
            </a:fld>
            <a:endParaRPr b="0" lang="en-US" sz="14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07EEA4EA-87E3-457C-BCF4-4D679AA60877}"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342720" y="2139480"/>
            <a:ext cx="6171840" cy="53028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B8C7A94-DEB0-406E-B028-209CF58E068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342720" y="2139480"/>
            <a:ext cx="6171840" cy="530280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361493C-E30F-4B2A-B655-C035B70D1F43}"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3427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35053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D8045EEB-7ACF-4B6E-A447-4A72F6EB6F7F}"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5F05D1B6-A918-4A47-AB70-4CC18A16BD00}"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342720" y="364680"/>
            <a:ext cx="6171840" cy="70768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EF68498F-A14E-42B8-8CB9-A6B67609B92D}"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3427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35053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3427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66F187F-5F8C-4A1E-AD7C-D1969F48848D}"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3427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35053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35053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042DAAB-F4E8-48C4-B62F-A10CC35C6176}"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3427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35053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342720" y="4909680"/>
            <a:ext cx="617184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46A23AB-BD66-4CAB-A26E-9D86BC59F7C4}"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342720" y="2139480"/>
            <a:ext cx="6171840" cy="252936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342720" y="4909680"/>
            <a:ext cx="6171840" cy="25293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E60B33C8-78E8-46D8-9EC2-81B8CB3ECCD0}"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3427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35053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3427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35053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DBF79C88-0E03-4DE3-8266-3197A3D8B5A6}"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342720" y="21394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2429640" y="21394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4516560" y="21394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342720" y="49096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2429640" y="49096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4516560" y="49096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521E11CB-CDED-464E-9C74-952C738A6B80}"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7639EAD9-B16F-466E-BAF0-BE3BFFB4CF4E}"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7" name="PlaceHolder 2"/>
          <p:cNvSpPr>
            <a:spLocks noGrp="1"/>
          </p:cNvSpPr>
          <p:nvPr>
            <p:ph type="subTitle"/>
          </p:nvPr>
        </p:nvSpPr>
        <p:spPr>
          <a:xfrm>
            <a:off x="342720" y="2139480"/>
            <a:ext cx="6171840" cy="53028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26F8AEFA-7F32-4FBB-99AC-B4BC3EF03D55}"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9" name="PlaceHolder 2"/>
          <p:cNvSpPr>
            <a:spLocks noGrp="1"/>
          </p:cNvSpPr>
          <p:nvPr>
            <p:ph/>
          </p:nvPr>
        </p:nvSpPr>
        <p:spPr>
          <a:xfrm>
            <a:off x="342720" y="2139480"/>
            <a:ext cx="6171840" cy="530280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4F5248D-A8D1-4D5C-8094-C45A3D81909A}"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1" name="PlaceHolder 2"/>
          <p:cNvSpPr>
            <a:spLocks noGrp="1"/>
          </p:cNvSpPr>
          <p:nvPr>
            <p:ph/>
          </p:nvPr>
        </p:nvSpPr>
        <p:spPr>
          <a:xfrm>
            <a:off x="3427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52" name="PlaceHolder 3"/>
          <p:cNvSpPr>
            <a:spLocks noGrp="1"/>
          </p:cNvSpPr>
          <p:nvPr>
            <p:ph/>
          </p:nvPr>
        </p:nvSpPr>
        <p:spPr>
          <a:xfrm>
            <a:off x="35053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3D76A261-7ADB-4F15-8951-9EEF5BE4E1F7}"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8A427FC4-995B-41B3-A832-D8711D87FAA6}"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342720" y="364680"/>
            <a:ext cx="6171840" cy="70768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985177B4-5799-4AEE-9196-0951ABEDE318}"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6" name="PlaceHolder 2"/>
          <p:cNvSpPr>
            <a:spLocks noGrp="1"/>
          </p:cNvSpPr>
          <p:nvPr>
            <p:ph/>
          </p:nvPr>
        </p:nvSpPr>
        <p:spPr>
          <a:xfrm>
            <a:off x="3427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57" name="PlaceHolder 3"/>
          <p:cNvSpPr>
            <a:spLocks noGrp="1"/>
          </p:cNvSpPr>
          <p:nvPr>
            <p:ph/>
          </p:nvPr>
        </p:nvSpPr>
        <p:spPr>
          <a:xfrm>
            <a:off x="35053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4"/>
          <p:cNvSpPr>
            <a:spLocks noGrp="1"/>
          </p:cNvSpPr>
          <p:nvPr>
            <p:ph/>
          </p:nvPr>
        </p:nvSpPr>
        <p:spPr>
          <a:xfrm>
            <a:off x="3427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1B3750A0-1CC9-44F3-A633-D77EDE70CAF2}"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0" name="PlaceHolder 2"/>
          <p:cNvSpPr>
            <a:spLocks noGrp="1"/>
          </p:cNvSpPr>
          <p:nvPr>
            <p:ph/>
          </p:nvPr>
        </p:nvSpPr>
        <p:spPr>
          <a:xfrm>
            <a:off x="3427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61" name="PlaceHolder 3"/>
          <p:cNvSpPr>
            <a:spLocks noGrp="1"/>
          </p:cNvSpPr>
          <p:nvPr>
            <p:ph/>
          </p:nvPr>
        </p:nvSpPr>
        <p:spPr>
          <a:xfrm>
            <a:off x="35053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4"/>
          <p:cNvSpPr>
            <a:spLocks noGrp="1"/>
          </p:cNvSpPr>
          <p:nvPr>
            <p:ph/>
          </p:nvPr>
        </p:nvSpPr>
        <p:spPr>
          <a:xfrm>
            <a:off x="35053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3CF18987-BDA5-471A-9FD7-FB678C2A4F3F}"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4" name="PlaceHolder 2"/>
          <p:cNvSpPr>
            <a:spLocks noGrp="1"/>
          </p:cNvSpPr>
          <p:nvPr>
            <p:ph/>
          </p:nvPr>
        </p:nvSpPr>
        <p:spPr>
          <a:xfrm>
            <a:off x="3427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5" name="PlaceHolder 3"/>
          <p:cNvSpPr>
            <a:spLocks noGrp="1"/>
          </p:cNvSpPr>
          <p:nvPr>
            <p:ph/>
          </p:nvPr>
        </p:nvSpPr>
        <p:spPr>
          <a:xfrm>
            <a:off x="35053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4"/>
          <p:cNvSpPr>
            <a:spLocks noGrp="1"/>
          </p:cNvSpPr>
          <p:nvPr>
            <p:ph/>
          </p:nvPr>
        </p:nvSpPr>
        <p:spPr>
          <a:xfrm>
            <a:off x="342720" y="4909680"/>
            <a:ext cx="617184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98D9F83C-7161-4415-A8C2-91EB1A7D5950}"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342720" y="2139480"/>
            <a:ext cx="6171840" cy="252936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342720" y="4909680"/>
            <a:ext cx="6171840" cy="25293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77DD51A3-E2EA-4B8D-9B72-9C41660B4866}"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1" name="PlaceHolder 2"/>
          <p:cNvSpPr>
            <a:spLocks noGrp="1"/>
          </p:cNvSpPr>
          <p:nvPr>
            <p:ph/>
          </p:nvPr>
        </p:nvSpPr>
        <p:spPr>
          <a:xfrm>
            <a:off x="3427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3"/>
          <p:cNvSpPr>
            <a:spLocks noGrp="1"/>
          </p:cNvSpPr>
          <p:nvPr>
            <p:ph/>
          </p:nvPr>
        </p:nvSpPr>
        <p:spPr>
          <a:xfrm>
            <a:off x="35053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4"/>
          <p:cNvSpPr>
            <a:spLocks noGrp="1"/>
          </p:cNvSpPr>
          <p:nvPr>
            <p:ph/>
          </p:nvPr>
        </p:nvSpPr>
        <p:spPr>
          <a:xfrm>
            <a:off x="3427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5"/>
          <p:cNvSpPr>
            <a:spLocks noGrp="1"/>
          </p:cNvSpPr>
          <p:nvPr>
            <p:ph/>
          </p:nvPr>
        </p:nvSpPr>
        <p:spPr>
          <a:xfrm>
            <a:off x="35053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B0B443B2-8B9B-4F8A-8D5C-1848091B28EA}"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6" name="PlaceHolder 2"/>
          <p:cNvSpPr>
            <a:spLocks noGrp="1"/>
          </p:cNvSpPr>
          <p:nvPr>
            <p:ph/>
          </p:nvPr>
        </p:nvSpPr>
        <p:spPr>
          <a:xfrm>
            <a:off x="342720" y="21394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3"/>
          <p:cNvSpPr>
            <a:spLocks noGrp="1"/>
          </p:cNvSpPr>
          <p:nvPr>
            <p:ph/>
          </p:nvPr>
        </p:nvSpPr>
        <p:spPr>
          <a:xfrm>
            <a:off x="2429640" y="21394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4"/>
          <p:cNvSpPr>
            <a:spLocks noGrp="1"/>
          </p:cNvSpPr>
          <p:nvPr>
            <p:ph/>
          </p:nvPr>
        </p:nvSpPr>
        <p:spPr>
          <a:xfrm>
            <a:off x="4516560" y="21394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5"/>
          <p:cNvSpPr>
            <a:spLocks noGrp="1"/>
          </p:cNvSpPr>
          <p:nvPr>
            <p:ph/>
          </p:nvPr>
        </p:nvSpPr>
        <p:spPr>
          <a:xfrm>
            <a:off x="342720" y="49096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6"/>
          <p:cNvSpPr>
            <a:spLocks noGrp="1"/>
          </p:cNvSpPr>
          <p:nvPr>
            <p:ph/>
          </p:nvPr>
        </p:nvSpPr>
        <p:spPr>
          <a:xfrm>
            <a:off x="2429640" y="49096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7"/>
          <p:cNvSpPr>
            <a:spLocks noGrp="1"/>
          </p:cNvSpPr>
          <p:nvPr>
            <p:ph/>
          </p:nvPr>
        </p:nvSpPr>
        <p:spPr>
          <a:xfrm>
            <a:off x="4516560" y="49096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61382CA8-AA47-45E5-B8C9-01D0134B6435}"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5" name="PlaceHolder 2"/>
          <p:cNvSpPr>
            <a:spLocks noGrp="1"/>
          </p:cNvSpPr>
          <p:nvPr>
            <p:ph type="subTitle"/>
          </p:nvPr>
        </p:nvSpPr>
        <p:spPr>
          <a:xfrm>
            <a:off x="342720" y="2139480"/>
            <a:ext cx="6171840" cy="53028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7" name="PlaceHolder 2"/>
          <p:cNvSpPr>
            <a:spLocks noGrp="1"/>
          </p:cNvSpPr>
          <p:nvPr>
            <p:ph/>
          </p:nvPr>
        </p:nvSpPr>
        <p:spPr>
          <a:xfrm>
            <a:off x="342720" y="2139480"/>
            <a:ext cx="6171840" cy="530280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9" name="PlaceHolder 2"/>
          <p:cNvSpPr>
            <a:spLocks noGrp="1"/>
          </p:cNvSpPr>
          <p:nvPr>
            <p:ph/>
          </p:nvPr>
        </p:nvSpPr>
        <p:spPr>
          <a:xfrm>
            <a:off x="3427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90" name="PlaceHolder 3"/>
          <p:cNvSpPr>
            <a:spLocks noGrp="1"/>
          </p:cNvSpPr>
          <p:nvPr>
            <p:ph/>
          </p:nvPr>
        </p:nvSpPr>
        <p:spPr>
          <a:xfrm>
            <a:off x="35053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342720" y="364680"/>
            <a:ext cx="6171840" cy="70768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4" name="PlaceHolder 2"/>
          <p:cNvSpPr>
            <a:spLocks noGrp="1"/>
          </p:cNvSpPr>
          <p:nvPr>
            <p:ph/>
          </p:nvPr>
        </p:nvSpPr>
        <p:spPr>
          <a:xfrm>
            <a:off x="3427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95" name="PlaceHolder 3"/>
          <p:cNvSpPr>
            <a:spLocks noGrp="1"/>
          </p:cNvSpPr>
          <p:nvPr>
            <p:ph/>
          </p:nvPr>
        </p:nvSpPr>
        <p:spPr>
          <a:xfrm>
            <a:off x="35053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96" name="PlaceHolder 4"/>
          <p:cNvSpPr>
            <a:spLocks noGrp="1"/>
          </p:cNvSpPr>
          <p:nvPr>
            <p:ph/>
          </p:nvPr>
        </p:nvSpPr>
        <p:spPr>
          <a:xfrm>
            <a:off x="3427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8" name="PlaceHolder 2"/>
          <p:cNvSpPr>
            <a:spLocks noGrp="1"/>
          </p:cNvSpPr>
          <p:nvPr>
            <p:ph/>
          </p:nvPr>
        </p:nvSpPr>
        <p:spPr>
          <a:xfrm>
            <a:off x="342720" y="2139480"/>
            <a:ext cx="3011760" cy="5302800"/>
          </a:xfrm>
          <a:prstGeom prst="rect">
            <a:avLst/>
          </a:prstGeom>
          <a:noFill/>
          <a:ln w="0">
            <a:noFill/>
          </a:ln>
        </p:spPr>
        <p:txBody>
          <a:bodyPr lIns="0" rIns="0" tIns="0" bIns="0" anchor="t">
            <a:normAutofit/>
          </a:bodyPr>
          <a:p>
            <a:endParaRPr b="0" lang="en-US" sz="3200" spc="-1" strike="noStrike">
              <a:latin typeface="Arial"/>
            </a:endParaRPr>
          </a:p>
        </p:txBody>
      </p:sp>
      <p:sp>
        <p:nvSpPr>
          <p:cNvPr id="99" name="PlaceHolder 3"/>
          <p:cNvSpPr>
            <a:spLocks noGrp="1"/>
          </p:cNvSpPr>
          <p:nvPr>
            <p:ph/>
          </p:nvPr>
        </p:nvSpPr>
        <p:spPr>
          <a:xfrm>
            <a:off x="35053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00" name="PlaceHolder 4"/>
          <p:cNvSpPr>
            <a:spLocks noGrp="1"/>
          </p:cNvSpPr>
          <p:nvPr>
            <p:ph/>
          </p:nvPr>
        </p:nvSpPr>
        <p:spPr>
          <a:xfrm>
            <a:off x="35053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2" name="PlaceHolder 2"/>
          <p:cNvSpPr>
            <a:spLocks noGrp="1"/>
          </p:cNvSpPr>
          <p:nvPr>
            <p:ph/>
          </p:nvPr>
        </p:nvSpPr>
        <p:spPr>
          <a:xfrm>
            <a:off x="3427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03" name="PlaceHolder 3"/>
          <p:cNvSpPr>
            <a:spLocks noGrp="1"/>
          </p:cNvSpPr>
          <p:nvPr>
            <p:ph/>
          </p:nvPr>
        </p:nvSpPr>
        <p:spPr>
          <a:xfrm>
            <a:off x="35053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04" name="PlaceHolder 4"/>
          <p:cNvSpPr>
            <a:spLocks noGrp="1"/>
          </p:cNvSpPr>
          <p:nvPr>
            <p:ph/>
          </p:nvPr>
        </p:nvSpPr>
        <p:spPr>
          <a:xfrm>
            <a:off x="342720" y="4909680"/>
            <a:ext cx="6171840" cy="25293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6" name="PlaceHolder 2"/>
          <p:cNvSpPr>
            <a:spLocks noGrp="1"/>
          </p:cNvSpPr>
          <p:nvPr>
            <p:ph/>
          </p:nvPr>
        </p:nvSpPr>
        <p:spPr>
          <a:xfrm>
            <a:off x="342720" y="2139480"/>
            <a:ext cx="617184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07" name="PlaceHolder 3"/>
          <p:cNvSpPr>
            <a:spLocks noGrp="1"/>
          </p:cNvSpPr>
          <p:nvPr>
            <p:ph/>
          </p:nvPr>
        </p:nvSpPr>
        <p:spPr>
          <a:xfrm>
            <a:off x="342720" y="4909680"/>
            <a:ext cx="6171840" cy="25293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9" name="PlaceHolder 2"/>
          <p:cNvSpPr>
            <a:spLocks noGrp="1"/>
          </p:cNvSpPr>
          <p:nvPr>
            <p:ph/>
          </p:nvPr>
        </p:nvSpPr>
        <p:spPr>
          <a:xfrm>
            <a:off x="3427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10" name="PlaceHolder 3"/>
          <p:cNvSpPr>
            <a:spLocks noGrp="1"/>
          </p:cNvSpPr>
          <p:nvPr>
            <p:ph/>
          </p:nvPr>
        </p:nvSpPr>
        <p:spPr>
          <a:xfrm>
            <a:off x="3505320" y="21394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11" name="PlaceHolder 4"/>
          <p:cNvSpPr>
            <a:spLocks noGrp="1"/>
          </p:cNvSpPr>
          <p:nvPr>
            <p:ph/>
          </p:nvPr>
        </p:nvSpPr>
        <p:spPr>
          <a:xfrm>
            <a:off x="3427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12" name="PlaceHolder 5"/>
          <p:cNvSpPr>
            <a:spLocks noGrp="1"/>
          </p:cNvSpPr>
          <p:nvPr>
            <p:ph/>
          </p:nvPr>
        </p:nvSpPr>
        <p:spPr>
          <a:xfrm>
            <a:off x="3505320" y="4909680"/>
            <a:ext cx="3011760" cy="25293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4" name="PlaceHolder 2"/>
          <p:cNvSpPr>
            <a:spLocks noGrp="1"/>
          </p:cNvSpPr>
          <p:nvPr>
            <p:ph/>
          </p:nvPr>
        </p:nvSpPr>
        <p:spPr>
          <a:xfrm>
            <a:off x="342720" y="21394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15" name="PlaceHolder 3"/>
          <p:cNvSpPr>
            <a:spLocks noGrp="1"/>
          </p:cNvSpPr>
          <p:nvPr>
            <p:ph/>
          </p:nvPr>
        </p:nvSpPr>
        <p:spPr>
          <a:xfrm>
            <a:off x="2429640" y="21394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16" name="PlaceHolder 4"/>
          <p:cNvSpPr>
            <a:spLocks noGrp="1"/>
          </p:cNvSpPr>
          <p:nvPr>
            <p:ph/>
          </p:nvPr>
        </p:nvSpPr>
        <p:spPr>
          <a:xfrm>
            <a:off x="4516560" y="21394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5"/>
          <p:cNvSpPr>
            <a:spLocks noGrp="1"/>
          </p:cNvSpPr>
          <p:nvPr>
            <p:ph/>
          </p:nvPr>
        </p:nvSpPr>
        <p:spPr>
          <a:xfrm>
            <a:off x="342720" y="49096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18" name="PlaceHolder 6"/>
          <p:cNvSpPr>
            <a:spLocks noGrp="1"/>
          </p:cNvSpPr>
          <p:nvPr>
            <p:ph/>
          </p:nvPr>
        </p:nvSpPr>
        <p:spPr>
          <a:xfrm>
            <a:off x="2429640" y="4909680"/>
            <a:ext cx="1987200" cy="2529360"/>
          </a:xfrm>
          <a:prstGeom prst="rect">
            <a:avLst/>
          </a:prstGeom>
          <a:noFill/>
          <a:ln w="0">
            <a:noFill/>
          </a:ln>
        </p:spPr>
        <p:txBody>
          <a:bodyPr lIns="0" rIns="0" tIns="0" bIns="0" anchor="t">
            <a:normAutofit/>
          </a:bodyPr>
          <a:p>
            <a:endParaRPr b="0" lang="en-US" sz="3200" spc="-1" strike="noStrike">
              <a:latin typeface="Arial"/>
            </a:endParaRPr>
          </a:p>
        </p:txBody>
      </p:sp>
      <p:sp>
        <p:nvSpPr>
          <p:cNvPr id="119" name="PlaceHolder 7"/>
          <p:cNvSpPr>
            <a:spLocks noGrp="1"/>
          </p:cNvSpPr>
          <p:nvPr>
            <p:ph/>
          </p:nvPr>
        </p:nvSpPr>
        <p:spPr>
          <a:xfrm>
            <a:off x="4516560" y="4909680"/>
            <a:ext cx="1987200" cy="25293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2343240" y="8475120"/>
            <a:ext cx="2170080" cy="4849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1" name="PlaceHolder 2"/>
          <p:cNvSpPr>
            <a:spLocks noGrp="1"/>
          </p:cNvSpPr>
          <p:nvPr>
            <p:ph type="sldNum" idx="2"/>
          </p:nvPr>
        </p:nvSpPr>
        <p:spPr>
          <a:xfrm>
            <a:off x="4915080" y="8475120"/>
            <a:ext cx="1598400" cy="484920"/>
          </a:xfrm>
          <a:prstGeom prst="rect">
            <a:avLst/>
          </a:prstGeom>
          <a:noFill/>
          <a:ln w="0">
            <a:noFill/>
          </a:ln>
        </p:spPr>
        <p:txBody>
          <a:bodyPr lIns="90000" rIns="90000" tIns="45000" bIns="45000" anchor="ctr">
            <a:noAutofit/>
          </a:bodyPr>
          <a:lstStyle>
            <a:lvl1pPr algn="r">
              <a:lnSpc>
                <a:spcPct val="100000"/>
              </a:lnSpc>
              <a:buNone/>
              <a:tabLst>
                <a:tab algn="l" pos="0"/>
              </a:tabLst>
              <a:defRPr b="0" lang="en-US" sz="1200" spc="-1" strike="noStrike">
                <a:solidFill>
                  <a:srgbClr val="888888"/>
                </a:solidFill>
                <a:latin typeface="Arial"/>
                <a:ea typeface="Arial"/>
              </a:defRPr>
            </a:lvl1pPr>
          </a:lstStyle>
          <a:p>
            <a:pPr algn="r">
              <a:lnSpc>
                <a:spcPct val="100000"/>
              </a:lnSpc>
              <a:buNone/>
              <a:tabLst>
                <a:tab algn="l" pos="0"/>
              </a:tabLst>
            </a:pPr>
            <a:fld id="{8BDBA219-1A0F-4072-A0A7-361470AA5A68}" type="slidenum">
              <a:rPr b="0" lang="en-US" sz="1200" spc="-1" strike="noStrike">
                <a:solidFill>
                  <a:srgbClr val="888888"/>
                </a:solidFill>
                <a:latin typeface="Arial"/>
                <a:ea typeface="Arial"/>
              </a:rPr>
              <a:t>&lt;number&gt;</a:t>
            </a:fld>
            <a:endParaRPr b="0" lang="en-US" sz="1200" spc="-1" strike="noStrike">
              <a:latin typeface="Times New Roman"/>
            </a:endParaRPr>
          </a:p>
        </p:txBody>
      </p:sp>
      <p:sp>
        <p:nvSpPr>
          <p:cNvPr id="2" name="PlaceHolder 3"/>
          <p:cNvSpPr>
            <a:spLocks noGrp="1"/>
          </p:cNvSpPr>
          <p:nvPr>
            <p:ph type="dt" idx="3"/>
          </p:nvPr>
        </p:nvSpPr>
        <p:spPr>
          <a:xfrm>
            <a:off x="343080" y="8475120"/>
            <a:ext cx="1598400" cy="4849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a:t>
            </a:r>
            <a:r>
              <a:rPr b="0" lang="en-US" sz="4400" spc="-1" strike="noStrike">
                <a:latin typeface="Arial"/>
              </a:rPr>
              <a: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a:t>
            </a:r>
            <a:r>
              <a:rPr b="0" lang="en-US" sz="4400" spc="-1" strike="noStrike">
                <a:latin typeface="Arial"/>
              </a:rPr>
              <a: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4" name="PlaceHolder 5"/>
          <p:cNvSpPr>
            <a:spLocks noGrp="1"/>
          </p:cNvSpPr>
          <p:nvPr>
            <p:ph type="body"/>
          </p:nvPr>
        </p:nvSpPr>
        <p:spPr>
          <a:xfrm>
            <a:off x="342720" y="2139480"/>
            <a:ext cx="6171840" cy="5302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2343240" y="8475120"/>
            <a:ext cx="2170080" cy="4849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42" name="PlaceHolder 2"/>
          <p:cNvSpPr>
            <a:spLocks noGrp="1"/>
          </p:cNvSpPr>
          <p:nvPr>
            <p:ph type="sldNum" idx="5"/>
          </p:nvPr>
        </p:nvSpPr>
        <p:spPr>
          <a:xfrm>
            <a:off x="4915080" y="8475120"/>
            <a:ext cx="1598400" cy="484920"/>
          </a:xfrm>
          <a:prstGeom prst="rect">
            <a:avLst/>
          </a:prstGeom>
          <a:noFill/>
          <a:ln w="0">
            <a:noFill/>
          </a:ln>
        </p:spPr>
        <p:txBody>
          <a:bodyPr lIns="90000" rIns="90000" tIns="45000" bIns="45000" anchor="ctr">
            <a:noAutofit/>
          </a:bodyPr>
          <a:lstStyle>
            <a:lvl1pPr algn="r">
              <a:lnSpc>
                <a:spcPct val="100000"/>
              </a:lnSpc>
              <a:buNone/>
              <a:tabLst>
                <a:tab algn="l" pos="0"/>
              </a:tabLst>
              <a:defRPr b="0" lang="en-US" sz="1200" spc="-1" strike="noStrike">
                <a:solidFill>
                  <a:srgbClr val="888888"/>
                </a:solidFill>
                <a:latin typeface="Arial"/>
                <a:ea typeface="Arial"/>
              </a:defRPr>
            </a:lvl1pPr>
          </a:lstStyle>
          <a:p>
            <a:pPr algn="r">
              <a:lnSpc>
                <a:spcPct val="100000"/>
              </a:lnSpc>
              <a:buNone/>
              <a:tabLst>
                <a:tab algn="l" pos="0"/>
              </a:tabLst>
            </a:pPr>
            <a:fld id="{BE66AF31-0046-4F3C-8782-CAA2D27ABA85}" type="slidenum">
              <a:rPr b="0" lang="en-US" sz="1200" spc="-1" strike="noStrike">
                <a:solidFill>
                  <a:srgbClr val="888888"/>
                </a:solidFill>
                <a:latin typeface="Arial"/>
                <a:ea typeface="Arial"/>
              </a:rPr>
              <a:t>&lt;number&gt;</a:t>
            </a:fld>
            <a:endParaRPr b="0" lang="en-US" sz="1200" spc="-1" strike="noStrike">
              <a:latin typeface="Times New Roman"/>
            </a:endParaRPr>
          </a:p>
        </p:txBody>
      </p:sp>
      <p:sp>
        <p:nvSpPr>
          <p:cNvPr id="43" name="PlaceHolder 3"/>
          <p:cNvSpPr>
            <a:spLocks noGrp="1"/>
          </p:cNvSpPr>
          <p:nvPr>
            <p:ph type="dt" idx="6"/>
          </p:nvPr>
        </p:nvSpPr>
        <p:spPr>
          <a:xfrm>
            <a:off x="343080" y="8475120"/>
            <a:ext cx="1598400" cy="4849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44" name="PlaceHolder 4"/>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5" name="PlaceHolder 5"/>
          <p:cNvSpPr>
            <a:spLocks noGrp="1"/>
          </p:cNvSpPr>
          <p:nvPr>
            <p:ph type="body"/>
          </p:nvPr>
        </p:nvSpPr>
        <p:spPr>
          <a:xfrm>
            <a:off x="342720" y="2139480"/>
            <a:ext cx="6171840" cy="5302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342720" y="364680"/>
            <a:ext cx="6171840" cy="15264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a:t>
            </a:r>
            <a:r>
              <a:rPr b="0" lang="en-US" sz="4400" spc="-1" strike="noStrike">
                <a:latin typeface="Arial"/>
              </a:rPr>
              <a: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a:t>
            </a:r>
            <a:r>
              <a:rPr b="0" lang="en-US" sz="4400" spc="-1" strike="noStrike">
                <a:latin typeface="Arial"/>
              </a:rPr>
              <a: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83" name="PlaceHolder 2"/>
          <p:cNvSpPr>
            <a:spLocks noGrp="1"/>
          </p:cNvSpPr>
          <p:nvPr>
            <p:ph type="body"/>
          </p:nvPr>
        </p:nvSpPr>
        <p:spPr>
          <a:xfrm>
            <a:off x="342720" y="2139480"/>
            <a:ext cx="6171840" cy="5302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 Id="rId16" Type="http://schemas.openxmlformats.org/officeDocument/2006/relationships/image" Target="../media/image17.png"/><Relationship Id="rId17" Type="http://schemas.openxmlformats.org/officeDocument/2006/relationships/image" Target="../media/image18.png"/><Relationship Id="rId18" Type="http://schemas.openxmlformats.org/officeDocument/2006/relationships/image" Target="../media/image19.png"/><Relationship Id="rId19" Type="http://schemas.openxmlformats.org/officeDocument/2006/relationships/image" Target="../media/image20.png"/><Relationship Id="rId20" Type="http://schemas.openxmlformats.org/officeDocument/2006/relationships/image" Target="../media/image21.png"/><Relationship Id="rId21" Type="http://schemas.openxmlformats.org/officeDocument/2006/relationships/image" Target="../media/image22.png"/><Relationship Id="rId22" Type="http://schemas.openxmlformats.org/officeDocument/2006/relationships/image" Target="../media/image23.png"/><Relationship Id="rId23" Type="http://schemas.openxmlformats.org/officeDocument/2006/relationships/image" Target="../media/image24.png"/><Relationship Id="rId24" Type="http://schemas.openxmlformats.org/officeDocument/2006/relationships/image" Target="../media/image25.png"/><Relationship Id="rId25" Type="http://schemas.openxmlformats.org/officeDocument/2006/relationships/image" Target="../media/image26.png"/><Relationship Id="rId26" Type="http://schemas.openxmlformats.org/officeDocument/2006/relationships/image" Target="../media/image27.png"/><Relationship Id="rId27" Type="http://schemas.openxmlformats.org/officeDocument/2006/relationships/image" Target="../media/image28.png"/><Relationship Id="rId28" Type="http://schemas.openxmlformats.org/officeDocument/2006/relationships/image" Target="../media/image29.png"/><Relationship Id="rId29" Type="http://schemas.openxmlformats.org/officeDocument/2006/relationships/image" Target="../media/image30.png"/><Relationship Id="rId30" Type="http://schemas.openxmlformats.org/officeDocument/2006/relationships/image" Target="../media/image31.png"/><Relationship Id="rId31" Type="http://schemas.openxmlformats.org/officeDocument/2006/relationships/image" Target="../media/image32.png"/><Relationship Id="rId32" Type="http://schemas.openxmlformats.org/officeDocument/2006/relationships/image" Target="../media/image33.png"/><Relationship Id="rId33" Type="http://schemas.openxmlformats.org/officeDocument/2006/relationships/image" Target="../media/image34.png"/><Relationship Id="rId34" Type="http://schemas.openxmlformats.org/officeDocument/2006/relationships/image" Target="../media/image35.png"/><Relationship Id="rId35" Type="http://schemas.openxmlformats.org/officeDocument/2006/relationships/image" Target="../media/image36.png"/><Relationship Id="rId36" Type="http://schemas.openxmlformats.org/officeDocument/2006/relationships/image" Target="../media/image37.png"/><Relationship Id="rId37" Type="http://schemas.openxmlformats.org/officeDocument/2006/relationships/image" Target="../media/image38.png"/><Relationship Id="rId38" Type="http://schemas.openxmlformats.org/officeDocument/2006/relationships/image" Target="../media/image39.png"/><Relationship Id="rId39" Type="http://schemas.openxmlformats.org/officeDocument/2006/relationships/image" Target="../media/image40.png"/><Relationship Id="rId40" Type="http://schemas.openxmlformats.org/officeDocument/2006/relationships/image" Target="../media/image41.png"/><Relationship Id="rId4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slideLayout" Target="../slideLayouts/slideLayout13.xml"/><Relationship Id="rId10"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62.jpeg"/><Relationship Id="rId2" Type="http://schemas.openxmlformats.org/officeDocument/2006/relationships/image" Target="../media/image63.jpeg"/><Relationship Id="rId3" Type="http://schemas.openxmlformats.org/officeDocument/2006/relationships/image" Target="../media/image64.jpeg"/><Relationship Id="rId4" Type="http://schemas.openxmlformats.org/officeDocument/2006/relationships/image" Target="../media/image65.jpeg"/><Relationship Id="rId5" Type="http://schemas.openxmlformats.org/officeDocument/2006/relationships/image" Target="../media/image66.png"/><Relationship Id="rId6" Type="http://schemas.openxmlformats.org/officeDocument/2006/relationships/image" Target="../media/image67.jpeg"/><Relationship Id="rId7" Type="http://schemas.openxmlformats.org/officeDocument/2006/relationships/image" Target="../media/image68.jpeg"/><Relationship Id="rId8" Type="http://schemas.openxmlformats.org/officeDocument/2006/relationships/image" Target="../media/image69.jpeg"/><Relationship Id="rId9" Type="http://schemas.openxmlformats.org/officeDocument/2006/relationships/image" Target="../media/image70.jpeg"/><Relationship Id="rId10" Type="http://schemas.openxmlformats.org/officeDocument/2006/relationships/image" Target="../media/image71.jpeg"/><Relationship Id="rId11" Type="http://schemas.openxmlformats.org/officeDocument/2006/relationships/image" Target="../media/image72.jpeg"/><Relationship Id="rId12" Type="http://schemas.openxmlformats.org/officeDocument/2006/relationships/image" Target="../media/image73.png"/><Relationship Id="rId13" Type="http://schemas.openxmlformats.org/officeDocument/2006/relationships/slideLayout" Target="../slideLayouts/slideLayout13.xml"/><Relationship Id="rId1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79.jpeg"/><Relationship Id="rId2" Type="http://schemas.openxmlformats.org/officeDocument/2006/relationships/image" Target="../media/image80.jpeg"/><Relationship Id="rId3" Type="http://schemas.openxmlformats.org/officeDocument/2006/relationships/image" Target="../media/image81.jpeg"/><Relationship Id="rId4" Type="http://schemas.openxmlformats.org/officeDocument/2006/relationships/image" Target="../media/image82.jpeg"/><Relationship Id="rId5" Type="http://schemas.openxmlformats.org/officeDocument/2006/relationships/image" Target="../media/image83.jpeg"/><Relationship Id="rId6" Type="http://schemas.openxmlformats.org/officeDocument/2006/relationships/image" Target="../media/image84.jpeg"/><Relationship Id="rId7" Type="http://schemas.openxmlformats.org/officeDocument/2006/relationships/image" Target="../media/image85.jpeg"/><Relationship Id="rId8" Type="http://schemas.openxmlformats.org/officeDocument/2006/relationships/image" Target="../media/image86.jpeg"/><Relationship Id="rId9" Type="http://schemas.openxmlformats.org/officeDocument/2006/relationships/image" Target="../media/image87.jpeg"/><Relationship Id="rId10" Type="http://schemas.openxmlformats.org/officeDocument/2006/relationships/image" Target="../media/image88.jpeg"/><Relationship Id="rId11" Type="http://schemas.openxmlformats.org/officeDocument/2006/relationships/image" Target="../media/image89.jpeg"/><Relationship Id="rId12" Type="http://schemas.openxmlformats.org/officeDocument/2006/relationships/image" Target="../media/image90.jpeg"/><Relationship Id="rId13" Type="http://schemas.openxmlformats.org/officeDocument/2006/relationships/image" Target="../media/image91.jpeg"/><Relationship Id="rId14" Type="http://schemas.openxmlformats.org/officeDocument/2006/relationships/image" Target="../media/image92.jpeg"/><Relationship Id="rId15" Type="http://schemas.openxmlformats.org/officeDocument/2006/relationships/image" Target="../media/image93.jpeg"/><Relationship Id="rId16" Type="http://schemas.openxmlformats.org/officeDocument/2006/relationships/image" Target="../media/image94.jpeg"/><Relationship Id="rId17" Type="http://schemas.openxmlformats.org/officeDocument/2006/relationships/image" Target="../media/image95.jpeg"/><Relationship Id="rId18" Type="http://schemas.openxmlformats.org/officeDocument/2006/relationships/image" Target="../media/image96.jpeg"/><Relationship Id="rId19" Type="http://schemas.openxmlformats.org/officeDocument/2006/relationships/image" Target="../media/image97.jpeg"/><Relationship Id="rId20" Type="http://schemas.openxmlformats.org/officeDocument/2006/relationships/slideLayout" Target="../slideLayouts/slideLayout13.xml"/><Relationship Id="rId21"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8.jpeg"/><Relationship Id="rId2" Type="http://schemas.openxmlformats.org/officeDocument/2006/relationships/image" Target="../media/image99.jpeg"/><Relationship Id="rId3" Type="http://schemas.openxmlformats.org/officeDocument/2006/relationships/image" Target="../media/image100.jpeg"/><Relationship Id="rId4"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107.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Google Shape;92;p1"/>
          <p:cNvSpPr/>
          <p:nvPr/>
        </p:nvSpPr>
        <p:spPr>
          <a:xfrm>
            <a:off x="171360" y="169560"/>
            <a:ext cx="6513480" cy="8798760"/>
          </a:xfrm>
          <a:prstGeom prst="rect">
            <a:avLst/>
          </a:prstGeom>
          <a:noFill/>
          <a:ln w="0">
            <a:noFill/>
          </a:ln>
        </p:spPr>
        <p:style>
          <a:lnRef idx="0"/>
          <a:fillRef idx="0"/>
          <a:effectRef idx="0"/>
          <a:fontRef idx="minor"/>
        </p:style>
        <p:txBody>
          <a:bodyPr lIns="90000" rIns="90000" tIns="45000" bIns="45000" anchor="t">
            <a:normAutofit/>
          </a:bodyPr>
          <a:p>
            <a:pPr algn="just">
              <a:lnSpc>
                <a:spcPct val="100000"/>
              </a:lnSpc>
              <a:buNone/>
              <a:tabLst>
                <a:tab algn="l" pos="0"/>
              </a:tabLst>
            </a:pPr>
            <a:r>
              <a:rPr b="1" lang="en-US" sz="1400" spc="-1" strike="noStrike">
                <a:solidFill>
                  <a:srgbClr val="000000"/>
                </a:solidFill>
                <a:latin typeface="Arial"/>
                <a:ea typeface="Arial"/>
              </a:rPr>
              <a:t>Research Paper Title: </a:t>
            </a:r>
            <a:endParaRPr b="0" lang="en-US" sz="1400" spc="-1" strike="noStrike">
              <a:latin typeface="Arial"/>
            </a:endParaRPr>
          </a:p>
          <a:p>
            <a:pPr algn="just">
              <a:lnSpc>
                <a:spcPct val="100000"/>
              </a:lnSpc>
              <a:spcBef>
                <a:spcPts val="281"/>
              </a:spcBef>
              <a:buNone/>
              <a:tabLst>
                <a:tab algn="l" pos="0"/>
              </a:tabLst>
            </a:pPr>
            <a:r>
              <a:rPr b="1" lang="en-US" sz="1400" spc="-1" strike="noStrike">
                <a:solidFill>
                  <a:srgbClr val="000000"/>
                </a:solidFill>
                <a:latin typeface="Arial"/>
                <a:ea typeface="Arial"/>
              </a:rPr>
              <a:t>PT-AML: Machine learning framework to identified personalized treatments for acute myeloid leukemia</a:t>
            </a:r>
            <a:endParaRPr b="0" lang="en-US" sz="1400" spc="-1" strike="noStrike">
              <a:latin typeface="Arial"/>
            </a:endParaRPr>
          </a:p>
          <a:p>
            <a:pPr algn="just">
              <a:lnSpc>
                <a:spcPct val="100000"/>
              </a:lnSpc>
              <a:spcBef>
                <a:spcPts val="281"/>
              </a:spcBef>
              <a:buNone/>
              <a:tabLst>
                <a:tab algn="l" pos="0"/>
              </a:tabLst>
            </a:pPr>
            <a:r>
              <a:rPr b="1" lang="en-US" sz="1400" spc="-1" strike="noStrike">
                <a:solidFill>
                  <a:srgbClr val="000000"/>
                </a:solidFill>
                <a:latin typeface="Arial"/>
                <a:ea typeface="Arial"/>
              </a:rPr>
              <a:t>Journal: </a:t>
            </a:r>
            <a:r>
              <a:rPr b="1" i="1" lang="en-US" sz="1400" spc="-1" strike="noStrike">
                <a:solidFill>
                  <a:srgbClr val="000000"/>
                </a:solidFill>
                <a:latin typeface="Arial"/>
                <a:ea typeface="Arial"/>
              </a:rPr>
              <a:t>TBD</a:t>
            </a:r>
            <a:endParaRPr b="0" lang="en-US" sz="1400" spc="-1" strike="noStrike">
              <a:latin typeface="Arial"/>
            </a:endParaRPr>
          </a:p>
          <a:p>
            <a:pPr algn="just">
              <a:lnSpc>
                <a:spcPct val="100000"/>
              </a:lnSpc>
              <a:spcBef>
                <a:spcPts val="281"/>
              </a:spcBef>
              <a:buNone/>
              <a:tabLst>
                <a:tab algn="l" pos="0"/>
              </a:tabLst>
            </a:pPr>
            <a:r>
              <a:rPr b="1" lang="en-US" sz="1400" spc="-1" strike="noStrike">
                <a:solidFill>
                  <a:srgbClr val="000000"/>
                </a:solidFill>
                <a:latin typeface="Arial"/>
                <a:ea typeface="Arial"/>
              </a:rPr>
              <a:t>Authors:</a:t>
            </a:r>
            <a:r>
              <a:rPr b="1" lang="en-US" sz="1100" spc="-1" strike="noStrike">
                <a:solidFill>
                  <a:srgbClr val="000000"/>
                </a:solidFill>
                <a:latin typeface="Arial"/>
                <a:ea typeface="Arial"/>
              </a:rPr>
              <a:t> </a:t>
            </a:r>
            <a:r>
              <a:rPr b="0" lang="en-US" sz="1100" spc="-1" strike="noStrike">
                <a:solidFill>
                  <a:srgbClr val="000000"/>
                </a:solidFill>
                <a:latin typeface="Arial"/>
                <a:ea typeface="Arial"/>
              </a:rPr>
              <a:t>Raghvendra Mall</a:t>
            </a:r>
            <a:r>
              <a:rPr b="0" lang="en-US" sz="1100" spc="-1" strike="noStrike" baseline="30000">
                <a:solidFill>
                  <a:srgbClr val="000000"/>
                </a:solidFill>
                <a:latin typeface="Arial"/>
                <a:ea typeface="Arial"/>
              </a:rPr>
              <a:t>1#</a:t>
            </a:r>
            <a:r>
              <a:rPr b="0" lang="en-US" sz="1100" spc="-1" strike="noStrike">
                <a:solidFill>
                  <a:srgbClr val="000000"/>
                </a:solidFill>
                <a:latin typeface="Arial"/>
                <a:ea typeface="Arial"/>
              </a:rPr>
              <a:t>, Siddhi Jani</a:t>
            </a:r>
            <a:r>
              <a:rPr b="0" lang="en-US" sz="1100" spc="-1" strike="noStrike" baseline="30000">
                <a:solidFill>
                  <a:srgbClr val="000000"/>
                </a:solidFill>
                <a:latin typeface="Arial"/>
                <a:ea typeface="Arial"/>
              </a:rPr>
              <a:t>2</a:t>
            </a:r>
            <a:r>
              <a:rPr b="0" lang="en-US" sz="1100" spc="-1" strike="noStrike">
                <a:solidFill>
                  <a:srgbClr val="000000"/>
                </a:solidFill>
                <a:latin typeface="Arial"/>
                <a:ea typeface="Arial"/>
              </a:rPr>
              <a:t>, ...</a:t>
            </a:r>
            <a:endParaRPr b="0" lang="en-US" sz="1100" spc="-1" strike="noStrike">
              <a:latin typeface="Arial"/>
            </a:endParaRPr>
          </a:p>
          <a:p>
            <a:pPr algn="just">
              <a:lnSpc>
                <a:spcPct val="100000"/>
              </a:lnSpc>
              <a:spcBef>
                <a:spcPts val="281"/>
              </a:spcBef>
              <a:buNone/>
              <a:tabLst>
                <a:tab algn="l" pos="0"/>
              </a:tabLst>
            </a:pPr>
            <a:r>
              <a:rPr b="1" lang="en-US" sz="1400" spc="-1" strike="noStrike">
                <a:solidFill>
                  <a:srgbClr val="000000"/>
                </a:solidFill>
                <a:latin typeface="Arial"/>
                <a:ea typeface="Arial"/>
              </a:rPr>
              <a:t>Keywords: </a:t>
            </a:r>
            <a:r>
              <a:rPr b="1" lang="en-US" sz="1100" spc="-1" strike="noStrike">
                <a:solidFill>
                  <a:srgbClr val="000000"/>
                </a:solidFill>
                <a:highlight>
                  <a:srgbClr val="ffff00"/>
                </a:highlight>
                <a:latin typeface="Arial"/>
                <a:ea typeface="Arial"/>
              </a:rPr>
              <a:t>[]</a:t>
            </a:r>
            <a:endParaRPr b="0" lang="en-US" sz="1100" spc="-1" strike="noStrike">
              <a:latin typeface="Arial"/>
            </a:endParaRPr>
          </a:p>
          <a:p>
            <a:pPr algn="just">
              <a:lnSpc>
                <a:spcPct val="100000"/>
              </a:lnSpc>
              <a:spcBef>
                <a:spcPts val="221"/>
              </a:spcBef>
              <a:buNone/>
              <a:tabLst>
                <a:tab algn="l" pos="0"/>
              </a:tabLst>
            </a:pPr>
            <a:r>
              <a:rPr b="1" lang="en-US" sz="1100" spc="-1" strike="noStrike">
                <a:solidFill>
                  <a:srgbClr val="000000"/>
                </a:solidFill>
                <a:latin typeface="Arial"/>
                <a:ea typeface="Arial"/>
              </a:rPr>
              <a:t>SC: </a:t>
            </a:r>
            <a:r>
              <a:rPr b="0" lang="en-US" sz="1100" spc="-1" strike="noStrike">
                <a:solidFill>
                  <a:srgbClr val="000000"/>
                </a:solidFill>
                <a:latin typeface="Arial"/>
                <a:ea typeface="Arial"/>
              </a:rPr>
              <a:t>Deep Learning; Machine Learning; AML; Drug Sensitivity; Precision Medicine; Mutations; Cell State; Mechanism of Action</a:t>
            </a:r>
            <a:endParaRPr b="0" lang="en-US" sz="1100" spc="-1" strike="noStrike">
              <a:latin typeface="Arial"/>
            </a:endParaRPr>
          </a:p>
          <a:p>
            <a:pPr algn="just">
              <a:lnSpc>
                <a:spcPct val="100000"/>
              </a:lnSpc>
              <a:spcBef>
                <a:spcPts val="281"/>
              </a:spcBef>
              <a:buNone/>
              <a:tabLst>
                <a:tab algn="l" pos="0"/>
              </a:tabLst>
            </a:pPr>
            <a:r>
              <a:rPr b="1" lang="en-US" sz="1400" spc="-1" strike="noStrike">
                <a:solidFill>
                  <a:srgbClr val="000000"/>
                </a:solidFill>
                <a:latin typeface="Arial"/>
                <a:ea typeface="Arial"/>
              </a:rPr>
              <a:t>Abstract: </a:t>
            </a:r>
            <a:r>
              <a:rPr b="1" lang="en-US" sz="1100" spc="-1" strike="noStrike">
                <a:solidFill>
                  <a:srgbClr val="000000"/>
                </a:solidFill>
                <a:highlight>
                  <a:srgbClr val="ffff00"/>
                </a:highlight>
                <a:latin typeface="Arial"/>
                <a:ea typeface="Arial"/>
              </a:rPr>
              <a:t>[Checklist: </a:t>
            </a:r>
            <a:r>
              <a:rPr b="0" lang="en-US" sz="1100" spc="-1" strike="noStrike">
                <a:solidFill>
                  <a:srgbClr val="000000"/>
                </a:solidFill>
                <a:highlight>
                  <a:srgbClr val="ffff00"/>
                </a:highlight>
                <a:latin typeface="Arial"/>
                <a:ea typeface="Arial"/>
              </a:rPr>
              <a:t>Statements are factually accurate; provides a concise summary that is interesting and attracts attention; provides key background, purpose of article, and key findings from the study</a:t>
            </a:r>
            <a:r>
              <a:rPr b="1" lang="en-US" sz="1100" spc="-1" strike="noStrike">
                <a:solidFill>
                  <a:srgbClr val="000000"/>
                </a:solidFill>
                <a:highlight>
                  <a:srgbClr val="ffff00"/>
                </a:highlight>
                <a:latin typeface="Arial"/>
                <a:ea typeface="Arial"/>
              </a:rPr>
              <a:t>]</a:t>
            </a:r>
            <a:endParaRPr b="0" lang="en-US" sz="1100" spc="-1" strike="noStrike">
              <a:latin typeface="Arial"/>
            </a:endParaRPr>
          </a:p>
          <a:p>
            <a:pPr algn="just">
              <a:lnSpc>
                <a:spcPct val="100000"/>
              </a:lnSpc>
              <a:spcBef>
                <a:spcPts val="221"/>
              </a:spcBef>
              <a:buNone/>
              <a:tabLst>
                <a:tab algn="l" pos="0"/>
              </a:tabLst>
            </a:pPr>
            <a:r>
              <a:rPr b="0" lang="en-US" sz="1100" spc="-1" strike="noStrike">
                <a:solidFill>
                  <a:srgbClr val="000000"/>
                </a:solidFill>
                <a:latin typeface="Arial"/>
                <a:ea typeface="Arial"/>
              </a:rPr>
              <a:t>ABSTRACT EXAMPLE: </a:t>
            </a:r>
            <a:endParaRPr b="0" lang="en-US" sz="1100" spc="-1" strike="noStrike">
              <a:latin typeface="Arial"/>
            </a:endParaRPr>
          </a:p>
          <a:p>
            <a:pPr algn="just">
              <a:lnSpc>
                <a:spcPct val="100000"/>
              </a:lnSpc>
              <a:spcBef>
                <a:spcPts val="261"/>
              </a:spcBef>
              <a:buNone/>
              <a:tabLst>
                <a:tab algn="l" pos="0"/>
              </a:tabLst>
            </a:pPr>
            <a:r>
              <a:rPr b="0" lang="en-US" sz="1300" spc="-1" strike="noStrike" u="sng">
                <a:solidFill>
                  <a:srgbClr val="000000"/>
                </a:solidFill>
                <a:uFillTx/>
                <a:latin typeface="Arial"/>
                <a:ea typeface="Arial"/>
              </a:rPr>
              <a:t>First line: State the topic; should be related to the title</a:t>
            </a:r>
            <a:endParaRPr b="0" lang="en-US" sz="1300" spc="-1" strike="noStrike">
              <a:latin typeface="Arial"/>
            </a:endParaRPr>
          </a:p>
          <a:p>
            <a:pPr>
              <a:lnSpc>
                <a:spcPct val="100000"/>
              </a:lnSpc>
              <a:buNone/>
              <a:tabLst>
                <a:tab algn="l" pos="0"/>
              </a:tabLst>
            </a:pPr>
            <a:r>
              <a:rPr b="0" lang="en-US" sz="1300" spc="-1" strike="noStrike">
                <a:solidFill>
                  <a:srgbClr val="1a1a1a"/>
                </a:solidFill>
                <a:latin typeface="Arial"/>
                <a:ea typeface="Arial"/>
              </a:rPr>
              <a:t>Resistance to cell death is a leading hallmark of cancer. Therapies aimed at activating cell death are therefore of high interest to improve treatment and understanding the induction of cell death during cancers is a key strategy to identify therapies. </a:t>
            </a:r>
            <a:r>
              <a:rPr b="0" lang="en-US" sz="1300" spc="-1" strike="noStrike">
                <a:solidFill>
                  <a:srgbClr val="000000"/>
                </a:solidFill>
                <a:latin typeface="Arial"/>
                <a:ea typeface="Arial"/>
              </a:rPr>
              <a:t> </a:t>
            </a:r>
            <a:r>
              <a:rPr b="0" lang="en-US" sz="1300" spc="-1" strike="noStrike">
                <a:solidFill>
                  <a:srgbClr val="1a1a1a"/>
                </a:solidFill>
                <a:latin typeface="Arial"/>
                <a:ea typeface="Arial"/>
              </a:rPr>
              <a:t> </a:t>
            </a:r>
            <a:endParaRPr b="0" lang="en-US" sz="1300" spc="-1" strike="noStrike">
              <a:latin typeface="Arial"/>
            </a:endParaRPr>
          </a:p>
          <a:p>
            <a:pPr>
              <a:lnSpc>
                <a:spcPct val="100000"/>
              </a:lnSpc>
              <a:buNone/>
              <a:tabLst>
                <a:tab algn="l" pos="0"/>
              </a:tabLst>
            </a:pPr>
            <a:endParaRPr b="0" lang="en-US" sz="1300" spc="-1" strike="noStrike">
              <a:latin typeface="Arial"/>
            </a:endParaRPr>
          </a:p>
          <a:p>
            <a:pPr>
              <a:lnSpc>
                <a:spcPct val="100000"/>
              </a:lnSpc>
              <a:buNone/>
              <a:tabLst>
                <a:tab algn="l" pos="0"/>
              </a:tabLst>
            </a:pPr>
            <a:r>
              <a:rPr b="0" lang="en-US" sz="1300" spc="-1" strike="noStrike" u="sng">
                <a:solidFill>
                  <a:srgbClr val="000000"/>
                </a:solidFill>
                <a:uFillTx/>
                <a:latin typeface="Arial"/>
                <a:ea typeface="Arial"/>
              </a:rPr>
              <a:t>Second and third sentences: Expand on the critical background information relating to the topic, including why it is a relevant </a:t>
            </a:r>
            <a:endParaRPr b="0" lang="en-US" sz="1300" spc="-1" strike="noStrike">
              <a:latin typeface="Arial"/>
            </a:endParaRPr>
          </a:p>
          <a:p>
            <a:pPr algn="just">
              <a:lnSpc>
                <a:spcPct val="100000"/>
              </a:lnSpc>
              <a:spcBef>
                <a:spcPts val="261"/>
              </a:spcBef>
              <a:buNone/>
              <a:tabLst>
                <a:tab algn="l" pos="0"/>
              </a:tabLst>
            </a:pPr>
            <a:endParaRPr b="0" lang="en-US" sz="1300" spc="-1" strike="noStrike">
              <a:latin typeface="Arial"/>
            </a:endParaRPr>
          </a:p>
          <a:p>
            <a:pPr algn="just">
              <a:lnSpc>
                <a:spcPct val="100000"/>
              </a:lnSpc>
              <a:spcBef>
                <a:spcPts val="261"/>
              </a:spcBef>
              <a:buNone/>
              <a:tabLst>
                <a:tab algn="l" pos="0"/>
              </a:tabLst>
            </a:pPr>
            <a:r>
              <a:rPr b="0" lang="en-US" sz="1300" spc="-1" strike="noStrike" u="sng">
                <a:solidFill>
                  <a:srgbClr val="000000"/>
                </a:solidFill>
                <a:uFillTx/>
                <a:latin typeface="Arial"/>
                <a:ea typeface="Arial"/>
              </a:rPr>
              <a:t>Fourth sentence and beyond: These sentences should mirror the subsections from your results outline</a:t>
            </a:r>
            <a:endParaRPr b="0" lang="en-US" sz="1300" spc="-1" strike="noStrike">
              <a:latin typeface="Arial"/>
            </a:endParaRPr>
          </a:p>
          <a:p>
            <a:pPr algn="just">
              <a:lnSpc>
                <a:spcPct val="100000"/>
              </a:lnSpc>
              <a:spcBef>
                <a:spcPts val="261"/>
              </a:spcBef>
              <a:buNone/>
              <a:tabLst>
                <a:tab algn="l" pos="0"/>
              </a:tabLst>
            </a:pPr>
            <a:r>
              <a:rPr b="0" lang="en-US" sz="1300" spc="-1" strike="noStrike">
                <a:solidFill>
                  <a:srgbClr val="000000"/>
                </a:solidFill>
                <a:latin typeface="Arial"/>
                <a:ea typeface="Arial"/>
              </a:rPr>
              <a:t>. </a:t>
            </a:r>
            <a:endParaRPr b="0" lang="en-US" sz="1300" spc="-1" strike="noStrike">
              <a:latin typeface="Arial"/>
            </a:endParaRPr>
          </a:p>
          <a:p>
            <a:pPr algn="just">
              <a:lnSpc>
                <a:spcPct val="100000"/>
              </a:lnSpc>
              <a:spcBef>
                <a:spcPts val="261"/>
              </a:spcBef>
              <a:buNone/>
              <a:tabLst>
                <a:tab algn="l" pos="0"/>
              </a:tabLst>
            </a:pPr>
            <a:r>
              <a:rPr b="0" lang="en-US" sz="1300" spc="-1" strike="noStrike" u="sng">
                <a:solidFill>
                  <a:srgbClr val="000000"/>
                </a:solidFill>
                <a:uFillTx/>
                <a:latin typeface="Arial"/>
                <a:ea typeface="Arial"/>
              </a:rPr>
              <a:t>Last sentence: These results demonstrate…</a:t>
            </a:r>
            <a:endParaRPr b="0" lang="en-US" sz="1300" spc="-1" strike="noStrike">
              <a:latin typeface="Arial"/>
            </a:endParaRPr>
          </a:p>
          <a:p>
            <a:pPr algn="just">
              <a:lnSpc>
                <a:spcPct val="100000"/>
              </a:lnSpc>
              <a:spcBef>
                <a:spcPts val="261"/>
              </a:spcBef>
              <a:buNone/>
              <a:tabLst>
                <a:tab algn="l" pos="0"/>
              </a:tabLst>
            </a:pPr>
            <a:endParaRPr b="0" lang="en-US" sz="1300" spc="-1" strike="noStrike">
              <a:latin typeface="Arial"/>
            </a:endParaRPr>
          </a:p>
          <a:p>
            <a:pPr algn="just">
              <a:lnSpc>
                <a:spcPct val="100000"/>
              </a:lnSpc>
              <a:buNone/>
              <a:tabLst>
                <a:tab algn="l" pos="0"/>
              </a:tabLst>
            </a:pPr>
            <a:r>
              <a:rPr b="1" lang="en-US" sz="1400" spc="-1" strike="noStrike">
                <a:solidFill>
                  <a:srgbClr val="000000"/>
                </a:solidFill>
                <a:latin typeface="Arial"/>
                <a:ea typeface="Arial"/>
              </a:rPr>
              <a:t>SC:</a:t>
            </a:r>
            <a:endParaRPr b="0" lang="en-US" sz="1400" spc="-1" strike="noStrike">
              <a:latin typeface="Arial"/>
            </a:endParaRPr>
          </a:p>
          <a:p>
            <a:pPr algn="just">
              <a:lnSpc>
                <a:spcPct val="100000"/>
              </a:lnSpc>
              <a:buNone/>
              <a:tabLst>
                <a:tab algn="l" pos="0"/>
              </a:tabLst>
            </a:pPr>
            <a:br>
              <a:rPr sz="1100"/>
            </a:br>
            <a:endParaRPr b="0" lang="en-US" sz="1100" spc="-1" strike="noStrike">
              <a:latin typeface="Arial"/>
            </a:endParaRPr>
          </a:p>
          <a:p>
            <a:pPr algn="just">
              <a:lnSpc>
                <a:spcPct val="100000"/>
              </a:lnSpc>
              <a:spcBef>
                <a:spcPts val="221"/>
              </a:spcBef>
              <a:buNone/>
              <a:tabLst>
                <a:tab algn="l" pos="0"/>
              </a:tabLst>
            </a:pPr>
            <a:endParaRPr b="0" lang="en-US" sz="1100" spc="-1" strike="noStrike">
              <a:latin typeface="Arial"/>
            </a:endParaRPr>
          </a:p>
          <a:p>
            <a:pPr algn="just">
              <a:lnSpc>
                <a:spcPct val="100000"/>
              </a:lnSpc>
              <a:spcBef>
                <a:spcPts val="221"/>
              </a:spcBef>
              <a:buNone/>
              <a:tabLst>
                <a:tab algn="l" pos="0"/>
              </a:tabLst>
            </a:pP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Google Shape;98;p2"/>
          <p:cNvSpPr/>
          <p:nvPr/>
        </p:nvSpPr>
        <p:spPr>
          <a:xfrm>
            <a:off x="95400" y="83880"/>
            <a:ext cx="6665760" cy="90583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1" lang="en-US" sz="1400" spc="-1" strike="noStrike">
                <a:solidFill>
                  <a:srgbClr val="000000"/>
                </a:solidFill>
                <a:latin typeface="Arial"/>
                <a:ea typeface="Arial"/>
              </a:rPr>
              <a:t>Research Article Outline: </a:t>
            </a:r>
            <a:endParaRPr b="0" lang="en-US" sz="1400" spc="-1" strike="noStrike">
              <a:latin typeface="Arial"/>
            </a:endParaRPr>
          </a:p>
          <a:p>
            <a:pPr marL="343080" indent="-343080" algn="just">
              <a:lnSpc>
                <a:spcPct val="100000"/>
              </a:lnSpc>
              <a:spcBef>
                <a:spcPts val="281"/>
              </a:spcBef>
              <a:buNone/>
              <a:tabLst>
                <a:tab algn="l" pos="0"/>
              </a:tabLst>
            </a:pPr>
            <a:r>
              <a:rPr b="1" lang="en-US" sz="1400" spc="-1" strike="noStrike">
                <a:solidFill>
                  <a:srgbClr val="000000"/>
                </a:solidFill>
                <a:latin typeface="Arial"/>
                <a:ea typeface="Arial"/>
              </a:rPr>
              <a:t>PT-AML: Machine learning framework to identified personalize treatments for acute myeloid leukemia</a:t>
            </a:r>
            <a:endParaRPr b="0" lang="en-US" sz="1400" spc="-1" strike="noStrike">
              <a:latin typeface="Arial"/>
            </a:endParaRPr>
          </a:p>
          <a:p>
            <a:pPr marL="343080" indent="-343080" algn="just">
              <a:lnSpc>
                <a:spcPct val="100000"/>
              </a:lnSpc>
              <a:spcBef>
                <a:spcPts val="221"/>
              </a:spcBef>
              <a:buNone/>
              <a:tabLst>
                <a:tab algn="l" pos="0"/>
              </a:tabLst>
            </a:pPr>
            <a:r>
              <a:rPr b="1" lang="en-US" sz="1100" spc="-1" strike="noStrike">
                <a:solidFill>
                  <a:srgbClr val="000000"/>
                </a:solidFill>
                <a:highlight>
                  <a:srgbClr val="ffff00"/>
                </a:highlight>
                <a:latin typeface="Arial"/>
                <a:ea typeface="Arial"/>
              </a:rPr>
              <a:t>[Checklist: </a:t>
            </a:r>
            <a:r>
              <a:rPr b="0" lang="en-US" sz="1100" spc="-1" strike="noStrike">
                <a:solidFill>
                  <a:srgbClr val="000000"/>
                </a:solidFill>
                <a:highlight>
                  <a:srgbClr val="ffff00"/>
                </a:highlight>
                <a:latin typeface="Arial"/>
                <a:ea typeface="Arial"/>
              </a:rPr>
              <a:t>Statements are factually accurate, key references from Kanneganti lab and Others ref lists are included</a:t>
            </a:r>
            <a:r>
              <a:rPr b="1" lang="en-US" sz="1100" spc="-1" strike="noStrike">
                <a:solidFill>
                  <a:srgbClr val="000000"/>
                </a:solidFill>
                <a:highlight>
                  <a:srgbClr val="ffff00"/>
                </a:highlight>
                <a:latin typeface="Arial"/>
                <a:ea typeface="Arial"/>
              </a:rPr>
              <a:t>]</a:t>
            </a:r>
            <a:endParaRPr b="0" lang="en-US" sz="1100" spc="-1" strike="noStrike">
              <a:latin typeface="Arial"/>
            </a:endParaRPr>
          </a:p>
          <a:p>
            <a:pPr marL="228600" indent="-228600" algn="just">
              <a:lnSpc>
                <a:spcPct val="100000"/>
              </a:lnSpc>
              <a:spcBef>
                <a:spcPts val="221"/>
              </a:spcBef>
              <a:buClr>
                <a:srgbClr val="000000"/>
              </a:buClr>
              <a:buFont typeface="Arial"/>
              <a:buAutoNum type="arabicPeriod"/>
              <a:tabLst>
                <a:tab algn="l" pos="0"/>
              </a:tabLst>
            </a:pPr>
            <a:r>
              <a:rPr b="1" lang="en-US" sz="1100" spc="-1" strike="noStrike">
                <a:solidFill>
                  <a:srgbClr val="000000"/>
                </a:solidFill>
                <a:latin typeface="Arial"/>
                <a:ea typeface="Arial"/>
              </a:rPr>
              <a:t>Introduction </a:t>
            </a:r>
            <a:r>
              <a:rPr b="1" lang="en-US" sz="1100" spc="-1" strike="noStrike">
                <a:solidFill>
                  <a:srgbClr val="000000"/>
                </a:solidFill>
                <a:highlight>
                  <a:srgbClr val="ffff00"/>
                </a:highlight>
                <a:latin typeface="Arial"/>
                <a:ea typeface="Arial"/>
              </a:rPr>
              <a:t>[Checklist: </a:t>
            </a:r>
            <a:r>
              <a:rPr b="0" lang="en-US" sz="1100" spc="-1" strike="noStrike">
                <a:solidFill>
                  <a:srgbClr val="000000"/>
                </a:solidFill>
                <a:highlight>
                  <a:srgbClr val="ffff00"/>
                </a:highlight>
                <a:latin typeface="Arial"/>
                <a:ea typeface="Arial"/>
              </a:rPr>
              <a:t>limit to 3 paragraphs; describe the key concepts; provide relevant background information in the context of our lab’s interests; attract the readers attention and inform about the purpose of the article and what you aim to achieve</a:t>
            </a:r>
            <a:r>
              <a:rPr b="1" lang="en-US" sz="1100" spc="-1" strike="noStrike">
                <a:solidFill>
                  <a:srgbClr val="000000"/>
                </a:solidFill>
                <a:highlight>
                  <a:srgbClr val="ffff00"/>
                </a:highlight>
                <a:latin typeface="Arial"/>
                <a:ea typeface="Arial"/>
              </a:rPr>
              <a:t>]</a:t>
            </a:r>
            <a:endParaRPr b="0" lang="en-US" sz="1100" spc="-1" strike="noStrike">
              <a:latin typeface="Arial"/>
            </a:endParaRPr>
          </a:p>
          <a:p>
            <a:pPr algn="just">
              <a:lnSpc>
                <a:spcPct val="100000"/>
              </a:lnSpc>
              <a:spcBef>
                <a:spcPts val="221"/>
              </a:spcBef>
              <a:buNone/>
              <a:tabLst>
                <a:tab algn="l" pos="0"/>
              </a:tabLst>
            </a:pPr>
            <a:r>
              <a:rPr b="1" lang="en-US" sz="1100" spc="-1" strike="noStrike">
                <a:solidFill>
                  <a:srgbClr val="000000"/>
                </a:solidFill>
                <a:latin typeface="Arial"/>
                <a:ea typeface="Arial"/>
              </a:rPr>
              <a:t>SC:</a:t>
            </a:r>
            <a:r>
              <a:rPr b="0" lang="en-US" sz="1100" spc="-1" strike="noStrike">
                <a:solidFill>
                  <a:srgbClr val="000000"/>
                </a:solidFill>
                <a:latin typeface="Arial"/>
                <a:ea typeface="Arial"/>
              </a:rPr>
              <a:t>  </a:t>
            </a:r>
            <a:endParaRPr b="0" lang="en-US" sz="1100" spc="-1" strike="noStrike">
              <a:latin typeface="Arial"/>
            </a:endParaRPr>
          </a:p>
          <a:p>
            <a:pPr>
              <a:lnSpc>
                <a:spcPct val="100000"/>
              </a:lnSpc>
              <a:buNone/>
              <a:tabLst>
                <a:tab algn="l" pos="0"/>
              </a:tabLst>
            </a:pPr>
            <a:r>
              <a:rPr b="1" lang="en-US" sz="1100" spc="-1" strike="noStrike">
                <a:solidFill>
                  <a:srgbClr val="000000"/>
                </a:solidFill>
                <a:latin typeface="Arial"/>
                <a:ea typeface="Arial"/>
              </a:rPr>
              <a:t>2. </a:t>
            </a:r>
            <a:endParaRPr b="0" lang="en-US" sz="1100" spc="-1" strike="noStrike">
              <a:latin typeface="Arial"/>
            </a:endParaRPr>
          </a:p>
          <a:p>
            <a:pPr>
              <a:lnSpc>
                <a:spcPct val="100000"/>
              </a:lnSpc>
              <a:buNone/>
              <a:tabLst>
                <a:tab algn="l" pos="0"/>
              </a:tabLst>
            </a:pPr>
            <a:r>
              <a:rPr b="1" lang="en-US" sz="1100" spc="-1" strike="noStrike">
                <a:solidFill>
                  <a:srgbClr val="000000"/>
                </a:solidFill>
                <a:latin typeface="Arial"/>
                <a:ea typeface="Arial"/>
              </a:rPr>
              <a:t>3. </a:t>
            </a:r>
            <a:endParaRPr b="0" lang="en-US" sz="1100" spc="-1" strike="noStrike">
              <a:latin typeface="Arial"/>
            </a:endParaRPr>
          </a:p>
          <a:p>
            <a:pPr>
              <a:lnSpc>
                <a:spcPct val="100000"/>
              </a:lnSpc>
              <a:buNone/>
              <a:tabLst>
                <a:tab algn="l" pos="0"/>
              </a:tabLst>
            </a:pPr>
            <a:r>
              <a:rPr b="1" lang="en-US" sz="1100" spc="-1" strike="noStrike">
                <a:solidFill>
                  <a:srgbClr val="000000"/>
                </a:solidFill>
                <a:latin typeface="Arial"/>
                <a:ea typeface="Arial"/>
              </a:rPr>
              <a:t>4. </a:t>
            </a:r>
            <a:endParaRPr b="0" lang="en-US" sz="1100" spc="-1" strike="noStrike">
              <a:latin typeface="Arial"/>
            </a:endParaRPr>
          </a:p>
          <a:p>
            <a:pPr>
              <a:lnSpc>
                <a:spcPct val="100000"/>
              </a:lnSpc>
              <a:buNone/>
              <a:tabLst>
                <a:tab algn="l" pos="0"/>
              </a:tabLst>
            </a:pPr>
            <a:r>
              <a:rPr b="1" lang="en-US" sz="1100" spc="-1" strike="noStrike">
                <a:solidFill>
                  <a:srgbClr val="000000"/>
                </a:solidFill>
                <a:latin typeface="Arial"/>
                <a:ea typeface="Arial"/>
              </a:rPr>
              <a:t>5.</a:t>
            </a:r>
            <a:endParaRPr b="0" lang="en-US" sz="1100" spc="-1" strike="noStrike">
              <a:latin typeface="Arial"/>
            </a:endParaRPr>
          </a:p>
          <a:p>
            <a:pPr>
              <a:lnSpc>
                <a:spcPct val="100000"/>
              </a:lnSpc>
              <a:buNone/>
              <a:tabLst>
                <a:tab algn="l" pos="0"/>
              </a:tabLst>
            </a:pPr>
            <a:r>
              <a:rPr b="1" lang="en-US" sz="1100" spc="-1" strike="noStrike">
                <a:solidFill>
                  <a:srgbClr val="000000"/>
                </a:solidFill>
                <a:latin typeface="Arial"/>
                <a:ea typeface="Arial"/>
              </a:rPr>
              <a:t>6. Discussion</a:t>
            </a:r>
            <a:endParaRPr b="0" lang="en-US" sz="1100" spc="-1" strike="noStrike">
              <a:latin typeface="Arial"/>
            </a:endParaRPr>
          </a:p>
          <a:p>
            <a:pPr>
              <a:lnSpc>
                <a:spcPct val="100000"/>
              </a:lnSpc>
              <a:spcBef>
                <a:spcPts val="139"/>
              </a:spcBef>
              <a:buNone/>
              <a:tabLst>
                <a:tab algn="l" pos="0"/>
              </a:tabLst>
            </a:pPr>
            <a:r>
              <a:rPr b="0" lang="en-US" sz="700" spc="-1" strike="noStrike">
                <a:solidFill>
                  <a:srgbClr val="000000"/>
                </a:solidFill>
                <a:latin typeface="Arial"/>
                <a:ea typeface="Arial"/>
              </a:rPr>
              <a:t>----------------------------------------------------------------------------------------------------------------------------------------------------------------------------------------------------------------------</a:t>
            </a:r>
            <a:endParaRPr b="0" lang="en-US" sz="700" spc="-1" strike="noStrike">
              <a:latin typeface="Arial"/>
            </a:endParaRPr>
          </a:p>
          <a:p>
            <a:pPr>
              <a:lnSpc>
                <a:spcPct val="100000"/>
              </a:lnSpc>
              <a:spcBef>
                <a:spcPts val="60"/>
              </a:spcBef>
              <a:buNone/>
              <a:tabLst>
                <a:tab algn="l" pos="0"/>
              </a:tabLst>
            </a:pPr>
            <a:endParaRPr b="0" lang="en-US" sz="300" spc="-1" strike="noStrike">
              <a:latin typeface="Arial"/>
            </a:endParaRPr>
          </a:p>
          <a:p>
            <a:pPr algn="just">
              <a:lnSpc>
                <a:spcPct val="100000"/>
              </a:lnSpc>
              <a:spcBef>
                <a:spcPts val="221"/>
              </a:spcBef>
              <a:buNone/>
              <a:tabLst>
                <a:tab algn="l" pos="0"/>
              </a:tabLst>
            </a:pP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Google Shape;103;p3"/>
          <p:cNvSpPr/>
          <p:nvPr/>
        </p:nvSpPr>
        <p:spPr>
          <a:xfrm>
            <a:off x="171360" y="190800"/>
            <a:ext cx="6513480" cy="8798760"/>
          </a:xfrm>
          <a:prstGeom prst="rect">
            <a:avLst/>
          </a:prstGeom>
          <a:noFill/>
          <a:ln w="0">
            <a:noFill/>
          </a:ln>
        </p:spPr>
        <p:style>
          <a:lnRef idx="0"/>
          <a:fillRef idx="0"/>
          <a:effectRef idx="0"/>
          <a:fontRef idx="minor"/>
        </p:style>
        <p:txBody>
          <a:bodyPr lIns="90000" rIns="90000" tIns="45000" bIns="45000" anchor="t">
            <a:normAutofit/>
          </a:bodyPr>
          <a:p>
            <a:pPr algn="just">
              <a:lnSpc>
                <a:spcPct val="100000"/>
              </a:lnSpc>
              <a:buNone/>
              <a:tabLst>
                <a:tab algn="l" pos="0"/>
              </a:tabLst>
            </a:pPr>
            <a:r>
              <a:rPr b="1" lang="en-US" sz="1400" spc="-1" strike="noStrike">
                <a:solidFill>
                  <a:srgbClr val="000000"/>
                </a:solidFill>
                <a:latin typeface="Arial"/>
                <a:ea typeface="Arial"/>
              </a:rPr>
              <a:t>Figures</a:t>
            </a:r>
            <a:endParaRPr b="0" lang="en-US" sz="1400" spc="-1" strike="noStrike">
              <a:latin typeface="Arial"/>
            </a:endParaRPr>
          </a:p>
          <a:p>
            <a:pPr algn="just">
              <a:lnSpc>
                <a:spcPct val="100000"/>
              </a:lnSpc>
              <a:buNone/>
              <a:tabLst>
                <a:tab algn="l" pos="0"/>
              </a:tabLst>
            </a:pPr>
            <a:r>
              <a:rPr b="1" lang="en-US" sz="1100" spc="-1" strike="noStrike">
                <a:solidFill>
                  <a:srgbClr val="000000"/>
                </a:solidFill>
                <a:highlight>
                  <a:srgbClr val="ffff00"/>
                </a:highlight>
                <a:latin typeface="Arial"/>
                <a:ea typeface="Arial"/>
              </a:rPr>
              <a:t>[Checklist: </a:t>
            </a:r>
            <a:r>
              <a:rPr b="0" lang="en-US" sz="1100" spc="-1" strike="noStrike">
                <a:solidFill>
                  <a:srgbClr val="000000"/>
                </a:solidFill>
                <a:highlight>
                  <a:srgbClr val="ffff00"/>
                </a:highlight>
                <a:latin typeface="Arial"/>
                <a:ea typeface="Arial"/>
              </a:rPr>
              <a:t>concise title and legend; include labels and enough detail to be understood without the text; fonts and colors follow lab template, and the formatting is correct; no image duplications</a:t>
            </a:r>
            <a:r>
              <a:rPr b="1" lang="en-US" sz="1100" spc="-1" strike="noStrike">
                <a:solidFill>
                  <a:srgbClr val="000000"/>
                </a:solidFill>
                <a:highlight>
                  <a:srgbClr val="ffff00"/>
                </a:highlight>
                <a:latin typeface="Arial"/>
                <a:ea typeface="Arial"/>
              </a:rPr>
              <a:t>]</a:t>
            </a:r>
            <a:endParaRPr b="0" lang="en-US" sz="1100" spc="-1" strike="noStrike">
              <a:latin typeface="Arial"/>
            </a:endParaRPr>
          </a:p>
        </p:txBody>
      </p:sp>
      <p:pic>
        <p:nvPicPr>
          <p:cNvPr id="129" name="Google Shape;104;p3" descr=""/>
          <p:cNvPicPr/>
          <p:nvPr/>
        </p:nvPicPr>
        <p:blipFill>
          <a:blip r:embed="rId1"/>
          <a:stretch/>
        </p:blipFill>
        <p:spPr>
          <a:xfrm>
            <a:off x="0" y="134640"/>
            <a:ext cx="6856200" cy="88732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Google Shape;109;p4"/>
          <p:cNvSpPr/>
          <p:nvPr/>
        </p:nvSpPr>
        <p:spPr>
          <a:xfrm>
            <a:off x="4197240" y="4416120"/>
            <a:ext cx="1391400" cy="1977120"/>
          </a:xfrm>
          <a:prstGeom prst="rect">
            <a:avLst/>
          </a:prstGeom>
          <a:solidFill>
            <a:schemeClr val="lt1"/>
          </a:solidFill>
          <a:ln w="25400">
            <a:solidFill>
              <a:srgbClr val="f79646"/>
            </a:solidFill>
            <a:round/>
          </a:ln>
        </p:spPr>
        <p:style>
          <a:lnRef idx="0"/>
          <a:fillRef idx="0"/>
          <a:effectRef idx="0"/>
          <a:fontRef idx="minor"/>
        </p:style>
      </p:sp>
      <p:sp>
        <p:nvSpPr>
          <p:cNvPr id="131" name="Google Shape;110;p4"/>
          <p:cNvSpPr/>
          <p:nvPr/>
        </p:nvSpPr>
        <p:spPr>
          <a:xfrm>
            <a:off x="2461320" y="487080"/>
            <a:ext cx="19339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Graphical Abstract</a:t>
            </a:r>
            <a:endParaRPr b="0" lang="en-US" sz="1400" spc="-1" strike="noStrike">
              <a:latin typeface="Arial"/>
            </a:endParaRPr>
          </a:p>
        </p:txBody>
      </p:sp>
      <p:sp>
        <p:nvSpPr>
          <p:cNvPr id="132" name="Google Shape;111;p4"/>
          <p:cNvSpPr/>
          <p:nvPr/>
        </p:nvSpPr>
        <p:spPr>
          <a:xfrm>
            <a:off x="0" y="0"/>
            <a:ext cx="6856200" cy="5158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tabLst>
                <a:tab algn="l" pos="0"/>
              </a:tabLst>
            </a:pPr>
            <a:r>
              <a:rPr b="1" lang="en-US" sz="1400" spc="-1" strike="noStrike">
                <a:solidFill>
                  <a:srgbClr val="ff0000"/>
                </a:solidFill>
                <a:latin typeface="Arial"/>
                <a:ea typeface="Arial"/>
              </a:rPr>
              <a:t>PT-AML: Machine learning framework to identified personalized treatments for acute myeloid leukemia</a:t>
            </a:r>
            <a:endParaRPr b="0" lang="en-US" sz="1400" spc="-1" strike="noStrike">
              <a:latin typeface="Arial"/>
            </a:endParaRPr>
          </a:p>
        </p:txBody>
      </p:sp>
      <p:grpSp>
        <p:nvGrpSpPr>
          <p:cNvPr id="133" name="Google Shape;112;p4"/>
          <p:cNvGrpSpPr/>
          <p:nvPr/>
        </p:nvGrpSpPr>
        <p:grpSpPr>
          <a:xfrm>
            <a:off x="10800" y="3821040"/>
            <a:ext cx="1503720" cy="1434960"/>
            <a:chOff x="10800" y="3821040"/>
            <a:chExt cx="1503720" cy="1434960"/>
          </a:xfrm>
        </p:grpSpPr>
        <p:sp>
          <p:nvSpPr>
            <p:cNvPr id="134" name="Google Shape;113;p4"/>
            <p:cNvSpPr/>
            <p:nvPr/>
          </p:nvSpPr>
          <p:spPr>
            <a:xfrm>
              <a:off x="10800" y="3821040"/>
              <a:ext cx="1503720" cy="1434960"/>
            </a:xfrm>
            <a:prstGeom prst="ellipse">
              <a:avLst/>
            </a:prstGeom>
            <a:solidFill>
              <a:schemeClr val="lt1"/>
            </a:solidFill>
            <a:ln w="25400">
              <a:solidFill>
                <a:srgbClr val="f79646"/>
              </a:solidFill>
              <a:round/>
            </a:ln>
          </p:spPr>
          <p:style>
            <a:lnRef idx="0"/>
            <a:fillRef idx="0"/>
            <a:effectRef idx="0"/>
            <a:fontRef idx="minor"/>
          </p:style>
        </p:sp>
        <p:pic>
          <p:nvPicPr>
            <p:cNvPr id="135" name="Google Shape;114;p4" descr=""/>
            <p:cNvPicPr/>
            <p:nvPr/>
          </p:nvPicPr>
          <p:blipFill>
            <a:blip r:embed="rId1"/>
            <a:stretch/>
          </p:blipFill>
          <p:spPr>
            <a:xfrm rot="12956400">
              <a:off x="168120" y="4075920"/>
              <a:ext cx="418320" cy="186840"/>
            </a:xfrm>
            <a:prstGeom prst="rect">
              <a:avLst/>
            </a:prstGeom>
            <a:ln w="0">
              <a:noFill/>
            </a:ln>
          </p:spPr>
        </p:pic>
        <p:pic>
          <p:nvPicPr>
            <p:cNvPr id="136" name="Google Shape;115;p4" descr=""/>
            <p:cNvPicPr/>
            <p:nvPr/>
          </p:nvPicPr>
          <p:blipFill>
            <a:blip r:embed="rId2"/>
            <a:stretch/>
          </p:blipFill>
          <p:spPr>
            <a:xfrm rot="12956400">
              <a:off x="399960" y="3974400"/>
              <a:ext cx="418320" cy="186840"/>
            </a:xfrm>
            <a:prstGeom prst="rect">
              <a:avLst/>
            </a:prstGeom>
            <a:ln w="0">
              <a:noFill/>
            </a:ln>
          </p:spPr>
        </p:pic>
        <p:pic>
          <p:nvPicPr>
            <p:cNvPr id="137" name="Google Shape;116;p4" descr=""/>
            <p:cNvPicPr/>
            <p:nvPr/>
          </p:nvPicPr>
          <p:blipFill>
            <a:blip r:embed="rId3"/>
            <a:stretch/>
          </p:blipFill>
          <p:spPr>
            <a:xfrm rot="12956400">
              <a:off x="784080" y="3981240"/>
              <a:ext cx="418320" cy="186840"/>
            </a:xfrm>
            <a:prstGeom prst="rect">
              <a:avLst/>
            </a:prstGeom>
            <a:ln w="0">
              <a:noFill/>
            </a:ln>
          </p:spPr>
        </p:pic>
        <p:pic>
          <p:nvPicPr>
            <p:cNvPr id="138" name="Google Shape;117;p4" descr=""/>
            <p:cNvPicPr/>
            <p:nvPr/>
          </p:nvPicPr>
          <p:blipFill>
            <a:blip r:embed="rId4"/>
            <a:stretch/>
          </p:blipFill>
          <p:spPr>
            <a:xfrm rot="12956400">
              <a:off x="708480" y="4209840"/>
              <a:ext cx="418320" cy="186840"/>
            </a:xfrm>
            <a:prstGeom prst="rect">
              <a:avLst/>
            </a:prstGeom>
            <a:ln w="0">
              <a:noFill/>
            </a:ln>
          </p:spPr>
        </p:pic>
        <p:pic>
          <p:nvPicPr>
            <p:cNvPr id="139" name="Google Shape;118;p4" descr=""/>
            <p:cNvPicPr/>
            <p:nvPr/>
          </p:nvPicPr>
          <p:blipFill>
            <a:blip r:embed="rId5"/>
            <a:stretch/>
          </p:blipFill>
          <p:spPr>
            <a:xfrm rot="12956400">
              <a:off x="1070280" y="4315320"/>
              <a:ext cx="418320" cy="186840"/>
            </a:xfrm>
            <a:prstGeom prst="rect">
              <a:avLst/>
            </a:prstGeom>
            <a:ln w="0">
              <a:noFill/>
            </a:ln>
          </p:spPr>
        </p:pic>
        <p:pic>
          <p:nvPicPr>
            <p:cNvPr id="140" name="Google Shape;119;p4" descr=""/>
            <p:cNvPicPr/>
            <p:nvPr/>
          </p:nvPicPr>
          <p:blipFill>
            <a:blip r:embed="rId6"/>
            <a:stretch/>
          </p:blipFill>
          <p:spPr>
            <a:xfrm rot="12956400">
              <a:off x="113760" y="4304520"/>
              <a:ext cx="418320" cy="186840"/>
            </a:xfrm>
            <a:prstGeom prst="rect">
              <a:avLst/>
            </a:prstGeom>
            <a:ln w="0">
              <a:noFill/>
            </a:ln>
          </p:spPr>
        </p:pic>
        <p:pic>
          <p:nvPicPr>
            <p:cNvPr id="141" name="Google Shape;120;p4" descr=""/>
            <p:cNvPicPr/>
            <p:nvPr/>
          </p:nvPicPr>
          <p:blipFill>
            <a:blip r:embed="rId7"/>
            <a:stretch/>
          </p:blipFill>
          <p:spPr>
            <a:xfrm rot="12956400">
              <a:off x="59400" y="4475160"/>
              <a:ext cx="418320" cy="186840"/>
            </a:xfrm>
            <a:prstGeom prst="rect">
              <a:avLst/>
            </a:prstGeom>
            <a:ln w="0">
              <a:noFill/>
            </a:ln>
          </p:spPr>
        </p:pic>
        <p:pic>
          <p:nvPicPr>
            <p:cNvPr id="142" name="Google Shape;121;p4" descr=""/>
            <p:cNvPicPr/>
            <p:nvPr/>
          </p:nvPicPr>
          <p:blipFill>
            <a:blip r:embed="rId8"/>
            <a:stretch/>
          </p:blipFill>
          <p:spPr>
            <a:xfrm rot="12956400">
              <a:off x="113760" y="4783320"/>
              <a:ext cx="418320" cy="186840"/>
            </a:xfrm>
            <a:prstGeom prst="rect">
              <a:avLst/>
            </a:prstGeom>
            <a:ln w="0">
              <a:noFill/>
            </a:ln>
          </p:spPr>
        </p:pic>
        <p:pic>
          <p:nvPicPr>
            <p:cNvPr id="143" name="Google Shape;122;p4" descr=""/>
            <p:cNvPicPr/>
            <p:nvPr/>
          </p:nvPicPr>
          <p:blipFill>
            <a:blip r:embed="rId9"/>
            <a:stretch/>
          </p:blipFill>
          <p:spPr>
            <a:xfrm rot="12956400">
              <a:off x="382680" y="4772520"/>
              <a:ext cx="418320" cy="186840"/>
            </a:xfrm>
            <a:prstGeom prst="rect">
              <a:avLst/>
            </a:prstGeom>
            <a:ln w="0">
              <a:noFill/>
            </a:ln>
          </p:spPr>
        </p:pic>
        <p:pic>
          <p:nvPicPr>
            <p:cNvPr id="144" name="Google Shape;123;p4" descr=""/>
            <p:cNvPicPr/>
            <p:nvPr/>
          </p:nvPicPr>
          <p:blipFill>
            <a:blip r:embed="rId10"/>
            <a:stretch/>
          </p:blipFill>
          <p:spPr>
            <a:xfrm rot="12956400">
              <a:off x="440640" y="4609080"/>
              <a:ext cx="418320" cy="186840"/>
            </a:xfrm>
            <a:prstGeom prst="rect">
              <a:avLst/>
            </a:prstGeom>
            <a:ln w="0">
              <a:noFill/>
            </a:ln>
          </p:spPr>
        </p:pic>
        <p:pic>
          <p:nvPicPr>
            <p:cNvPr id="145" name="Google Shape;124;p4" descr=""/>
            <p:cNvPicPr/>
            <p:nvPr/>
          </p:nvPicPr>
          <p:blipFill>
            <a:blip r:embed="rId11"/>
            <a:stretch/>
          </p:blipFill>
          <p:spPr>
            <a:xfrm rot="12956400">
              <a:off x="589680" y="4340520"/>
              <a:ext cx="418320" cy="186840"/>
            </a:xfrm>
            <a:prstGeom prst="rect">
              <a:avLst/>
            </a:prstGeom>
            <a:ln w="0">
              <a:noFill/>
            </a:ln>
          </p:spPr>
        </p:pic>
        <p:pic>
          <p:nvPicPr>
            <p:cNvPr id="146" name="Google Shape;125;p4" descr=""/>
            <p:cNvPicPr/>
            <p:nvPr/>
          </p:nvPicPr>
          <p:blipFill>
            <a:blip r:embed="rId12"/>
            <a:stretch/>
          </p:blipFill>
          <p:spPr>
            <a:xfrm rot="12956400">
              <a:off x="520200" y="4482000"/>
              <a:ext cx="418320" cy="186840"/>
            </a:xfrm>
            <a:prstGeom prst="rect">
              <a:avLst/>
            </a:prstGeom>
            <a:ln w="0">
              <a:noFill/>
            </a:ln>
          </p:spPr>
        </p:pic>
        <p:pic>
          <p:nvPicPr>
            <p:cNvPr id="147" name="Google Shape;126;p4" descr=""/>
            <p:cNvPicPr/>
            <p:nvPr/>
          </p:nvPicPr>
          <p:blipFill>
            <a:blip r:embed="rId13"/>
            <a:stretch/>
          </p:blipFill>
          <p:spPr>
            <a:xfrm rot="12956400">
              <a:off x="1001880" y="4514760"/>
              <a:ext cx="418320" cy="186840"/>
            </a:xfrm>
            <a:prstGeom prst="rect">
              <a:avLst/>
            </a:prstGeom>
            <a:ln w="0">
              <a:noFill/>
            </a:ln>
          </p:spPr>
        </p:pic>
        <p:pic>
          <p:nvPicPr>
            <p:cNvPr id="148" name="Google Shape;127;p4" descr=""/>
            <p:cNvPicPr/>
            <p:nvPr/>
          </p:nvPicPr>
          <p:blipFill>
            <a:blip r:embed="rId14"/>
            <a:stretch/>
          </p:blipFill>
          <p:spPr>
            <a:xfrm rot="12956400">
              <a:off x="925560" y="4649040"/>
              <a:ext cx="418320" cy="186840"/>
            </a:xfrm>
            <a:prstGeom prst="rect">
              <a:avLst/>
            </a:prstGeom>
            <a:ln w="0">
              <a:noFill/>
            </a:ln>
          </p:spPr>
        </p:pic>
        <p:pic>
          <p:nvPicPr>
            <p:cNvPr id="149" name="Google Shape;128;p4" descr=""/>
            <p:cNvPicPr/>
            <p:nvPr/>
          </p:nvPicPr>
          <p:blipFill>
            <a:blip r:embed="rId15"/>
            <a:stretch/>
          </p:blipFill>
          <p:spPr>
            <a:xfrm rot="12956400">
              <a:off x="818280" y="4797720"/>
              <a:ext cx="418320" cy="186840"/>
            </a:xfrm>
            <a:prstGeom prst="rect">
              <a:avLst/>
            </a:prstGeom>
            <a:ln w="0">
              <a:noFill/>
            </a:ln>
          </p:spPr>
        </p:pic>
        <p:pic>
          <p:nvPicPr>
            <p:cNvPr id="150" name="Google Shape;129;p4" descr=""/>
            <p:cNvPicPr/>
            <p:nvPr/>
          </p:nvPicPr>
          <p:blipFill>
            <a:blip r:embed="rId16"/>
            <a:stretch/>
          </p:blipFill>
          <p:spPr>
            <a:xfrm rot="12956400">
              <a:off x="707400" y="4913640"/>
              <a:ext cx="418320" cy="223920"/>
            </a:xfrm>
            <a:prstGeom prst="rect">
              <a:avLst/>
            </a:prstGeom>
            <a:ln w="0">
              <a:noFill/>
            </a:ln>
          </p:spPr>
        </p:pic>
      </p:grpSp>
      <p:sp>
        <p:nvSpPr>
          <p:cNvPr id="151" name="Google Shape;130;p4"/>
          <p:cNvSpPr/>
          <p:nvPr/>
        </p:nvSpPr>
        <p:spPr>
          <a:xfrm>
            <a:off x="32760" y="1621800"/>
            <a:ext cx="1391400" cy="1816200"/>
          </a:xfrm>
          <a:prstGeom prst="rect">
            <a:avLst/>
          </a:prstGeom>
          <a:solidFill>
            <a:schemeClr val="lt1"/>
          </a:solidFill>
          <a:ln w="25400">
            <a:solidFill>
              <a:srgbClr val="f79646"/>
            </a:solidFill>
            <a:round/>
          </a:ln>
        </p:spPr>
        <p:style>
          <a:lnRef idx="0"/>
          <a:fillRef idx="0"/>
          <a:effectRef idx="0"/>
          <a:fontRef idx="minor"/>
        </p:style>
      </p:sp>
      <p:grpSp>
        <p:nvGrpSpPr>
          <p:cNvPr id="152" name="Google Shape;131;p4"/>
          <p:cNvGrpSpPr/>
          <p:nvPr/>
        </p:nvGrpSpPr>
        <p:grpSpPr>
          <a:xfrm>
            <a:off x="32760" y="5405760"/>
            <a:ext cx="1410120" cy="1287000"/>
            <a:chOff x="32760" y="5405760"/>
            <a:chExt cx="1410120" cy="1287000"/>
          </a:xfrm>
        </p:grpSpPr>
        <p:sp>
          <p:nvSpPr>
            <p:cNvPr id="153" name="Google Shape;132;p4"/>
            <p:cNvSpPr/>
            <p:nvPr/>
          </p:nvSpPr>
          <p:spPr>
            <a:xfrm>
              <a:off x="32760" y="5421240"/>
              <a:ext cx="1410120" cy="1271520"/>
            </a:xfrm>
            <a:prstGeom prst="rect">
              <a:avLst/>
            </a:prstGeom>
            <a:solidFill>
              <a:schemeClr val="lt1"/>
            </a:solidFill>
            <a:ln w="25400">
              <a:solidFill>
                <a:srgbClr val="f79646"/>
              </a:solidFill>
              <a:round/>
            </a:ln>
          </p:spPr>
          <p:style>
            <a:lnRef idx="0"/>
            <a:fillRef idx="0"/>
            <a:effectRef idx="0"/>
            <a:fontRef idx="minor"/>
          </p:style>
        </p:sp>
        <p:pic>
          <p:nvPicPr>
            <p:cNvPr id="154" name="Google Shape;133;p4" descr="Icon&#10;&#10;Description automatically generated"/>
            <p:cNvPicPr/>
            <p:nvPr/>
          </p:nvPicPr>
          <p:blipFill>
            <a:blip r:embed="rId17"/>
            <a:srcRect l="18383" t="8546" r="16026" b="13934"/>
            <a:stretch/>
          </p:blipFill>
          <p:spPr>
            <a:xfrm>
              <a:off x="55440" y="5405760"/>
              <a:ext cx="531720" cy="647640"/>
            </a:xfrm>
            <a:prstGeom prst="rect">
              <a:avLst/>
            </a:prstGeom>
            <a:ln w="0">
              <a:noFill/>
            </a:ln>
          </p:spPr>
        </p:pic>
        <p:pic>
          <p:nvPicPr>
            <p:cNvPr id="155" name="Google Shape;134;p4" descr="Storytelling with solid fill"/>
            <p:cNvPicPr/>
            <p:nvPr/>
          </p:nvPicPr>
          <p:blipFill>
            <a:blip r:embed="rId18"/>
            <a:stretch/>
          </p:blipFill>
          <p:spPr>
            <a:xfrm>
              <a:off x="102600" y="6121440"/>
              <a:ext cx="531720" cy="531720"/>
            </a:xfrm>
            <a:prstGeom prst="rect">
              <a:avLst/>
            </a:prstGeom>
            <a:ln w="0">
              <a:noFill/>
            </a:ln>
          </p:spPr>
        </p:pic>
        <p:sp>
          <p:nvSpPr>
            <p:cNvPr id="156" name="Google Shape;135;p4"/>
            <p:cNvSpPr/>
            <p:nvPr/>
          </p:nvSpPr>
          <p:spPr>
            <a:xfrm>
              <a:off x="844560" y="6120360"/>
              <a:ext cx="67320" cy="80640"/>
            </a:xfrm>
            <a:custGeom>
              <a:avLst/>
              <a:gdLst/>
              <a:ahLst/>
              <a:rect l="l" t="t" r="r" b="b"/>
              <a:pathLst>
                <a:path w="321468" h="321468">
                  <a:moveTo>
                    <a:pt x="321469" y="160734"/>
                  </a:moveTo>
                  <a:cubicBezTo>
                    <a:pt x="321469" y="249506"/>
                    <a:pt x="249505" y="321469"/>
                    <a:pt x="160734" y="321469"/>
                  </a:cubicBezTo>
                  <a:cubicBezTo>
                    <a:pt x="71963" y="321469"/>
                    <a:pt x="0" y="249506"/>
                    <a:pt x="0" y="160734"/>
                  </a:cubicBezTo>
                  <a:cubicBezTo>
                    <a:pt x="0" y="71963"/>
                    <a:pt x="71963" y="0"/>
                    <a:pt x="160734" y="0"/>
                  </a:cubicBezTo>
                  <a:cubicBezTo>
                    <a:pt x="249505" y="0"/>
                    <a:pt x="321469" y="71963"/>
                    <a:pt x="321469" y="160734"/>
                  </a:cubicBezTo>
                  <a:close/>
                </a:path>
              </a:pathLst>
            </a:custGeom>
            <a:solidFill>
              <a:srgbClr val="e6e6e6"/>
            </a:solidFill>
            <a:ln w="9525">
              <a:solidFill>
                <a:srgbClr val="000000"/>
              </a:solidFill>
              <a:miter/>
            </a:ln>
          </p:spPr>
          <p:style>
            <a:lnRef idx="0"/>
            <a:fillRef idx="0"/>
            <a:effectRef idx="0"/>
            <a:fontRef idx="minor"/>
          </p:style>
        </p:sp>
        <p:sp>
          <p:nvSpPr>
            <p:cNvPr id="157" name="Google Shape;136;p4"/>
            <p:cNvSpPr/>
            <p:nvPr/>
          </p:nvSpPr>
          <p:spPr>
            <a:xfrm>
              <a:off x="927360" y="6125040"/>
              <a:ext cx="41040" cy="49680"/>
            </a:xfrm>
            <a:custGeom>
              <a:avLst/>
              <a:gdLst/>
              <a:ahLst/>
              <a:rect l="l" t="t" r="r" b="b"/>
              <a:pathLst>
                <a:path w="200025" h="200025">
                  <a:moveTo>
                    <a:pt x="200025" y="100012"/>
                  </a:moveTo>
                  <a:cubicBezTo>
                    <a:pt x="200025" y="155248"/>
                    <a:pt x="155248" y="200025"/>
                    <a:pt x="100013" y="200025"/>
                  </a:cubicBezTo>
                  <a:cubicBezTo>
                    <a:pt x="44777" y="200025"/>
                    <a:pt x="0" y="155248"/>
                    <a:pt x="0" y="100013"/>
                  </a:cubicBezTo>
                  <a:cubicBezTo>
                    <a:pt x="0" y="44777"/>
                    <a:pt x="44777" y="0"/>
                    <a:pt x="100013" y="0"/>
                  </a:cubicBezTo>
                  <a:cubicBezTo>
                    <a:pt x="155248" y="0"/>
                    <a:pt x="200025" y="44777"/>
                    <a:pt x="200025" y="100012"/>
                  </a:cubicBezTo>
                  <a:close/>
                </a:path>
              </a:pathLst>
            </a:custGeom>
            <a:solidFill>
              <a:srgbClr val="e6e6e6"/>
            </a:solidFill>
            <a:ln w="9525">
              <a:solidFill>
                <a:srgbClr val="000000"/>
              </a:solidFill>
              <a:miter/>
            </a:ln>
          </p:spPr>
          <p:style>
            <a:lnRef idx="0"/>
            <a:fillRef idx="0"/>
            <a:effectRef idx="0"/>
            <a:fontRef idx="minor"/>
          </p:style>
        </p:sp>
        <p:grpSp>
          <p:nvGrpSpPr>
            <p:cNvPr id="158" name="Google Shape;137;p4"/>
            <p:cNvGrpSpPr/>
            <p:nvPr/>
          </p:nvGrpSpPr>
          <p:grpSpPr>
            <a:xfrm>
              <a:off x="794520" y="6222960"/>
              <a:ext cx="211320" cy="429840"/>
              <a:chOff x="794520" y="6222960"/>
              <a:chExt cx="211320" cy="429840"/>
            </a:xfrm>
          </p:grpSpPr>
          <p:sp>
            <p:nvSpPr>
              <p:cNvPr id="159" name="Google Shape;138;p4"/>
              <p:cNvSpPr/>
              <p:nvPr/>
            </p:nvSpPr>
            <p:spPr>
              <a:xfrm>
                <a:off x="794520" y="6500880"/>
                <a:ext cx="211320" cy="151920"/>
              </a:xfrm>
              <a:custGeom>
                <a:avLst/>
                <a:gdLst/>
                <a:ahLst/>
                <a:rect l="l" t="t" r="r" b="b"/>
                <a:pathLst>
                  <a:path w="991480" h="599117">
                    <a:moveTo>
                      <a:pt x="987143" y="421589"/>
                    </a:moveTo>
                    <a:lnTo>
                      <a:pt x="859256" y="56100"/>
                    </a:lnTo>
                    <a:cubicBezTo>
                      <a:pt x="859256" y="56100"/>
                      <a:pt x="691478" y="0"/>
                      <a:pt x="495739" y="0"/>
                    </a:cubicBezTo>
                    <a:cubicBezTo>
                      <a:pt x="300000" y="0"/>
                      <a:pt x="132222" y="56100"/>
                      <a:pt x="132222" y="56100"/>
                    </a:cubicBezTo>
                    <a:lnTo>
                      <a:pt x="4335" y="421589"/>
                    </a:lnTo>
                    <a:cubicBezTo>
                      <a:pt x="-18204" y="511764"/>
                      <a:pt x="49997" y="599118"/>
                      <a:pt x="142952" y="599118"/>
                    </a:cubicBezTo>
                    <a:lnTo>
                      <a:pt x="848540" y="599118"/>
                    </a:lnTo>
                    <a:cubicBezTo>
                      <a:pt x="941488" y="599118"/>
                      <a:pt x="1009689" y="511764"/>
                      <a:pt x="987143" y="421589"/>
                    </a:cubicBezTo>
                    <a:close/>
                  </a:path>
                </a:pathLst>
              </a:custGeom>
              <a:solidFill>
                <a:schemeClr val="dk1"/>
              </a:solidFill>
              <a:ln w="9525">
                <a:solidFill>
                  <a:srgbClr val="000000"/>
                </a:solidFill>
                <a:miter/>
              </a:ln>
            </p:spPr>
            <p:style>
              <a:lnRef idx="0"/>
              <a:fillRef idx="0"/>
              <a:effectRef idx="0"/>
              <a:fontRef idx="minor"/>
            </p:style>
          </p:sp>
          <p:sp>
            <p:nvSpPr>
              <p:cNvPr id="160" name="Google Shape;139;p4"/>
              <p:cNvSpPr/>
              <p:nvPr/>
            </p:nvSpPr>
            <p:spPr>
              <a:xfrm>
                <a:off x="822960" y="6246720"/>
                <a:ext cx="154440" cy="266760"/>
              </a:xfrm>
              <a:custGeom>
                <a:avLst/>
                <a:gdLst/>
                <a:ahLst/>
                <a:rect l="l" t="t" r="r" b="b"/>
                <a:pathLst>
                  <a:path w="727040" h="1047009">
                    <a:moveTo>
                      <a:pt x="542118" y="518465"/>
                    </a:moveTo>
                    <a:lnTo>
                      <a:pt x="542118" y="0"/>
                    </a:lnTo>
                    <a:lnTo>
                      <a:pt x="184930" y="0"/>
                    </a:lnTo>
                    <a:lnTo>
                      <a:pt x="184930" y="518465"/>
                    </a:lnTo>
                    <a:lnTo>
                      <a:pt x="0" y="1047009"/>
                    </a:lnTo>
                    <a:lnTo>
                      <a:pt x="727041" y="1047009"/>
                    </a:lnTo>
                    <a:close/>
                  </a:path>
                </a:pathLst>
              </a:custGeom>
              <a:solidFill>
                <a:srgbClr val="e4e4e4"/>
              </a:solidFill>
              <a:ln w="9525">
                <a:solidFill>
                  <a:srgbClr val="000000"/>
                </a:solidFill>
                <a:miter/>
              </a:ln>
            </p:spPr>
            <p:style>
              <a:lnRef idx="0"/>
              <a:fillRef idx="0"/>
              <a:effectRef idx="0"/>
              <a:fontRef idx="minor"/>
            </p:style>
          </p:sp>
          <p:sp>
            <p:nvSpPr>
              <p:cNvPr id="161" name="Google Shape;140;p4"/>
              <p:cNvSpPr/>
              <p:nvPr/>
            </p:nvSpPr>
            <p:spPr>
              <a:xfrm>
                <a:off x="955080" y="6547320"/>
                <a:ext cx="13680" cy="16560"/>
              </a:xfrm>
              <a:custGeom>
                <a:avLst/>
                <a:gdLst/>
                <a:ahLst/>
                <a:rect l="l" t="t" r="r" b="b"/>
                <a:pathLst>
                  <a:path w="71437" h="71437">
                    <a:moveTo>
                      <a:pt x="71437" y="35719"/>
                    </a:moveTo>
                    <a:cubicBezTo>
                      <a:pt x="71437" y="55446"/>
                      <a:pt x="55445" y="71438"/>
                      <a:pt x="35719" y="71438"/>
                    </a:cubicBezTo>
                    <a:cubicBezTo>
                      <a:pt x="15992" y="71438"/>
                      <a:pt x="0" y="55446"/>
                      <a:pt x="0" y="35719"/>
                    </a:cubicBezTo>
                    <a:cubicBezTo>
                      <a:pt x="0" y="15992"/>
                      <a:pt x="15992" y="0"/>
                      <a:pt x="35719" y="0"/>
                    </a:cubicBezTo>
                    <a:cubicBezTo>
                      <a:pt x="55445" y="0"/>
                      <a:pt x="71437" y="15992"/>
                      <a:pt x="71437" y="35719"/>
                    </a:cubicBezTo>
                    <a:close/>
                  </a:path>
                </a:pathLst>
              </a:custGeom>
              <a:solidFill>
                <a:srgbClr val="ffffff"/>
              </a:solidFill>
              <a:ln w="9525">
                <a:solidFill>
                  <a:srgbClr val="000000"/>
                </a:solidFill>
                <a:miter/>
              </a:ln>
            </p:spPr>
            <p:style>
              <a:lnRef idx="0"/>
              <a:fillRef idx="0"/>
              <a:effectRef idx="0"/>
              <a:fontRef idx="minor"/>
            </p:style>
          </p:sp>
          <p:sp>
            <p:nvSpPr>
              <p:cNvPr id="162" name="Google Shape;141;p4"/>
              <p:cNvSpPr/>
              <p:nvPr/>
            </p:nvSpPr>
            <p:spPr>
              <a:xfrm>
                <a:off x="932040" y="6575040"/>
                <a:ext cx="21240" cy="25560"/>
              </a:xfrm>
              <a:custGeom>
                <a:avLst/>
                <a:gdLst/>
                <a:ahLst/>
                <a:rect l="l" t="t" r="r" b="b"/>
                <a:pathLst>
                  <a:path w="107156" h="107156">
                    <a:moveTo>
                      <a:pt x="107156" y="53578"/>
                    </a:moveTo>
                    <a:cubicBezTo>
                      <a:pt x="107156" y="83169"/>
                      <a:pt x="83168" y="107156"/>
                      <a:pt x="53578" y="107156"/>
                    </a:cubicBezTo>
                    <a:cubicBezTo>
                      <a:pt x="23987" y="107156"/>
                      <a:pt x="0" y="83169"/>
                      <a:pt x="0" y="53578"/>
                    </a:cubicBezTo>
                    <a:cubicBezTo>
                      <a:pt x="0" y="23988"/>
                      <a:pt x="23987" y="0"/>
                      <a:pt x="53578" y="0"/>
                    </a:cubicBezTo>
                    <a:cubicBezTo>
                      <a:pt x="83168" y="0"/>
                      <a:pt x="107156" y="23988"/>
                      <a:pt x="107156" y="53578"/>
                    </a:cubicBezTo>
                    <a:close/>
                  </a:path>
                </a:pathLst>
              </a:custGeom>
              <a:solidFill>
                <a:srgbClr val="ffffff"/>
              </a:solidFill>
              <a:ln w="9525">
                <a:solidFill>
                  <a:srgbClr val="000000"/>
                </a:solidFill>
                <a:miter/>
              </a:ln>
            </p:spPr>
            <p:style>
              <a:lnRef idx="0"/>
              <a:fillRef idx="0"/>
              <a:effectRef idx="0"/>
              <a:fontRef idx="minor"/>
            </p:style>
          </p:sp>
          <p:sp>
            <p:nvSpPr>
              <p:cNvPr id="163" name="Google Shape;142;p4"/>
              <p:cNvSpPr/>
              <p:nvPr/>
            </p:nvSpPr>
            <p:spPr>
              <a:xfrm>
                <a:off x="879840" y="6222960"/>
                <a:ext cx="40320" cy="112680"/>
              </a:xfrm>
              <a:custGeom>
                <a:avLst/>
                <a:gdLst/>
                <a:ahLst/>
                <a:rect l="l" t="t" r="r" b="b"/>
                <a:pathLst>
                  <a:path w="196453" h="446527">
                    <a:moveTo>
                      <a:pt x="0" y="0"/>
                    </a:moveTo>
                    <a:lnTo>
                      <a:pt x="196453" y="0"/>
                    </a:lnTo>
                    <a:lnTo>
                      <a:pt x="196453" y="446527"/>
                    </a:lnTo>
                    <a:lnTo>
                      <a:pt x="0" y="446527"/>
                    </a:lnTo>
                    <a:close/>
                  </a:path>
                </a:pathLst>
              </a:custGeom>
              <a:solidFill>
                <a:srgbClr val="c4c4c4"/>
              </a:solidFill>
              <a:ln w="9525">
                <a:solidFill>
                  <a:srgbClr val="000000"/>
                </a:solidFill>
                <a:miter/>
              </a:ln>
            </p:spPr>
            <p:style>
              <a:lnRef idx="0"/>
              <a:fillRef idx="0"/>
              <a:effectRef idx="0"/>
              <a:fontRef idx="minor"/>
            </p:style>
          </p:sp>
          <p:sp>
            <p:nvSpPr>
              <p:cNvPr id="164" name="Google Shape;143;p4"/>
              <p:cNvSpPr/>
              <p:nvPr/>
            </p:nvSpPr>
            <p:spPr>
              <a:xfrm>
                <a:off x="853200" y="6240240"/>
                <a:ext cx="94320" cy="16560"/>
              </a:xfrm>
              <a:custGeom>
                <a:avLst/>
                <a:gdLst/>
                <a:ahLst/>
                <a:rect l="l" t="t" r="r" b="b"/>
                <a:pathLst>
                  <a:path w="446484" h="71437">
                    <a:moveTo>
                      <a:pt x="417909" y="71438"/>
                    </a:moveTo>
                    <a:lnTo>
                      <a:pt x="28575" y="71438"/>
                    </a:lnTo>
                    <a:cubicBezTo>
                      <a:pt x="12794" y="71438"/>
                      <a:pt x="0" y="58643"/>
                      <a:pt x="0" y="42863"/>
                    </a:cubicBezTo>
                    <a:lnTo>
                      <a:pt x="0" y="28575"/>
                    </a:lnTo>
                    <a:cubicBezTo>
                      <a:pt x="0" y="12795"/>
                      <a:pt x="12794" y="0"/>
                      <a:pt x="28575" y="0"/>
                    </a:cubicBezTo>
                    <a:lnTo>
                      <a:pt x="417909" y="0"/>
                    </a:lnTo>
                    <a:cubicBezTo>
                      <a:pt x="433690" y="0"/>
                      <a:pt x="446484" y="12795"/>
                      <a:pt x="446484" y="28575"/>
                    </a:cubicBezTo>
                    <a:lnTo>
                      <a:pt x="446484" y="42863"/>
                    </a:lnTo>
                    <a:cubicBezTo>
                      <a:pt x="446484" y="58643"/>
                      <a:pt x="433690" y="71438"/>
                      <a:pt x="417909" y="71438"/>
                    </a:cubicBezTo>
                    <a:close/>
                  </a:path>
                </a:pathLst>
              </a:custGeom>
              <a:solidFill>
                <a:srgbClr val="e4e4e4"/>
              </a:solidFill>
              <a:ln w="9525">
                <a:solidFill>
                  <a:srgbClr val="000000"/>
                </a:solidFill>
                <a:miter/>
              </a:ln>
            </p:spPr>
            <p:style>
              <a:lnRef idx="0"/>
              <a:fillRef idx="0"/>
              <a:effectRef idx="0"/>
              <a:fontRef idx="minor"/>
            </p:style>
          </p:sp>
        </p:grpSp>
        <p:grpSp>
          <p:nvGrpSpPr>
            <p:cNvPr id="165" name="Google Shape;144;p4"/>
            <p:cNvGrpSpPr/>
            <p:nvPr/>
          </p:nvGrpSpPr>
          <p:grpSpPr>
            <a:xfrm>
              <a:off x="748080" y="5543640"/>
              <a:ext cx="418320" cy="475200"/>
              <a:chOff x="748080" y="5543640"/>
              <a:chExt cx="418320" cy="475200"/>
            </a:xfrm>
          </p:grpSpPr>
          <p:sp>
            <p:nvSpPr>
              <p:cNvPr id="166" name="Google Shape;145;p4"/>
              <p:cNvSpPr/>
              <p:nvPr/>
            </p:nvSpPr>
            <p:spPr>
              <a:xfrm>
                <a:off x="748080" y="5852520"/>
                <a:ext cx="336240" cy="166320"/>
              </a:xfrm>
              <a:custGeom>
                <a:avLst/>
                <a:gdLst/>
                <a:ahLst/>
                <a:rect l="l" t="t" r="r" b="b"/>
                <a:pathLst>
                  <a:path w="1071562" h="591981">
                    <a:moveTo>
                      <a:pt x="64" y="53992"/>
                    </a:moveTo>
                    <a:cubicBezTo>
                      <a:pt x="50" y="54735"/>
                      <a:pt x="0" y="55457"/>
                      <a:pt x="0" y="56200"/>
                    </a:cubicBezTo>
                    <a:lnTo>
                      <a:pt x="0" y="56200"/>
                    </a:lnTo>
                    <a:cubicBezTo>
                      <a:pt x="0" y="352101"/>
                      <a:pt x="239880" y="591981"/>
                      <a:pt x="535781" y="591981"/>
                    </a:cubicBezTo>
                    <a:lnTo>
                      <a:pt x="535781" y="591981"/>
                    </a:lnTo>
                    <a:cubicBezTo>
                      <a:pt x="831690" y="591981"/>
                      <a:pt x="1071563" y="352101"/>
                      <a:pt x="1071563" y="56200"/>
                    </a:cubicBezTo>
                    <a:lnTo>
                      <a:pt x="1071563" y="56200"/>
                    </a:lnTo>
                    <a:cubicBezTo>
                      <a:pt x="1071563" y="55457"/>
                      <a:pt x="1071512" y="54735"/>
                      <a:pt x="1071512" y="53992"/>
                    </a:cubicBezTo>
                    <a:cubicBezTo>
                      <a:pt x="1071512" y="53992"/>
                      <a:pt x="767717" y="0"/>
                      <a:pt x="535781" y="0"/>
                    </a:cubicBezTo>
                    <a:cubicBezTo>
                      <a:pt x="303845" y="0"/>
                      <a:pt x="64" y="53992"/>
                      <a:pt x="64" y="53992"/>
                    </a:cubicBezTo>
                    <a:close/>
                  </a:path>
                </a:pathLst>
              </a:custGeom>
              <a:solidFill>
                <a:srgbClr val="c4c4c4"/>
              </a:solidFill>
              <a:ln w="9525">
                <a:solidFill>
                  <a:srgbClr val="000000"/>
                </a:solidFill>
                <a:miter/>
              </a:ln>
            </p:spPr>
            <p:style>
              <a:lnRef idx="0"/>
              <a:fillRef idx="0"/>
              <a:effectRef idx="0"/>
              <a:fontRef idx="minor"/>
            </p:style>
          </p:sp>
          <p:sp>
            <p:nvSpPr>
              <p:cNvPr id="167" name="Google Shape;146;p4"/>
              <p:cNvSpPr/>
              <p:nvPr/>
            </p:nvSpPr>
            <p:spPr>
              <a:xfrm>
                <a:off x="748080" y="5568840"/>
                <a:ext cx="395280" cy="297000"/>
              </a:xfrm>
              <a:custGeom>
                <a:avLst/>
                <a:gdLst/>
                <a:ahLst/>
                <a:rect l="l" t="t" r="r" b="b"/>
                <a:pathLst>
                  <a:path w="1258077" h="1052038">
                    <a:moveTo>
                      <a:pt x="1224489" y="443705"/>
                    </a:moveTo>
                    <a:lnTo>
                      <a:pt x="1197243" y="416459"/>
                    </a:lnTo>
                    <a:cubicBezTo>
                      <a:pt x="1152459" y="371675"/>
                      <a:pt x="1079850" y="371675"/>
                      <a:pt x="1035065" y="416459"/>
                    </a:cubicBezTo>
                    <a:lnTo>
                      <a:pt x="838898" y="612619"/>
                    </a:lnTo>
                    <a:cubicBezTo>
                      <a:pt x="800650" y="586316"/>
                      <a:pt x="758845" y="564821"/>
                      <a:pt x="714311" y="549069"/>
                    </a:cubicBezTo>
                    <a:lnTo>
                      <a:pt x="714311" y="0"/>
                    </a:lnTo>
                    <a:lnTo>
                      <a:pt x="357123" y="0"/>
                    </a:lnTo>
                    <a:lnTo>
                      <a:pt x="357123" y="549069"/>
                    </a:lnTo>
                    <a:cubicBezTo>
                      <a:pt x="149733" y="622406"/>
                      <a:pt x="936" y="819738"/>
                      <a:pt x="0" y="1052038"/>
                    </a:cubicBezTo>
                    <a:lnTo>
                      <a:pt x="1071448" y="1052038"/>
                    </a:lnTo>
                    <a:cubicBezTo>
                      <a:pt x="1071106" y="966921"/>
                      <a:pt x="1050839" y="886539"/>
                      <a:pt x="1015184" y="815188"/>
                    </a:cubicBezTo>
                    <a:lnTo>
                      <a:pt x="1224489" y="605883"/>
                    </a:lnTo>
                    <a:cubicBezTo>
                      <a:pt x="1269273" y="561099"/>
                      <a:pt x="1269273" y="488490"/>
                      <a:pt x="1224489" y="443705"/>
                    </a:cubicBezTo>
                    <a:close/>
                  </a:path>
                </a:pathLst>
              </a:custGeom>
              <a:solidFill>
                <a:srgbClr val="e4e4e4"/>
              </a:solidFill>
              <a:ln w="9525">
                <a:solidFill>
                  <a:srgbClr val="000000"/>
                </a:solidFill>
                <a:miter/>
              </a:ln>
            </p:spPr>
            <p:style>
              <a:lnRef idx="0"/>
              <a:fillRef idx="0"/>
              <a:effectRef idx="0"/>
              <a:fontRef idx="minor"/>
            </p:style>
          </p:sp>
          <p:sp>
            <p:nvSpPr>
              <p:cNvPr id="168" name="Google Shape;147;p4"/>
              <p:cNvSpPr/>
              <p:nvPr/>
            </p:nvSpPr>
            <p:spPr>
              <a:xfrm rot="2700000">
                <a:off x="1090800" y="5647680"/>
                <a:ext cx="39960" cy="114840"/>
              </a:xfrm>
              <a:custGeom>
                <a:avLst/>
                <a:gdLst/>
                <a:ahLst/>
                <a:rect l="l" t="t" r="r" b="b"/>
                <a:pathLst>
                  <a:path w="147338" h="369678">
                    <a:moveTo>
                      <a:pt x="0" y="0"/>
                    </a:moveTo>
                    <a:lnTo>
                      <a:pt x="147338" y="0"/>
                    </a:lnTo>
                    <a:lnTo>
                      <a:pt x="147338" y="369678"/>
                    </a:lnTo>
                    <a:lnTo>
                      <a:pt x="0" y="369678"/>
                    </a:lnTo>
                    <a:close/>
                  </a:path>
                </a:pathLst>
              </a:custGeom>
              <a:solidFill>
                <a:srgbClr val="c4c4c4"/>
              </a:solidFill>
              <a:ln w="9525">
                <a:solidFill>
                  <a:srgbClr val="000000"/>
                </a:solidFill>
                <a:miter/>
              </a:ln>
            </p:spPr>
            <p:style>
              <a:lnRef idx="0"/>
              <a:fillRef idx="0"/>
              <a:effectRef idx="0"/>
              <a:fontRef idx="minor"/>
            </p:style>
          </p:sp>
          <p:sp>
            <p:nvSpPr>
              <p:cNvPr id="169" name="Google Shape;148;p4"/>
              <p:cNvSpPr/>
              <p:nvPr/>
            </p:nvSpPr>
            <p:spPr>
              <a:xfrm>
                <a:off x="1087200" y="5657040"/>
                <a:ext cx="79200" cy="71280"/>
              </a:xfrm>
              <a:custGeom>
                <a:avLst/>
                <a:gdLst/>
                <a:ahLst/>
                <a:rect l="l" t="t" r="r" b="b"/>
                <a:pathLst>
                  <a:path w="256925" h="256919">
                    <a:moveTo>
                      <a:pt x="212755" y="250645"/>
                    </a:moveTo>
                    <a:lnTo>
                      <a:pt x="6279" y="44170"/>
                    </a:lnTo>
                    <a:cubicBezTo>
                      <a:pt x="-2093" y="35797"/>
                      <a:pt x="-2093" y="22231"/>
                      <a:pt x="6279" y="13859"/>
                    </a:cubicBezTo>
                    <a:lnTo>
                      <a:pt x="13859" y="6279"/>
                    </a:lnTo>
                    <a:cubicBezTo>
                      <a:pt x="22232" y="-2093"/>
                      <a:pt x="35797" y="-2093"/>
                      <a:pt x="44170" y="6279"/>
                    </a:cubicBezTo>
                    <a:lnTo>
                      <a:pt x="250646" y="212755"/>
                    </a:lnTo>
                    <a:cubicBezTo>
                      <a:pt x="259018" y="221128"/>
                      <a:pt x="259018" y="234694"/>
                      <a:pt x="250646" y="243066"/>
                    </a:cubicBezTo>
                    <a:lnTo>
                      <a:pt x="243066" y="250645"/>
                    </a:lnTo>
                    <a:cubicBezTo>
                      <a:pt x="234694" y="259011"/>
                      <a:pt x="221121" y="259011"/>
                      <a:pt x="212755" y="250645"/>
                    </a:cubicBezTo>
                    <a:close/>
                  </a:path>
                </a:pathLst>
              </a:custGeom>
              <a:solidFill>
                <a:srgbClr val="e4e4e4"/>
              </a:solidFill>
              <a:ln w="9525">
                <a:solidFill>
                  <a:srgbClr val="000000"/>
                </a:solidFill>
                <a:miter/>
              </a:ln>
            </p:spPr>
            <p:style>
              <a:lnRef idx="0"/>
              <a:fillRef idx="0"/>
              <a:effectRef idx="0"/>
              <a:fontRef idx="minor"/>
            </p:style>
          </p:sp>
          <p:sp>
            <p:nvSpPr>
              <p:cNvPr id="170" name="Google Shape;149;p4"/>
              <p:cNvSpPr/>
              <p:nvPr/>
            </p:nvSpPr>
            <p:spPr>
              <a:xfrm>
                <a:off x="867600" y="5887800"/>
                <a:ext cx="20880" cy="18360"/>
              </a:xfrm>
              <a:custGeom>
                <a:avLst/>
                <a:gdLst/>
                <a:ahLst/>
                <a:rect l="l" t="t" r="r" b="b"/>
                <a:pathLst>
                  <a:path w="71437" h="71437">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ffffff"/>
              </a:solidFill>
              <a:ln w="9525">
                <a:solidFill>
                  <a:srgbClr val="000000"/>
                </a:solidFill>
                <a:miter/>
              </a:ln>
            </p:spPr>
            <p:style>
              <a:lnRef idx="0"/>
              <a:fillRef idx="0"/>
              <a:effectRef idx="0"/>
              <a:fontRef idx="minor"/>
            </p:style>
          </p:sp>
          <p:sp>
            <p:nvSpPr>
              <p:cNvPr id="171" name="Google Shape;150;p4"/>
              <p:cNvSpPr/>
              <p:nvPr/>
            </p:nvSpPr>
            <p:spPr>
              <a:xfrm>
                <a:off x="841680" y="5939280"/>
                <a:ext cx="26280" cy="23400"/>
              </a:xfrm>
              <a:custGeom>
                <a:avLst/>
                <a:gdLst/>
                <a:ahLst/>
                <a:rect l="l" t="t" r="r" b="b"/>
                <a:pathLst>
                  <a:path w="89296" h="89296">
                    <a:moveTo>
                      <a:pt x="89297" y="44648"/>
                    </a:moveTo>
                    <a:cubicBezTo>
                      <a:pt x="89297" y="69307"/>
                      <a:pt x="69307" y="89297"/>
                      <a:pt x="44648" y="89297"/>
                    </a:cubicBezTo>
                    <a:cubicBezTo>
                      <a:pt x="19990" y="89297"/>
                      <a:pt x="0" y="69307"/>
                      <a:pt x="0" y="44648"/>
                    </a:cubicBezTo>
                    <a:cubicBezTo>
                      <a:pt x="0" y="19990"/>
                      <a:pt x="19990" y="0"/>
                      <a:pt x="44648" y="0"/>
                    </a:cubicBezTo>
                    <a:cubicBezTo>
                      <a:pt x="69307" y="0"/>
                      <a:pt x="89297" y="19990"/>
                      <a:pt x="89297" y="44648"/>
                    </a:cubicBezTo>
                    <a:close/>
                  </a:path>
                </a:pathLst>
              </a:custGeom>
              <a:solidFill>
                <a:srgbClr val="ffffff"/>
              </a:solidFill>
              <a:ln w="9525">
                <a:solidFill>
                  <a:srgbClr val="000000"/>
                </a:solidFill>
                <a:miter/>
              </a:ln>
            </p:spPr>
            <p:style>
              <a:lnRef idx="0"/>
              <a:fillRef idx="0"/>
              <a:effectRef idx="0"/>
              <a:fontRef idx="minor"/>
            </p:style>
          </p:sp>
          <p:sp>
            <p:nvSpPr>
              <p:cNvPr id="172" name="Google Shape;151;p4"/>
              <p:cNvSpPr/>
              <p:nvPr/>
            </p:nvSpPr>
            <p:spPr>
              <a:xfrm>
                <a:off x="955440" y="5891760"/>
                <a:ext cx="32040" cy="28800"/>
              </a:xfrm>
              <a:custGeom>
                <a:avLst/>
                <a:gdLst/>
                <a:ahLst/>
                <a:rect l="l" t="t" r="r" b="b"/>
                <a:pathLst>
                  <a:path w="107156" h="107156">
                    <a:moveTo>
                      <a:pt x="107156" y="53578"/>
                    </a:moveTo>
                    <a:cubicBezTo>
                      <a:pt x="107156" y="83169"/>
                      <a:pt x="83169" y="107156"/>
                      <a:pt x="53578" y="107156"/>
                    </a:cubicBezTo>
                    <a:cubicBezTo>
                      <a:pt x="23988" y="107156"/>
                      <a:pt x="0" y="83169"/>
                      <a:pt x="0" y="53578"/>
                    </a:cubicBezTo>
                    <a:cubicBezTo>
                      <a:pt x="0" y="23988"/>
                      <a:pt x="23988" y="0"/>
                      <a:pt x="53578" y="0"/>
                    </a:cubicBezTo>
                    <a:cubicBezTo>
                      <a:pt x="83169" y="0"/>
                      <a:pt x="107156" y="23988"/>
                      <a:pt x="107156" y="53578"/>
                    </a:cubicBezTo>
                    <a:close/>
                  </a:path>
                </a:pathLst>
              </a:custGeom>
              <a:solidFill>
                <a:srgbClr val="ffffff"/>
              </a:solidFill>
              <a:ln w="9525">
                <a:solidFill>
                  <a:srgbClr val="000000"/>
                </a:solidFill>
                <a:miter/>
              </a:ln>
            </p:spPr>
            <p:style>
              <a:lnRef idx="0"/>
              <a:fillRef idx="0"/>
              <a:effectRef idx="0"/>
              <a:fontRef idx="minor"/>
            </p:style>
          </p:sp>
          <p:sp>
            <p:nvSpPr>
              <p:cNvPr id="173" name="Google Shape;152;p4"/>
              <p:cNvSpPr/>
              <p:nvPr/>
            </p:nvSpPr>
            <p:spPr>
              <a:xfrm>
                <a:off x="885600" y="5543640"/>
                <a:ext cx="60120" cy="124920"/>
              </a:xfrm>
              <a:custGeom>
                <a:avLst/>
                <a:gdLst/>
                <a:ahLst/>
                <a:rect l="l" t="t" r="r" b="b"/>
                <a:pathLst>
                  <a:path w="196453" h="446527">
                    <a:moveTo>
                      <a:pt x="0" y="0"/>
                    </a:moveTo>
                    <a:lnTo>
                      <a:pt x="196453" y="0"/>
                    </a:lnTo>
                    <a:lnTo>
                      <a:pt x="196453" y="446527"/>
                    </a:lnTo>
                    <a:lnTo>
                      <a:pt x="0" y="446527"/>
                    </a:lnTo>
                    <a:close/>
                  </a:path>
                </a:pathLst>
              </a:custGeom>
              <a:solidFill>
                <a:srgbClr val="c4c4c4"/>
              </a:solidFill>
              <a:ln w="9525">
                <a:solidFill>
                  <a:srgbClr val="000000"/>
                </a:solidFill>
                <a:miter/>
              </a:ln>
            </p:spPr>
            <p:style>
              <a:lnRef idx="0"/>
              <a:fillRef idx="0"/>
              <a:effectRef idx="0"/>
              <a:fontRef idx="minor"/>
            </p:style>
          </p:sp>
        </p:grpSp>
      </p:grpSp>
      <p:pic>
        <p:nvPicPr>
          <p:cNvPr id="174" name="Google Shape;153;p4" descr="Computer with solid fill"/>
          <p:cNvPicPr/>
          <p:nvPr/>
        </p:nvPicPr>
        <p:blipFill>
          <a:blip r:embed="rId19"/>
          <a:stretch/>
        </p:blipFill>
        <p:spPr>
          <a:xfrm>
            <a:off x="2138400" y="3110040"/>
            <a:ext cx="1402560" cy="1402560"/>
          </a:xfrm>
          <a:prstGeom prst="rect">
            <a:avLst/>
          </a:prstGeom>
          <a:ln w="0">
            <a:noFill/>
          </a:ln>
        </p:spPr>
      </p:pic>
      <p:sp>
        <p:nvSpPr>
          <p:cNvPr id="175" name="Google Shape;154;p4"/>
          <p:cNvSpPr/>
          <p:nvPr/>
        </p:nvSpPr>
        <p:spPr>
          <a:xfrm>
            <a:off x="43200" y="1267920"/>
            <a:ext cx="2226960" cy="272160"/>
          </a:xfrm>
          <a:prstGeom prst="rect">
            <a:avLst/>
          </a:prstGeom>
          <a:solidFill>
            <a:schemeClr val="lt1"/>
          </a:solidFill>
          <a:ln w="25400">
            <a:solidFill>
              <a:srgbClr val="ffffff"/>
            </a:solidFill>
            <a:round/>
          </a:ln>
        </p:spPr>
        <p:style>
          <a:lnRef idx="0"/>
          <a:fillRef idx="0"/>
          <a:effectRef idx="0"/>
          <a:fontRef idx="minor"/>
        </p:style>
        <p:txBody>
          <a:bodyPr lIns="90000" rIns="90000" tIns="45000" bIns="45000" anchor="t">
            <a:spAutoFit/>
          </a:bodyPr>
          <a:p>
            <a:pPr>
              <a:lnSpc>
                <a:spcPct val="100000"/>
              </a:lnSpc>
              <a:buNone/>
              <a:tabLst>
                <a:tab algn="l" pos="0"/>
              </a:tabLst>
            </a:pPr>
            <a:r>
              <a:rPr b="1" lang="en-US" sz="1200" spc="-1" strike="noStrike">
                <a:solidFill>
                  <a:srgbClr val="000000"/>
                </a:solidFill>
                <a:latin typeface="Arial"/>
                <a:ea typeface="Arial"/>
              </a:rPr>
              <a:t>AML Multi-Omic Profiles</a:t>
            </a:r>
            <a:endParaRPr b="0" lang="en-US" sz="1200" spc="-1" strike="noStrike">
              <a:latin typeface="Arial"/>
            </a:endParaRPr>
          </a:p>
        </p:txBody>
      </p:sp>
      <p:sp>
        <p:nvSpPr>
          <p:cNvPr id="176" name="Google Shape;155;p4"/>
          <p:cNvSpPr/>
          <p:nvPr/>
        </p:nvSpPr>
        <p:spPr>
          <a:xfrm>
            <a:off x="331200" y="3537720"/>
            <a:ext cx="929880" cy="272160"/>
          </a:xfrm>
          <a:prstGeom prst="rect">
            <a:avLst/>
          </a:prstGeom>
          <a:solidFill>
            <a:schemeClr val="lt1"/>
          </a:solidFill>
          <a:ln w="25400">
            <a:solidFill>
              <a:srgbClr val="ffffff"/>
            </a:solidFill>
            <a:round/>
          </a:ln>
        </p:spPr>
        <p:style>
          <a:lnRef idx="0"/>
          <a:fillRef idx="0"/>
          <a:effectRef idx="0"/>
          <a:fontRef idx="minor"/>
        </p:style>
        <p:txBody>
          <a:bodyPr lIns="90000" rIns="90000" tIns="45000" bIns="45000" anchor="t">
            <a:spAutoFit/>
          </a:bodyPr>
          <a:p>
            <a:pPr>
              <a:lnSpc>
                <a:spcPct val="100000"/>
              </a:lnSpc>
              <a:buNone/>
              <a:tabLst>
                <a:tab algn="l" pos="0"/>
              </a:tabLst>
            </a:pPr>
            <a:r>
              <a:rPr b="1" lang="en-US" sz="1200" spc="-1" strike="noStrike">
                <a:solidFill>
                  <a:srgbClr val="000000"/>
                </a:solidFill>
                <a:latin typeface="Arial"/>
                <a:ea typeface="Arial"/>
              </a:rPr>
              <a:t>Drug Info</a:t>
            </a:r>
            <a:endParaRPr b="0" lang="en-US" sz="1200" spc="-1" strike="noStrike">
              <a:latin typeface="Arial"/>
            </a:endParaRPr>
          </a:p>
        </p:txBody>
      </p:sp>
      <p:sp>
        <p:nvSpPr>
          <p:cNvPr id="177" name="Google Shape;156;p4"/>
          <p:cNvSpPr/>
          <p:nvPr/>
        </p:nvSpPr>
        <p:spPr>
          <a:xfrm>
            <a:off x="99360" y="6716880"/>
            <a:ext cx="1410480" cy="272160"/>
          </a:xfrm>
          <a:prstGeom prst="rect">
            <a:avLst/>
          </a:prstGeom>
          <a:solidFill>
            <a:schemeClr val="lt1"/>
          </a:solidFill>
          <a:ln w="25400">
            <a:solidFill>
              <a:srgbClr val="ffffff"/>
            </a:solidFill>
            <a:round/>
          </a:ln>
        </p:spPr>
        <p:style>
          <a:lnRef idx="0"/>
          <a:fillRef idx="0"/>
          <a:effectRef idx="0"/>
          <a:fontRef idx="minor"/>
        </p:style>
        <p:txBody>
          <a:bodyPr lIns="90000" rIns="90000" tIns="45000" bIns="45000" anchor="t">
            <a:spAutoFit/>
          </a:bodyPr>
          <a:p>
            <a:pPr>
              <a:lnSpc>
                <a:spcPct val="100000"/>
              </a:lnSpc>
              <a:buNone/>
              <a:tabLst>
                <a:tab algn="l" pos="0"/>
              </a:tabLst>
            </a:pPr>
            <a:r>
              <a:rPr b="1" lang="en-US" sz="1200" spc="-1" strike="noStrike">
                <a:solidFill>
                  <a:srgbClr val="000000"/>
                </a:solidFill>
                <a:latin typeface="Arial"/>
                <a:ea typeface="Arial"/>
              </a:rPr>
              <a:t>Prior Knowledge</a:t>
            </a:r>
            <a:endParaRPr b="0" lang="en-US" sz="1200" spc="-1" strike="noStrike">
              <a:latin typeface="Arial"/>
            </a:endParaRPr>
          </a:p>
        </p:txBody>
      </p:sp>
      <p:sp>
        <p:nvSpPr>
          <p:cNvPr id="178" name="Google Shape;157;p4"/>
          <p:cNvSpPr/>
          <p:nvPr/>
        </p:nvSpPr>
        <p:spPr>
          <a:xfrm>
            <a:off x="1434240" y="2920680"/>
            <a:ext cx="757800" cy="574560"/>
          </a:xfrm>
          <a:prstGeom prst="curvedConnector3">
            <a:avLst>
              <a:gd name="adj1" fmla="val 50000"/>
            </a:avLst>
          </a:prstGeom>
          <a:noFill/>
          <a:ln w="28575">
            <a:solidFill>
              <a:srgbClr val="000000"/>
            </a:solidFill>
            <a:round/>
            <a:tailEnd len="med" type="stealth" w="med"/>
          </a:ln>
        </p:spPr>
        <p:style>
          <a:lnRef idx="0"/>
          <a:fillRef idx="0"/>
          <a:effectRef idx="0"/>
          <a:fontRef idx="minor"/>
        </p:style>
      </p:sp>
      <p:sp>
        <p:nvSpPr>
          <p:cNvPr id="179" name="Google Shape;158;p4"/>
          <p:cNvSpPr/>
          <p:nvPr/>
        </p:nvSpPr>
        <p:spPr>
          <a:xfrm flipH="1" rot="10800000">
            <a:off x="1442880" y="4172400"/>
            <a:ext cx="1145520" cy="1885320"/>
          </a:xfrm>
          <a:prstGeom prst="curvedConnector2">
            <a:avLst/>
          </a:prstGeom>
          <a:noFill/>
          <a:ln w="28575">
            <a:solidFill>
              <a:srgbClr val="000000"/>
            </a:solidFill>
            <a:round/>
            <a:tailEnd len="med" type="stealth" w="med"/>
          </a:ln>
        </p:spPr>
        <p:style>
          <a:lnRef idx="0"/>
          <a:fillRef idx="0"/>
          <a:effectRef idx="0"/>
          <a:fontRef idx="minor"/>
        </p:style>
      </p:sp>
      <p:sp>
        <p:nvSpPr>
          <p:cNvPr id="180" name="Google Shape;159;p4"/>
          <p:cNvSpPr/>
          <p:nvPr/>
        </p:nvSpPr>
        <p:spPr>
          <a:xfrm flipH="1" rot="10800000">
            <a:off x="1515960" y="4106520"/>
            <a:ext cx="652680" cy="432720"/>
          </a:xfrm>
          <a:custGeom>
            <a:avLst/>
            <a:gdLst/>
            <a:ahLst/>
            <a:rect l="l" t="t" r="r" b="b"/>
            <a:pathLst>
              <a:path w="21600" h="21600">
                <a:moveTo>
                  <a:pt x="0" y="0"/>
                </a:moveTo>
                <a:lnTo>
                  <a:pt x="21600" y="21600"/>
                </a:lnTo>
              </a:path>
            </a:pathLst>
          </a:custGeom>
          <a:noFill/>
          <a:ln w="28575">
            <a:solidFill>
              <a:srgbClr val="000000"/>
            </a:solidFill>
            <a:round/>
            <a:tailEnd len="med" type="stealth" w="med"/>
          </a:ln>
        </p:spPr>
        <p:style>
          <a:lnRef idx="0"/>
          <a:fillRef idx="0"/>
          <a:effectRef idx="0"/>
          <a:fontRef idx="minor"/>
        </p:style>
      </p:sp>
      <p:sp>
        <p:nvSpPr>
          <p:cNvPr id="181" name="Google Shape;160;p4"/>
          <p:cNvSpPr/>
          <p:nvPr/>
        </p:nvSpPr>
        <p:spPr>
          <a:xfrm>
            <a:off x="2068560" y="2921400"/>
            <a:ext cx="1671840" cy="454680"/>
          </a:xfrm>
          <a:prstGeom prst="rect">
            <a:avLst/>
          </a:prstGeom>
          <a:solidFill>
            <a:schemeClr val="lt1"/>
          </a:solidFill>
          <a:ln w="25400">
            <a:solidFill>
              <a:srgbClr val="ffffff"/>
            </a:solidFill>
            <a:round/>
          </a:ln>
        </p:spPr>
        <p:style>
          <a:lnRef idx="0"/>
          <a:fillRef idx="0"/>
          <a:effectRef idx="0"/>
          <a:fontRef idx="minor"/>
        </p:style>
        <p:txBody>
          <a:bodyPr lIns="90000" rIns="90000" tIns="45000" bIns="45000" anchor="t">
            <a:spAutoFit/>
          </a:bodyPr>
          <a:p>
            <a:pPr>
              <a:lnSpc>
                <a:spcPct val="100000"/>
              </a:lnSpc>
              <a:buNone/>
              <a:tabLst>
                <a:tab algn="l" pos="0"/>
              </a:tabLst>
            </a:pPr>
            <a:r>
              <a:rPr b="1" lang="en-US" sz="1200" spc="-1" strike="noStrike">
                <a:solidFill>
                  <a:srgbClr val="000000"/>
                </a:solidFill>
                <a:latin typeface="Arial"/>
                <a:ea typeface="Arial"/>
              </a:rPr>
              <a:t>Predictive Artificial Intelligence Oracle </a:t>
            </a:r>
            <a:endParaRPr b="0" lang="en-US" sz="1200" spc="-1" strike="noStrike">
              <a:latin typeface="Arial"/>
            </a:endParaRPr>
          </a:p>
        </p:txBody>
      </p:sp>
      <p:sp>
        <p:nvSpPr>
          <p:cNvPr id="182" name="Google Shape;161;p4"/>
          <p:cNvSpPr/>
          <p:nvPr/>
        </p:nvSpPr>
        <p:spPr>
          <a:xfrm>
            <a:off x="4100760" y="1385640"/>
            <a:ext cx="1671840" cy="272160"/>
          </a:xfrm>
          <a:prstGeom prst="rect">
            <a:avLst/>
          </a:prstGeom>
          <a:solidFill>
            <a:schemeClr val="lt1"/>
          </a:solidFill>
          <a:ln w="25400">
            <a:solidFill>
              <a:srgbClr val="ffffff"/>
            </a:solidFill>
            <a:round/>
          </a:ln>
        </p:spPr>
        <p:style>
          <a:lnRef idx="0"/>
          <a:fillRef idx="0"/>
          <a:effectRef idx="0"/>
          <a:fontRef idx="minor"/>
        </p:style>
        <p:txBody>
          <a:bodyPr lIns="90000" rIns="90000" tIns="45000" bIns="45000" anchor="t">
            <a:spAutoFit/>
          </a:bodyPr>
          <a:p>
            <a:pPr>
              <a:lnSpc>
                <a:spcPct val="100000"/>
              </a:lnSpc>
              <a:buNone/>
              <a:tabLst>
                <a:tab algn="l" pos="0"/>
              </a:tabLst>
            </a:pPr>
            <a:r>
              <a:rPr b="1" lang="en-US" sz="1200" spc="-1" strike="noStrike">
                <a:solidFill>
                  <a:srgbClr val="000000"/>
                </a:solidFill>
                <a:latin typeface="Arial"/>
                <a:ea typeface="Arial"/>
              </a:rPr>
              <a:t>Screening + Report</a:t>
            </a:r>
            <a:endParaRPr b="0" lang="en-US" sz="1200" spc="-1" strike="noStrike">
              <a:latin typeface="Arial"/>
            </a:endParaRPr>
          </a:p>
        </p:txBody>
      </p:sp>
      <p:grpSp>
        <p:nvGrpSpPr>
          <p:cNvPr id="183" name="Google Shape;162;p4"/>
          <p:cNvGrpSpPr/>
          <p:nvPr/>
        </p:nvGrpSpPr>
        <p:grpSpPr>
          <a:xfrm>
            <a:off x="4232880" y="1668960"/>
            <a:ext cx="1391400" cy="1765440"/>
            <a:chOff x="4232880" y="1668960"/>
            <a:chExt cx="1391400" cy="1765440"/>
          </a:xfrm>
        </p:grpSpPr>
        <p:sp>
          <p:nvSpPr>
            <p:cNvPr id="184" name="Google Shape;163;p4"/>
            <p:cNvSpPr/>
            <p:nvPr/>
          </p:nvSpPr>
          <p:spPr>
            <a:xfrm>
              <a:off x="4232880" y="1668960"/>
              <a:ext cx="1391400" cy="1737720"/>
            </a:xfrm>
            <a:prstGeom prst="rect">
              <a:avLst/>
            </a:prstGeom>
            <a:solidFill>
              <a:schemeClr val="lt1"/>
            </a:solidFill>
            <a:ln w="25400">
              <a:solidFill>
                <a:srgbClr val="f79646"/>
              </a:solidFill>
              <a:round/>
            </a:ln>
          </p:spPr>
          <p:style>
            <a:lnRef idx="0"/>
            <a:fillRef idx="0"/>
            <a:effectRef idx="0"/>
            <a:fontRef idx="minor"/>
          </p:style>
        </p:sp>
        <p:grpSp>
          <p:nvGrpSpPr>
            <p:cNvPr id="185" name="Google Shape;164;p4"/>
            <p:cNvGrpSpPr/>
            <p:nvPr/>
          </p:nvGrpSpPr>
          <p:grpSpPr>
            <a:xfrm>
              <a:off x="5339160" y="1771920"/>
              <a:ext cx="281880" cy="833040"/>
              <a:chOff x="5339160" y="1771920"/>
              <a:chExt cx="281880" cy="833040"/>
            </a:xfrm>
          </p:grpSpPr>
          <p:pic>
            <p:nvPicPr>
              <p:cNvPr id="186" name="Google Shape;165;p4" descr=""/>
              <p:cNvPicPr/>
              <p:nvPr/>
            </p:nvPicPr>
            <p:blipFill>
              <a:blip r:embed="rId20"/>
              <a:stretch/>
            </p:blipFill>
            <p:spPr>
              <a:xfrm>
                <a:off x="5339160" y="1771920"/>
                <a:ext cx="281880" cy="833040"/>
              </a:xfrm>
              <a:prstGeom prst="rect">
                <a:avLst/>
              </a:prstGeom>
              <a:ln w="0">
                <a:noFill/>
              </a:ln>
            </p:spPr>
          </p:pic>
          <p:sp>
            <p:nvSpPr>
              <p:cNvPr id="187" name="Google Shape;166;p4"/>
              <p:cNvSpPr/>
              <p:nvPr/>
            </p:nvSpPr>
            <p:spPr>
              <a:xfrm rot="10800000">
                <a:off x="5473440" y="2073960"/>
                <a:ext cx="43920" cy="52200"/>
              </a:xfrm>
              <a:prstGeom prst="ellipse">
                <a:avLst/>
              </a:prstGeom>
              <a:solidFill>
                <a:srgbClr val="ff0000"/>
              </a:solidFill>
              <a:ln w="25400">
                <a:solidFill>
                  <a:srgbClr val="c0504d"/>
                </a:solidFill>
                <a:round/>
              </a:ln>
            </p:spPr>
            <p:style>
              <a:lnRef idx="0"/>
              <a:fillRef idx="0"/>
              <a:effectRef idx="0"/>
              <a:fontRef idx="minor"/>
            </p:style>
          </p:sp>
        </p:grpSp>
        <p:pic>
          <p:nvPicPr>
            <p:cNvPr id="188" name="Google Shape;167;p4" descr=""/>
            <p:cNvPicPr/>
            <p:nvPr/>
          </p:nvPicPr>
          <p:blipFill>
            <a:blip r:embed="rId21"/>
            <a:stretch/>
          </p:blipFill>
          <p:spPr>
            <a:xfrm rot="10521600">
              <a:off x="4243320" y="1984320"/>
              <a:ext cx="418320" cy="186840"/>
            </a:xfrm>
            <a:prstGeom prst="rect">
              <a:avLst/>
            </a:prstGeom>
            <a:ln w="0">
              <a:noFill/>
            </a:ln>
          </p:spPr>
        </p:pic>
        <p:pic>
          <p:nvPicPr>
            <p:cNvPr id="189" name="Google Shape;168;p4" descr=""/>
            <p:cNvPicPr/>
            <p:nvPr/>
          </p:nvPicPr>
          <p:blipFill>
            <a:blip r:embed="rId22"/>
            <a:stretch/>
          </p:blipFill>
          <p:spPr>
            <a:xfrm rot="10521600">
              <a:off x="4250520" y="1789920"/>
              <a:ext cx="418320" cy="186840"/>
            </a:xfrm>
            <a:prstGeom prst="rect">
              <a:avLst/>
            </a:prstGeom>
            <a:ln w="0">
              <a:noFill/>
            </a:ln>
          </p:spPr>
        </p:pic>
        <p:pic>
          <p:nvPicPr>
            <p:cNvPr id="190" name="Google Shape;169;p4" descr=""/>
            <p:cNvPicPr/>
            <p:nvPr/>
          </p:nvPicPr>
          <p:blipFill>
            <a:blip r:embed="rId23"/>
            <a:stretch/>
          </p:blipFill>
          <p:spPr>
            <a:xfrm rot="10521600">
              <a:off x="4269240" y="2535120"/>
              <a:ext cx="418320" cy="186840"/>
            </a:xfrm>
            <a:prstGeom prst="rect">
              <a:avLst/>
            </a:prstGeom>
            <a:ln w="0">
              <a:noFill/>
            </a:ln>
          </p:spPr>
        </p:pic>
        <p:sp>
          <p:nvSpPr>
            <p:cNvPr id="191" name="Google Shape;170;p4"/>
            <p:cNvSpPr/>
            <p:nvPr/>
          </p:nvSpPr>
          <p:spPr>
            <a:xfrm>
              <a:off x="4419000" y="2243880"/>
              <a:ext cx="43920" cy="48240"/>
            </a:xfrm>
            <a:prstGeom prst="ellipse">
              <a:avLst/>
            </a:prstGeom>
            <a:solidFill>
              <a:schemeClr val="lt1"/>
            </a:solidFill>
            <a:ln w="25400">
              <a:solidFill>
                <a:srgbClr val="000000"/>
              </a:solidFill>
              <a:round/>
            </a:ln>
          </p:spPr>
          <p:style>
            <a:lnRef idx="0"/>
            <a:fillRef idx="0"/>
            <a:effectRef idx="0"/>
            <a:fontRef idx="minor"/>
          </p:style>
        </p:sp>
        <p:sp>
          <p:nvSpPr>
            <p:cNvPr id="192" name="Google Shape;171;p4"/>
            <p:cNvSpPr/>
            <p:nvPr/>
          </p:nvSpPr>
          <p:spPr>
            <a:xfrm>
              <a:off x="4420800" y="2363760"/>
              <a:ext cx="39600" cy="48240"/>
            </a:xfrm>
            <a:prstGeom prst="ellipse">
              <a:avLst/>
            </a:prstGeom>
            <a:solidFill>
              <a:schemeClr val="lt1"/>
            </a:solidFill>
            <a:ln w="25400">
              <a:solidFill>
                <a:srgbClr val="000000"/>
              </a:solidFill>
              <a:round/>
            </a:ln>
          </p:spPr>
          <p:style>
            <a:lnRef idx="0"/>
            <a:fillRef idx="0"/>
            <a:effectRef idx="0"/>
            <a:fontRef idx="minor"/>
          </p:style>
        </p:sp>
        <p:sp>
          <p:nvSpPr>
            <p:cNvPr id="193" name="Google Shape;172;p4"/>
            <p:cNvSpPr/>
            <p:nvPr/>
          </p:nvSpPr>
          <p:spPr>
            <a:xfrm>
              <a:off x="4419000" y="2483280"/>
              <a:ext cx="43920" cy="48240"/>
            </a:xfrm>
            <a:prstGeom prst="ellipse">
              <a:avLst/>
            </a:prstGeom>
            <a:solidFill>
              <a:schemeClr val="lt1"/>
            </a:solidFill>
            <a:ln w="25400">
              <a:solidFill>
                <a:srgbClr val="000000"/>
              </a:solidFill>
              <a:round/>
            </a:ln>
          </p:spPr>
          <p:style>
            <a:lnRef idx="0"/>
            <a:fillRef idx="0"/>
            <a:effectRef idx="0"/>
            <a:fontRef idx="minor"/>
          </p:style>
        </p:sp>
        <p:pic>
          <p:nvPicPr>
            <p:cNvPr id="194" name="Google Shape;173;p4" descr=""/>
            <p:cNvPicPr/>
            <p:nvPr/>
          </p:nvPicPr>
          <p:blipFill>
            <a:blip r:embed="rId24"/>
            <a:stretch/>
          </p:blipFill>
          <p:spPr>
            <a:xfrm rot="10521600">
              <a:off x="4835880" y="2147400"/>
              <a:ext cx="418320" cy="186840"/>
            </a:xfrm>
            <a:prstGeom prst="rect">
              <a:avLst/>
            </a:prstGeom>
            <a:ln w="0">
              <a:noFill/>
            </a:ln>
          </p:spPr>
        </p:pic>
        <p:sp>
          <p:nvSpPr>
            <p:cNvPr id="195" name="Google Shape;174;p4"/>
            <p:cNvSpPr/>
            <p:nvPr/>
          </p:nvSpPr>
          <p:spPr>
            <a:xfrm>
              <a:off x="4670280" y="1841040"/>
              <a:ext cx="158040" cy="763560"/>
            </a:xfrm>
            <a:prstGeom prst="rightBrace">
              <a:avLst>
                <a:gd name="adj1" fmla="val 8333"/>
                <a:gd name="adj2" fmla="val 50000"/>
              </a:avLst>
            </a:prstGeom>
            <a:noFill/>
            <a:ln w="19050">
              <a:solidFill>
                <a:srgbClr val="000000"/>
              </a:solidFill>
              <a:round/>
            </a:ln>
          </p:spPr>
          <p:style>
            <a:lnRef idx="0"/>
            <a:fillRef idx="0"/>
            <a:effectRef idx="0"/>
            <a:fontRef idx="minor"/>
          </p:style>
        </p:sp>
        <p:sp>
          <p:nvSpPr>
            <p:cNvPr id="196" name="Google Shape;175;p4"/>
            <p:cNvSpPr/>
            <p:nvPr/>
          </p:nvSpPr>
          <p:spPr>
            <a:xfrm flipH="1" rot="10800000">
              <a:off x="4992840" y="2081880"/>
              <a:ext cx="483480" cy="65520"/>
            </a:xfrm>
            <a:prstGeom prst="curvedConnector4">
              <a:avLst>
                <a:gd name="adj1" fmla="val -71"/>
                <a:gd name="adj2" fmla="val 451857"/>
              </a:avLst>
            </a:prstGeom>
            <a:noFill/>
            <a:ln w="19050">
              <a:solidFill>
                <a:srgbClr val="0000ff"/>
              </a:solidFill>
              <a:round/>
              <a:headEnd len="med" type="stealth" w="med"/>
              <a:tailEnd len="med" type="stealth" w="med"/>
            </a:ln>
          </p:spPr>
          <p:style>
            <a:lnRef idx="0"/>
            <a:fillRef idx="0"/>
            <a:effectRef idx="0"/>
            <a:fontRef idx="minor"/>
          </p:style>
        </p:sp>
        <p:sp>
          <p:nvSpPr>
            <p:cNvPr id="197" name="Google Shape;176;p4"/>
            <p:cNvSpPr/>
            <p:nvPr/>
          </p:nvSpPr>
          <p:spPr>
            <a:xfrm flipH="1">
              <a:off x="5251320" y="2335680"/>
              <a:ext cx="5760" cy="402840"/>
            </a:xfrm>
            <a:custGeom>
              <a:avLst/>
              <a:gdLst/>
              <a:ahLst/>
              <a:rect l="l" t="t" r="r" b="b"/>
              <a:pathLst>
                <a:path w="21600" h="21600">
                  <a:moveTo>
                    <a:pt x="0" y="0"/>
                  </a:moveTo>
                  <a:lnTo>
                    <a:pt x="21600" y="21600"/>
                  </a:lnTo>
                </a:path>
              </a:pathLst>
            </a:custGeom>
            <a:noFill/>
            <a:ln w="19050">
              <a:solidFill>
                <a:srgbClr val="002060"/>
              </a:solidFill>
              <a:round/>
              <a:tailEnd len="med" type="stealth" w="med"/>
            </a:ln>
          </p:spPr>
          <p:style>
            <a:lnRef idx="0"/>
            <a:fillRef idx="0"/>
            <a:effectRef idx="0"/>
            <a:fontRef idx="minor"/>
          </p:style>
        </p:sp>
        <p:pic>
          <p:nvPicPr>
            <p:cNvPr id="198" name="Google Shape;177;p4" descr="Document with solid fill"/>
            <p:cNvPicPr/>
            <p:nvPr/>
          </p:nvPicPr>
          <p:blipFill>
            <a:blip r:embed="rId25"/>
            <a:stretch/>
          </p:blipFill>
          <p:spPr>
            <a:xfrm>
              <a:off x="4844160" y="2670840"/>
              <a:ext cx="763560" cy="763560"/>
            </a:xfrm>
            <a:prstGeom prst="rect">
              <a:avLst/>
            </a:prstGeom>
            <a:ln w="0">
              <a:noFill/>
            </a:ln>
          </p:spPr>
        </p:pic>
      </p:grpSp>
      <p:sp>
        <p:nvSpPr>
          <p:cNvPr id="199" name="Google Shape;178;p4"/>
          <p:cNvSpPr/>
          <p:nvPr/>
        </p:nvSpPr>
        <p:spPr>
          <a:xfrm flipH="1" rot="10800000">
            <a:off x="3542400" y="2647800"/>
            <a:ext cx="725400" cy="1164240"/>
          </a:xfrm>
          <a:prstGeom prst="curvedConnector3">
            <a:avLst>
              <a:gd name="adj1" fmla="val 49473"/>
            </a:avLst>
          </a:prstGeom>
          <a:noFill/>
          <a:ln w="28575">
            <a:solidFill>
              <a:srgbClr val="000000"/>
            </a:solidFill>
            <a:round/>
            <a:tailEnd len="med" type="stealth" w="med"/>
          </a:ln>
        </p:spPr>
        <p:style>
          <a:lnRef idx="0"/>
          <a:fillRef idx="0"/>
          <a:effectRef idx="0"/>
          <a:fontRef idx="minor"/>
        </p:style>
      </p:sp>
      <p:sp>
        <p:nvSpPr>
          <p:cNvPr id="200" name="Google Shape;179;p4"/>
          <p:cNvSpPr/>
          <p:nvPr/>
        </p:nvSpPr>
        <p:spPr>
          <a:xfrm>
            <a:off x="3542760" y="3812040"/>
            <a:ext cx="652680" cy="1591560"/>
          </a:xfrm>
          <a:prstGeom prst="curvedConnector3">
            <a:avLst>
              <a:gd name="adj1" fmla="val 50009"/>
            </a:avLst>
          </a:prstGeom>
          <a:noFill/>
          <a:ln w="28575">
            <a:solidFill>
              <a:srgbClr val="000000"/>
            </a:solidFill>
            <a:round/>
            <a:tailEnd len="med" type="stealth" w="med"/>
          </a:ln>
        </p:spPr>
        <p:style>
          <a:lnRef idx="0"/>
          <a:fillRef idx="0"/>
          <a:effectRef idx="0"/>
          <a:fontRef idx="minor"/>
        </p:style>
      </p:sp>
      <p:sp>
        <p:nvSpPr>
          <p:cNvPr id="201" name="Google Shape;180;p4"/>
          <p:cNvSpPr/>
          <p:nvPr/>
        </p:nvSpPr>
        <p:spPr>
          <a:xfrm>
            <a:off x="3929400" y="4122360"/>
            <a:ext cx="1843200" cy="272160"/>
          </a:xfrm>
          <a:prstGeom prst="rect">
            <a:avLst/>
          </a:prstGeom>
          <a:solidFill>
            <a:schemeClr val="lt1"/>
          </a:solidFill>
          <a:ln w="25400">
            <a:solidFill>
              <a:srgbClr val="ffffff"/>
            </a:solidFill>
            <a:round/>
          </a:ln>
        </p:spPr>
        <p:style>
          <a:lnRef idx="0"/>
          <a:fillRef idx="0"/>
          <a:effectRef idx="0"/>
          <a:fontRef idx="minor"/>
        </p:style>
        <p:txBody>
          <a:bodyPr lIns="90000" rIns="90000" tIns="45000" bIns="45000" anchor="t">
            <a:spAutoFit/>
          </a:bodyPr>
          <a:p>
            <a:pPr>
              <a:lnSpc>
                <a:spcPct val="100000"/>
              </a:lnSpc>
              <a:buNone/>
              <a:tabLst>
                <a:tab algn="l" pos="0"/>
              </a:tabLst>
            </a:pPr>
            <a:r>
              <a:rPr b="1" lang="en-US" sz="1200" spc="-1" strike="noStrike">
                <a:solidFill>
                  <a:srgbClr val="000000"/>
                </a:solidFill>
                <a:latin typeface="Arial"/>
                <a:ea typeface="Arial"/>
              </a:rPr>
              <a:t>Personalized Medicine</a:t>
            </a:r>
            <a:endParaRPr b="0" lang="en-US" sz="1200" spc="-1" strike="noStrike">
              <a:latin typeface="Arial"/>
            </a:endParaRPr>
          </a:p>
        </p:txBody>
      </p:sp>
      <p:grpSp>
        <p:nvGrpSpPr>
          <p:cNvPr id="202" name="Google Shape;181;p4"/>
          <p:cNvGrpSpPr/>
          <p:nvPr/>
        </p:nvGrpSpPr>
        <p:grpSpPr>
          <a:xfrm>
            <a:off x="5114520" y="4493160"/>
            <a:ext cx="281880" cy="833040"/>
            <a:chOff x="5114520" y="4493160"/>
            <a:chExt cx="281880" cy="833040"/>
          </a:xfrm>
        </p:grpSpPr>
        <p:pic>
          <p:nvPicPr>
            <p:cNvPr id="203" name="Google Shape;182;p4" descr=""/>
            <p:cNvPicPr/>
            <p:nvPr/>
          </p:nvPicPr>
          <p:blipFill>
            <a:blip r:embed="rId26"/>
            <a:stretch/>
          </p:blipFill>
          <p:spPr>
            <a:xfrm>
              <a:off x="5114520" y="4493160"/>
              <a:ext cx="281880" cy="833040"/>
            </a:xfrm>
            <a:prstGeom prst="rect">
              <a:avLst/>
            </a:prstGeom>
            <a:ln w="0">
              <a:noFill/>
            </a:ln>
          </p:spPr>
        </p:pic>
        <p:sp>
          <p:nvSpPr>
            <p:cNvPr id="204" name="Google Shape;183;p4"/>
            <p:cNvSpPr/>
            <p:nvPr/>
          </p:nvSpPr>
          <p:spPr>
            <a:xfrm rot="10800000">
              <a:off x="5228280" y="4827600"/>
              <a:ext cx="43920" cy="52200"/>
            </a:xfrm>
            <a:prstGeom prst="ellipse">
              <a:avLst/>
            </a:prstGeom>
            <a:solidFill>
              <a:srgbClr val="ff0000"/>
            </a:solidFill>
            <a:ln w="25400">
              <a:solidFill>
                <a:srgbClr val="c0504d"/>
              </a:solidFill>
              <a:round/>
            </a:ln>
          </p:spPr>
          <p:style>
            <a:lnRef idx="0"/>
            <a:fillRef idx="0"/>
            <a:effectRef idx="0"/>
            <a:fontRef idx="minor"/>
          </p:style>
        </p:sp>
      </p:grpSp>
      <p:sp>
        <p:nvSpPr>
          <p:cNvPr id="205" name="Google Shape;184;p4"/>
          <p:cNvSpPr/>
          <p:nvPr/>
        </p:nvSpPr>
        <p:spPr>
          <a:xfrm>
            <a:off x="5211720" y="5253840"/>
            <a:ext cx="43920" cy="48240"/>
          </a:xfrm>
          <a:prstGeom prst="ellipse">
            <a:avLst/>
          </a:prstGeom>
          <a:solidFill>
            <a:schemeClr val="lt1"/>
          </a:solidFill>
          <a:ln w="25400">
            <a:solidFill>
              <a:srgbClr val="000000"/>
            </a:solidFill>
            <a:round/>
          </a:ln>
        </p:spPr>
        <p:style>
          <a:lnRef idx="0"/>
          <a:fillRef idx="0"/>
          <a:effectRef idx="0"/>
          <a:fontRef idx="minor"/>
        </p:style>
      </p:sp>
      <p:sp>
        <p:nvSpPr>
          <p:cNvPr id="206" name="Google Shape;185;p4"/>
          <p:cNvSpPr/>
          <p:nvPr/>
        </p:nvSpPr>
        <p:spPr>
          <a:xfrm>
            <a:off x="5213520" y="5373360"/>
            <a:ext cx="39960" cy="48240"/>
          </a:xfrm>
          <a:prstGeom prst="ellipse">
            <a:avLst/>
          </a:prstGeom>
          <a:solidFill>
            <a:schemeClr val="lt1"/>
          </a:solidFill>
          <a:ln w="25400">
            <a:solidFill>
              <a:srgbClr val="000000"/>
            </a:solidFill>
            <a:round/>
          </a:ln>
        </p:spPr>
        <p:style>
          <a:lnRef idx="0"/>
          <a:fillRef idx="0"/>
          <a:effectRef idx="0"/>
          <a:fontRef idx="minor"/>
        </p:style>
      </p:sp>
      <p:sp>
        <p:nvSpPr>
          <p:cNvPr id="207" name="Google Shape;186;p4"/>
          <p:cNvSpPr/>
          <p:nvPr/>
        </p:nvSpPr>
        <p:spPr>
          <a:xfrm>
            <a:off x="5211720" y="5493240"/>
            <a:ext cx="43920" cy="48240"/>
          </a:xfrm>
          <a:prstGeom prst="ellipse">
            <a:avLst/>
          </a:prstGeom>
          <a:solidFill>
            <a:schemeClr val="lt1"/>
          </a:solidFill>
          <a:ln w="25400">
            <a:solidFill>
              <a:srgbClr val="000000"/>
            </a:solidFill>
            <a:round/>
          </a:ln>
        </p:spPr>
        <p:style>
          <a:lnRef idx="0"/>
          <a:fillRef idx="0"/>
          <a:effectRef idx="0"/>
          <a:fontRef idx="minor"/>
        </p:style>
      </p:sp>
      <p:pic>
        <p:nvPicPr>
          <p:cNvPr id="208" name="Google Shape;187;p4" descr=""/>
          <p:cNvPicPr/>
          <p:nvPr/>
        </p:nvPicPr>
        <p:blipFill>
          <a:blip r:embed="rId27"/>
          <a:stretch/>
        </p:blipFill>
        <p:spPr>
          <a:xfrm rot="10800000">
            <a:off x="4261320" y="4736880"/>
            <a:ext cx="418320" cy="186840"/>
          </a:xfrm>
          <a:prstGeom prst="rect">
            <a:avLst/>
          </a:prstGeom>
          <a:ln w="0">
            <a:noFill/>
          </a:ln>
        </p:spPr>
      </p:pic>
      <p:pic>
        <p:nvPicPr>
          <p:cNvPr id="209" name="Google Shape;188;p4" descr=""/>
          <p:cNvPicPr/>
          <p:nvPr/>
        </p:nvPicPr>
        <p:blipFill>
          <a:blip r:embed="rId28"/>
          <a:stretch/>
        </p:blipFill>
        <p:spPr>
          <a:xfrm rot="10800000">
            <a:off x="4272120" y="5292360"/>
            <a:ext cx="418320" cy="186840"/>
          </a:xfrm>
          <a:prstGeom prst="rect">
            <a:avLst/>
          </a:prstGeom>
          <a:ln w="0">
            <a:noFill/>
          </a:ln>
        </p:spPr>
      </p:pic>
      <p:pic>
        <p:nvPicPr>
          <p:cNvPr id="210" name="Google Shape;189;p4" descr=""/>
          <p:cNvPicPr/>
          <p:nvPr/>
        </p:nvPicPr>
        <p:blipFill>
          <a:blip r:embed="rId29"/>
          <a:stretch/>
        </p:blipFill>
        <p:spPr>
          <a:xfrm rot="10800000">
            <a:off x="4282920" y="5858280"/>
            <a:ext cx="418320" cy="186840"/>
          </a:xfrm>
          <a:prstGeom prst="rect">
            <a:avLst/>
          </a:prstGeom>
          <a:ln w="0">
            <a:noFill/>
          </a:ln>
        </p:spPr>
      </p:pic>
      <p:sp>
        <p:nvSpPr>
          <p:cNvPr id="211" name="Google Shape;190;p4"/>
          <p:cNvSpPr/>
          <p:nvPr/>
        </p:nvSpPr>
        <p:spPr>
          <a:xfrm>
            <a:off x="4449600" y="5514840"/>
            <a:ext cx="43920" cy="48240"/>
          </a:xfrm>
          <a:prstGeom prst="ellipse">
            <a:avLst/>
          </a:prstGeom>
          <a:solidFill>
            <a:schemeClr val="lt1"/>
          </a:solidFill>
          <a:ln w="25400">
            <a:solidFill>
              <a:srgbClr val="000000"/>
            </a:solidFill>
            <a:round/>
          </a:ln>
        </p:spPr>
        <p:style>
          <a:lnRef idx="0"/>
          <a:fillRef idx="0"/>
          <a:effectRef idx="0"/>
          <a:fontRef idx="minor"/>
        </p:style>
      </p:sp>
      <p:sp>
        <p:nvSpPr>
          <p:cNvPr id="212" name="Google Shape;191;p4"/>
          <p:cNvSpPr/>
          <p:nvPr/>
        </p:nvSpPr>
        <p:spPr>
          <a:xfrm>
            <a:off x="4451760" y="5634720"/>
            <a:ext cx="39960" cy="48240"/>
          </a:xfrm>
          <a:prstGeom prst="ellipse">
            <a:avLst/>
          </a:prstGeom>
          <a:solidFill>
            <a:schemeClr val="lt1"/>
          </a:solidFill>
          <a:ln w="25400">
            <a:solidFill>
              <a:srgbClr val="000000"/>
            </a:solidFill>
            <a:round/>
          </a:ln>
        </p:spPr>
        <p:style>
          <a:lnRef idx="0"/>
          <a:fillRef idx="0"/>
          <a:effectRef idx="0"/>
          <a:fontRef idx="minor"/>
        </p:style>
      </p:sp>
      <p:sp>
        <p:nvSpPr>
          <p:cNvPr id="213" name="Google Shape;192;p4"/>
          <p:cNvSpPr/>
          <p:nvPr/>
        </p:nvSpPr>
        <p:spPr>
          <a:xfrm>
            <a:off x="4449600" y="5754600"/>
            <a:ext cx="43920" cy="48240"/>
          </a:xfrm>
          <a:prstGeom prst="ellipse">
            <a:avLst/>
          </a:prstGeom>
          <a:solidFill>
            <a:schemeClr val="lt1"/>
          </a:solidFill>
          <a:ln w="25400">
            <a:solidFill>
              <a:srgbClr val="000000"/>
            </a:solidFill>
            <a:round/>
          </a:ln>
        </p:spPr>
        <p:style>
          <a:lnRef idx="0"/>
          <a:fillRef idx="0"/>
          <a:effectRef idx="0"/>
          <a:fontRef idx="minor"/>
        </p:style>
      </p:sp>
      <p:sp>
        <p:nvSpPr>
          <p:cNvPr id="214" name="Google Shape;193;p4"/>
          <p:cNvSpPr/>
          <p:nvPr/>
        </p:nvSpPr>
        <p:spPr>
          <a:xfrm>
            <a:off x="4449600" y="4948920"/>
            <a:ext cx="43920" cy="48240"/>
          </a:xfrm>
          <a:prstGeom prst="ellipse">
            <a:avLst/>
          </a:prstGeom>
          <a:solidFill>
            <a:schemeClr val="lt1"/>
          </a:solidFill>
          <a:ln w="25400">
            <a:solidFill>
              <a:srgbClr val="000000"/>
            </a:solidFill>
            <a:round/>
          </a:ln>
        </p:spPr>
        <p:style>
          <a:lnRef idx="0"/>
          <a:fillRef idx="0"/>
          <a:effectRef idx="0"/>
          <a:fontRef idx="minor"/>
        </p:style>
      </p:sp>
      <p:sp>
        <p:nvSpPr>
          <p:cNvPr id="215" name="Google Shape;194;p4"/>
          <p:cNvSpPr/>
          <p:nvPr/>
        </p:nvSpPr>
        <p:spPr>
          <a:xfrm>
            <a:off x="4451760" y="5068800"/>
            <a:ext cx="39960" cy="48240"/>
          </a:xfrm>
          <a:prstGeom prst="ellipse">
            <a:avLst/>
          </a:prstGeom>
          <a:solidFill>
            <a:schemeClr val="lt1"/>
          </a:solidFill>
          <a:ln w="25400">
            <a:solidFill>
              <a:srgbClr val="000000"/>
            </a:solidFill>
            <a:round/>
          </a:ln>
        </p:spPr>
        <p:style>
          <a:lnRef idx="0"/>
          <a:fillRef idx="0"/>
          <a:effectRef idx="0"/>
          <a:fontRef idx="minor"/>
        </p:style>
      </p:sp>
      <p:sp>
        <p:nvSpPr>
          <p:cNvPr id="216" name="Google Shape;195;p4"/>
          <p:cNvSpPr/>
          <p:nvPr/>
        </p:nvSpPr>
        <p:spPr>
          <a:xfrm>
            <a:off x="4449600" y="5188320"/>
            <a:ext cx="43920" cy="48240"/>
          </a:xfrm>
          <a:prstGeom prst="ellipse">
            <a:avLst/>
          </a:prstGeom>
          <a:solidFill>
            <a:schemeClr val="lt1"/>
          </a:solidFill>
          <a:ln w="25400">
            <a:solidFill>
              <a:srgbClr val="000000"/>
            </a:solidFill>
            <a:round/>
          </a:ln>
        </p:spPr>
        <p:style>
          <a:lnRef idx="0"/>
          <a:fillRef idx="0"/>
          <a:effectRef idx="0"/>
          <a:fontRef idx="minor"/>
        </p:style>
      </p:sp>
      <p:sp>
        <p:nvSpPr>
          <p:cNvPr id="217" name="Google Shape;196;p4"/>
          <p:cNvSpPr/>
          <p:nvPr/>
        </p:nvSpPr>
        <p:spPr>
          <a:xfrm>
            <a:off x="4701240" y="5384880"/>
            <a:ext cx="411480" cy="2880"/>
          </a:xfrm>
          <a:custGeom>
            <a:avLst/>
            <a:gdLst/>
            <a:ahLst/>
            <a:rect l="l" t="t" r="r" b="b"/>
            <a:pathLst>
              <a:path w="21600" h="21600">
                <a:moveTo>
                  <a:pt x="0" y="0"/>
                </a:moveTo>
                <a:lnTo>
                  <a:pt x="21600" y="21600"/>
                </a:lnTo>
              </a:path>
            </a:pathLst>
          </a:custGeom>
          <a:noFill/>
          <a:ln w="19050">
            <a:solidFill>
              <a:srgbClr val="000000"/>
            </a:solidFill>
            <a:round/>
            <a:headEnd len="med" type="stealth" w="med"/>
            <a:tailEnd len="med" type="stealth" w="med"/>
          </a:ln>
        </p:spPr>
        <p:style>
          <a:lnRef idx="0"/>
          <a:fillRef idx="0"/>
          <a:effectRef idx="0"/>
          <a:fontRef idx="minor"/>
        </p:style>
      </p:sp>
      <p:sp>
        <p:nvSpPr>
          <p:cNvPr id="218" name="Google Shape;197;p4"/>
          <p:cNvSpPr/>
          <p:nvPr/>
        </p:nvSpPr>
        <p:spPr>
          <a:xfrm>
            <a:off x="4701240" y="5940000"/>
            <a:ext cx="411480" cy="2880"/>
          </a:xfrm>
          <a:custGeom>
            <a:avLst/>
            <a:gdLst/>
            <a:ahLst/>
            <a:rect l="l" t="t" r="r" b="b"/>
            <a:pathLst>
              <a:path w="21600" h="21600">
                <a:moveTo>
                  <a:pt x="0" y="0"/>
                </a:moveTo>
                <a:lnTo>
                  <a:pt x="21600" y="21600"/>
                </a:lnTo>
              </a:path>
            </a:pathLst>
          </a:custGeom>
          <a:noFill/>
          <a:ln w="19050">
            <a:solidFill>
              <a:srgbClr val="000000"/>
            </a:solidFill>
            <a:round/>
            <a:headEnd len="med" type="stealth" w="med"/>
            <a:tailEnd len="med" type="stealth" w="med"/>
          </a:ln>
        </p:spPr>
        <p:style>
          <a:lnRef idx="0"/>
          <a:fillRef idx="0"/>
          <a:effectRef idx="0"/>
          <a:fontRef idx="minor"/>
        </p:style>
      </p:sp>
      <p:sp>
        <p:nvSpPr>
          <p:cNvPr id="219" name="Google Shape;198;p4"/>
          <p:cNvSpPr/>
          <p:nvPr/>
        </p:nvSpPr>
        <p:spPr>
          <a:xfrm>
            <a:off x="4701240" y="4829400"/>
            <a:ext cx="411480" cy="2880"/>
          </a:xfrm>
          <a:custGeom>
            <a:avLst/>
            <a:gdLst/>
            <a:ahLst/>
            <a:rect l="l" t="t" r="r" b="b"/>
            <a:pathLst>
              <a:path w="21600" h="21600">
                <a:moveTo>
                  <a:pt x="0" y="0"/>
                </a:moveTo>
                <a:lnTo>
                  <a:pt x="21600" y="21600"/>
                </a:lnTo>
              </a:path>
            </a:pathLst>
          </a:custGeom>
          <a:noFill/>
          <a:ln w="19050">
            <a:solidFill>
              <a:srgbClr val="000000"/>
            </a:solidFill>
            <a:round/>
            <a:headEnd len="med" type="stealth" w="med"/>
            <a:tailEnd len="med" type="stealth" w="med"/>
          </a:ln>
        </p:spPr>
        <p:style>
          <a:lnRef idx="0"/>
          <a:fillRef idx="0"/>
          <a:effectRef idx="0"/>
          <a:fontRef idx="minor"/>
        </p:style>
      </p:sp>
      <p:grpSp>
        <p:nvGrpSpPr>
          <p:cNvPr id="220" name="Google Shape;199;p4"/>
          <p:cNvGrpSpPr/>
          <p:nvPr/>
        </p:nvGrpSpPr>
        <p:grpSpPr>
          <a:xfrm>
            <a:off x="74160" y="1666080"/>
            <a:ext cx="256320" cy="678960"/>
            <a:chOff x="74160" y="1666080"/>
            <a:chExt cx="256320" cy="678960"/>
          </a:xfrm>
        </p:grpSpPr>
        <p:pic>
          <p:nvPicPr>
            <p:cNvPr id="221" name="Google Shape;200;p4" descr=""/>
            <p:cNvPicPr/>
            <p:nvPr/>
          </p:nvPicPr>
          <p:blipFill>
            <a:blip r:embed="rId30"/>
            <a:stretch/>
          </p:blipFill>
          <p:spPr>
            <a:xfrm>
              <a:off x="74160" y="1666080"/>
              <a:ext cx="256320" cy="678960"/>
            </a:xfrm>
            <a:prstGeom prst="rect">
              <a:avLst/>
            </a:prstGeom>
            <a:ln w="0">
              <a:noFill/>
            </a:ln>
          </p:spPr>
        </p:pic>
        <p:sp>
          <p:nvSpPr>
            <p:cNvPr id="222" name="Google Shape;201;p4"/>
            <p:cNvSpPr/>
            <p:nvPr/>
          </p:nvSpPr>
          <p:spPr>
            <a:xfrm rot="10800000">
              <a:off x="177840" y="1922040"/>
              <a:ext cx="39600" cy="42120"/>
            </a:xfrm>
            <a:prstGeom prst="ellipse">
              <a:avLst/>
            </a:prstGeom>
            <a:solidFill>
              <a:srgbClr val="ff0000"/>
            </a:solidFill>
            <a:ln w="25400">
              <a:solidFill>
                <a:srgbClr val="c0504d"/>
              </a:solidFill>
              <a:round/>
            </a:ln>
          </p:spPr>
          <p:style>
            <a:lnRef idx="0"/>
            <a:fillRef idx="0"/>
            <a:effectRef idx="0"/>
            <a:fontRef idx="minor"/>
          </p:style>
        </p:sp>
      </p:grpSp>
      <p:pic>
        <p:nvPicPr>
          <p:cNvPr id="223" name="Google Shape;202;p4" descr="Woman Shrugging outline"/>
          <p:cNvPicPr/>
          <p:nvPr/>
        </p:nvPicPr>
        <p:blipFill>
          <a:blip r:embed="rId31"/>
          <a:stretch/>
        </p:blipFill>
        <p:spPr>
          <a:xfrm>
            <a:off x="-59040" y="2856240"/>
            <a:ext cx="570240" cy="552960"/>
          </a:xfrm>
          <a:prstGeom prst="rect">
            <a:avLst/>
          </a:prstGeom>
          <a:ln w="0">
            <a:noFill/>
          </a:ln>
        </p:spPr>
      </p:pic>
      <p:pic>
        <p:nvPicPr>
          <p:cNvPr id="224" name="Google Shape;203;p4" descr="Woman with cane outline"/>
          <p:cNvPicPr/>
          <p:nvPr/>
        </p:nvPicPr>
        <p:blipFill>
          <a:blip r:embed="rId32"/>
          <a:stretch/>
        </p:blipFill>
        <p:spPr>
          <a:xfrm>
            <a:off x="563400" y="2853360"/>
            <a:ext cx="595800" cy="595800"/>
          </a:xfrm>
          <a:prstGeom prst="rect">
            <a:avLst/>
          </a:prstGeom>
          <a:ln w="0">
            <a:noFill/>
          </a:ln>
        </p:spPr>
      </p:pic>
      <p:pic>
        <p:nvPicPr>
          <p:cNvPr id="225" name="Google Shape;204;p4" descr="Woman with solid fill"/>
          <p:cNvPicPr/>
          <p:nvPr/>
        </p:nvPicPr>
        <p:blipFill>
          <a:blip r:embed="rId33"/>
          <a:stretch/>
        </p:blipFill>
        <p:spPr>
          <a:xfrm>
            <a:off x="241200" y="2839680"/>
            <a:ext cx="587160" cy="595800"/>
          </a:xfrm>
          <a:prstGeom prst="rect">
            <a:avLst/>
          </a:prstGeom>
          <a:ln w="0">
            <a:noFill/>
          </a:ln>
        </p:spPr>
      </p:pic>
      <p:sp>
        <p:nvSpPr>
          <p:cNvPr id="226" name="Google Shape;205;p4"/>
          <p:cNvSpPr/>
          <p:nvPr/>
        </p:nvSpPr>
        <p:spPr>
          <a:xfrm rot="10800000">
            <a:off x="203040" y="3077640"/>
            <a:ext cx="43920" cy="52200"/>
          </a:xfrm>
          <a:prstGeom prst="ellipse">
            <a:avLst/>
          </a:prstGeom>
          <a:solidFill>
            <a:srgbClr val="ff0000"/>
          </a:solidFill>
          <a:ln w="25400">
            <a:solidFill>
              <a:srgbClr val="c0504d"/>
            </a:solidFill>
            <a:round/>
          </a:ln>
        </p:spPr>
        <p:style>
          <a:lnRef idx="0"/>
          <a:fillRef idx="0"/>
          <a:effectRef idx="0"/>
          <a:fontRef idx="minor"/>
        </p:style>
      </p:sp>
      <p:sp>
        <p:nvSpPr>
          <p:cNvPr id="227" name="Google Shape;206;p4"/>
          <p:cNvSpPr/>
          <p:nvPr/>
        </p:nvSpPr>
        <p:spPr>
          <a:xfrm rot="10800000">
            <a:off x="519840" y="3077640"/>
            <a:ext cx="43920" cy="52200"/>
          </a:xfrm>
          <a:prstGeom prst="ellipse">
            <a:avLst/>
          </a:prstGeom>
          <a:solidFill>
            <a:srgbClr val="ff0000"/>
          </a:solidFill>
          <a:ln w="25400">
            <a:solidFill>
              <a:srgbClr val="c0504d"/>
            </a:solidFill>
            <a:round/>
          </a:ln>
        </p:spPr>
        <p:style>
          <a:lnRef idx="0"/>
          <a:fillRef idx="0"/>
          <a:effectRef idx="0"/>
          <a:fontRef idx="minor"/>
        </p:style>
      </p:sp>
      <p:sp>
        <p:nvSpPr>
          <p:cNvPr id="228" name="Google Shape;207;p4"/>
          <p:cNvSpPr/>
          <p:nvPr/>
        </p:nvSpPr>
        <p:spPr>
          <a:xfrm rot="10800000">
            <a:off x="793800" y="3111840"/>
            <a:ext cx="43920" cy="52200"/>
          </a:xfrm>
          <a:prstGeom prst="ellipse">
            <a:avLst/>
          </a:prstGeom>
          <a:solidFill>
            <a:srgbClr val="ff0000"/>
          </a:solidFill>
          <a:ln w="25400">
            <a:solidFill>
              <a:srgbClr val="c0504d"/>
            </a:solidFill>
            <a:round/>
          </a:ln>
        </p:spPr>
        <p:style>
          <a:lnRef idx="0"/>
          <a:fillRef idx="0"/>
          <a:effectRef idx="0"/>
          <a:fontRef idx="minor"/>
        </p:style>
      </p:sp>
      <p:pic>
        <p:nvPicPr>
          <p:cNvPr id="229" name="Google Shape;208;p4" descr="Children with solid fill"/>
          <p:cNvPicPr/>
          <p:nvPr/>
        </p:nvPicPr>
        <p:blipFill>
          <a:blip r:embed="rId34"/>
          <a:stretch/>
        </p:blipFill>
        <p:spPr>
          <a:xfrm>
            <a:off x="720" y="2136960"/>
            <a:ext cx="929880" cy="912600"/>
          </a:xfrm>
          <a:prstGeom prst="rect">
            <a:avLst/>
          </a:prstGeom>
          <a:ln w="0">
            <a:noFill/>
          </a:ln>
        </p:spPr>
      </p:pic>
      <p:sp>
        <p:nvSpPr>
          <p:cNvPr id="230" name="Google Shape;209;p4"/>
          <p:cNvSpPr/>
          <p:nvPr/>
        </p:nvSpPr>
        <p:spPr>
          <a:xfrm rot="10800000">
            <a:off x="742680" y="2546640"/>
            <a:ext cx="43920" cy="52200"/>
          </a:xfrm>
          <a:prstGeom prst="ellipse">
            <a:avLst/>
          </a:prstGeom>
          <a:solidFill>
            <a:srgbClr val="ff0000"/>
          </a:solidFill>
          <a:ln w="25400">
            <a:solidFill>
              <a:srgbClr val="c0504d"/>
            </a:solidFill>
            <a:round/>
          </a:ln>
        </p:spPr>
        <p:style>
          <a:lnRef idx="0"/>
          <a:fillRef idx="0"/>
          <a:effectRef idx="0"/>
          <a:fontRef idx="minor"/>
        </p:style>
      </p:sp>
      <p:sp>
        <p:nvSpPr>
          <p:cNvPr id="231" name="Google Shape;210;p4"/>
          <p:cNvSpPr/>
          <p:nvPr/>
        </p:nvSpPr>
        <p:spPr>
          <a:xfrm rot="10800000">
            <a:off x="545760" y="2555280"/>
            <a:ext cx="43920" cy="52200"/>
          </a:xfrm>
          <a:prstGeom prst="ellipse">
            <a:avLst/>
          </a:prstGeom>
          <a:solidFill>
            <a:srgbClr val="ff0000"/>
          </a:solidFill>
          <a:ln w="25400">
            <a:solidFill>
              <a:srgbClr val="c0504d"/>
            </a:solidFill>
            <a:round/>
          </a:ln>
        </p:spPr>
        <p:style>
          <a:lnRef idx="0"/>
          <a:fillRef idx="0"/>
          <a:effectRef idx="0"/>
          <a:fontRef idx="minor"/>
        </p:style>
      </p:sp>
      <p:sp>
        <p:nvSpPr>
          <p:cNvPr id="232" name="Google Shape;211;p4"/>
          <p:cNvSpPr/>
          <p:nvPr/>
        </p:nvSpPr>
        <p:spPr>
          <a:xfrm rot="10800000">
            <a:off x="357120" y="2563920"/>
            <a:ext cx="43920" cy="52200"/>
          </a:xfrm>
          <a:prstGeom prst="ellipse">
            <a:avLst/>
          </a:prstGeom>
          <a:solidFill>
            <a:srgbClr val="ff0000"/>
          </a:solidFill>
          <a:ln w="25400">
            <a:solidFill>
              <a:srgbClr val="c0504d"/>
            </a:solidFill>
            <a:round/>
          </a:ln>
        </p:spPr>
        <p:style>
          <a:lnRef idx="0"/>
          <a:fillRef idx="0"/>
          <a:effectRef idx="0"/>
          <a:fontRef idx="minor"/>
        </p:style>
      </p:sp>
      <p:sp>
        <p:nvSpPr>
          <p:cNvPr id="233" name="Google Shape;212;p4"/>
          <p:cNvSpPr/>
          <p:nvPr/>
        </p:nvSpPr>
        <p:spPr>
          <a:xfrm rot="10800000">
            <a:off x="168840" y="2572560"/>
            <a:ext cx="43920" cy="52200"/>
          </a:xfrm>
          <a:prstGeom prst="ellipse">
            <a:avLst/>
          </a:prstGeom>
          <a:solidFill>
            <a:srgbClr val="ff0000"/>
          </a:solidFill>
          <a:ln w="25400">
            <a:solidFill>
              <a:srgbClr val="c0504d"/>
            </a:solidFill>
            <a:round/>
          </a:ln>
        </p:spPr>
        <p:style>
          <a:lnRef idx="0"/>
          <a:fillRef idx="0"/>
          <a:effectRef idx="0"/>
          <a:fontRef idx="minor"/>
        </p:style>
      </p:sp>
      <p:pic>
        <p:nvPicPr>
          <p:cNvPr id="234" name="Google Shape;213;p4" descr="Woman outline"/>
          <p:cNvPicPr/>
          <p:nvPr/>
        </p:nvPicPr>
        <p:blipFill>
          <a:blip r:embed="rId35"/>
          <a:stretch/>
        </p:blipFill>
        <p:spPr>
          <a:xfrm>
            <a:off x="891360" y="2838960"/>
            <a:ext cx="630000" cy="604440"/>
          </a:xfrm>
          <a:prstGeom prst="rect">
            <a:avLst/>
          </a:prstGeom>
          <a:ln w="0">
            <a:noFill/>
          </a:ln>
        </p:spPr>
      </p:pic>
      <p:sp>
        <p:nvSpPr>
          <p:cNvPr id="235" name="Google Shape;214;p4"/>
          <p:cNvSpPr/>
          <p:nvPr/>
        </p:nvSpPr>
        <p:spPr>
          <a:xfrm rot="10800000">
            <a:off x="1187640" y="3094920"/>
            <a:ext cx="43920" cy="52200"/>
          </a:xfrm>
          <a:prstGeom prst="ellipse">
            <a:avLst/>
          </a:prstGeom>
          <a:solidFill>
            <a:srgbClr val="ff0000"/>
          </a:solidFill>
          <a:ln w="25400">
            <a:solidFill>
              <a:srgbClr val="c0504d"/>
            </a:solidFill>
            <a:round/>
          </a:ln>
        </p:spPr>
        <p:style>
          <a:lnRef idx="0"/>
          <a:fillRef idx="0"/>
          <a:effectRef idx="0"/>
          <a:fontRef idx="minor"/>
        </p:style>
      </p:sp>
      <p:pic>
        <p:nvPicPr>
          <p:cNvPr id="236" name="Google Shape;215;p4" descr="Woman with solid fill"/>
          <p:cNvPicPr/>
          <p:nvPr/>
        </p:nvPicPr>
        <p:blipFill>
          <a:blip r:embed="rId36"/>
          <a:stretch/>
        </p:blipFill>
        <p:spPr>
          <a:xfrm>
            <a:off x="4947840" y="5658840"/>
            <a:ext cx="595800" cy="647280"/>
          </a:xfrm>
          <a:prstGeom prst="rect">
            <a:avLst/>
          </a:prstGeom>
          <a:ln w="0">
            <a:noFill/>
          </a:ln>
        </p:spPr>
      </p:pic>
      <p:sp>
        <p:nvSpPr>
          <p:cNvPr id="237" name="Google Shape;216;p4"/>
          <p:cNvSpPr/>
          <p:nvPr/>
        </p:nvSpPr>
        <p:spPr>
          <a:xfrm rot="10800000">
            <a:off x="5226840" y="5956920"/>
            <a:ext cx="43920" cy="52200"/>
          </a:xfrm>
          <a:prstGeom prst="ellipse">
            <a:avLst/>
          </a:prstGeom>
          <a:solidFill>
            <a:srgbClr val="ff0000"/>
          </a:solidFill>
          <a:ln w="25400">
            <a:solidFill>
              <a:srgbClr val="c0504d"/>
            </a:solidFill>
            <a:round/>
          </a:ln>
        </p:spPr>
        <p:style>
          <a:lnRef idx="0"/>
          <a:fillRef idx="0"/>
          <a:effectRef idx="0"/>
          <a:fontRef idx="minor"/>
        </p:style>
      </p:sp>
      <p:pic>
        <p:nvPicPr>
          <p:cNvPr id="238" name="Google Shape;217;p4" descr="Man with solid fill"/>
          <p:cNvPicPr/>
          <p:nvPr/>
        </p:nvPicPr>
        <p:blipFill>
          <a:blip r:embed="rId37"/>
          <a:stretch/>
        </p:blipFill>
        <p:spPr>
          <a:xfrm>
            <a:off x="514440" y="1597680"/>
            <a:ext cx="681480" cy="664200"/>
          </a:xfrm>
          <a:prstGeom prst="rect">
            <a:avLst/>
          </a:prstGeom>
          <a:ln w="0">
            <a:noFill/>
          </a:ln>
        </p:spPr>
      </p:pic>
      <p:pic>
        <p:nvPicPr>
          <p:cNvPr id="239" name="Google Shape;218;p4" descr="Man outline"/>
          <p:cNvPicPr/>
          <p:nvPr/>
        </p:nvPicPr>
        <p:blipFill>
          <a:blip r:embed="rId38"/>
          <a:stretch/>
        </p:blipFill>
        <p:spPr>
          <a:xfrm>
            <a:off x="212400" y="1620720"/>
            <a:ext cx="552960" cy="630000"/>
          </a:xfrm>
          <a:prstGeom prst="rect">
            <a:avLst/>
          </a:prstGeom>
          <a:ln w="0">
            <a:noFill/>
          </a:ln>
        </p:spPr>
      </p:pic>
      <p:pic>
        <p:nvPicPr>
          <p:cNvPr id="240" name="Google Shape;219;p4" descr="Man with cane outline"/>
          <p:cNvPicPr/>
          <p:nvPr/>
        </p:nvPicPr>
        <p:blipFill>
          <a:blip r:embed="rId39"/>
          <a:stretch/>
        </p:blipFill>
        <p:spPr>
          <a:xfrm>
            <a:off x="877320" y="1617840"/>
            <a:ext cx="681480" cy="690120"/>
          </a:xfrm>
          <a:prstGeom prst="rect">
            <a:avLst/>
          </a:prstGeom>
          <a:ln w="0">
            <a:noFill/>
          </a:ln>
        </p:spPr>
      </p:pic>
      <p:sp>
        <p:nvSpPr>
          <p:cNvPr id="241" name="Google Shape;220;p4"/>
          <p:cNvSpPr/>
          <p:nvPr/>
        </p:nvSpPr>
        <p:spPr>
          <a:xfrm rot="10800000">
            <a:off x="828000" y="1870560"/>
            <a:ext cx="43920" cy="52200"/>
          </a:xfrm>
          <a:prstGeom prst="ellipse">
            <a:avLst/>
          </a:prstGeom>
          <a:solidFill>
            <a:srgbClr val="ff0000"/>
          </a:solidFill>
          <a:ln w="25400">
            <a:solidFill>
              <a:srgbClr val="c0504d"/>
            </a:solidFill>
            <a:round/>
          </a:ln>
        </p:spPr>
        <p:style>
          <a:lnRef idx="0"/>
          <a:fillRef idx="0"/>
          <a:effectRef idx="0"/>
          <a:fontRef idx="minor"/>
        </p:style>
      </p:sp>
      <p:sp>
        <p:nvSpPr>
          <p:cNvPr id="242" name="Google Shape;221;p4"/>
          <p:cNvSpPr/>
          <p:nvPr/>
        </p:nvSpPr>
        <p:spPr>
          <a:xfrm rot="10800000">
            <a:off x="1136520" y="1887480"/>
            <a:ext cx="43920" cy="52200"/>
          </a:xfrm>
          <a:prstGeom prst="ellipse">
            <a:avLst/>
          </a:prstGeom>
          <a:solidFill>
            <a:srgbClr val="ff0000"/>
          </a:solidFill>
          <a:ln w="25400">
            <a:solidFill>
              <a:srgbClr val="c0504d"/>
            </a:solidFill>
            <a:round/>
          </a:ln>
        </p:spPr>
        <p:style>
          <a:lnRef idx="0"/>
          <a:fillRef idx="0"/>
          <a:effectRef idx="0"/>
          <a:fontRef idx="minor"/>
        </p:style>
      </p:sp>
      <p:sp>
        <p:nvSpPr>
          <p:cNvPr id="243" name="Google Shape;222;p4"/>
          <p:cNvSpPr/>
          <p:nvPr/>
        </p:nvSpPr>
        <p:spPr>
          <a:xfrm rot="10800000">
            <a:off x="468360" y="1878840"/>
            <a:ext cx="43920" cy="52200"/>
          </a:xfrm>
          <a:prstGeom prst="ellipse">
            <a:avLst/>
          </a:prstGeom>
          <a:solidFill>
            <a:srgbClr val="ff0000"/>
          </a:solidFill>
          <a:ln w="25400">
            <a:solidFill>
              <a:srgbClr val="c0504d"/>
            </a:solidFill>
            <a:round/>
          </a:ln>
        </p:spPr>
        <p:style>
          <a:lnRef idx="0"/>
          <a:fillRef idx="0"/>
          <a:effectRef idx="0"/>
          <a:fontRef idx="minor"/>
        </p:style>
      </p:sp>
      <p:pic>
        <p:nvPicPr>
          <p:cNvPr id="244" name="Google Shape;223;p4" descr="Woman outline"/>
          <p:cNvPicPr/>
          <p:nvPr/>
        </p:nvPicPr>
        <p:blipFill>
          <a:blip r:embed="rId40"/>
          <a:stretch/>
        </p:blipFill>
        <p:spPr>
          <a:xfrm>
            <a:off x="754200" y="2308320"/>
            <a:ext cx="630000" cy="604440"/>
          </a:xfrm>
          <a:prstGeom prst="rect">
            <a:avLst/>
          </a:prstGeom>
          <a:ln w="0">
            <a:noFill/>
          </a:ln>
        </p:spPr>
      </p:pic>
      <p:sp>
        <p:nvSpPr>
          <p:cNvPr id="245" name="Google Shape;224;p4"/>
          <p:cNvSpPr/>
          <p:nvPr/>
        </p:nvSpPr>
        <p:spPr>
          <a:xfrm rot="10800000">
            <a:off x="1042200" y="2546640"/>
            <a:ext cx="43920" cy="52200"/>
          </a:xfrm>
          <a:prstGeom prst="ellipse">
            <a:avLst/>
          </a:prstGeom>
          <a:solidFill>
            <a:srgbClr val="ff0000"/>
          </a:solidFill>
          <a:ln w="25400">
            <a:solidFill>
              <a:srgbClr val="c0504d"/>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6" name="Google Shape;229;p5" descr=""/>
          <p:cNvPicPr/>
          <p:nvPr/>
        </p:nvPicPr>
        <p:blipFill>
          <a:blip r:embed="rId1"/>
          <a:stretch/>
        </p:blipFill>
        <p:spPr>
          <a:xfrm>
            <a:off x="2520" y="-1440"/>
            <a:ext cx="6448680" cy="8477280"/>
          </a:xfrm>
          <a:prstGeom prst="rect">
            <a:avLst/>
          </a:prstGeom>
          <a:ln w="0">
            <a:noFill/>
          </a:ln>
        </p:spPr>
      </p:pic>
      <p:sp>
        <p:nvSpPr>
          <p:cNvPr id="247" name="Google Shape;230;p5"/>
          <p:cNvSpPr/>
          <p:nvPr/>
        </p:nvSpPr>
        <p:spPr>
          <a:xfrm>
            <a:off x="5381280" y="705600"/>
            <a:ext cx="381240" cy="82476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48" name="Google Shape;231;p5"/>
          <p:cNvSpPr/>
          <p:nvPr/>
        </p:nvSpPr>
        <p:spPr>
          <a:xfrm rot="16200000">
            <a:off x="5750280" y="942480"/>
            <a:ext cx="56880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Clinical Traits</a:t>
            </a:r>
            <a:endParaRPr b="0" lang="en-US" sz="900" spc="-1" strike="noStrike">
              <a:latin typeface="Arial"/>
            </a:endParaRPr>
          </a:p>
        </p:txBody>
      </p:sp>
      <p:sp>
        <p:nvSpPr>
          <p:cNvPr id="249" name="Google Shape;232;p5"/>
          <p:cNvSpPr/>
          <p:nvPr/>
        </p:nvSpPr>
        <p:spPr>
          <a:xfrm>
            <a:off x="4550040" y="8767440"/>
            <a:ext cx="24152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Figure 1</a:t>
            </a:r>
            <a:endParaRPr b="0" lang="en-US" sz="1400" spc="-1" strike="noStrike">
              <a:latin typeface="Arial"/>
            </a:endParaRPr>
          </a:p>
        </p:txBody>
      </p:sp>
      <p:sp>
        <p:nvSpPr>
          <p:cNvPr id="250" name="Google Shape;233;p5"/>
          <p:cNvSpPr/>
          <p:nvPr/>
        </p:nvSpPr>
        <p:spPr>
          <a:xfrm>
            <a:off x="5321160" y="1613160"/>
            <a:ext cx="492840" cy="112428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51" name="Google Shape;234;p5"/>
          <p:cNvSpPr/>
          <p:nvPr/>
        </p:nvSpPr>
        <p:spPr>
          <a:xfrm rot="16200000">
            <a:off x="5656320" y="1983240"/>
            <a:ext cx="76572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Gene Expression</a:t>
            </a:r>
            <a:endParaRPr b="0" lang="en-US" sz="900" spc="-1" strike="noStrike">
              <a:latin typeface="Arial"/>
            </a:endParaRPr>
          </a:p>
        </p:txBody>
      </p:sp>
      <p:sp>
        <p:nvSpPr>
          <p:cNvPr id="252" name="Google Shape;235;p5"/>
          <p:cNvSpPr/>
          <p:nvPr/>
        </p:nvSpPr>
        <p:spPr>
          <a:xfrm>
            <a:off x="5381280" y="2811960"/>
            <a:ext cx="381240" cy="82476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53" name="Google Shape;236;p5"/>
          <p:cNvSpPr/>
          <p:nvPr/>
        </p:nvSpPr>
        <p:spPr>
          <a:xfrm rot="16200000">
            <a:off x="5656320" y="3044880"/>
            <a:ext cx="76572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Pathway Activities</a:t>
            </a:r>
            <a:endParaRPr b="0" lang="en-US" sz="900" spc="-1" strike="noStrike">
              <a:latin typeface="Arial"/>
            </a:endParaRPr>
          </a:p>
        </p:txBody>
      </p:sp>
      <p:sp>
        <p:nvSpPr>
          <p:cNvPr id="254" name="Google Shape;237;p5"/>
          <p:cNvSpPr/>
          <p:nvPr/>
        </p:nvSpPr>
        <p:spPr>
          <a:xfrm>
            <a:off x="5381280" y="3719520"/>
            <a:ext cx="381240" cy="82476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55" name="Google Shape;238;p5"/>
          <p:cNvSpPr/>
          <p:nvPr/>
        </p:nvSpPr>
        <p:spPr>
          <a:xfrm rot="16200000">
            <a:off x="5664960" y="3935160"/>
            <a:ext cx="76572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Mutated Genes</a:t>
            </a:r>
            <a:endParaRPr b="0" lang="en-US" sz="900" spc="-1" strike="noStrike">
              <a:latin typeface="Arial"/>
            </a:endParaRPr>
          </a:p>
        </p:txBody>
      </p:sp>
      <p:sp>
        <p:nvSpPr>
          <p:cNvPr id="256" name="Google Shape;239;p5"/>
          <p:cNvSpPr/>
          <p:nvPr/>
        </p:nvSpPr>
        <p:spPr>
          <a:xfrm>
            <a:off x="6228720" y="4618440"/>
            <a:ext cx="338760" cy="82476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57" name="Google Shape;240;p5"/>
          <p:cNvSpPr/>
          <p:nvPr/>
        </p:nvSpPr>
        <p:spPr>
          <a:xfrm rot="16200000">
            <a:off x="6213240" y="4889880"/>
            <a:ext cx="979920" cy="22680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Mutation Types</a:t>
            </a:r>
            <a:endParaRPr b="0" lang="en-US" sz="900" spc="-1" strike="noStrike">
              <a:latin typeface="Arial"/>
            </a:endParaRPr>
          </a:p>
        </p:txBody>
      </p:sp>
      <p:sp>
        <p:nvSpPr>
          <p:cNvPr id="258" name="Google Shape;241;p5"/>
          <p:cNvSpPr/>
          <p:nvPr/>
        </p:nvSpPr>
        <p:spPr>
          <a:xfrm>
            <a:off x="6040440" y="5542920"/>
            <a:ext cx="338760" cy="82476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59" name="Google Shape;242;p5"/>
          <p:cNvSpPr/>
          <p:nvPr/>
        </p:nvSpPr>
        <p:spPr>
          <a:xfrm rot="16200000">
            <a:off x="6225480" y="5810040"/>
            <a:ext cx="76572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Cell type Enrichment</a:t>
            </a:r>
            <a:endParaRPr b="0" lang="en-US" sz="900" spc="-1" strike="noStrike">
              <a:latin typeface="Arial"/>
            </a:endParaRPr>
          </a:p>
        </p:txBody>
      </p:sp>
      <p:sp>
        <p:nvSpPr>
          <p:cNvPr id="260" name="Google Shape;243;p5"/>
          <p:cNvSpPr/>
          <p:nvPr/>
        </p:nvSpPr>
        <p:spPr>
          <a:xfrm>
            <a:off x="5381280" y="6433560"/>
            <a:ext cx="381240" cy="85032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61" name="Google Shape;244;p5"/>
          <p:cNvSpPr/>
          <p:nvPr/>
        </p:nvSpPr>
        <p:spPr>
          <a:xfrm rot="16200000">
            <a:off x="5609160" y="6679080"/>
            <a:ext cx="84276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Module Enrichments</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2" name="" descr=""/>
          <p:cNvPicPr/>
          <p:nvPr/>
        </p:nvPicPr>
        <p:blipFill>
          <a:blip r:embed="rId1"/>
          <a:stretch/>
        </p:blipFill>
        <p:spPr>
          <a:xfrm>
            <a:off x="0" y="0"/>
            <a:ext cx="6646680" cy="7999560"/>
          </a:xfrm>
          <a:prstGeom prst="rect">
            <a:avLst/>
          </a:prstGeom>
          <a:ln w="0">
            <a:noFill/>
          </a:ln>
        </p:spPr>
      </p:pic>
      <p:sp>
        <p:nvSpPr>
          <p:cNvPr id="263" name="Google Shape;230;p 1"/>
          <p:cNvSpPr/>
          <p:nvPr/>
        </p:nvSpPr>
        <p:spPr>
          <a:xfrm>
            <a:off x="5565240" y="669600"/>
            <a:ext cx="376920" cy="82476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64" name="Google Shape;231;p 1"/>
          <p:cNvSpPr/>
          <p:nvPr/>
        </p:nvSpPr>
        <p:spPr>
          <a:xfrm rot="16200000">
            <a:off x="5898240" y="906480"/>
            <a:ext cx="56880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Clinical Traits</a:t>
            </a:r>
            <a:endParaRPr b="0" lang="en-US" sz="900" spc="-1" strike="noStrike">
              <a:latin typeface="Arial"/>
            </a:endParaRPr>
          </a:p>
        </p:txBody>
      </p:sp>
      <p:sp>
        <p:nvSpPr>
          <p:cNvPr id="265" name="Google Shape;233;p 1"/>
          <p:cNvSpPr/>
          <p:nvPr/>
        </p:nvSpPr>
        <p:spPr>
          <a:xfrm>
            <a:off x="5547960" y="3285000"/>
            <a:ext cx="394200" cy="105696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66" name="Google Shape;234;p 1"/>
          <p:cNvSpPr/>
          <p:nvPr/>
        </p:nvSpPr>
        <p:spPr>
          <a:xfrm rot="16200000">
            <a:off x="5811120" y="3655080"/>
            <a:ext cx="76572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Gene Expression</a:t>
            </a:r>
            <a:endParaRPr b="0" lang="en-US" sz="900" spc="-1" strike="noStrike">
              <a:latin typeface="Arial"/>
            </a:endParaRPr>
          </a:p>
        </p:txBody>
      </p:sp>
      <p:sp>
        <p:nvSpPr>
          <p:cNvPr id="267" name="Google Shape;237;p 1"/>
          <p:cNvSpPr/>
          <p:nvPr/>
        </p:nvSpPr>
        <p:spPr>
          <a:xfrm>
            <a:off x="5565240" y="1523520"/>
            <a:ext cx="381240" cy="82476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68" name="Google Shape;238;p 1"/>
          <p:cNvSpPr/>
          <p:nvPr/>
        </p:nvSpPr>
        <p:spPr>
          <a:xfrm rot="16200000">
            <a:off x="5812920" y="1775160"/>
            <a:ext cx="76572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Mutated Genes</a:t>
            </a:r>
            <a:endParaRPr b="0" lang="en-US" sz="900" spc="-1" strike="noStrike">
              <a:latin typeface="Arial"/>
            </a:endParaRPr>
          </a:p>
        </p:txBody>
      </p:sp>
      <p:sp>
        <p:nvSpPr>
          <p:cNvPr id="269" name="Google Shape;235;p 1"/>
          <p:cNvSpPr/>
          <p:nvPr/>
        </p:nvSpPr>
        <p:spPr>
          <a:xfrm>
            <a:off x="5565240" y="4431960"/>
            <a:ext cx="376920" cy="82440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70" name="Google Shape;236;p 1"/>
          <p:cNvSpPr/>
          <p:nvPr/>
        </p:nvSpPr>
        <p:spPr>
          <a:xfrm rot="16200000">
            <a:off x="5804280" y="4664880"/>
            <a:ext cx="76572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Pathway Activities</a:t>
            </a:r>
            <a:endParaRPr b="0" lang="en-US" sz="900" spc="-1" strike="noStrike">
              <a:latin typeface="Arial"/>
            </a:endParaRPr>
          </a:p>
        </p:txBody>
      </p:sp>
      <p:sp>
        <p:nvSpPr>
          <p:cNvPr id="271" name="Google Shape;243;p 1"/>
          <p:cNvSpPr/>
          <p:nvPr/>
        </p:nvSpPr>
        <p:spPr>
          <a:xfrm>
            <a:off x="5565240" y="6146640"/>
            <a:ext cx="381240" cy="85032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72" name="Google Shape;244;p 1"/>
          <p:cNvSpPr/>
          <p:nvPr/>
        </p:nvSpPr>
        <p:spPr>
          <a:xfrm rot="16200000">
            <a:off x="5757120" y="6392160"/>
            <a:ext cx="84276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Module Enrichments</a:t>
            </a:r>
            <a:endParaRPr b="0" lang="en-US" sz="900" spc="-1" strike="noStrike">
              <a:latin typeface="Arial"/>
            </a:endParaRPr>
          </a:p>
        </p:txBody>
      </p:sp>
      <p:sp>
        <p:nvSpPr>
          <p:cNvPr id="273" name="Google Shape;239;p 1"/>
          <p:cNvSpPr/>
          <p:nvPr/>
        </p:nvSpPr>
        <p:spPr>
          <a:xfrm>
            <a:off x="6377040" y="2422440"/>
            <a:ext cx="338760" cy="824760"/>
          </a:xfrm>
          <a:prstGeom prst="rightBrace">
            <a:avLst>
              <a:gd name="adj1" fmla="val 8333"/>
              <a:gd name="adj2" fmla="val 55313"/>
            </a:avLst>
          </a:prstGeom>
          <a:noFill/>
          <a:ln w="9525">
            <a:solidFill>
              <a:srgbClr val="000000"/>
            </a:solidFill>
            <a:prstDash val="dash"/>
            <a:round/>
          </a:ln>
        </p:spPr>
        <p:style>
          <a:lnRef idx="0"/>
          <a:fillRef idx="0"/>
          <a:effectRef idx="0"/>
          <a:fontRef idx="minor"/>
        </p:style>
      </p:sp>
      <p:sp>
        <p:nvSpPr>
          <p:cNvPr id="274" name="Google Shape;240;p 1"/>
          <p:cNvSpPr/>
          <p:nvPr/>
        </p:nvSpPr>
        <p:spPr>
          <a:xfrm rot="16200000">
            <a:off x="6217560" y="2729880"/>
            <a:ext cx="979920" cy="22680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Mutation Types</a:t>
            </a:r>
            <a:endParaRPr b="0" lang="en-US" sz="900" spc="-1" strike="noStrike">
              <a:latin typeface="Arial"/>
            </a:endParaRPr>
          </a:p>
        </p:txBody>
      </p:sp>
      <p:sp>
        <p:nvSpPr>
          <p:cNvPr id="275" name="Google Shape;241;p 1"/>
          <p:cNvSpPr/>
          <p:nvPr/>
        </p:nvSpPr>
        <p:spPr>
          <a:xfrm>
            <a:off x="6172200" y="5324040"/>
            <a:ext cx="227160" cy="759960"/>
          </a:xfrm>
          <a:prstGeom prst="rightBrace">
            <a:avLst>
              <a:gd name="adj1" fmla="val 8333"/>
              <a:gd name="adj2" fmla="val 50000"/>
            </a:avLst>
          </a:prstGeom>
          <a:noFill/>
          <a:ln w="9525">
            <a:solidFill>
              <a:srgbClr val="000000"/>
            </a:solidFill>
            <a:prstDash val="dash"/>
            <a:round/>
          </a:ln>
        </p:spPr>
        <p:style>
          <a:lnRef idx="0"/>
          <a:fillRef idx="0"/>
          <a:effectRef idx="0"/>
          <a:fontRef idx="minor"/>
        </p:style>
      </p:sp>
      <p:sp>
        <p:nvSpPr>
          <p:cNvPr id="276" name="Google Shape;242;p 1"/>
          <p:cNvSpPr/>
          <p:nvPr/>
        </p:nvSpPr>
        <p:spPr>
          <a:xfrm rot="16200000">
            <a:off x="6229440" y="5526360"/>
            <a:ext cx="765720" cy="363960"/>
          </a:xfrm>
          <a:prstGeom prst="rect">
            <a:avLst/>
          </a:prstGeom>
          <a:solidFill>
            <a:schemeClr val="lt1"/>
          </a:solidFill>
          <a:ln w="25400">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900" spc="-1" strike="noStrike">
                <a:solidFill>
                  <a:srgbClr val="000000"/>
                </a:solidFill>
                <a:latin typeface="Arial"/>
                <a:ea typeface="Arial"/>
              </a:rPr>
              <a:t>Cell type Enrichment</a:t>
            </a:r>
            <a:endParaRPr b="0" lang="en-US" sz="900" spc="-1" strike="noStrike">
              <a:latin typeface="Arial"/>
            </a:endParaRPr>
          </a:p>
        </p:txBody>
      </p:sp>
      <p:sp>
        <p:nvSpPr>
          <p:cNvPr id="277" name="Google Shape;232;p 1"/>
          <p:cNvSpPr/>
          <p:nvPr/>
        </p:nvSpPr>
        <p:spPr>
          <a:xfrm>
            <a:off x="4550040" y="8767440"/>
            <a:ext cx="24152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Figure 1</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Google Shape;258;p6"/>
          <p:cNvSpPr/>
          <p:nvPr/>
        </p:nvSpPr>
        <p:spPr>
          <a:xfrm>
            <a:off x="0" y="3644640"/>
            <a:ext cx="6858720" cy="795960"/>
          </a:xfrm>
          <a:prstGeom prst="rect">
            <a:avLst/>
          </a:prstGeom>
          <a:solidFill>
            <a:srgbClr val="f3f3f3"/>
          </a:solidFill>
          <a:ln w="0">
            <a:noFill/>
          </a:ln>
        </p:spPr>
        <p:style>
          <a:lnRef idx="0"/>
          <a:fillRef idx="0"/>
          <a:effectRef idx="0"/>
          <a:fontRef idx="minor"/>
        </p:style>
      </p:sp>
      <p:graphicFrame>
        <p:nvGraphicFramePr>
          <p:cNvPr id="279" name="Google Shape;259;p6"/>
          <p:cNvGraphicFramePr/>
          <p:nvPr/>
        </p:nvGraphicFramePr>
        <p:xfrm>
          <a:off x="2216160" y="347400"/>
          <a:ext cx="1117440" cy="101160"/>
        </p:xfrm>
        <a:graphic>
          <a:graphicData uri="http://schemas.openxmlformats.org/drawingml/2006/table">
            <a:tbl>
              <a:tblPr/>
              <a:tblGrid>
                <a:gridCol w="218880"/>
                <a:gridCol w="225000"/>
                <a:gridCol w="225000"/>
                <a:gridCol w="225000"/>
                <a:gridCol w="22392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bl>
          </a:graphicData>
        </a:graphic>
      </p:graphicFrame>
      <p:graphicFrame>
        <p:nvGraphicFramePr>
          <p:cNvPr id="280" name="Google Shape;260;p6"/>
          <p:cNvGraphicFramePr/>
          <p:nvPr/>
        </p:nvGraphicFramePr>
        <p:xfrm>
          <a:off x="2217240" y="685080"/>
          <a:ext cx="1115640" cy="101160"/>
        </p:xfrm>
        <a:graphic>
          <a:graphicData uri="http://schemas.openxmlformats.org/drawingml/2006/table">
            <a:tbl>
              <a:tblPr/>
              <a:tblGrid>
                <a:gridCol w="218880"/>
                <a:gridCol w="218880"/>
                <a:gridCol w="237600"/>
                <a:gridCol w="220680"/>
                <a:gridCol w="21996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7f7fff"/>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7f7fff"/>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7f7fff"/>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7f7fff"/>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7f7fff"/>
                    </a:solidFill>
                  </a:tcPr>
                </a:tc>
              </a:tr>
            </a:tbl>
          </a:graphicData>
        </a:graphic>
      </p:graphicFrame>
      <p:sp>
        <p:nvSpPr>
          <p:cNvPr id="281" name="Google Shape;261;p6"/>
          <p:cNvSpPr/>
          <p:nvPr/>
        </p:nvSpPr>
        <p:spPr>
          <a:xfrm>
            <a:off x="2285640" y="82080"/>
            <a:ext cx="14558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Expression</a:t>
            </a:r>
            <a:endParaRPr b="0" lang="en-US" sz="1000" spc="-1" strike="noStrike">
              <a:latin typeface="Arial"/>
            </a:endParaRPr>
          </a:p>
        </p:txBody>
      </p:sp>
      <p:sp>
        <p:nvSpPr>
          <p:cNvPr id="282" name="Google Shape;262;p6"/>
          <p:cNvSpPr/>
          <p:nvPr/>
        </p:nvSpPr>
        <p:spPr>
          <a:xfrm>
            <a:off x="2187720" y="464040"/>
            <a:ext cx="14558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Mutated Genes</a:t>
            </a:r>
            <a:endParaRPr b="0" lang="en-US" sz="1000" spc="-1" strike="noStrike">
              <a:latin typeface="Arial"/>
            </a:endParaRPr>
          </a:p>
        </p:txBody>
      </p:sp>
      <p:sp>
        <p:nvSpPr>
          <p:cNvPr id="283" name="Google Shape;263;p6"/>
          <p:cNvSpPr/>
          <p:nvPr/>
        </p:nvSpPr>
        <p:spPr>
          <a:xfrm>
            <a:off x="2949480" y="1361160"/>
            <a:ext cx="1578960" cy="2419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Molecular fingerprint</a:t>
            </a:r>
            <a:endParaRPr b="0" lang="en-US" sz="1000" spc="-1" strike="noStrike">
              <a:latin typeface="Arial"/>
            </a:endParaRPr>
          </a:p>
        </p:txBody>
      </p:sp>
      <p:sp>
        <p:nvSpPr>
          <p:cNvPr id="284" name="Google Shape;264;p6"/>
          <p:cNvSpPr/>
          <p:nvPr/>
        </p:nvSpPr>
        <p:spPr>
          <a:xfrm>
            <a:off x="2956680" y="1706040"/>
            <a:ext cx="1578960" cy="2419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Embedding vector</a:t>
            </a:r>
            <a:endParaRPr b="0" lang="en-US" sz="1000" spc="-1" strike="noStrike">
              <a:latin typeface="Arial"/>
            </a:endParaRPr>
          </a:p>
        </p:txBody>
      </p:sp>
      <p:sp>
        <p:nvSpPr>
          <p:cNvPr id="285" name="Google Shape;265;p6"/>
          <p:cNvSpPr/>
          <p:nvPr/>
        </p:nvSpPr>
        <p:spPr>
          <a:xfrm flipH="1" rot="10800000">
            <a:off x="2151360" y="1697760"/>
            <a:ext cx="846000" cy="212040"/>
          </a:xfrm>
          <a:custGeom>
            <a:avLst/>
            <a:gdLst/>
            <a:ahLst/>
            <a:rect l="l" t="t" r="r" b="b"/>
            <a:pathLst>
              <a:path w="21600" h="21600">
                <a:moveTo>
                  <a:pt x="0" y="0"/>
                </a:moveTo>
                <a:lnTo>
                  <a:pt x="21600" y="21600"/>
                </a:lnTo>
              </a:path>
            </a:pathLst>
          </a:custGeom>
          <a:noFill/>
          <a:ln w="12700">
            <a:solidFill>
              <a:srgbClr val="000000"/>
            </a:solidFill>
            <a:round/>
            <a:tailEnd len="med" type="triangle" w="med"/>
          </a:ln>
        </p:spPr>
        <p:style>
          <a:lnRef idx="0"/>
          <a:fillRef idx="0"/>
          <a:effectRef idx="0"/>
          <a:fontRef idx="minor"/>
        </p:style>
      </p:sp>
      <p:sp>
        <p:nvSpPr>
          <p:cNvPr id="286" name="Google Shape;266;p6"/>
          <p:cNvSpPr/>
          <p:nvPr/>
        </p:nvSpPr>
        <p:spPr>
          <a:xfrm>
            <a:off x="2149200" y="1906200"/>
            <a:ext cx="847800" cy="76320"/>
          </a:xfrm>
          <a:custGeom>
            <a:avLst/>
            <a:gdLst/>
            <a:ahLst/>
            <a:rect l="l" t="t" r="r" b="b"/>
            <a:pathLst>
              <a:path w="21600" h="21600">
                <a:moveTo>
                  <a:pt x="0" y="0"/>
                </a:moveTo>
                <a:lnTo>
                  <a:pt x="21600" y="21600"/>
                </a:lnTo>
              </a:path>
            </a:pathLst>
          </a:custGeom>
          <a:noFill/>
          <a:ln w="12700">
            <a:solidFill>
              <a:srgbClr val="000000"/>
            </a:solidFill>
            <a:round/>
            <a:tailEnd len="med" type="triangle" w="med"/>
          </a:ln>
        </p:spPr>
        <p:style>
          <a:lnRef idx="0"/>
          <a:fillRef idx="0"/>
          <a:effectRef idx="0"/>
          <a:fontRef idx="minor"/>
        </p:style>
      </p:sp>
      <p:sp>
        <p:nvSpPr>
          <p:cNvPr id="287" name="Google Shape;267;p6"/>
          <p:cNvSpPr/>
          <p:nvPr/>
        </p:nvSpPr>
        <p:spPr>
          <a:xfrm rot="20608200">
            <a:off x="2256840" y="1608480"/>
            <a:ext cx="5565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RDKiT</a:t>
            </a:r>
            <a:endParaRPr b="0" lang="en-US" sz="1000" spc="-1" strike="noStrike">
              <a:latin typeface="Arial"/>
            </a:endParaRPr>
          </a:p>
        </p:txBody>
      </p:sp>
      <p:sp>
        <p:nvSpPr>
          <p:cNvPr id="288" name="Google Shape;268;p6"/>
          <p:cNvSpPr/>
          <p:nvPr/>
        </p:nvSpPr>
        <p:spPr>
          <a:xfrm rot="307800">
            <a:off x="2199960" y="1936800"/>
            <a:ext cx="87840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Transfer learning</a:t>
            </a:r>
            <a:endParaRPr b="0" lang="en-US" sz="1000" spc="-1" strike="noStrike">
              <a:latin typeface="Arial"/>
            </a:endParaRPr>
          </a:p>
        </p:txBody>
      </p:sp>
      <p:graphicFrame>
        <p:nvGraphicFramePr>
          <p:cNvPr id="289" name="Google Shape;269;p6"/>
          <p:cNvGraphicFramePr/>
          <p:nvPr/>
        </p:nvGraphicFramePr>
        <p:xfrm>
          <a:off x="2221920" y="3360960"/>
          <a:ext cx="1117440" cy="101160"/>
        </p:xfrm>
        <a:graphic>
          <a:graphicData uri="http://schemas.openxmlformats.org/drawingml/2006/table">
            <a:tbl>
              <a:tblPr/>
              <a:tblGrid>
                <a:gridCol w="218880"/>
                <a:gridCol w="220680"/>
                <a:gridCol w="220680"/>
                <a:gridCol w="218880"/>
                <a:gridCol w="23868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r>
            </a:tbl>
          </a:graphicData>
        </a:graphic>
      </p:graphicFrame>
      <p:sp>
        <p:nvSpPr>
          <p:cNvPr id="290" name="Google Shape;270;p6"/>
          <p:cNvSpPr/>
          <p:nvPr/>
        </p:nvSpPr>
        <p:spPr>
          <a:xfrm>
            <a:off x="2180520" y="3142440"/>
            <a:ext cx="14299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PPI + drug targets</a:t>
            </a:r>
            <a:endParaRPr b="0" lang="en-US" sz="1000" spc="-1" strike="noStrike">
              <a:latin typeface="Arial"/>
            </a:endParaRPr>
          </a:p>
        </p:txBody>
      </p:sp>
      <p:graphicFrame>
        <p:nvGraphicFramePr>
          <p:cNvPr id="291" name="Google Shape;271;p6"/>
          <p:cNvGraphicFramePr/>
          <p:nvPr/>
        </p:nvGraphicFramePr>
        <p:xfrm>
          <a:off x="4974840" y="1530000"/>
          <a:ext cx="1117440" cy="101160"/>
        </p:xfrm>
        <a:graphic>
          <a:graphicData uri="http://schemas.openxmlformats.org/drawingml/2006/table">
            <a:tbl>
              <a:tblPr/>
              <a:tblGrid>
                <a:gridCol w="218880"/>
                <a:gridCol w="225000"/>
                <a:gridCol w="225000"/>
                <a:gridCol w="225000"/>
                <a:gridCol w="22392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dc6b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dc6b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dc6b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dc6b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dc6b0"/>
                    </a:solidFill>
                  </a:tcPr>
                </a:tc>
              </a:tr>
            </a:tbl>
          </a:graphicData>
        </a:graphic>
      </p:graphicFrame>
      <p:sp>
        <p:nvSpPr>
          <p:cNvPr id="292" name="Google Shape;272;p6"/>
          <p:cNvSpPr/>
          <p:nvPr/>
        </p:nvSpPr>
        <p:spPr>
          <a:xfrm>
            <a:off x="4869000" y="1283760"/>
            <a:ext cx="16261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Pathway enrichment</a:t>
            </a:r>
            <a:endParaRPr b="0" lang="en-US" sz="1000" spc="-1" strike="noStrike">
              <a:latin typeface="Arial"/>
            </a:endParaRPr>
          </a:p>
        </p:txBody>
      </p:sp>
      <p:sp>
        <p:nvSpPr>
          <p:cNvPr id="293" name="Google Shape;273;p6"/>
          <p:cNvSpPr/>
          <p:nvPr/>
        </p:nvSpPr>
        <p:spPr>
          <a:xfrm flipH="1" rot="10800000">
            <a:off x="3331080" y="2067120"/>
            <a:ext cx="3063240" cy="1335960"/>
          </a:xfrm>
          <a:prstGeom prst="bentConnector3">
            <a:avLst>
              <a:gd name="adj1" fmla="val 100067"/>
            </a:avLst>
          </a:prstGeom>
          <a:noFill/>
          <a:ln w="12700">
            <a:solidFill>
              <a:srgbClr val="000000"/>
            </a:solidFill>
            <a:round/>
            <a:tailEnd len="med" type="triangle" w="med"/>
          </a:ln>
        </p:spPr>
        <p:style>
          <a:lnRef idx="0"/>
          <a:fillRef idx="0"/>
          <a:effectRef idx="0"/>
          <a:fontRef idx="minor"/>
        </p:style>
      </p:sp>
      <p:graphicFrame>
        <p:nvGraphicFramePr>
          <p:cNvPr id="294" name="Google Shape;274;p6"/>
          <p:cNvGraphicFramePr/>
          <p:nvPr/>
        </p:nvGraphicFramePr>
        <p:xfrm>
          <a:off x="5708880" y="1899360"/>
          <a:ext cx="1117440" cy="101160"/>
        </p:xfrm>
        <a:graphic>
          <a:graphicData uri="http://schemas.openxmlformats.org/drawingml/2006/table">
            <a:tbl>
              <a:tblPr/>
              <a:tblGrid>
                <a:gridCol w="218880"/>
                <a:gridCol w="225000"/>
                <a:gridCol w="225000"/>
                <a:gridCol w="225000"/>
                <a:gridCol w="22392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1b584"/>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1b584"/>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1b584"/>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1b584"/>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1b584"/>
                    </a:solidFill>
                  </a:tcPr>
                </a:tc>
              </a:tr>
            </a:tbl>
          </a:graphicData>
        </a:graphic>
      </p:graphicFrame>
      <p:sp>
        <p:nvSpPr>
          <p:cNvPr id="295" name="Google Shape;275;p6"/>
          <p:cNvSpPr/>
          <p:nvPr/>
        </p:nvSpPr>
        <p:spPr>
          <a:xfrm>
            <a:off x="5793120" y="1656720"/>
            <a:ext cx="16261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Pathway AUC</a:t>
            </a:r>
            <a:endParaRPr b="0" lang="en-US" sz="1000" spc="-1" strike="noStrike">
              <a:latin typeface="Arial"/>
            </a:endParaRPr>
          </a:p>
        </p:txBody>
      </p:sp>
      <p:sp>
        <p:nvSpPr>
          <p:cNvPr id="296" name="Google Shape;276;p6"/>
          <p:cNvSpPr/>
          <p:nvPr/>
        </p:nvSpPr>
        <p:spPr>
          <a:xfrm flipH="1" rot="10800000">
            <a:off x="3348720" y="1672560"/>
            <a:ext cx="2157120" cy="1368000"/>
          </a:xfrm>
          <a:prstGeom prst="bentConnector2">
            <a:avLst/>
          </a:prstGeom>
          <a:noFill/>
          <a:ln w="12700">
            <a:solidFill>
              <a:srgbClr val="000000"/>
            </a:solidFill>
            <a:round/>
            <a:tailEnd len="med" type="triangle" w="med"/>
          </a:ln>
        </p:spPr>
        <p:style>
          <a:lnRef idx="0"/>
          <a:fillRef idx="0"/>
          <a:effectRef idx="0"/>
          <a:fontRef idx="minor"/>
        </p:style>
      </p:sp>
      <p:sp>
        <p:nvSpPr>
          <p:cNvPr id="297" name="Google Shape;278;p6"/>
          <p:cNvSpPr/>
          <p:nvPr/>
        </p:nvSpPr>
        <p:spPr>
          <a:xfrm>
            <a:off x="1208160" y="468360"/>
            <a:ext cx="902520" cy="459720"/>
          </a:xfrm>
          <a:prstGeom prst="rect">
            <a:avLst/>
          </a:prstGeom>
          <a:solidFill>
            <a:srgbClr val="81d41a"/>
          </a:solidFill>
          <a:ln w="0">
            <a:noFill/>
          </a:ln>
        </p:spPr>
        <p:style>
          <a:lnRef idx="0"/>
          <a:fillRef idx="0"/>
          <a:effectRef idx="0"/>
          <a:fontRef idx="minor"/>
        </p:style>
      </p:sp>
      <p:sp>
        <p:nvSpPr>
          <p:cNvPr id="298" name="Google Shape;279;p6"/>
          <p:cNvSpPr/>
          <p:nvPr/>
        </p:nvSpPr>
        <p:spPr>
          <a:xfrm>
            <a:off x="1152360" y="484200"/>
            <a:ext cx="992880" cy="45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1" lang="en-US" sz="1200" spc="-1" strike="noStrike">
                <a:solidFill>
                  <a:srgbClr val="000000"/>
                </a:solidFill>
                <a:latin typeface="Arial"/>
                <a:ea typeface="Arial"/>
              </a:rPr>
              <a:t>Cancer Samples</a:t>
            </a:r>
            <a:endParaRPr b="0" lang="en-US" sz="1200" spc="-1" strike="noStrike">
              <a:latin typeface="Arial"/>
            </a:endParaRPr>
          </a:p>
        </p:txBody>
      </p:sp>
      <p:sp>
        <p:nvSpPr>
          <p:cNvPr id="299" name="Google Shape;280;p6"/>
          <p:cNvSpPr/>
          <p:nvPr/>
        </p:nvSpPr>
        <p:spPr>
          <a:xfrm>
            <a:off x="1207800" y="1673640"/>
            <a:ext cx="903600" cy="464400"/>
          </a:xfrm>
          <a:prstGeom prst="rect">
            <a:avLst/>
          </a:prstGeom>
          <a:solidFill>
            <a:srgbClr val="81d41a"/>
          </a:solidFill>
          <a:ln w="0">
            <a:noFill/>
          </a:ln>
        </p:spPr>
        <p:style>
          <a:lnRef idx="0"/>
          <a:fillRef idx="0"/>
          <a:effectRef idx="0"/>
          <a:fontRef idx="minor"/>
        </p:style>
      </p:sp>
      <p:sp>
        <p:nvSpPr>
          <p:cNvPr id="300" name="Google Shape;281;p6"/>
          <p:cNvSpPr/>
          <p:nvPr/>
        </p:nvSpPr>
        <p:spPr>
          <a:xfrm>
            <a:off x="1349640" y="1767240"/>
            <a:ext cx="75744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200" spc="-1" strike="noStrike">
                <a:solidFill>
                  <a:srgbClr val="000000"/>
                </a:solidFill>
                <a:latin typeface="Arial"/>
                <a:ea typeface="Arial"/>
              </a:rPr>
              <a:t>Drugs</a:t>
            </a:r>
            <a:endParaRPr b="0" lang="en-US" sz="1200" spc="-1" strike="noStrike">
              <a:latin typeface="Arial"/>
            </a:endParaRPr>
          </a:p>
        </p:txBody>
      </p:sp>
      <p:sp>
        <p:nvSpPr>
          <p:cNvPr id="301" name="Google Shape;282;p6"/>
          <p:cNvSpPr/>
          <p:nvPr/>
        </p:nvSpPr>
        <p:spPr>
          <a:xfrm>
            <a:off x="1207800" y="2901240"/>
            <a:ext cx="903600" cy="464400"/>
          </a:xfrm>
          <a:prstGeom prst="rect">
            <a:avLst/>
          </a:prstGeom>
          <a:solidFill>
            <a:srgbClr val="baf1f2"/>
          </a:solidFill>
          <a:ln w="0">
            <a:noFill/>
          </a:ln>
        </p:spPr>
        <p:style>
          <a:lnRef idx="0"/>
          <a:fillRef idx="0"/>
          <a:effectRef idx="0"/>
          <a:fontRef idx="minor"/>
        </p:style>
      </p:sp>
      <p:sp>
        <p:nvSpPr>
          <p:cNvPr id="302" name="Google Shape;283;p6"/>
          <p:cNvSpPr/>
          <p:nvPr/>
        </p:nvSpPr>
        <p:spPr>
          <a:xfrm>
            <a:off x="1197360" y="2917080"/>
            <a:ext cx="903600" cy="454680"/>
          </a:xfrm>
          <a:prstGeom prst="rect">
            <a:avLst/>
          </a:prstGeom>
          <a:solidFill>
            <a:srgbClr val="81d41a"/>
          </a:solid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1" lang="en-US" sz="1200" spc="-1" strike="noStrike">
                <a:solidFill>
                  <a:srgbClr val="000000"/>
                </a:solidFill>
                <a:latin typeface="Arial"/>
                <a:ea typeface="Arial"/>
              </a:rPr>
              <a:t>Existing data</a:t>
            </a:r>
            <a:endParaRPr b="0" lang="en-US" sz="1200" spc="-1" strike="noStrike">
              <a:latin typeface="Arial"/>
            </a:endParaRPr>
          </a:p>
        </p:txBody>
      </p:sp>
      <p:sp>
        <p:nvSpPr>
          <p:cNvPr id="303" name="Google Shape;284;p6"/>
          <p:cNvSpPr/>
          <p:nvPr/>
        </p:nvSpPr>
        <p:spPr>
          <a:xfrm>
            <a:off x="3483000" y="398520"/>
            <a:ext cx="2908080" cy="1265040"/>
          </a:xfrm>
          <a:prstGeom prst="bentConnector2">
            <a:avLst/>
          </a:prstGeom>
          <a:noFill/>
          <a:ln w="12700">
            <a:solidFill>
              <a:srgbClr val="000000"/>
            </a:solidFill>
            <a:round/>
            <a:tailEnd len="med" type="triangle" w="med"/>
          </a:ln>
        </p:spPr>
        <p:style>
          <a:lnRef idx="0"/>
          <a:fillRef idx="0"/>
          <a:effectRef idx="0"/>
          <a:fontRef idx="minor"/>
        </p:style>
      </p:sp>
      <p:sp>
        <p:nvSpPr>
          <p:cNvPr id="304" name="Google Shape;285;p6"/>
          <p:cNvSpPr/>
          <p:nvPr/>
        </p:nvSpPr>
        <p:spPr>
          <a:xfrm>
            <a:off x="3476880" y="750240"/>
            <a:ext cx="2046960" cy="498960"/>
          </a:xfrm>
          <a:prstGeom prst="bentConnector2">
            <a:avLst/>
          </a:prstGeom>
          <a:noFill/>
          <a:ln w="12700">
            <a:solidFill>
              <a:srgbClr val="000000"/>
            </a:solidFill>
            <a:round/>
            <a:tailEnd len="med" type="triangle" w="med"/>
          </a:ln>
        </p:spPr>
        <p:style>
          <a:lnRef idx="0"/>
          <a:fillRef idx="0"/>
          <a:effectRef idx="0"/>
          <a:fontRef idx="minor"/>
        </p:style>
      </p:sp>
      <p:sp>
        <p:nvSpPr>
          <p:cNvPr id="305" name="Google Shape;286;p6"/>
          <p:cNvSpPr/>
          <p:nvPr/>
        </p:nvSpPr>
        <p:spPr>
          <a:xfrm>
            <a:off x="3350520" y="399240"/>
            <a:ext cx="12024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06" name="Google Shape;287;p6"/>
          <p:cNvSpPr/>
          <p:nvPr/>
        </p:nvSpPr>
        <p:spPr>
          <a:xfrm flipH="1" rot="10800000">
            <a:off x="3477960" y="403560"/>
            <a:ext cx="3960" cy="34920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07" name="Google Shape;288;p6"/>
          <p:cNvSpPr/>
          <p:nvPr/>
        </p:nvSpPr>
        <p:spPr>
          <a:xfrm>
            <a:off x="-855360" y="366840"/>
            <a:ext cx="2046240" cy="85104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tabLst>
                <a:tab algn="l" pos="0"/>
              </a:tabLst>
            </a:pPr>
            <a:r>
              <a:rPr b="0" lang="en-US" sz="1000" spc="-1" strike="noStrike">
                <a:solidFill>
                  <a:srgbClr val="000000"/>
                </a:solidFill>
                <a:latin typeface="Arial"/>
                <a:ea typeface="Arial"/>
              </a:rPr>
              <a:t>Train - BeatAML</a:t>
            </a:r>
            <a:endParaRPr b="0" lang="en-US" sz="1000" spc="-1" strike="noStrike">
              <a:latin typeface="Arial"/>
            </a:endParaRPr>
          </a:p>
          <a:p>
            <a:pPr algn="r">
              <a:lnSpc>
                <a:spcPct val="100000"/>
              </a:lnSpc>
              <a:buNone/>
              <a:tabLst>
                <a:tab algn="l" pos="0"/>
              </a:tabLst>
            </a:pPr>
            <a:r>
              <a:rPr b="0" lang="en-US" sz="1000" spc="-1" strike="noStrike">
                <a:solidFill>
                  <a:srgbClr val="000000"/>
                </a:solidFill>
                <a:latin typeface="Arial"/>
                <a:ea typeface="Arial"/>
              </a:rPr>
              <a:t>(Wave 1+2)</a:t>
            </a:r>
            <a:endParaRPr b="0" lang="en-US" sz="1000" spc="-1" strike="noStrike">
              <a:latin typeface="Arial"/>
            </a:endParaRPr>
          </a:p>
          <a:p>
            <a:pPr algn="r">
              <a:lnSpc>
                <a:spcPct val="100000"/>
              </a:lnSpc>
              <a:buNone/>
              <a:tabLst>
                <a:tab algn="l" pos="0"/>
              </a:tabLst>
            </a:pPr>
            <a:r>
              <a:rPr b="0" lang="en-US" sz="1000" spc="-1" strike="noStrike">
                <a:solidFill>
                  <a:srgbClr val="000000"/>
                </a:solidFill>
                <a:latin typeface="Arial"/>
                <a:ea typeface="Arial"/>
              </a:rPr>
              <a:t>Test – BeatAML</a:t>
            </a:r>
            <a:endParaRPr b="0" lang="en-US" sz="1000" spc="-1" strike="noStrike">
              <a:latin typeface="Arial"/>
            </a:endParaRPr>
          </a:p>
          <a:p>
            <a:pPr algn="r">
              <a:lnSpc>
                <a:spcPct val="100000"/>
              </a:lnSpc>
              <a:buNone/>
              <a:tabLst>
                <a:tab algn="l" pos="0"/>
              </a:tabLst>
            </a:pPr>
            <a:r>
              <a:rPr b="0" lang="en-US" sz="1000" spc="-1" strike="noStrike">
                <a:solidFill>
                  <a:srgbClr val="000000"/>
                </a:solidFill>
                <a:latin typeface="Arial"/>
                <a:ea typeface="Arial"/>
              </a:rPr>
              <a:t>(Wave 3+4)</a:t>
            </a:r>
            <a:endParaRPr b="0" lang="en-US" sz="1000" spc="-1" strike="noStrike">
              <a:latin typeface="Arial"/>
            </a:endParaRPr>
          </a:p>
          <a:p>
            <a:pPr algn="r">
              <a:lnSpc>
                <a:spcPct val="100000"/>
              </a:lnSpc>
              <a:buNone/>
              <a:tabLst>
                <a:tab algn="l" pos="0"/>
              </a:tabLst>
            </a:pPr>
            <a:endParaRPr b="0" lang="en-US" sz="1000" spc="-1" strike="noStrike">
              <a:latin typeface="Arial"/>
            </a:endParaRPr>
          </a:p>
        </p:txBody>
      </p:sp>
      <p:sp>
        <p:nvSpPr>
          <p:cNvPr id="308" name="Google Shape;289;p6"/>
          <p:cNvSpPr/>
          <p:nvPr/>
        </p:nvSpPr>
        <p:spPr>
          <a:xfrm>
            <a:off x="-277920" y="1576080"/>
            <a:ext cx="1436400" cy="6987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tabLst>
                <a:tab algn="l" pos="0"/>
              </a:tabLst>
            </a:pPr>
            <a:r>
              <a:rPr b="0" lang="en-US" sz="1000" spc="-1" strike="noStrike">
                <a:solidFill>
                  <a:srgbClr val="000000"/>
                </a:solidFill>
                <a:latin typeface="Arial"/>
                <a:ea typeface="Arial"/>
              </a:rPr>
              <a:t>BeatAML Drugs </a:t>
            </a:r>
            <a:endParaRPr b="0" lang="en-US" sz="1000" spc="-1" strike="noStrike">
              <a:latin typeface="Arial"/>
            </a:endParaRPr>
          </a:p>
          <a:p>
            <a:pPr algn="r">
              <a:lnSpc>
                <a:spcPct val="100000"/>
              </a:lnSpc>
              <a:buNone/>
              <a:tabLst>
                <a:tab algn="l" pos="0"/>
              </a:tabLst>
            </a:pPr>
            <a:r>
              <a:rPr b="0" lang="en-US" sz="1000" spc="-1" strike="noStrike">
                <a:solidFill>
                  <a:srgbClr val="000000"/>
                </a:solidFill>
                <a:latin typeface="Arial"/>
                <a:ea typeface="Arial"/>
              </a:rPr>
              <a:t>DrugBank</a:t>
            </a:r>
            <a:endParaRPr b="0" lang="en-US" sz="1000" spc="-1" strike="noStrike">
              <a:latin typeface="Arial"/>
            </a:endParaRPr>
          </a:p>
          <a:p>
            <a:pPr algn="r">
              <a:lnSpc>
                <a:spcPct val="100000"/>
              </a:lnSpc>
              <a:buNone/>
              <a:tabLst>
                <a:tab algn="l" pos="0"/>
              </a:tabLst>
            </a:pPr>
            <a:r>
              <a:rPr b="0" lang="en-US" sz="1000" spc="-1" strike="noStrike">
                <a:solidFill>
                  <a:srgbClr val="000000"/>
                </a:solidFill>
                <a:latin typeface="Arial"/>
                <a:ea typeface="Arial"/>
              </a:rPr>
              <a:t>DeepRepurpose</a:t>
            </a:r>
            <a:endParaRPr b="0" lang="en-US" sz="1000" spc="-1" strike="noStrike">
              <a:latin typeface="Arial"/>
            </a:endParaRPr>
          </a:p>
          <a:p>
            <a:pPr algn="r">
              <a:lnSpc>
                <a:spcPct val="100000"/>
              </a:lnSpc>
              <a:buNone/>
              <a:tabLst>
                <a:tab algn="l" pos="0"/>
              </a:tabLst>
            </a:pPr>
            <a:r>
              <a:rPr b="0" lang="en-US" sz="1000" spc="-1" strike="noStrike">
                <a:solidFill>
                  <a:srgbClr val="000000"/>
                </a:solidFill>
                <a:latin typeface="Arial"/>
                <a:ea typeface="Arial"/>
              </a:rPr>
              <a:t>(SMILES)</a:t>
            </a:r>
            <a:endParaRPr b="0" lang="en-US" sz="1000" spc="-1" strike="noStrike">
              <a:latin typeface="Arial"/>
            </a:endParaRPr>
          </a:p>
        </p:txBody>
      </p:sp>
      <p:sp>
        <p:nvSpPr>
          <p:cNvPr id="309" name="Google Shape;290;p6"/>
          <p:cNvSpPr/>
          <p:nvPr/>
        </p:nvSpPr>
        <p:spPr>
          <a:xfrm>
            <a:off x="-424800" y="2744640"/>
            <a:ext cx="1603080" cy="6987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tabLst>
                <a:tab algn="l" pos="0"/>
              </a:tabLst>
            </a:pPr>
            <a:r>
              <a:rPr b="0" lang="en-US" sz="1000" spc="-1" strike="noStrike">
                <a:solidFill>
                  <a:srgbClr val="000000"/>
                </a:solidFill>
                <a:latin typeface="Arial"/>
                <a:ea typeface="Arial"/>
              </a:rPr>
              <a:t>BeatAML (Cell + </a:t>
            </a:r>
            <a:endParaRPr b="0" lang="en-US" sz="1000" spc="-1" strike="noStrike">
              <a:latin typeface="Arial"/>
            </a:endParaRPr>
          </a:p>
          <a:p>
            <a:pPr algn="r">
              <a:lnSpc>
                <a:spcPct val="100000"/>
              </a:lnSpc>
              <a:buNone/>
              <a:tabLst>
                <a:tab algn="l" pos="0"/>
              </a:tabLst>
            </a:pPr>
            <a:r>
              <a:rPr b="0" lang="en-US" sz="1000" spc="-1" strike="noStrike">
                <a:solidFill>
                  <a:srgbClr val="000000"/>
                </a:solidFill>
                <a:latin typeface="Arial"/>
                <a:ea typeface="Arial"/>
              </a:rPr>
              <a:t>Module States) </a:t>
            </a:r>
            <a:endParaRPr b="0" lang="en-US" sz="1000" spc="-1" strike="noStrike">
              <a:latin typeface="Arial"/>
            </a:endParaRPr>
          </a:p>
          <a:p>
            <a:pPr algn="r">
              <a:lnSpc>
                <a:spcPct val="100000"/>
              </a:lnSpc>
              <a:buNone/>
              <a:tabLst>
                <a:tab algn="l" pos="0"/>
              </a:tabLst>
            </a:pPr>
            <a:r>
              <a:rPr b="0" lang="en-US" sz="1000" spc="-1" strike="noStrike">
                <a:solidFill>
                  <a:srgbClr val="000000"/>
                </a:solidFill>
                <a:latin typeface="Arial"/>
                <a:ea typeface="Arial"/>
              </a:rPr>
              <a:t>Pathway Database</a:t>
            </a:r>
            <a:endParaRPr b="0" lang="en-US" sz="1000" spc="-1" strike="noStrike">
              <a:latin typeface="Arial"/>
            </a:endParaRPr>
          </a:p>
          <a:p>
            <a:pPr algn="r">
              <a:lnSpc>
                <a:spcPct val="100000"/>
              </a:lnSpc>
              <a:buNone/>
              <a:tabLst>
                <a:tab algn="l" pos="0"/>
              </a:tabLst>
            </a:pPr>
            <a:r>
              <a:rPr b="0" lang="en-US" sz="1000" spc="-1" strike="noStrike">
                <a:solidFill>
                  <a:srgbClr val="000000"/>
                </a:solidFill>
                <a:latin typeface="Arial"/>
                <a:ea typeface="Arial"/>
              </a:rPr>
              <a:t>STRING PPI</a:t>
            </a:r>
            <a:endParaRPr b="0" lang="en-US" sz="1000" spc="-1" strike="noStrike">
              <a:latin typeface="Arial"/>
            </a:endParaRPr>
          </a:p>
        </p:txBody>
      </p:sp>
      <p:grpSp>
        <p:nvGrpSpPr>
          <p:cNvPr id="310" name="Google Shape;291;p6"/>
          <p:cNvGrpSpPr/>
          <p:nvPr/>
        </p:nvGrpSpPr>
        <p:grpSpPr>
          <a:xfrm>
            <a:off x="996120" y="367920"/>
            <a:ext cx="205560" cy="654480"/>
            <a:chOff x="996120" y="367920"/>
            <a:chExt cx="205560" cy="654480"/>
          </a:xfrm>
        </p:grpSpPr>
        <p:grpSp>
          <p:nvGrpSpPr>
            <p:cNvPr id="311" name="Google Shape;292;p6"/>
            <p:cNvGrpSpPr/>
            <p:nvPr/>
          </p:nvGrpSpPr>
          <p:grpSpPr>
            <a:xfrm>
              <a:off x="996120" y="367920"/>
              <a:ext cx="120600" cy="654480"/>
              <a:chOff x="996120" y="367920"/>
              <a:chExt cx="120600" cy="654480"/>
            </a:xfrm>
          </p:grpSpPr>
          <p:sp>
            <p:nvSpPr>
              <p:cNvPr id="312" name="Google Shape;293;p6"/>
              <p:cNvSpPr/>
              <p:nvPr/>
            </p:nvSpPr>
            <p:spPr>
              <a:xfrm>
                <a:off x="996120" y="370080"/>
                <a:ext cx="12024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13" name="Google Shape;294;p6"/>
              <p:cNvSpPr/>
              <p:nvPr/>
            </p:nvSpPr>
            <p:spPr>
              <a:xfrm>
                <a:off x="996480" y="1020600"/>
                <a:ext cx="12024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14" name="Google Shape;295;p6"/>
              <p:cNvSpPr/>
              <p:nvPr/>
            </p:nvSpPr>
            <p:spPr>
              <a:xfrm>
                <a:off x="1113840" y="367920"/>
                <a:ext cx="360" cy="65448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grpSp>
        <p:sp>
          <p:nvSpPr>
            <p:cNvPr id="315" name="Google Shape;296;p6"/>
            <p:cNvSpPr/>
            <p:nvPr/>
          </p:nvSpPr>
          <p:spPr>
            <a:xfrm>
              <a:off x="1112040" y="696240"/>
              <a:ext cx="8964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grpSp>
      <p:grpSp>
        <p:nvGrpSpPr>
          <p:cNvPr id="316" name="Google Shape;297;p6"/>
          <p:cNvGrpSpPr/>
          <p:nvPr/>
        </p:nvGrpSpPr>
        <p:grpSpPr>
          <a:xfrm>
            <a:off x="998280" y="1518120"/>
            <a:ext cx="205920" cy="763200"/>
            <a:chOff x="998280" y="1518120"/>
            <a:chExt cx="205920" cy="763200"/>
          </a:xfrm>
        </p:grpSpPr>
        <p:grpSp>
          <p:nvGrpSpPr>
            <p:cNvPr id="317" name="Google Shape;298;p6"/>
            <p:cNvGrpSpPr/>
            <p:nvPr/>
          </p:nvGrpSpPr>
          <p:grpSpPr>
            <a:xfrm>
              <a:off x="998280" y="1518120"/>
              <a:ext cx="120600" cy="763200"/>
              <a:chOff x="998280" y="1518120"/>
              <a:chExt cx="120600" cy="763200"/>
            </a:xfrm>
          </p:grpSpPr>
          <p:sp>
            <p:nvSpPr>
              <p:cNvPr id="318" name="Google Shape;299;p6"/>
              <p:cNvSpPr/>
              <p:nvPr/>
            </p:nvSpPr>
            <p:spPr>
              <a:xfrm>
                <a:off x="998640" y="1521720"/>
                <a:ext cx="12024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19" name="Google Shape;300;p6"/>
              <p:cNvSpPr/>
              <p:nvPr/>
            </p:nvSpPr>
            <p:spPr>
              <a:xfrm>
                <a:off x="998280" y="2277720"/>
                <a:ext cx="12024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20" name="Google Shape;301;p6"/>
              <p:cNvSpPr/>
              <p:nvPr/>
            </p:nvSpPr>
            <p:spPr>
              <a:xfrm>
                <a:off x="1116000" y="1518120"/>
                <a:ext cx="360" cy="76320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grpSp>
        <p:sp>
          <p:nvSpPr>
            <p:cNvPr id="321" name="Google Shape;302;p6"/>
            <p:cNvSpPr/>
            <p:nvPr/>
          </p:nvSpPr>
          <p:spPr>
            <a:xfrm>
              <a:off x="1114560" y="1900440"/>
              <a:ext cx="8964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grpSp>
      <p:grpSp>
        <p:nvGrpSpPr>
          <p:cNvPr id="322" name="Google Shape;303;p6"/>
          <p:cNvGrpSpPr/>
          <p:nvPr/>
        </p:nvGrpSpPr>
        <p:grpSpPr>
          <a:xfrm>
            <a:off x="996120" y="2728080"/>
            <a:ext cx="211680" cy="721080"/>
            <a:chOff x="996120" y="2728080"/>
            <a:chExt cx="211680" cy="721080"/>
          </a:xfrm>
        </p:grpSpPr>
        <p:grpSp>
          <p:nvGrpSpPr>
            <p:cNvPr id="323" name="Google Shape;304;p6"/>
            <p:cNvGrpSpPr/>
            <p:nvPr/>
          </p:nvGrpSpPr>
          <p:grpSpPr>
            <a:xfrm>
              <a:off x="996120" y="2728080"/>
              <a:ext cx="125280" cy="721080"/>
              <a:chOff x="996120" y="2728080"/>
              <a:chExt cx="125280" cy="721080"/>
            </a:xfrm>
          </p:grpSpPr>
          <p:sp>
            <p:nvSpPr>
              <p:cNvPr id="324" name="Google Shape;305;p6"/>
              <p:cNvSpPr/>
              <p:nvPr/>
            </p:nvSpPr>
            <p:spPr>
              <a:xfrm>
                <a:off x="996120" y="2734200"/>
                <a:ext cx="12528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25" name="Google Shape;306;p6"/>
              <p:cNvSpPr/>
              <p:nvPr/>
            </p:nvSpPr>
            <p:spPr>
              <a:xfrm>
                <a:off x="996120" y="3447720"/>
                <a:ext cx="12528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26" name="Google Shape;307;p6"/>
              <p:cNvSpPr/>
              <p:nvPr/>
            </p:nvSpPr>
            <p:spPr>
              <a:xfrm>
                <a:off x="1120680" y="2728080"/>
                <a:ext cx="360" cy="72108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grpSp>
        <p:sp>
          <p:nvSpPr>
            <p:cNvPr id="327" name="Google Shape;308;p6"/>
            <p:cNvSpPr/>
            <p:nvPr/>
          </p:nvSpPr>
          <p:spPr>
            <a:xfrm>
              <a:off x="1114200" y="3089520"/>
              <a:ext cx="9360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grpSp>
      <p:graphicFrame>
        <p:nvGraphicFramePr>
          <p:cNvPr id="328" name="Google Shape;309;p6"/>
          <p:cNvGraphicFramePr/>
          <p:nvPr/>
        </p:nvGraphicFramePr>
        <p:xfrm>
          <a:off x="6357600" y="4568040"/>
          <a:ext cx="125280" cy="499680"/>
        </p:xfrm>
        <a:graphic>
          <a:graphicData uri="http://schemas.openxmlformats.org/drawingml/2006/table">
            <a:tbl>
              <a:tblPr/>
              <a:tblGrid>
                <a:gridCol w="125280"/>
              </a:tblGrid>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1b584">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1b584">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1b584">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1b584">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1b584">
                        <a:alpha val="50000"/>
                      </a:srgbClr>
                    </a:solidFill>
                  </a:tcPr>
                </a:tc>
              </a:tr>
              <a:tr h="842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1b584">
                        <a:alpha val="50000"/>
                      </a:srgbClr>
                    </a:solidFill>
                  </a:tcPr>
                </a:tc>
              </a:tr>
            </a:tbl>
          </a:graphicData>
        </a:graphic>
      </p:graphicFrame>
      <p:graphicFrame>
        <p:nvGraphicFramePr>
          <p:cNvPr id="329" name="Google Shape;310;p6"/>
          <p:cNvGraphicFramePr/>
          <p:nvPr/>
        </p:nvGraphicFramePr>
        <p:xfrm>
          <a:off x="6357600" y="5333040"/>
          <a:ext cx="125280" cy="499680"/>
        </p:xfrm>
        <a:graphic>
          <a:graphicData uri="http://schemas.openxmlformats.org/drawingml/2006/table">
            <a:tbl>
              <a:tblPr/>
              <a:tblGrid>
                <a:gridCol w="125280"/>
              </a:tblGrid>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r h="842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bl>
          </a:graphicData>
        </a:graphic>
      </p:graphicFrame>
      <p:graphicFrame>
        <p:nvGraphicFramePr>
          <p:cNvPr id="330" name="Google Shape;311;p6"/>
          <p:cNvGraphicFramePr/>
          <p:nvPr/>
        </p:nvGraphicFramePr>
        <p:xfrm>
          <a:off x="6357600" y="5978880"/>
          <a:ext cx="125280" cy="499680"/>
        </p:xfrm>
        <a:graphic>
          <a:graphicData uri="http://schemas.openxmlformats.org/drawingml/2006/table">
            <a:tbl>
              <a:tblPr/>
              <a:tblGrid>
                <a:gridCol w="125280"/>
              </a:tblGrid>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dc6b0">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dc6b0">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dc6b0">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dc6b0">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dc6b0">
                        <a:alpha val="50000"/>
                      </a:srgbClr>
                    </a:solidFill>
                  </a:tcPr>
                </a:tc>
              </a:tr>
              <a:tr h="842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dc6b0">
                        <a:alpha val="50000"/>
                      </a:srgbClr>
                    </a:solidFill>
                  </a:tcPr>
                </a:tc>
              </a:tr>
            </a:tbl>
          </a:graphicData>
        </a:graphic>
      </p:graphicFrame>
      <p:graphicFrame>
        <p:nvGraphicFramePr>
          <p:cNvPr id="331" name="Google Shape;312;p6"/>
          <p:cNvGraphicFramePr/>
          <p:nvPr/>
        </p:nvGraphicFramePr>
        <p:xfrm>
          <a:off x="6368760" y="7183080"/>
          <a:ext cx="125280" cy="499680"/>
        </p:xfrm>
        <a:graphic>
          <a:graphicData uri="http://schemas.openxmlformats.org/drawingml/2006/table">
            <a:tbl>
              <a:tblPr/>
              <a:tblGrid>
                <a:gridCol w="125280"/>
              </a:tblGrid>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3c4e1">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3c4e1">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3c4e1">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3c4e1">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3c4e1">
                        <a:alpha val="50000"/>
                      </a:srgbClr>
                    </a:solidFill>
                  </a:tcPr>
                </a:tc>
              </a:tr>
              <a:tr h="842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3c4e1">
                        <a:alpha val="50000"/>
                      </a:srgbClr>
                    </a:solidFill>
                  </a:tcPr>
                </a:tc>
              </a:tr>
            </a:tbl>
          </a:graphicData>
        </a:graphic>
      </p:graphicFrame>
      <p:graphicFrame>
        <p:nvGraphicFramePr>
          <p:cNvPr id="332" name="Google Shape;313;p6"/>
          <p:cNvGraphicFramePr/>
          <p:nvPr/>
        </p:nvGraphicFramePr>
        <p:xfrm>
          <a:off x="6363000" y="7777080"/>
          <a:ext cx="125280" cy="499680"/>
        </p:xfrm>
        <a:graphic>
          <a:graphicData uri="http://schemas.openxmlformats.org/drawingml/2006/table">
            <a:tbl>
              <a:tblPr/>
              <a:tblGrid>
                <a:gridCol w="125280"/>
              </a:tblGrid>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7f7fff">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7f7fff">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7f7fff">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7f7fff">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7f7fff">
                        <a:alpha val="50000"/>
                      </a:srgbClr>
                    </a:solidFill>
                  </a:tcPr>
                </a:tc>
              </a:tr>
              <a:tr h="842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7f7fff">
                        <a:alpha val="50000"/>
                      </a:srgbClr>
                    </a:solidFill>
                  </a:tcPr>
                </a:tc>
              </a:tr>
            </a:tbl>
          </a:graphicData>
        </a:graphic>
      </p:graphicFrame>
      <p:graphicFrame>
        <p:nvGraphicFramePr>
          <p:cNvPr id="333" name="Google Shape;314;p6"/>
          <p:cNvGraphicFramePr/>
          <p:nvPr/>
        </p:nvGraphicFramePr>
        <p:xfrm>
          <a:off x="6363000" y="8420040"/>
          <a:ext cx="125280" cy="499680"/>
        </p:xfrm>
        <a:graphic>
          <a:graphicData uri="http://schemas.openxmlformats.org/drawingml/2006/table">
            <a:tbl>
              <a:tblPr/>
              <a:tblGrid>
                <a:gridCol w="125280"/>
              </a:tblGrid>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842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bl>
          </a:graphicData>
        </a:graphic>
      </p:graphicFrame>
      <p:sp>
        <p:nvSpPr>
          <p:cNvPr id="334" name="Google Shape;315;p6"/>
          <p:cNvSpPr/>
          <p:nvPr/>
        </p:nvSpPr>
        <p:spPr>
          <a:xfrm rot="16200000">
            <a:off x="6377400" y="8684640"/>
            <a:ext cx="445680" cy="2419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Expr</a:t>
            </a:r>
            <a:endParaRPr b="0" lang="en-US" sz="1000" spc="-1" strike="noStrike">
              <a:latin typeface="Arial"/>
            </a:endParaRPr>
          </a:p>
        </p:txBody>
      </p:sp>
      <p:sp>
        <p:nvSpPr>
          <p:cNvPr id="335" name="Google Shape;316;p6"/>
          <p:cNvSpPr/>
          <p:nvPr/>
        </p:nvSpPr>
        <p:spPr>
          <a:xfrm rot="16200000">
            <a:off x="6293880" y="7865280"/>
            <a:ext cx="74664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Mut Genes</a:t>
            </a:r>
            <a:endParaRPr b="0" lang="en-US" sz="1000" spc="-1" strike="noStrike">
              <a:latin typeface="Arial"/>
            </a:endParaRPr>
          </a:p>
        </p:txBody>
      </p:sp>
      <p:sp>
        <p:nvSpPr>
          <p:cNvPr id="336" name="Google Shape;317;p6"/>
          <p:cNvSpPr/>
          <p:nvPr/>
        </p:nvSpPr>
        <p:spPr>
          <a:xfrm rot="16200000">
            <a:off x="6368040" y="7242120"/>
            <a:ext cx="58212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Mut Types</a:t>
            </a:r>
            <a:endParaRPr b="0" lang="en-US" sz="1000" spc="-1" strike="noStrike">
              <a:latin typeface="Arial"/>
            </a:endParaRPr>
          </a:p>
        </p:txBody>
      </p:sp>
      <p:sp>
        <p:nvSpPr>
          <p:cNvPr id="337" name="Google Shape;318;p6"/>
          <p:cNvSpPr/>
          <p:nvPr/>
        </p:nvSpPr>
        <p:spPr>
          <a:xfrm rot="16200000">
            <a:off x="6191280" y="5986440"/>
            <a:ext cx="93132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Pathway Enrich</a:t>
            </a:r>
            <a:endParaRPr b="0" lang="en-US" sz="1000" spc="-1" strike="noStrike">
              <a:latin typeface="Arial"/>
            </a:endParaRPr>
          </a:p>
        </p:txBody>
      </p:sp>
      <p:sp>
        <p:nvSpPr>
          <p:cNvPr id="338" name="Google Shape;319;p6"/>
          <p:cNvSpPr/>
          <p:nvPr/>
        </p:nvSpPr>
        <p:spPr>
          <a:xfrm rot="16200000">
            <a:off x="6270480" y="5343480"/>
            <a:ext cx="84312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MFP /</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SMILES</a:t>
            </a:r>
            <a:endParaRPr b="0" lang="en-US" sz="1000" spc="-1" strike="noStrike">
              <a:latin typeface="Arial"/>
            </a:endParaRPr>
          </a:p>
        </p:txBody>
      </p:sp>
      <p:sp>
        <p:nvSpPr>
          <p:cNvPr id="339" name="Google Shape;320;p6"/>
          <p:cNvSpPr/>
          <p:nvPr/>
        </p:nvSpPr>
        <p:spPr>
          <a:xfrm rot="16200000">
            <a:off x="6316560" y="4630680"/>
            <a:ext cx="73548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Pathway AUC</a:t>
            </a:r>
            <a:endParaRPr b="0" lang="en-US" sz="1000" spc="-1" strike="noStrike">
              <a:latin typeface="Arial"/>
            </a:endParaRPr>
          </a:p>
        </p:txBody>
      </p:sp>
      <p:graphicFrame>
        <p:nvGraphicFramePr>
          <p:cNvPr id="340" name="Google Shape;321;p6"/>
          <p:cNvGraphicFramePr/>
          <p:nvPr/>
        </p:nvGraphicFramePr>
        <p:xfrm>
          <a:off x="5792400" y="4854240"/>
          <a:ext cx="218520" cy="3716280"/>
        </p:xfrm>
        <a:graphic>
          <a:graphicData uri="http://schemas.openxmlformats.org/drawingml/2006/table">
            <a:tbl>
              <a:tblPr/>
              <a:tblGrid>
                <a:gridCol w="218880"/>
              </a:tblGrid>
              <a:tr h="532800">
                <a:tc>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f1b584"/>
                    </a:solidFill>
                  </a:tcPr>
                </a:tc>
              </a:tr>
              <a:tr h="53280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eece1"/>
                    </a:solidFill>
                  </a:tcPr>
                </a:tc>
              </a:tr>
              <a:tr h="53280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fdc6b0"/>
                    </a:solidFill>
                  </a:tcPr>
                </a:tc>
              </a:tr>
              <a:tr h="53280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ffff00"/>
                    </a:solidFill>
                  </a:tcPr>
                </a:tc>
              </a:tr>
              <a:tr h="53280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f3c4e1"/>
                    </a:solidFill>
                  </a:tcPr>
                </a:tc>
              </a:tr>
              <a:tr h="52560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7f7fff"/>
                    </a:solidFill>
                  </a:tcPr>
                </a:tc>
              </a:tr>
              <a:tr h="52704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ff7f7f"/>
                    </a:solidFill>
                  </a:tcPr>
                </a:tc>
              </a:tr>
            </a:tbl>
          </a:graphicData>
        </a:graphic>
      </p:graphicFrame>
      <p:sp>
        <p:nvSpPr>
          <p:cNvPr id="341" name="Google Shape;322;p6"/>
          <p:cNvSpPr/>
          <p:nvPr/>
        </p:nvSpPr>
        <p:spPr>
          <a:xfrm rot="10800000">
            <a:off x="6032520" y="8401680"/>
            <a:ext cx="322200" cy="243000"/>
          </a:xfrm>
          <a:custGeom>
            <a:avLst/>
            <a:gdLst/>
            <a:ahLst/>
            <a:rect l="l" t="t" r="r" b="b"/>
            <a:pathLst>
              <a:path w="21600" h="21600">
                <a:moveTo>
                  <a:pt x="0" y="0"/>
                </a:moveTo>
                <a:lnTo>
                  <a:pt x="21600" y="21600"/>
                </a:lnTo>
              </a:path>
            </a:pathLst>
          </a:custGeom>
          <a:noFill/>
          <a:ln w="19050">
            <a:solidFill>
              <a:srgbClr val="ff7f7f"/>
            </a:solidFill>
            <a:round/>
            <a:tailEnd len="med" type="stealth" w="med"/>
          </a:ln>
        </p:spPr>
        <p:style>
          <a:lnRef idx="0"/>
          <a:fillRef idx="0"/>
          <a:effectRef idx="0"/>
          <a:fontRef idx="minor"/>
        </p:style>
      </p:sp>
      <p:sp>
        <p:nvSpPr>
          <p:cNvPr id="342" name="Google Shape;323;p6"/>
          <p:cNvSpPr/>
          <p:nvPr/>
        </p:nvSpPr>
        <p:spPr>
          <a:xfrm rot="10800000">
            <a:off x="6031800" y="7833240"/>
            <a:ext cx="295920" cy="204480"/>
          </a:xfrm>
          <a:custGeom>
            <a:avLst/>
            <a:gdLst/>
            <a:ahLst/>
            <a:rect l="l" t="t" r="r" b="b"/>
            <a:pathLst>
              <a:path w="21600" h="21600">
                <a:moveTo>
                  <a:pt x="0" y="0"/>
                </a:moveTo>
                <a:lnTo>
                  <a:pt x="21600" y="21600"/>
                </a:lnTo>
              </a:path>
            </a:pathLst>
          </a:custGeom>
          <a:noFill/>
          <a:ln w="19050">
            <a:solidFill>
              <a:srgbClr val="7f7fff"/>
            </a:solidFill>
            <a:round/>
            <a:tailEnd len="med" type="stealth" w="med"/>
          </a:ln>
        </p:spPr>
        <p:style>
          <a:lnRef idx="0"/>
          <a:fillRef idx="0"/>
          <a:effectRef idx="0"/>
          <a:fontRef idx="minor"/>
        </p:style>
      </p:sp>
      <p:sp>
        <p:nvSpPr>
          <p:cNvPr id="343" name="Google Shape;324;p6"/>
          <p:cNvSpPr/>
          <p:nvPr/>
        </p:nvSpPr>
        <p:spPr>
          <a:xfrm rot="10800000">
            <a:off x="5996520" y="7138440"/>
            <a:ext cx="345600" cy="286200"/>
          </a:xfrm>
          <a:custGeom>
            <a:avLst/>
            <a:gdLst/>
            <a:ahLst/>
            <a:rect l="l" t="t" r="r" b="b"/>
            <a:pathLst>
              <a:path w="21600" h="21600">
                <a:moveTo>
                  <a:pt x="0" y="0"/>
                </a:moveTo>
                <a:lnTo>
                  <a:pt x="21600" y="21600"/>
                </a:lnTo>
              </a:path>
            </a:pathLst>
          </a:custGeom>
          <a:noFill/>
          <a:ln w="19050">
            <a:solidFill>
              <a:srgbClr val="f3c4e1"/>
            </a:solidFill>
            <a:round/>
            <a:tailEnd len="med" type="stealth" w="med"/>
          </a:ln>
        </p:spPr>
        <p:style>
          <a:lnRef idx="0"/>
          <a:fillRef idx="0"/>
          <a:effectRef idx="0"/>
          <a:fontRef idx="minor"/>
        </p:style>
      </p:sp>
      <p:sp>
        <p:nvSpPr>
          <p:cNvPr id="344" name="Google Shape;325;p6"/>
          <p:cNvSpPr/>
          <p:nvPr/>
        </p:nvSpPr>
        <p:spPr>
          <a:xfrm rot="10800000">
            <a:off x="6030360" y="6217200"/>
            <a:ext cx="327240" cy="20520"/>
          </a:xfrm>
          <a:custGeom>
            <a:avLst/>
            <a:gdLst/>
            <a:ahLst/>
            <a:rect l="l" t="t" r="r" b="b"/>
            <a:pathLst>
              <a:path w="21600" h="21600">
                <a:moveTo>
                  <a:pt x="0" y="0"/>
                </a:moveTo>
                <a:lnTo>
                  <a:pt x="21600" y="21600"/>
                </a:lnTo>
              </a:path>
            </a:pathLst>
          </a:custGeom>
          <a:noFill/>
          <a:ln w="19050">
            <a:solidFill>
              <a:srgbClr val="fdc6b0"/>
            </a:solidFill>
            <a:round/>
            <a:tailEnd len="med" type="stealth" w="med"/>
          </a:ln>
        </p:spPr>
        <p:style>
          <a:lnRef idx="0"/>
          <a:fillRef idx="0"/>
          <a:effectRef idx="0"/>
          <a:fontRef idx="minor"/>
        </p:style>
      </p:sp>
      <p:sp>
        <p:nvSpPr>
          <p:cNvPr id="345" name="Google Shape;326;p6"/>
          <p:cNvSpPr/>
          <p:nvPr/>
        </p:nvSpPr>
        <p:spPr>
          <a:xfrm flipH="1">
            <a:off x="6026400" y="5574600"/>
            <a:ext cx="287640" cy="177120"/>
          </a:xfrm>
          <a:custGeom>
            <a:avLst/>
            <a:gdLst/>
            <a:ahLst/>
            <a:rect l="l" t="t" r="r" b="b"/>
            <a:pathLst>
              <a:path w="21600" h="21600">
                <a:moveTo>
                  <a:pt x="0" y="0"/>
                </a:moveTo>
                <a:lnTo>
                  <a:pt x="21600" y="21600"/>
                </a:lnTo>
              </a:path>
            </a:pathLst>
          </a:custGeom>
          <a:noFill/>
          <a:ln w="19050">
            <a:solidFill>
              <a:srgbClr val="c4bd97"/>
            </a:solidFill>
            <a:round/>
            <a:tailEnd len="med" type="stealth" w="med"/>
          </a:ln>
        </p:spPr>
        <p:style>
          <a:lnRef idx="0"/>
          <a:fillRef idx="0"/>
          <a:effectRef idx="0"/>
          <a:fontRef idx="minor"/>
        </p:style>
      </p:sp>
      <p:sp>
        <p:nvSpPr>
          <p:cNvPr id="346" name="Google Shape;327;p6"/>
          <p:cNvSpPr/>
          <p:nvPr/>
        </p:nvSpPr>
        <p:spPr>
          <a:xfrm flipH="1">
            <a:off x="6018120" y="4866120"/>
            <a:ext cx="313560" cy="300600"/>
          </a:xfrm>
          <a:custGeom>
            <a:avLst/>
            <a:gdLst/>
            <a:ahLst/>
            <a:rect l="l" t="t" r="r" b="b"/>
            <a:pathLst>
              <a:path w="21600" h="21600">
                <a:moveTo>
                  <a:pt x="0" y="0"/>
                </a:moveTo>
                <a:lnTo>
                  <a:pt x="21600" y="21600"/>
                </a:lnTo>
              </a:path>
            </a:pathLst>
          </a:custGeom>
          <a:noFill/>
          <a:ln w="19050">
            <a:solidFill>
              <a:srgbClr val="f1b584"/>
            </a:solidFill>
            <a:round/>
            <a:tailEnd len="med" type="stealth" w="med"/>
          </a:ln>
        </p:spPr>
        <p:style>
          <a:lnRef idx="0"/>
          <a:fillRef idx="0"/>
          <a:effectRef idx="0"/>
          <a:fontRef idx="minor"/>
        </p:style>
      </p:sp>
      <p:sp>
        <p:nvSpPr>
          <p:cNvPr id="347" name="Google Shape;328;p6"/>
          <p:cNvSpPr/>
          <p:nvPr/>
        </p:nvSpPr>
        <p:spPr>
          <a:xfrm flipH="1">
            <a:off x="5523480" y="5021640"/>
            <a:ext cx="280800" cy="3295080"/>
          </a:xfrm>
          <a:prstGeom prst="rightBrace">
            <a:avLst>
              <a:gd name="adj1" fmla="val 0"/>
              <a:gd name="adj2" fmla="val 50000"/>
            </a:avLst>
          </a:prstGeom>
          <a:noFill/>
          <a:ln w="12700">
            <a:solidFill>
              <a:srgbClr val="000000"/>
            </a:solidFill>
            <a:round/>
          </a:ln>
        </p:spPr>
        <p:style>
          <a:lnRef idx="0"/>
          <a:fillRef idx="0"/>
          <a:effectRef idx="0"/>
          <a:fontRef idx="minor"/>
        </p:style>
      </p:sp>
      <p:sp>
        <p:nvSpPr>
          <p:cNvPr id="348" name="Google Shape;329;p6"/>
          <p:cNvSpPr/>
          <p:nvPr/>
        </p:nvSpPr>
        <p:spPr>
          <a:xfrm>
            <a:off x="3756600" y="6221520"/>
            <a:ext cx="1753920" cy="866160"/>
          </a:xfrm>
          <a:prstGeom prst="rect">
            <a:avLst/>
          </a:prstGeom>
          <a:solidFill>
            <a:schemeClr val="lt1"/>
          </a:solidFill>
          <a:ln w="12700">
            <a:solidFill>
              <a:srgbClr val="000000"/>
            </a:solidFill>
            <a:round/>
          </a:ln>
        </p:spPr>
        <p:style>
          <a:lnRef idx="0"/>
          <a:fillRef idx="0"/>
          <a:effectRef idx="0"/>
          <a:fontRef idx="minor"/>
        </p:style>
        <p:txBody>
          <a:bodyPr lIns="90000" rIns="90000" tIns="45000" bIns="45000" anchor="t">
            <a:spAutoFit/>
          </a:bodyPr>
          <a:p>
            <a:pPr>
              <a:lnSpc>
                <a:spcPct val="100000"/>
              </a:lnSpc>
              <a:buNone/>
              <a:tabLst>
                <a:tab algn="l" pos="0"/>
              </a:tabLst>
            </a:pPr>
            <a:r>
              <a:rPr b="1" lang="en-US" sz="1100" spc="-1" strike="noStrike">
                <a:solidFill>
                  <a:srgbClr val="000000"/>
                </a:solidFill>
                <a:latin typeface="Arial"/>
                <a:ea typeface="Arial"/>
              </a:rPr>
              <a:t>Tree Models:</a:t>
            </a:r>
            <a:endParaRPr b="0" lang="en-US" sz="1100" spc="-1" strike="noStrike">
              <a:latin typeface="Arial"/>
            </a:endParaRPr>
          </a:p>
          <a:p>
            <a:pPr>
              <a:lnSpc>
                <a:spcPct val="100000"/>
              </a:lnSpc>
              <a:buNone/>
              <a:tabLst>
                <a:tab algn="l" pos="0"/>
              </a:tabLst>
            </a:pPr>
            <a:r>
              <a:rPr b="0" lang="en-US" sz="1000" spc="-1" strike="noStrike">
                <a:solidFill>
                  <a:srgbClr val="000000"/>
                </a:solidFill>
                <a:latin typeface="Arial"/>
                <a:ea typeface="Arial"/>
              </a:rPr>
              <a:t>Random Forests</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XGBoost</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LightGBM</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Catboost</a:t>
            </a:r>
            <a:endParaRPr b="0" lang="en-US" sz="1000" spc="-1" strike="noStrike">
              <a:latin typeface="Arial"/>
            </a:endParaRPr>
          </a:p>
        </p:txBody>
      </p:sp>
      <p:sp>
        <p:nvSpPr>
          <p:cNvPr id="349" name="Google Shape;330;p6"/>
          <p:cNvSpPr/>
          <p:nvPr/>
        </p:nvSpPr>
        <p:spPr>
          <a:xfrm>
            <a:off x="3771720" y="7427160"/>
            <a:ext cx="1784160" cy="1018440"/>
          </a:xfrm>
          <a:prstGeom prst="rect">
            <a:avLst/>
          </a:prstGeom>
          <a:solidFill>
            <a:schemeClr val="lt1"/>
          </a:solidFill>
          <a:ln w="12700">
            <a:solidFill>
              <a:srgbClr val="000000"/>
            </a:solidFill>
            <a:round/>
          </a:ln>
        </p:spPr>
        <p:style>
          <a:lnRef idx="0"/>
          <a:fillRef idx="0"/>
          <a:effectRef idx="0"/>
          <a:fontRef idx="minor"/>
        </p:style>
        <p:txBody>
          <a:bodyPr lIns="90000" rIns="90000" tIns="45000" bIns="45000" anchor="t">
            <a:spAutoFit/>
          </a:bodyPr>
          <a:p>
            <a:pPr>
              <a:lnSpc>
                <a:spcPct val="100000"/>
              </a:lnSpc>
              <a:buNone/>
              <a:tabLst>
                <a:tab algn="l" pos="0"/>
              </a:tabLst>
            </a:pPr>
            <a:r>
              <a:rPr b="1" lang="en-US" sz="1100" spc="-1" strike="noStrike">
                <a:solidFill>
                  <a:srgbClr val="000000"/>
                </a:solidFill>
                <a:latin typeface="Arial"/>
                <a:ea typeface="Arial"/>
              </a:rPr>
              <a:t>Deep Learning Models: </a:t>
            </a:r>
            <a:endParaRPr b="0" lang="en-US" sz="1100" spc="-1" strike="noStrike">
              <a:latin typeface="Arial"/>
            </a:endParaRPr>
          </a:p>
          <a:p>
            <a:pPr>
              <a:lnSpc>
                <a:spcPct val="100000"/>
              </a:lnSpc>
              <a:buNone/>
              <a:tabLst>
                <a:tab algn="l" pos="0"/>
              </a:tabLst>
            </a:pP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Deep Neural Networks (DNN)</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CNN + DNN</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LSTM + DNN</a:t>
            </a:r>
            <a:endParaRPr b="0" lang="en-US" sz="1000" spc="-1" strike="noStrike">
              <a:latin typeface="Arial"/>
            </a:endParaRPr>
          </a:p>
        </p:txBody>
      </p:sp>
      <p:sp>
        <p:nvSpPr>
          <p:cNvPr id="350" name="Google Shape;331;p6"/>
          <p:cNvSpPr/>
          <p:nvPr/>
        </p:nvSpPr>
        <p:spPr>
          <a:xfrm flipH="1">
            <a:off x="3448080" y="5022000"/>
            <a:ext cx="321840" cy="11631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51" name="Google Shape;332;p6"/>
          <p:cNvSpPr/>
          <p:nvPr/>
        </p:nvSpPr>
        <p:spPr>
          <a:xfrm rot="10800000">
            <a:off x="3451320" y="7152840"/>
            <a:ext cx="327960" cy="11595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grpSp>
        <p:nvGrpSpPr>
          <p:cNvPr id="352" name="Google Shape;333;p6"/>
          <p:cNvGrpSpPr/>
          <p:nvPr/>
        </p:nvGrpSpPr>
        <p:grpSpPr>
          <a:xfrm>
            <a:off x="2364840" y="6181920"/>
            <a:ext cx="1133280" cy="972360"/>
            <a:chOff x="2364840" y="6181920"/>
            <a:chExt cx="1133280" cy="972360"/>
          </a:xfrm>
        </p:grpSpPr>
        <p:grpSp>
          <p:nvGrpSpPr>
            <p:cNvPr id="353" name="Google Shape;334;p6"/>
            <p:cNvGrpSpPr/>
            <p:nvPr/>
          </p:nvGrpSpPr>
          <p:grpSpPr>
            <a:xfrm>
              <a:off x="2364840" y="6201360"/>
              <a:ext cx="1133280" cy="939960"/>
              <a:chOff x="2364840" y="6201360"/>
              <a:chExt cx="1133280" cy="939960"/>
            </a:xfrm>
          </p:grpSpPr>
          <p:grpSp>
            <p:nvGrpSpPr>
              <p:cNvPr id="354" name="Google Shape;335;p6"/>
              <p:cNvGrpSpPr/>
              <p:nvPr/>
            </p:nvGrpSpPr>
            <p:grpSpPr>
              <a:xfrm>
                <a:off x="2470320" y="6373440"/>
                <a:ext cx="830160" cy="560160"/>
                <a:chOff x="2470320" y="6373440"/>
                <a:chExt cx="830160" cy="560160"/>
              </a:xfrm>
            </p:grpSpPr>
            <p:sp>
              <p:nvSpPr>
                <p:cNvPr id="355" name="Google Shape;336;p6"/>
                <p:cNvSpPr/>
                <p:nvPr/>
              </p:nvSpPr>
              <p:spPr>
                <a:xfrm>
                  <a:off x="3296880" y="6373440"/>
                  <a:ext cx="360" cy="558360"/>
                </a:xfrm>
                <a:custGeom>
                  <a:avLst/>
                  <a:gdLst/>
                  <a:ahLst/>
                  <a:rect l="l" t="t" r="r" b="b"/>
                  <a:pathLst>
                    <a:path w="21600" h="21600">
                      <a:moveTo>
                        <a:pt x="0" y="0"/>
                      </a:moveTo>
                      <a:lnTo>
                        <a:pt x="21600" y="21600"/>
                      </a:lnTo>
                    </a:path>
                  </a:pathLst>
                </a:custGeom>
                <a:noFill/>
                <a:ln w="19050">
                  <a:solidFill>
                    <a:srgbClr val="000000"/>
                  </a:solidFill>
                  <a:round/>
                </a:ln>
              </p:spPr>
              <p:style>
                <a:lnRef idx="0"/>
                <a:fillRef idx="0"/>
                <a:effectRef idx="0"/>
                <a:fontRef idx="minor"/>
              </p:style>
            </p:sp>
            <p:sp>
              <p:nvSpPr>
                <p:cNvPr id="356" name="Google Shape;337;p6"/>
                <p:cNvSpPr/>
                <p:nvPr/>
              </p:nvSpPr>
              <p:spPr>
                <a:xfrm>
                  <a:off x="2470320" y="6932160"/>
                  <a:ext cx="830160" cy="1440"/>
                </a:xfrm>
                <a:custGeom>
                  <a:avLst/>
                  <a:gdLst/>
                  <a:ahLst/>
                  <a:rect l="l" t="t" r="r" b="b"/>
                  <a:pathLst>
                    <a:path w="21600" h="21600">
                      <a:moveTo>
                        <a:pt x="0" y="0"/>
                      </a:moveTo>
                      <a:lnTo>
                        <a:pt x="21600" y="21600"/>
                      </a:lnTo>
                    </a:path>
                  </a:pathLst>
                </a:custGeom>
                <a:noFill/>
                <a:ln w="19050">
                  <a:solidFill>
                    <a:srgbClr val="000000"/>
                  </a:solidFill>
                  <a:round/>
                </a:ln>
              </p:spPr>
              <p:style>
                <a:lnRef idx="0"/>
                <a:fillRef idx="0"/>
                <a:effectRef idx="0"/>
                <a:fontRef idx="minor"/>
              </p:style>
            </p:sp>
          </p:grpSp>
          <p:sp>
            <p:nvSpPr>
              <p:cNvPr id="357" name="Google Shape;338;p6"/>
              <p:cNvSpPr/>
              <p:nvPr/>
            </p:nvSpPr>
            <p:spPr>
              <a:xfrm>
                <a:off x="2461320" y="6462360"/>
                <a:ext cx="806040" cy="379440"/>
              </a:xfrm>
              <a:custGeom>
                <a:avLst/>
                <a:gdLst/>
                <a:ahLst/>
                <a:rect l="l" t="t" r="r" b="b"/>
                <a:pathLst>
                  <a:path w="903514" h="458983">
                    <a:moveTo>
                      <a:pt x="0" y="446314"/>
                    </a:moveTo>
                    <a:cubicBezTo>
                      <a:pt x="135164" y="460828"/>
                      <a:pt x="270329" y="475343"/>
                      <a:pt x="359229" y="413657"/>
                    </a:cubicBezTo>
                    <a:cubicBezTo>
                      <a:pt x="448129" y="351971"/>
                      <a:pt x="442686" y="145143"/>
                      <a:pt x="533400" y="76200"/>
                    </a:cubicBezTo>
                    <a:cubicBezTo>
                      <a:pt x="624114" y="7257"/>
                      <a:pt x="763814" y="3628"/>
                      <a:pt x="903514" y="0"/>
                    </a:cubicBezTo>
                  </a:path>
                </a:pathLst>
              </a:custGeom>
              <a:noFill/>
              <a:ln w="19050">
                <a:solidFill>
                  <a:srgbClr val="ff0000"/>
                </a:solidFill>
                <a:round/>
              </a:ln>
            </p:spPr>
            <p:style>
              <a:lnRef idx="0"/>
              <a:fillRef idx="0"/>
              <a:effectRef idx="0"/>
              <a:fontRef idx="minor"/>
            </p:style>
          </p:sp>
          <p:sp>
            <p:nvSpPr>
              <p:cNvPr id="358" name="Google Shape;339;p6"/>
              <p:cNvSpPr/>
              <p:nvPr/>
            </p:nvSpPr>
            <p:spPr>
              <a:xfrm>
                <a:off x="2864880" y="6676920"/>
                <a:ext cx="360" cy="253080"/>
              </a:xfrm>
              <a:custGeom>
                <a:avLst/>
                <a:gdLst/>
                <a:ahLst/>
                <a:rect l="l" t="t" r="r" b="b"/>
                <a:pathLst>
                  <a:path w="21600" h="21600">
                    <a:moveTo>
                      <a:pt x="0" y="0"/>
                    </a:moveTo>
                    <a:lnTo>
                      <a:pt x="21600" y="21600"/>
                    </a:lnTo>
                  </a:path>
                </a:pathLst>
              </a:custGeom>
              <a:noFill/>
              <a:ln w="12700">
                <a:solidFill>
                  <a:srgbClr val="000000"/>
                </a:solidFill>
                <a:prstDash val="dash"/>
                <a:round/>
              </a:ln>
            </p:spPr>
            <p:style>
              <a:lnRef idx="0"/>
              <a:fillRef idx="0"/>
              <a:effectRef idx="0"/>
              <a:fontRef idx="minor"/>
            </p:style>
          </p:sp>
          <p:sp>
            <p:nvSpPr>
              <p:cNvPr id="359" name="Google Shape;340;p6"/>
              <p:cNvSpPr/>
              <p:nvPr/>
            </p:nvSpPr>
            <p:spPr>
              <a:xfrm>
                <a:off x="2864880" y="6659280"/>
                <a:ext cx="432360" cy="360"/>
              </a:xfrm>
              <a:custGeom>
                <a:avLst/>
                <a:gdLst/>
                <a:ahLst/>
                <a:rect l="l" t="t" r="r" b="b"/>
                <a:pathLst>
                  <a:path w="21600" h="21600">
                    <a:moveTo>
                      <a:pt x="0" y="0"/>
                    </a:moveTo>
                    <a:lnTo>
                      <a:pt x="21600" y="21600"/>
                    </a:lnTo>
                  </a:path>
                </a:pathLst>
              </a:custGeom>
              <a:noFill/>
              <a:ln w="12700">
                <a:solidFill>
                  <a:srgbClr val="000000"/>
                </a:solidFill>
                <a:prstDash val="dash"/>
                <a:round/>
              </a:ln>
            </p:spPr>
            <p:style>
              <a:lnRef idx="0"/>
              <a:fillRef idx="0"/>
              <a:effectRef idx="0"/>
              <a:fontRef idx="minor"/>
            </p:style>
          </p:sp>
          <p:sp>
            <p:nvSpPr>
              <p:cNvPr id="360" name="Google Shape;341;p6"/>
              <p:cNvSpPr/>
              <p:nvPr/>
            </p:nvSpPr>
            <p:spPr>
              <a:xfrm>
                <a:off x="2513160" y="6899400"/>
                <a:ext cx="9259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Drug Conc.</a:t>
                </a:r>
                <a:endParaRPr b="0" lang="en-US" sz="1000" spc="-1" strike="noStrike">
                  <a:latin typeface="Arial"/>
                </a:endParaRPr>
              </a:p>
            </p:txBody>
          </p:sp>
          <p:sp>
            <p:nvSpPr>
              <p:cNvPr id="361" name="Google Shape;342;p6"/>
              <p:cNvSpPr/>
              <p:nvPr/>
            </p:nvSpPr>
            <p:spPr>
              <a:xfrm>
                <a:off x="2364840" y="6201360"/>
                <a:ext cx="997200" cy="241920"/>
              </a:xfrm>
              <a:prstGeom prst="rect">
                <a:avLst/>
              </a:prstGeom>
              <a:solidFill>
                <a:schemeClr val="lt1"/>
              </a:solid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AUC ~ f(c,d,p)</a:t>
                </a:r>
                <a:endParaRPr b="0" lang="en-US" sz="1000" spc="-1" strike="noStrike">
                  <a:latin typeface="Arial"/>
                </a:endParaRPr>
              </a:p>
            </p:txBody>
          </p:sp>
          <p:sp>
            <p:nvSpPr>
              <p:cNvPr id="362" name="Google Shape;343;p6"/>
              <p:cNvSpPr/>
              <p:nvPr/>
            </p:nvSpPr>
            <p:spPr>
              <a:xfrm rot="16200000">
                <a:off x="3004200" y="6584040"/>
                <a:ext cx="7455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Inhibition</a:t>
                </a:r>
                <a:endParaRPr b="0" lang="en-US" sz="1000" spc="-1" strike="noStrike">
                  <a:latin typeface="Arial"/>
                </a:endParaRPr>
              </a:p>
            </p:txBody>
          </p:sp>
        </p:grpSp>
        <p:sp>
          <p:nvSpPr>
            <p:cNvPr id="363" name="Google Shape;344;p6"/>
            <p:cNvSpPr/>
            <p:nvPr/>
          </p:nvSpPr>
          <p:spPr>
            <a:xfrm>
              <a:off x="2381400" y="6181920"/>
              <a:ext cx="1076760" cy="972360"/>
            </a:xfrm>
            <a:prstGeom prst="rect">
              <a:avLst/>
            </a:prstGeom>
            <a:noFill/>
            <a:ln w="12700">
              <a:solidFill>
                <a:srgbClr val="000000"/>
              </a:solidFill>
              <a:round/>
            </a:ln>
          </p:spPr>
          <p:style>
            <a:lnRef idx="0"/>
            <a:fillRef idx="0"/>
            <a:effectRef idx="0"/>
            <a:fontRef idx="minor"/>
          </p:style>
        </p:sp>
      </p:grpSp>
      <p:sp>
        <p:nvSpPr>
          <p:cNvPr id="364" name="Google Shape;345;p6"/>
          <p:cNvSpPr/>
          <p:nvPr/>
        </p:nvSpPr>
        <p:spPr>
          <a:xfrm rot="10800000">
            <a:off x="3470760" y="6650640"/>
            <a:ext cx="28152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65" name="Google Shape;346;p6"/>
          <p:cNvSpPr/>
          <p:nvPr/>
        </p:nvSpPr>
        <p:spPr>
          <a:xfrm>
            <a:off x="3778920" y="5025240"/>
            <a:ext cx="1745280" cy="713880"/>
          </a:xfrm>
          <a:prstGeom prst="rect">
            <a:avLst/>
          </a:prstGeom>
          <a:solidFill>
            <a:schemeClr val="lt1"/>
          </a:solidFill>
          <a:ln w="12700">
            <a:solidFill>
              <a:srgbClr val="000000"/>
            </a:solidFill>
            <a:round/>
          </a:ln>
        </p:spPr>
        <p:style>
          <a:lnRef idx="0"/>
          <a:fillRef idx="0"/>
          <a:effectRef idx="0"/>
          <a:fontRef idx="minor"/>
        </p:style>
        <p:txBody>
          <a:bodyPr lIns="90000" rIns="90000" tIns="45000" bIns="45000" anchor="t">
            <a:spAutoFit/>
          </a:bodyPr>
          <a:p>
            <a:pPr>
              <a:lnSpc>
                <a:spcPct val="100000"/>
              </a:lnSpc>
              <a:buNone/>
              <a:tabLst>
                <a:tab algn="l" pos="0"/>
              </a:tabLst>
            </a:pPr>
            <a:r>
              <a:rPr b="1" lang="en-US" sz="1100" spc="-1" strike="noStrike">
                <a:solidFill>
                  <a:srgbClr val="000000"/>
                </a:solidFill>
                <a:latin typeface="Arial"/>
                <a:ea typeface="Arial"/>
              </a:rPr>
              <a:t>Linear Models:</a:t>
            </a:r>
            <a:endParaRPr b="0" lang="en-US" sz="1100" spc="-1" strike="noStrike">
              <a:latin typeface="Arial"/>
            </a:endParaRPr>
          </a:p>
          <a:p>
            <a:pPr>
              <a:lnSpc>
                <a:spcPct val="100000"/>
              </a:lnSpc>
              <a:buNone/>
              <a:tabLst>
                <a:tab algn="l" pos="0"/>
              </a:tabLst>
            </a:pP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Ridge Regression</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Linear SVM</a:t>
            </a:r>
            <a:endParaRPr b="0" lang="en-US" sz="1000" spc="-1" strike="noStrike">
              <a:latin typeface="Arial"/>
            </a:endParaRPr>
          </a:p>
        </p:txBody>
      </p:sp>
      <p:sp>
        <p:nvSpPr>
          <p:cNvPr id="366" name="Google Shape;347;p6"/>
          <p:cNvSpPr/>
          <p:nvPr/>
        </p:nvSpPr>
        <p:spPr>
          <a:xfrm>
            <a:off x="1513080" y="6434280"/>
            <a:ext cx="686520" cy="424440"/>
          </a:xfrm>
          <a:prstGeom prst="rect">
            <a:avLst/>
          </a:prstGeom>
          <a:solidFill>
            <a:srgbClr val="fbd4b4"/>
          </a:solidFill>
          <a:ln w="9525">
            <a:solidFill>
              <a:srgbClr val="f79646"/>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100" spc="-1" strike="noStrike">
                <a:solidFill>
                  <a:srgbClr val="000000"/>
                </a:solidFill>
                <a:latin typeface="Arial"/>
                <a:ea typeface="Arial"/>
              </a:rPr>
              <a:t>TOP MODEL</a:t>
            </a:r>
            <a:endParaRPr b="0" lang="en-US" sz="1100" spc="-1" strike="noStrike">
              <a:latin typeface="Arial"/>
            </a:endParaRPr>
          </a:p>
        </p:txBody>
      </p:sp>
      <p:sp>
        <p:nvSpPr>
          <p:cNvPr id="367" name="Google Shape;348;p6"/>
          <p:cNvSpPr/>
          <p:nvPr/>
        </p:nvSpPr>
        <p:spPr>
          <a:xfrm rot="10800000">
            <a:off x="2207880" y="6649200"/>
            <a:ext cx="171720" cy="360"/>
          </a:xfrm>
          <a:custGeom>
            <a:avLst/>
            <a:gdLst/>
            <a:ahLst/>
            <a:rect l="l" t="t" r="r" b="b"/>
            <a:pathLst>
              <a:path w="21600" h="21600">
                <a:moveTo>
                  <a:pt x="0" y="0"/>
                </a:moveTo>
                <a:lnTo>
                  <a:pt x="21600" y="21600"/>
                </a:lnTo>
              </a:path>
            </a:pathLst>
          </a:custGeom>
          <a:noFill/>
          <a:ln w="12700">
            <a:solidFill>
              <a:srgbClr val="000000"/>
            </a:solidFill>
            <a:round/>
            <a:tailEnd len="med" type="triangle" w="med"/>
          </a:ln>
        </p:spPr>
        <p:style>
          <a:lnRef idx="0"/>
          <a:fillRef idx="0"/>
          <a:effectRef idx="0"/>
          <a:fontRef idx="minor"/>
        </p:style>
      </p:sp>
      <p:sp>
        <p:nvSpPr>
          <p:cNvPr id="368" name="Google Shape;350;p6"/>
          <p:cNvSpPr/>
          <p:nvPr/>
        </p:nvSpPr>
        <p:spPr>
          <a:xfrm>
            <a:off x="1254240" y="4937040"/>
            <a:ext cx="249840" cy="3423600"/>
          </a:xfrm>
          <a:prstGeom prst="rightBrace">
            <a:avLst>
              <a:gd name="adj1" fmla="val 0"/>
              <a:gd name="adj2" fmla="val 50000"/>
            </a:avLst>
          </a:prstGeom>
          <a:noFill/>
          <a:ln w="12700">
            <a:solidFill>
              <a:srgbClr val="000000"/>
            </a:solidFill>
            <a:round/>
          </a:ln>
        </p:spPr>
        <p:style>
          <a:lnRef idx="0"/>
          <a:fillRef idx="0"/>
          <a:effectRef idx="0"/>
          <a:fontRef idx="minor"/>
        </p:style>
      </p:sp>
      <p:grpSp>
        <p:nvGrpSpPr>
          <p:cNvPr id="369" name="Google Shape;352;p6"/>
          <p:cNvGrpSpPr/>
          <p:nvPr/>
        </p:nvGrpSpPr>
        <p:grpSpPr>
          <a:xfrm>
            <a:off x="8280" y="4881600"/>
            <a:ext cx="1361160" cy="1157760"/>
            <a:chOff x="8280" y="4881600"/>
            <a:chExt cx="1361160" cy="1157760"/>
          </a:xfrm>
        </p:grpSpPr>
        <p:grpSp>
          <p:nvGrpSpPr>
            <p:cNvPr id="370" name="Google Shape;353;p6"/>
            <p:cNvGrpSpPr/>
            <p:nvPr/>
          </p:nvGrpSpPr>
          <p:grpSpPr>
            <a:xfrm>
              <a:off x="8280" y="5509440"/>
              <a:ext cx="614160" cy="508320"/>
              <a:chOff x="8280" y="5509440"/>
              <a:chExt cx="614160" cy="508320"/>
            </a:xfrm>
          </p:grpSpPr>
          <p:sp>
            <p:nvSpPr>
              <p:cNvPr id="371" name="Google Shape;354;p6"/>
              <p:cNvSpPr/>
              <p:nvPr/>
            </p:nvSpPr>
            <p:spPr>
              <a:xfrm rot="10800000">
                <a:off x="451080" y="5742720"/>
                <a:ext cx="17136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pic>
            <p:nvPicPr>
              <p:cNvPr id="372" name="Google Shape;355;p6" descr=""/>
              <p:cNvPicPr/>
              <p:nvPr/>
            </p:nvPicPr>
            <p:blipFill>
              <a:blip r:embed="rId1"/>
              <a:srcRect l="18976" t="4322" r="66098" b="71386"/>
              <a:stretch/>
            </p:blipFill>
            <p:spPr>
              <a:xfrm>
                <a:off x="8280" y="5509440"/>
                <a:ext cx="396360" cy="508320"/>
              </a:xfrm>
              <a:prstGeom prst="rect">
                <a:avLst/>
              </a:prstGeom>
              <a:ln w="0">
                <a:noFill/>
              </a:ln>
            </p:spPr>
          </p:pic>
        </p:grpSp>
        <p:pic>
          <p:nvPicPr>
            <p:cNvPr id="373" name="Google Shape;356;p6" descr=""/>
            <p:cNvPicPr/>
            <p:nvPr/>
          </p:nvPicPr>
          <p:blipFill>
            <a:blip r:embed="rId2"/>
            <a:srcRect l="73711" t="0" r="9195" b="66304"/>
            <a:stretch/>
          </p:blipFill>
          <p:spPr>
            <a:xfrm flipH="1">
              <a:off x="623880" y="4881600"/>
              <a:ext cx="745560" cy="1157760"/>
            </a:xfrm>
            <a:prstGeom prst="rect">
              <a:avLst/>
            </a:prstGeom>
            <a:ln w="0">
              <a:noFill/>
            </a:ln>
          </p:spPr>
        </p:pic>
      </p:grpSp>
      <p:pic>
        <p:nvPicPr>
          <p:cNvPr id="374" name="Google Shape;357;p6" descr=""/>
          <p:cNvPicPr/>
          <p:nvPr/>
        </p:nvPicPr>
        <p:blipFill>
          <a:blip r:embed="rId3"/>
          <a:srcRect l="20045" t="4732" r="66858" b="71377"/>
          <a:stretch/>
        </p:blipFill>
        <p:spPr>
          <a:xfrm>
            <a:off x="26280" y="5509440"/>
            <a:ext cx="387000" cy="508320"/>
          </a:xfrm>
          <a:prstGeom prst="rect">
            <a:avLst/>
          </a:prstGeom>
          <a:ln w="0">
            <a:noFill/>
          </a:ln>
        </p:spPr>
      </p:pic>
      <p:grpSp>
        <p:nvGrpSpPr>
          <p:cNvPr id="375" name="Google Shape;358;p6"/>
          <p:cNvGrpSpPr/>
          <p:nvPr/>
        </p:nvGrpSpPr>
        <p:grpSpPr>
          <a:xfrm>
            <a:off x="2456280" y="7675200"/>
            <a:ext cx="496080" cy="449280"/>
            <a:chOff x="2456280" y="7675200"/>
            <a:chExt cx="496080" cy="449280"/>
          </a:xfrm>
        </p:grpSpPr>
        <p:pic>
          <p:nvPicPr>
            <p:cNvPr id="376" name="Google Shape;359;p6" descr=""/>
            <p:cNvPicPr/>
            <p:nvPr/>
          </p:nvPicPr>
          <p:blipFill>
            <a:blip r:embed="rId4"/>
            <a:srcRect l="74360" t="36305" r="16217" b="52805"/>
            <a:stretch/>
          </p:blipFill>
          <p:spPr>
            <a:xfrm rot="21282600">
              <a:off x="2469240" y="7691760"/>
              <a:ext cx="373680" cy="302040"/>
            </a:xfrm>
            <a:prstGeom prst="rect">
              <a:avLst/>
            </a:prstGeom>
            <a:ln w="0">
              <a:noFill/>
            </a:ln>
          </p:spPr>
        </p:pic>
        <p:sp>
          <p:nvSpPr>
            <p:cNvPr id="377" name="Google Shape;360;p6"/>
            <p:cNvSpPr/>
            <p:nvPr/>
          </p:nvSpPr>
          <p:spPr>
            <a:xfrm rot="19921800">
              <a:off x="2636280" y="7955280"/>
              <a:ext cx="309960" cy="102240"/>
            </a:xfrm>
            <a:prstGeom prst="rect">
              <a:avLst/>
            </a:prstGeom>
            <a:solidFill>
              <a:schemeClr val="lt1"/>
            </a:solidFill>
            <a:ln w="0">
              <a:noFill/>
            </a:ln>
          </p:spPr>
          <p:style>
            <a:lnRef idx="0"/>
            <a:fillRef idx="0"/>
            <a:effectRef idx="0"/>
            <a:fontRef idx="minor"/>
          </p:style>
        </p:sp>
      </p:grpSp>
      <p:pic>
        <p:nvPicPr>
          <p:cNvPr id="378" name="Google Shape;361;p6" descr=""/>
          <p:cNvPicPr/>
          <p:nvPr/>
        </p:nvPicPr>
        <p:blipFill>
          <a:blip r:embed="rId5"/>
          <a:srcRect l="45513" t="63192" r="39085" b="15913"/>
          <a:stretch/>
        </p:blipFill>
        <p:spPr>
          <a:xfrm rot="16836600">
            <a:off x="1618920" y="6953760"/>
            <a:ext cx="1050840" cy="998640"/>
          </a:xfrm>
          <a:prstGeom prst="rect">
            <a:avLst/>
          </a:prstGeom>
          <a:ln w="0">
            <a:noFill/>
          </a:ln>
        </p:spPr>
      </p:pic>
      <p:sp>
        <p:nvSpPr>
          <p:cNvPr id="379" name="Google Shape;362;p6"/>
          <p:cNvSpPr/>
          <p:nvPr/>
        </p:nvSpPr>
        <p:spPr>
          <a:xfrm>
            <a:off x="2303280" y="7928280"/>
            <a:ext cx="9360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New drug</a:t>
            </a:r>
            <a:endParaRPr b="0" lang="en-US" sz="1000" spc="-1" strike="noStrike">
              <a:latin typeface="Arial"/>
            </a:endParaRPr>
          </a:p>
        </p:txBody>
      </p:sp>
      <p:sp>
        <p:nvSpPr>
          <p:cNvPr id="380" name="Google Shape;363;p6"/>
          <p:cNvSpPr/>
          <p:nvPr/>
        </p:nvSpPr>
        <p:spPr>
          <a:xfrm>
            <a:off x="139320" y="8570520"/>
            <a:ext cx="9360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Stratification</a:t>
            </a:r>
            <a:endParaRPr b="0" lang="en-US" sz="1000" spc="-1" strike="noStrike">
              <a:latin typeface="Arial"/>
            </a:endParaRPr>
          </a:p>
        </p:txBody>
      </p:sp>
      <p:sp>
        <p:nvSpPr>
          <p:cNvPr id="381" name="Google Shape;365;p6"/>
          <p:cNvSpPr/>
          <p:nvPr/>
        </p:nvSpPr>
        <p:spPr>
          <a:xfrm>
            <a:off x="392040" y="5976360"/>
            <a:ext cx="9360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Output</a:t>
            </a:r>
            <a:endParaRPr b="0" lang="en-US" sz="1000" spc="-1" strike="noStrike">
              <a:latin typeface="Arial"/>
            </a:endParaRPr>
          </a:p>
        </p:txBody>
      </p:sp>
      <p:pic>
        <p:nvPicPr>
          <p:cNvPr id="382" name="Google Shape;366;p6" descr=""/>
          <p:cNvPicPr/>
          <p:nvPr/>
        </p:nvPicPr>
        <p:blipFill>
          <a:blip r:embed="rId6"/>
          <a:srcRect l="5189" t="8175" r="76047" b="65885"/>
          <a:stretch/>
        </p:blipFill>
        <p:spPr>
          <a:xfrm>
            <a:off x="4919400" y="5122800"/>
            <a:ext cx="582120" cy="563760"/>
          </a:xfrm>
          <a:prstGeom prst="rect">
            <a:avLst/>
          </a:prstGeom>
          <a:ln w="0">
            <a:noFill/>
          </a:ln>
        </p:spPr>
      </p:pic>
      <p:grpSp>
        <p:nvGrpSpPr>
          <p:cNvPr id="383" name="Google Shape;367;p6"/>
          <p:cNvGrpSpPr/>
          <p:nvPr/>
        </p:nvGrpSpPr>
        <p:grpSpPr>
          <a:xfrm>
            <a:off x="4922280" y="6507720"/>
            <a:ext cx="514080" cy="332640"/>
            <a:chOff x="4922280" y="6507720"/>
            <a:chExt cx="514080" cy="332640"/>
          </a:xfrm>
        </p:grpSpPr>
        <p:sp>
          <p:nvSpPr>
            <p:cNvPr id="384" name="Google Shape;368;p6"/>
            <p:cNvSpPr/>
            <p:nvPr/>
          </p:nvSpPr>
          <p:spPr>
            <a:xfrm>
              <a:off x="5180760" y="6509520"/>
              <a:ext cx="360" cy="18720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85" name="Google Shape;369;p6"/>
            <p:cNvSpPr/>
            <p:nvPr/>
          </p:nvSpPr>
          <p:spPr>
            <a:xfrm>
              <a:off x="4992120" y="6656400"/>
              <a:ext cx="37836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86" name="Google Shape;370;p6"/>
            <p:cNvSpPr/>
            <p:nvPr/>
          </p:nvSpPr>
          <p:spPr>
            <a:xfrm>
              <a:off x="4997160" y="6653160"/>
              <a:ext cx="360" cy="18720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87" name="Google Shape;371;p6"/>
            <p:cNvSpPr/>
            <p:nvPr/>
          </p:nvSpPr>
          <p:spPr>
            <a:xfrm>
              <a:off x="5180760" y="6653160"/>
              <a:ext cx="360" cy="18720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88" name="Google Shape;372;p6"/>
            <p:cNvSpPr/>
            <p:nvPr/>
          </p:nvSpPr>
          <p:spPr>
            <a:xfrm>
              <a:off x="5369040" y="6653160"/>
              <a:ext cx="360" cy="18720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389" name="Google Shape;373;p6"/>
            <p:cNvSpPr/>
            <p:nvPr/>
          </p:nvSpPr>
          <p:spPr>
            <a:xfrm>
              <a:off x="5106960" y="6507720"/>
              <a:ext cx="145800" cy="93960"/>
            </a:xfrm>
            <a:prstGeom prst="rect">
              <a:avLst/>
            </a:prstGeom>
            <a:solidFill>
              <a:srgbClr val="a5a5a5"/>
            </a:solidFill>
            <a:ln w="9525">
              <a:solidFill>
                <a:srgbClr val="000000"/>
              </a:solidFill>
              <a:round/>
            </a:ln>
          </p:spPr>
          <p:style>
            <a:lnRef idx="0"/>
            <a:fillRef idx="0"/>
            <a:effectRef idx="0"/>
            <a:fontRef idx="minor"/>
          </p:style>
        </p:sp>
        <p:sp>
          <p:nvSpPr>
            <p:cNvPr id="390" name="Google Shape;374;p6"/>
            <p:cNvSpPr/>
            <p:nvPr/>
          </p:nvSpPr>
          <p:spPr>
            <a:xfrm>
              <a:off x="4922280" y="6746400"/>
              <a:ext cx="145800" cy="93960"/>
            </a:xfrm>
            <a:prstGeom prst="rect">
              <a:avLst/>
            </a:prstGeom>
            <a:solidFill>
              <a:srgbClr val="bfbfbf"/>
            </a:solidFill>
            <a:ln w="9525">
              <a:solidFill>
                <a:srgbClr val="000000"/>
              </a:solidFill>
              <a:round/>
            </a:ln>
          </p:spPr>
          <p:style>
            <a:lnRef idx="0"/>
            <a:fillRef idx="0"/>
            <a:effectRef idx="0"/>
            <a:fontRef idx="minor"/>
          </p:style>
        </p:sp>
        <p:sp>
          <p:nvSpPr>
            <p:cNvPr id="391" name="Google Shape;375;p6"/>
            <p:cNvSpPr/>
            <p:nvPr/>
          </p:nvSpPr>
          <p:spPr>
            <a:xfrm>
              <a:off x="5106960" y="6746400"/>
              <a:ext cx="145800" cy="93960"/>
            </a:xfrm>
            <a:prstGeom prst="rect">
              <a:avLst/>
            </a:prstGeom>
            <a:solidFill>
              <a:srgbClr val="bfbfbf"/>
            </a:solidFill>
            <a:ln w="9525">
              <a:solidFill>
                <a:srgbClr val="000000"/>
              </a:solidFill>
              <a:round/>
            </a:ln>
          </p:spPr>
          <p:style>
            <a:lnRef idx="0"/>
            <a:fillRef idx="0"/>
            <a:effectRef idx="0"/>
            <a:fontRef idx="minor"/>
          </p:style>
        </p:sp>
        <p:sp>
          <p:nvSpPr>
            <p:cNvPr id="392" name="Google Shape;376;p6"/>
            <p:cNvSpPr/>
            <p:nvPr/>
          </p:nvSpPr>
          <p:spPr>
            <a:xfrm>
              <a:off x="5290560" y="6746400"/>
              <a:ext cx="145800" cy="93960"/>
            </a:xfrm>
            <a:prstGeom prst="rect">
              <a:avLst/>
            </a:prstGeom>
            <a:solidFill>
              <a:srgbClr val="bfbfbf"/>
            </a:solidFill>
            <a:ln w="9525">
              <a:solidFill>
                <a:srgbClr val="000000"/>
              </a:solidFill>
              <a:round/>
            </a:ln>
          </p:spPr>
          <p:style>
            <a:lnRef idx="0"/>
            <a:fillRef idx="0"/>
            <a:effectRef idx="0"/>
            <a:fontRef idx="minor"/>
          </p:style>
        </p:sp>
      </p:grpSp>
      <p:grpSp>
        <p:nvGrpSpPr>
          <p:cNvPr id="393" name="Google Shape;377;p6"/>
          <p:cNvGrpSpPr/>
          <p:nvPr/>
        </p:nvGrpSpPr>
        <p:grpSpPr>
          <a:xfrm>
            <a:off x="4857480" y="7683480"/>
            <a:ext cx="633960" cy="755280"/>
            <a:chOff x="4857480" y="7683480"/>
            <a:chExt cx="633960" cy="755280"/>
          </a:xfrm>
        </p:grpSpPr>
        <p:sp>
          <p:nvSpPr>
            <p:cNvPr id="394" name="Google Shape;378;p6"/>
            <p:cNvSpPr/>
            <p:nvPr/>
          </p:nvSpPr>
          <p:spPr>
            <a:xfrm flipH="1" rot="10800000">
              <a:off x="5000400" y="7943040"/>
              <a:ext cx="234360" cy="13068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sp>
          <p:nvSpPr>
            <p:cNvPr id="395" name="Google Shape;380;p6"/>
            <p:cNvSpPr/>
            <p:nvPr/>
          </p:nvSpPr>
          <p:spPr>
            <a:xfrm>
              <a:off x="4993200" y="8076960"/>
              <a:ext cx="104400" cy="7884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sp>
          <p:nvSpPr>
            <p:cNvPr id="396" name="Google Shape;382;p6"/>
            <p:cNvSpPr/>
            <p:nvPr/>
          </p:nvSpPr>
          <p:spPr>
            <a:xfrm>
              <a:off x="5257080" y="7965720"/>
              <a:ext cx="91440" cy="18684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sp>
          <p:nvSpPr>
            <p:cNvPr id="397" name="Google Shape;385;p6"/>
            <p:cNvSpPr/>
            <p:nvPr/>
          </p:nvSpPr>
          <p:spPr>
            <a:xfrm flipH="1" rot="10800000">
              <a:off x="5256720" y="7778880"/>
              <a:ext cx="91080" cy="18684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sp>
          <p:nvSpPr>
            <p:cNvPr id="398" name="Google Shape;387;p6"/>
            <p:cNvSpPr/>
            <p:nvPr/>
          </p:nvSpPr>
          <p:spPr>
            <a:xfrm rot="16200000">
              <a:off x="5332680" y="7902720"/>
              <a:ext cx="189000" cy="127440"/>
            </a:xfrm>
            <a:prstGeom prst="rect">
              <a:avLst/>
            </a:prstGeom>
            <a:solidFill>
              <a:srgbClr val="bfbfbf"/>
            </a:solidFill>
            <a:ln w="9525">
              <a:solidFill>
                <a:srgbClr val="000000"/>
              </a:solidFill>
              <a:round/>
            </a:ln>
          </p:spPr>
          <p:style>
            <a:lnRef idx="0"/>
            <a:fillRef idx="0"/>
            <a:effectRef idx="0"/>
            <a:fontRef idx="minor"/>
          </p:style>
        </p:sp>
        <p:sp>
          <p:nvSpPr>
            <p:cNvPr id="399" name="Google Shape;386;p6"/>
            <p:cNvSpPr/>
            <p:nvPr/>
          </p:nvSpPr>
          <p:spPr>
            <a:xfrm rot="16200000">
              <a:off x="5332680" y="7714080"/>
              <a:ext cx="189000" cy="127440"/>
            </a:xfrm>
            <a:prstGeom prst="rect">
              <a:avLst/>
            </a:prstGeom>
            <a:solidFill>
              <a:srgbClr val="bfbfbf"/>
            </a:solidFill>
            <a:ln w="9525">
              <a:solidFill>
                <a:srgbClr val="000000"/>
              </a:solidFill>
              <a:round/>
            </a:ln>
          </p:spPr>
          <p:style>
            <a:lnRef idx="0"/>
            <a:fillRef idx="0"/>
            <a:effectRef idx="0"/>
            <a:fontRef idx="minor"/>
          </p:style>
        </p:sp>
        <p:sp>
          <p:nvSpPr>
            <p:cNvPr id="400" name="Google Shape;384;p6"/>
            <p:cNvSpPr/>
            <p:nvPr/>
          </p:nvSpPr>
          <p:spPr>
            <a:xfrm rot="16200000">
              <a:off x="5333040" y="8091720"/>
              <a:ext cx="189000" cy="127440"/>
            </a:xfrm>
            <a:prstGeom prst="rect">
              <a:avLst/>
            </a:prstGeom>
            <a:solidFill>
              <a:srgbClr val="bfbfbf"/>
            </a:solidFill>
            <a:ln w="9525">
              <a:solidFill>
                <a:srgbClr val="000000"/>
              </a:solidFill>
              <a:round/>
            </a:ln>
          </p:spPr>
          <p:style>
            <a:lnRef idx="0"/>
            <a:fillRef idx="0"/>
            <a:effectRef idx="0"/>
            <a:fontRef idx="minor"/>
          </p:style>
        </p:sp>
        <p:sp>
          <p:nvSpPr>
            <p:cNvPr id="401" name="Google Shape;388;p6"/>
            <p:cNvSpPr/>
            <p:nvPr/>
          </p:nvSpPr>
          <p:spPr>
            <a:xfrm flipH="1" rot="10800000">
              <a:off x="5254920" y="8155080"/>
              <a:ext cx="92160" cy="108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sp>
          <p:nvSpPr>
            <p:cNvPr id="402" name="Google Shape;389;p6"/>
            <p:cNvSpPr/>
            <p:nvPr/>
          </p:nvSpPr>
          <p:spPr>
            <a:xfrm>
              <a:off x="5257080" y="7965720"/>
              <a:ext cx="91080" cy="252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sp>
          <p:nvSpPr>
            <p:cNvPr id="403" name="Google Shape;379;p6"/>
            <p:cNvSpPr/>
            <p:nvPr/>
          </p:nvSpPr>
          <p:spPr>
            <a:xfrm rot="16200000">
              <a:off x="4826520" y="8010720"/>
              <a:ext cx="189000" cy="127440"/>
            </a:xfrm>
            <a:prstGeom prst="rect">
              <a:avLst/>
            </a:prstGeom>
            <a:solidFill>
              <a:srgbClr val="a5a5a5"/>
            </a:solidFill>
            <a:ln w="9525">
              <a:solidFill>
                <a:srgbClr val="000000"/>
              </a:solidFill>
              <a:round/>
            </a:ln>
          </p:spPr>
          <p:style>
            <a:lnRef idx="0"/>
            <a:fillRef idx="0"/>
            <a:effectRef idx="0"/>
            <a:fontRef idx="minor"/>
          </p:style>
        </p:sp>
        <p:sp>
          <p:nvSpPr>
            <p:cNvPr id="404" name="Google Shape;383;p6"/>
            <p:cNvSpPr/>
            <p:nvPr/>
          </p:nvSpPr>
          <p:spPr>
            <a:xfrm rot="16200000">
              <a:off x="5083200" y="7902720"/>
              <a:ext cx="189000" cy="127440"/>
            </a:xfrm>
            <a:prstGeom prst="rect">
              <a:avLst/>
            </a:prstGeom>
            <a:solidFill>
              <a:srgbClr val="bfbfbf"/>
            </a:solidFill>
            <a:ln w="9525">
              <a:solidFill>
                <a:srgbClr val="000000"/>
              </a:solidFill>
              <a:round/>
            </a:ln>
          </p:spPr>
          <p:style>
            <a:lnRef idx="0"/>
            <a:fillRef idx="0"/>
            <a:effectRef idx="0"/>
            <a:fontRef idx="minor"/>
          </p:style>
        </p:sp>
        <p:sp>
          <p:nvSpPr>
            <p:cNvPr id="405" name="Google Shape;390;p6"/>
            <p:cNvSpPr/>
            <p:nvPr/>
          </p:nvSpPr>
          <p:spPr>
            <a:xfrm flipH="1" rot="10800000">
              <a:off x="5255640" y="7967520"/>
              <a:ext cx="92880" cy="19044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sp>
          <p:nvSpPr>
            <p:cNvPr id="406" name="Google Shape;391;p6"/>
            <p:cNvSpPr/>
            <p:nvPr/>
          </p:nvSpPr>
          <p:spPr>
            <a:xfrm flipH="1" rot="10800000">
              <a:off x="5251680" y="7778880"/>
              <a:ext cx="96120" cy="39456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sp>
          <p:nvSpPr>
            <p:cNvPr id="407" name="Google Shape;392;p6"/>
            <p:cNvSpPr/>
            <p:nvPr/>
          </p:nvSpPr>
          <p:spPr>
            <a:xfrm rot="10800000">
              <a:off x="5262120" y="7967520"/>
              <a:ext cx="91080" cy="37584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sp>
          <p:nvSpPr>
            <p:cNvPr id="408" name="Google Shape;393;p6"/>
            <p:cNvSpPr/>
            <p:nvPr/>
          </p:nvSpPr>
          <p:spPr>
            <a:xfrm rot="16200000">
              <a:off x="5332680" y="8280360"/>
              <a:ext cx="189000" cy="127440"/>
            </a:xfrm>
            <a:prstGeom prst="rect">
              <a:avLst/>
            </a:prstGeom>
            <a:solidFill>
              <a:srgbClr val="bfbfbf"/>
            </a:solidFill>
            <a:ln w="9525">
              <a:solidFill>
                <a:srgbClr val="000000"/>
              </a:solidFill>
              <a:round/>
            </a:ln>
          </p:spPr>
          <p:style>
            <a:lnRef idx="0"/>
            <a:fillRef idx="0"/>
            <a:effectRef idx="0"/>
            <a:fontRef idx="minor"/>
          </p:style>
        </p:sp>
        <p:sp>
          <p:nvSpPr>
            <p:cNvPr id="409" name="Google Shape;381;p6"/>
            <p:cNvSpPr/>
            <p:nvPr/>
          </p:nvSpPr>
          <p:spPr>
            <a:xfrm rot="16200000">
              <a:off x="5082120" y="8094600"/>
              <a:ext cx="189000" cy="127440"/>
            </a:xfrm>
            <a:prstGeom prst="rect">
              <a:avLst/>
            </a:prstGeom>
            <a:solidFill>
              <a:srgbClr val="bfbfbf"/>
            </a:solidFill>
            <a:ln w="9525">
              <a:solidFill>
                <a:srgbClr val="000000"/>
              </a:solidFill>
              <a:round/>
            </a:ln>
          </p:spPr>
          <p:style>
            <a:lnRef idx="0"/>
            <a:fillRef idx="0"/>
            <a:effectRef idx="0"/>
            <a:fontRef idx="minor"/>
          </p:style>
        </p:sp>
        <p:sp>
          <p:nvSpPr>
            <p:cNvPr id="410" name="Google Shape;394;p6"/>
            <p:cNvSpPr/>
            <p:nvPr/>
          </p:nvSpPr>
          <p:spPr>
            <a:xfrm>
              <a:off x="5256000" y="8158680"/>
              <a:ext cx="91800" cy="182880"/>
            </a:xfrm>
            <a:custGeom>
              <a:avLst/>
              <a:gdLst/>
              <a:ahLst/>
              <a:rect l="l" t="t" r="r" b="b"/>
              <a:pathLst>
                <a:path w="21600" h="21600">
                  <a:moveTo>
                    <a:pt x="0" y="0"/>
                  </a:moveTo>
                  <a:lnTo>
                    <a:pt x="21600" y="21600"/>
                  </a:lnTo>
                </a:path>
              </a:pathLst>
            </a:custGeom>
            <a:noFill/>
            <a:ln w="9525">
              <a:solidFill>
                <a:srgbClr val="000000"/>
              </a:solidFill>
              <a:prstDash val="dot"/>
              <a:round/>
            </a:ln>
          </p:spPr>
          <p:style>
            <a:lnRef idx="0"/>
            <a:fillRef idx="0"/>
            <a:effectRef idx="0"/>
            <a:fontRef idx="minor"/>
          </p:style>
        </p:sp>
      </p:grpSp>
      <p:graphicFrame>
        <p:nvGraphicFramePr>
          <p:cNvPr id="411" name="Google Shape;395;p6"/>
          <p:cNvGraphicFramePr/>
          <p:nvPr/>
        </p:nvGraphicFramePr>
        <p:xfrm>
          <a:off x="3182760" y="1604160"/>
          <a:ext cx="1136520" cy="101160"/>
        </p:xfrm>
        <a:graphic>
          <a:graphicData uri="http://schemas.openxmlformats.org/drawingml/2006/table">
            <a:tbl>
              <a:tblPr/>
              <a:tblGrid>
                <a:gridCol w="227160"/>
                <a:gridCol w="227160"/>
                <a:gridCol w="227160"/>
                <a:gridCol w="227160"/>
                <a:gridCol w="22824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bl>
          </a:graphicData>
        </a:graphic>
      </p:graphicFrame>
      <p:graphicFrame>
        <p:nvGraphicFramePr>
          <p:cNvPr id="412" name="Google Shape;396;p6"/>
          <p:cNvGraphicFramePr/>
          <p:nvPr/>
        </p:nvGraphicFramePr>
        <p:xfrm>
          <a:off x="3182760" y="1949760"/>
          <a:ext cx="1136520" cy="101160"/>
        </p:xfrm>
        <a:graphic>
          <a:graphicData uri="http://schemas.openxmlformats.org/drawingml/2006/table">
            <a:tbl>
              <a:tblPr/>
              <a:tblGrid>
                <a:gridCol w="227160"/>
                <a:gridCol w="227160"/>
                <a:gridCol w="227160"/>
                <a:gridCol w="227160"/>
                <a:gridCol w="22824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bl>
          </a:graphicData>
        </a:graphic>
      </p:graphicFrame>
      <p:sp>
        <p:nvSpPr>
          <p:cNvPr id="413" name="Google Shape;397;p6"/>
          <p:cNvSpPr/>
          <p:nvPr/>
        </p:nvSpPr>
        <p:spPr>
          <a:xfrm>
            <a:off x="1352880" y="3671640"/>
            <a:ext cx="1863720" cy="257040"/>
          </a:xfrm>
          <a:prstGeom prst="rect">
            <a:avLst/>
          </a:prstGeom>
          <a:noFill/>
          <a:ln w="9525">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100" spc="-1" strike="noStrike">
                <a:solidFill>
                  <a:srgbClr val="000000"/>
                </a:solidFill>
                <a:latin typeface="Arial"/>
                <a:ea typeface="Arial"/>
              </a:rPr>
              <a:t>Data</a:t>
            </a:r>
            <a:endParaRPr b="0" lang="en-US" sz="1100" spc="-1" strike="noStrike">
              <a:latin typeface="Arial"/>
            </a:endParaRPr>
          </a:p>
        </p:txBody>
      </p:sp>
      <p:sp>
        <p:nvSpPr>
          <p:cNvPr id="414" name="Google Shape;398;p6"/>
          <p:cNvSpPr/>
          <p:nvPr/>
        </p:nvSpPr>
        <p:spPr>
          <a:xfrm>
            <a:off x="3475080" y="3677040"/>
            <a:ext cx="1863360" cy="257040"/>
          </a:xfrm>
          <a:prstGeom prst="rect">
            <a:avLst/>
          </a:prstGeom>
          <a:noFill/>
          <a:ln w="9525">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100" spc="-1" strike="noStrike">
                <a:solidFill>
                  <a:srgbClr val="000000"/>
                </a:solidFill>
                <a:latin typeface="Arial"/>
                <a:ea typeface="Arial"/>
              </a:rPr>
              <a:t>Feature Extraction</a:t>
            </a:r>
            <a:endParaRPr b="0" lang="en-US" sz="1100" spc="-1" strike="noStrike">
              <a:latin typeface="Arial"/>
            </a:endParaRPr>
          </a:p>
        </p:txBody>
      </p:sp>
      <p:sp>
        <p:nvSpPr>
          <p:cNvPr id="415" name="Google Shape;399;p6"/>
          <p:cNvSpPr/>
          <p:nvPr/>
        </p:nvSpPr>
        <p:spPr>
          <a:xfrm>
            <a:off x="3475080" y="4151880"/>
            <a:ext cx="1863360" cy="257040"/>
          </a:xfrm>
          <a:prstGeom prst="rect">
            <a:avLst/>
          </a:prstGeom>
          <a:noFill/>
          <a:ln w="9525">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100" spc="-1" strike="noStrike">
                <a:solidFill>
                  <a:srgbClr val="000000"/>
                </a:solidFill>
                <a:latin typeface="Arial"/>
                <a:ea typeface="Arial"/>
              </a:rPr>
              <a:t>Modeling</a:t>
            </a:r>
            <a:endParaRPr b="0" lang="en-US" sz="1100" spc="-1" strike="noStrike">
              <a:latin typeface="Arial"/>
            </a:endParaRPr>
          </a:p>
        </p:txBody>
      </p:sp>
      <p:sp>
        <p:nvSpPr>
          <p:cNvPr id="416" name="Google Shape;400;p6"/>
          <p:cNvSpPr/>
          <p:nvPr/>
        </p:nvSpPr>
        <p:spPr>
          <a:xfrm>
            <a:off x="1349640" y="4152600"/>
            <a:ext cx="1863360" cy="257040"/>
          </a:xfrm>
          <a:prstGeom prst="rect">
            <a:avLst/>
          </a:prstGeom>
          <a:noFill/>
          <a:ln w="9525">
            <a:solidFill>
              <a:srgbClr val="000000"/>
            </a:solidFill>
            <a:round/>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100" spc="-1" strike="noStrike">
                <a:solidFill>
                  <a:srgbClr val="000000"/>
                </a:solidFill>
                <a:latin typeface="Arial"/>
                <a:ea typeface="Arial"/>
              </a:rPr>
              <a:t>Results</a:t>
            </a:r>
            <a:endParaRPr b="0" lang="en-US" sz="1100" spc="-1" strike="noStrike">
              <a:latin typeface="Arial"/>
            </a:endParaRPr>
          </a:p>
        </p:txBody>
      </p:sp>
      <p:sp>
        <p:nvSpPr>
          <p:cNvPr id="417" name="Google Shape;401;p6"/>
          <p:cNvSpPr/>
          <p:nvPr/>
        </p:nvSpPr>
        <p:spPr>
          <a:xfrm flipH="1" rot="10800000">
            <a:off x="3255120" y="3844440"/>
            <a:ext cx="181080" cy="360"/>
          </a:xfrm>
          <a:custGeom>
            <a:avLst/>
            <a:gdLst/>
            <a:ahLst/>
            <a:rect l="l" t="t" r="r" b="b"/>
            <a:pathLst>
              <a:path w="21600" h="21600">
                <a:moveTo>
                  <a:pt x="0" y="0"/>
                </a:moveTo>
                <a:lnTo>
                  <a:pt x="21600" y="21600"/>
                </a:lnTo>
              </a:path>
            </a:pathLst>
          </a:custGeom>
          <a:noFill/>
          <a:ln w="12700">
            <a:solidFill>
              <a:srgbClr val="000000"/>
            </a:solidFill>
            <a:round/>
            <a:tailEnd len="med" type="triangle" w="med"/>
          </a:ln>
        </p:spPr>
        <p:style>
          <a:lnRef idx="0"/>
          <a:fillRef idx="0"/>
          <a:effectRef idx="0"/>
          <a:fontRef idx="minor"/>
        </p:style>
      </p:sp>
      <p:sp>
        <p:nvSpPr>
          <p:cNvPr id="418" name="Google Shape;402;p6"/>
          <p:cNvSpPr/>
          <p:nvPr/>
        </p:nvSpPr>
        <p:spPr>
          <a:xfrm rot="10800000">
            <a:off x="3239640" y="4277520"/>
            <a:ext cx="181080" cy="360"/>
          </a:xfrm>
          <a:custGeom>
            <a:avLst/>
            <a:gdLst/>
            <a:ahLst/>
            <a:rect l="l" t="t" r="r" b="b"/>
            <a:pathLst>
              <a:path w="21600" h="21600">
                <a:moveTo>
                  <a:pt x="0" y="0"/>
                </a:moveTo>
                <a:lnTo>
                  <a:pt x="21600" y="21600"/>
                </a:lnTo>
              </a:path>
            </a:pathLst>
          </a:custGeom>
          <a:noFill/>
          <a:ln w="12700">
            <a:solidFill>
              <a:srgbClr val="000000"/>
            </a:solidFill>
            <a:round/>
            <a:tailEnd len="med" type="triangle" w="med"/>
          </a:ln>
        </p:spPr>
        <p:style>
          <a:lnRef idx="0"/>
          <a:fillRef idx="0"/>
          <a:effectRef idx="0"/>
          <a:fontRef idx="minor"/>
        </p:style>
      </p:sp>
      <p:sp>
        <p:nvSpPr>
          <p:cNvPr id="419" name="Google Shape;403;p6"/>
          <p:cNvSpPr/>
          <p:nvPr/>
        </p:nvSpPr>
        <p:spPr>
          <a:xfrm>
            <a:off x="4407840" y="3951360"/>
            <a:ext cx="360" cy="181080"/>
          </a:xfrm>
          <a:custGeom>
            <a:avLst/>
            <a:gdLst/>
            <a:ahLst/>
            <a:rect l="l" t="t" r="r" b="b"/>
            <a:pathLst>
              <a:path w="21600" h="21600">
                <a:moveTo>
                  <a:pt x="0" y="0"/>
                </a:moveTo>
                <a:lnTo>
                  <a:pt x="21600" y="21600"/>
                </a:lnTo>
              </a:path>
            </a:pathLst>
          </a:custGeom>
          <a:noFill/>
          <a:ln w="12700">
            <a:solidFill>
              <a:srgbClr val="000000"/>
            </a:solidFill>
            <a:round/>
            <a:tailEnd len="med" type="triangle" w="med"/>
          </a:ln>
        </p:spPr>
        <p:style>
          <a:lnRef idx="0"/>
          <a:fillRef idx="0"/>
          <a:effectRef idx="0"/>
          <a:fontRef idx="minor"/>
        </p:style>
      </p:sp>
      <p:graphicFrame>
        <p:nvGraphicFramePr>
          <p:cNvPr id="420" name="Google Shape;404;p6"/>
          <p:cNvGraphicFramePr/>
          <p:nvPr/>
        </p:nvGraphicFramePr>
        <p:xfrm>
          <a:off x="2231280" y="3002040"/>
          <a:ext cx="1117440" cy="101160"/>
        </p:xfrm>
        <a:graphic>
          <a:graphicData uri="http://schemas.openxmlformats.org/drawingml/2006/table">
            <a:tbl>
              <a:tblPr/>
              <a:tblGrid>
                <a:gridCol w="218880"/>
                <a:gridCol w="220680"/>
                <a:gridCol w="220680"/>
                <a:gridCol w="218880"/>
                <a:gridCol w="23868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path path="circle">
                        <a:fillToRect l="50000" t="50000" r="50000" b="50000"/>
                      </a:path>
                    </a:gradFill>
                  </a:tcPr>
                </a:tc>
              </a:tr>
            </a:tbl>
          </a:graphicData>
        </a:graphic>
      </p:graphicFrame>
      <p:sp>
        <p:nvSpPr>
          <p:cNvPr id="421" name="Google Shape;405;p6"/>
          <p:cNvSpPr/>
          <p:nvPr/>
        </p:nvSpPr>
        <p:spPr>
          <a:xfrm>
            <a:off x="2086200" y="2781000"/>
            <a:ext cx="15393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Pathway Genesets</a:t>
            </a:r>
            <a:endParaRPr b="0" lang="en-US" sz="1000" spc="-1" strike="noStrike">
              <a:latin typeface="Arial"/>
            </a:endParaRPr>
          </a:p>
        </p:txBody>
      </p:sp>
      <p:sp>
        <p:nvSpPr>
          <p:cNvPr id="422" name="Google Shape;407;p6"/>
          <p:cNvSpPr/>
          <p:nvPr/>
        </p:nvSpPr>
        <p:spPr>
          <a:xfrm>
            <a:off x="524520" y="6272280"/>
            <a:ext cx="375480" cy="190440"/>
          </a:xfrm>
          <a:prstGeom prst="rect">
            <a:avLst/>
          </a:prstGeom>
          <a:solidFill>
            <a:schemeClr val="lt1"/>
          </a:solidFill>
          <a:ln w="0">
            <a:noFill/>
          </a:ln>
        </p:spPr>
        <p:style>
          <a:lnRef idx="0"/>
          <a:fillRef idx="0"/>
          <a:effectRef idx="0"/>
          <a:fontRef idx="minor"/>
        </p:style>
      </p:sp>
      <p:sp>
        <p:nvSpPr>
          <p:cNvPr id="423" name="Google Shape;408;p6"/>
          <p:cNvSpPr/>
          <p:nvPr/>
        </p:nvSpPr>
        <p:spPr>
          <a:xfrm>
            <a:off x="522000" y="7644600"/>
            <a:ext cx="375480" cy="190440"/>
          </a:xfrm>
          <a:prstGeom prst="rect">
            <a:avLst/>
          </a:prstGeom>
          <a:solidFill>
            <a:schemeClr val="lt1"/>
          </a:solidFill>
          <a:ln w="0">
            <a:noFill/>
          </a:ln>
        </p:spPr>
        <p:style>
          <a:lnRef idx="0"/>
          <a:fillRef idx="0"/>
          <a:effectRef idx="0"/>
          <a:fontRef idx="minor"/>
        </p:style>
      </p:sp>
      <p:sp>
        <p:nvSpPr>
          <p:cNvPr id="424" name="Google Shape;409;p6"/>
          <p:cNvSpPr/>
          <p:nvPr/>
        </p:nvSpPr>
        <p:spPr>
          <a:xfrm flipH="1" rot="10800000">
            <a:off x="564480" y="8083440"/>
            <a:ext cx="375480" cy="116280"/>
          </a:xfrm>
          <a:prstGeom prst="rect">
            <a:avLst/>
          </a:prstGeom>
          <a:solidFill>
            <a:schemeClr val="lt1"/>
          </a:solidFill>
          <a:ln w="0">
            <a:noFill/>
          </a:ln>
        </p:spPr>
        <p:style>
          <a:lnRef idx="0"/>
          <a:fillRef idx="0"/>
          <a:effectRef idx="0"/>
          <a:fontRef idx="minor"/>
        </p:style>
      </p:sp>
      <p:sp>
        <p:nvSpPr>
          <p:cNvPr id="425" name="Google Shape;410;p6"/>
          <p:cNvSpPr/>
          <p:nvPr/>
        </p:nvSpPr>
        <p:spPr>
          <a:xfrm flipH="1" rot="10800000">
            <a:off x="1069920" y="7512840"/>
            <a:ext cx="280440" cy="779760"/>
          </a:xfrm>
          <a:prstGeom prst="triangle">
            <a:avLst>
              <a:gd name="adj" fmla="val 0"/>
            </a:avLst>
          </a:prstGeom>
          <a:gradFill rotWithShape="0">
            <a:gsLst>
              <a:gs pos="0">
                <a:srgbClr val="e5b8b7"/>
              </a:gs>
              <a:gs pos="100000">
                <a:srgbClr val="0000ff"/>
              </a:gs>
            </a:gsLst>
            <a:path path="circle">
              <a:fillToRect l="50000" t="50000" r="50000" b="50000"/>
            </a:path>
          </a:gradFill>
          <a:ln w="25400">
            <a:solidFill>
              <a:srgbClr val="000000"/>
            </a:solidFill>
            <a:round/>
          </a:ln>
        </p:spPr>
        <p:style>
          <a:lnRef idx="0"/>
          <a:fillRef idx="0"/>
          <a:effectRef idx="0"/>
          <a:fontRef idx="minor"/>
        </p:style>
      </p:sp>
      <p:sp>
        <p:nvSpPr>
          <p:cNvPr id="426" name="Google Shape;411;p6"/>
          <p:cNvSpPr/>
          <p:nvPr/>
        </p:nvSpPr>
        <p:spPr>
          <a:xfrm>
            <a:off x="346680" y="7808760"/>
            <a:ext cx="664920" cy="132840"/>
          </a:xfrm>
          <a:prstGeom prst="rect">
            <a:avLst/>
          </a:prstGeom>
          <a:solidFill>
            <a:schemeClr val="lt1"/>
          </a:solidFill>
          <a:ln w="25400">
            <a:solidFill>
              <a:srgbClr val="ffffff"/>
            </a:solidFill>
            <a:round/>
          </a:ln>
        </p:spPr>
        <p:style>
          <a:lnRef idx="0"/>
          <a:fillRef idx="0"/>
          <a:effectRef idx="0"/>
          <a:fontRef idx="minor"/>
        </p:style>
      </p:sp>
      <p:sp>
        <p:nvSpPr>
          <p:cNvPr id="427" name="Google Shape;412;p6"/>
          <p:cNvSpPr/>
          <p:nvPr/>
        </p:nvSpPr>
        <p:spPr>
          <a:xfrm rot="5400000">
            <a:off x="342360" y="7724880"/>
            <a:ext cx="92340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Sensitivity vs</a:t>
            </a:r>
            <a:endParaRPr b="0" lang="en-US" sz="1000" spc="-1" strike="noStrike">
              <a:latin typeface="Arial"/>
            </a:endParaRPr>
          </a:p>
          <a:p>
            <a:pPr algn="ctr">
              <a:lnSpc>
                <a:spcPct val="100000"/>
              </a:lnSpc>
              <a:buNone/>
              <a:tabLst>
                <a:tab algn="l" pos="0"/>
              </a:tabLst>
            </a:pPr>
            <a:r>
              <a:rPr b="0" lang="en-US" sz="1000" spc="-1" strike="noStrike">
                <a:solidFill>
                  <a:srgbClr val="000000"/>
                </a:solidFill>
                <a:latin typeface="Arial"/>
                <a:ea typeface="Arial"/>
              </a:rPr>
              <a:t> </a:t>
            </a:r>
            <a:r>
              <a:rPr b="0" lang="en-US" sz="1000" spc="-1" strike="noStrike">
                <a:solidFill>
                  <a:srgbClr val="000000"/>
                </a:solidFill>
                <a:latin typeface="Arial"/>
                <a:ea typeface="Arial"/>
              </a:rPr>
              <a:t>Resistance</a:t>
            </a:r>
            <a:endParaRPr b="0" lang="en-US" sz="1000" spc="-1" strike="noStrike">
              <a:latin typeface="Arial"/>
            </a:endParaRPr>
          </a:p>
        </p:txBody>
      </p:sp>
      <p:graphicFrame>
        <p:nvGraphicFramePr>
          <p:cNvPr id="428" name="Google Shape;413;p6"/>
          <p:cNvGraphicFramePr/>
          <p:nvPr/>
        </p:nvGraphicFramePr>
        <p:xfrm>
          <a:off x="2242800" y="1019160"/>
          <a:ext cx="1115640" cy="101160"/>
        </p:xfrm>
        <a:graphic>
          <a:graphicData uri="http://schemas.openxmlformats.org/drawingml/2006/table">
            <a:tbl>
              <a:tblPr/>
              <a:tblGrid>
                <a:gridCol w="218880"/>
                <a:gridCol w="218880"/>
                <a:gridCol w="237600"/>
                <a:gridCol w="220680"/>
                <a:gridCol w="21996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3c4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3c4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3c4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3c4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3c4e1"/>
                    </a:solidFill>
                  </a:tcPr>
                </a:tc>
              </a:tr>
            </a:tbl>
          </a:graphicData>
        </a:graphic>
      </p:graphicFrame>
      <p:sp>
        <p:nvSpPr>
          <p:cNvPr id="429" name="Google Shape;414;p6"/>
          <p:cNvSpPr/>
          <p:nvPr/>
        </p:nvSpPr>
        <p:spPr>
          <a:xfrm>
            <a:off x="2179080" y="797760"/>
            <a:ext cx="13100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Mutation Types</a:t>
            </a:r>
            <a:endParaRPr b="0" lang="en-US" sz="1000" spc="-1" strike="noStrike">
              <a:latin typeface="Arial"/>
            </a:endParaRPr>
          </a:p>
        </p:txBody>
      </p:sp>
      <p:graphicFrame>
        <p:nvGraphicFramePr>
          <p:cNvPr id="430" name="Google Shape;415;p6"/>
          <p:cNvGraphicFramePr/>
          <p:nvPr/>
        </p:nvGraphicFramePr>
        <p:xfrm>
          <a:off x="2204640" y="2684520"/>
          <a:ext cx="1117440" cy="101160"/>
        </p:xfrm>
        <a:graphic>
          <a:graphicData uri="http://schemas.openxmlformats.org/drawingml/2006/table">
            <a:tbl>
              <a:tblPr/>
              <a:tblGrid>
                <a:gridCol w="218880"/>
                <a:gridCol w="220680"/>
                <a:gridCol w="220680"/>
                <a:gridCol w="218880"/>
                <a:gridCol w="23868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70c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70c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70c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70c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70c0"/>
                    </a:solidFill>
                  </a:tcPr>
                </a:tc>
              </a:tr>
            </a:tbl>
          </a:graphicData>
        </a:graphic>
      </p:graphicFrame>
      <p:sp>
        <p:nvSpPr>
          <p:cNvPr id="431" name="Google Shape;416;p6"/>
          <p:cNvSpPr/>
          <p:nvPr/>
        </p:nvSpPr>
        <p:spPr>
          <a:xfrm>
            <a:off x="2009160" y="2481120"/>
            <a:ext cx="18990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Cell + Module Genesets</a:t>
            </a:r>
            <a:endParaRPr b="0" lang="en-US" sz="1000" spc="-1" strike="noStrike">
              <a:latin typeface="Arial"/>
            </a:endParaRPr>
          </a:p>
        </p:txBody>
      </p:sp>
      <p:graphicFrame>
        <p:nvGraphicFramePr>
          <p:cNvPr id="432" name="Google Shape;418;p6"/>
          <p:cNvGraphicFramePr/>
          <p:nvPr/>
        </p:nvGraphicFramePr>
        <p:xfrm>
          <a:off x="4211280" y="920880"/>
          <a:ext cx="1117440" cy="101160"/>
        </p:xfrm>
        <a:graphic>
          <a:graphicData uri="http://schemas.openxmlformats.org/drawingml/2006/table">
            <a:tbl>
              <a:tblPr/>
              <a:tblGrid>
                <a:gridCol w="218880"/>
                <a:gridCol w="225000"/>
                <a:gridCol w="225000"/>
                <a:gridCol w="225000"/>
                <a:gridCol w="22392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r>
            </a:tbl>
          </a:graphicData>
        </a:graphic>
      </p:graphicFrame>
      <p:graphicFrame>
        <p:nvGraphicFramePr>
          <p:cNvPr id="433" name="Google Shape;419;p6"/>
          <p:cNvGraphicFramePr/>
          <p:nvPr/>
        </p:nvGraphicFramePr>
        <p:xfrm>
          <a:off x="6360480" y="6583680"/>
          <a:ext cx="125280" cy="499680"/>
        </p:xfrm>
        <a:graphic>
          <a:graphicData uri="http://schemas.openxmlformats.org/drawingml/2006/table">
            <a:tbl>
              <a:tblPr/>
              <a:tblGrid>
                <a:gridCol w="125280"/>
              </a:tblGrid>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r>
              <a:tr h="83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r>
              <a:tr h="842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r>
            </a:tbl>
          </a:graphicData>
        </a:graphic>
      </p:graphicFrame>
      <p:sp>
        <p:nvSpPr>
          <p:cNvPr id="434" name="Google Shape;420;p6"/>
          <p:cNvSpPr/>
          <p:nvPr/>
        </p:nvSpPr>
        <p:spPr>
          <a:xfrm rot="16200000">
            <a:off x="6234120" y="6645600"/>
            <a:ext cx="93132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Cell / Module Enrich</a:t>
            </a:r>
            <a:endParaRPr b="0" lang="en-US" sz="1000" spc="-1" strike="noStrike">
              <a:latin typeface="Arial"/>
            </a:endParaRPr>
          </a:p>
        </p:txBody>
      </p:sp>
      <p:sp>
        <p:nvSpPr>
          <p:cNvPr id="435" name="Google Shape;421;p6"/>
          <p:cNvSpPr/>
          <p:nvPr/>
        </p:nvSpPr>
        <p:spPr>
          <a:xfrm>
            <a:off x="3909960" y="709920"/>
            <a:ext cx="18745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Cell + Module Enrichment</a:t>
            </a:r>
            <a:endParaRPr b="0" lang="en-US" sz="1000" spc="-1" strike="noStrike">
              <a:latin typeface="Arial"/>
            </a:endParaRPr>
          </a:p>
        </p:txBody>
      </p:sp>
      <p:sp>
        <p:nvSpPr>
          <p:cNvPr id="436" name="Google Shape;422;p6"/>
          <p:cNvSpPr/>
          <p:nvPr/>
        </p:nvSpPr>
        <p:spPr>
          <a:xfrm>
            <a:off x="3442680" y="398880"/>
            <a:ext cx="664200" cy="561600"/>
          </a:xfrm>
          <a:prstGeom prst="bentConnector3">
            <a:avLst>
              <a:gd name="adj1" fmla="val 50000"/>
            </a:avLst>
          </a:prstGeom>
          <a:noFill/>
          <a:ln w="9525">
            <a:solidFill>
              <a:srgbClr val="000000"/>
            </a:solidFill>
            <a:round/>
            <a:tailEnd len="med" type="triangle" w="med"/>
          </a:ln>
        </p:spPr>
        <p:style>
          <a:lnRef idx="0"/>
          <a:fillRef idx="0"/>
          <a:effectRef idx="0"/>
          <a:fontRef idx="minor"/>
        </p:style>
      </p:sp>
      <p:sp>
        <p:nvSpPr>
          <p:cNvPr id="437" name="Google Shape;276;p 1"/>
          <p:cNvSpPr/>
          <p:nvPr/>
        </p:nvSpPr>
        <p:spPr>
          <a:xfrm flipH="1" rot="10800000">
            <a:off x="3328560" y="1022400"/>
            <a:ext cx="1471680" cy="1733400"/>
          </a:xfrm>
          <a:prstGeom prst="bentConnector2">
            <a:avLst/>
          </a:prstGeom>
          <a:noFill/>
          <a:ln w="12700">
            <a:solidFill>
              <a:srgbClr val="000000"/>
            </a:solidFill>
            <a:round/>
            <a:tailEnd len="med" type="triangle" w="med"/>
          </a:ln>
        </p:spPr>
        <p:style>
          <a:lnRef idx="0"/>
          <a:fillRef idx="0"/>
          <a:effectRef idx="0"/>
          <a:fontRef idx="minor"/>
        </p:style>
      </p:sp>
      <p:grpSp>
        <p:nvGrpSpPr>
          <p:cNvPr id="438" name=""/>
          <p:cNvGrpSpPr/>
          <p:nvPr/>
        </p:nvGrpSpPr>
        <p:grpSpPr>
          <a:xfrm>
            <a:off x="75240" y="7122600"/>
            <a:ext cx="1031400" cy="353520"/>
            <a:chOff x="75240" y="7122600"/>
            <a:chExt cx="1031400" cy="353520"/>
          </a:xfrm>
        </p:grpSpPr>
        <p:pic>
          <p:nvPicPr>
            <p:cNvPr id="439" name="" descr=""/>
            <p:cNvPicPr/>
            <p:nvPr/>
          </p:nvPicPr>
          <p:blipFill>
            <a:blip r:embed="rId7"/>
            <a:srcRect l="41623" t="5720" r="25501" b="78263"/>
            <a:stretch/>
          </p:blipFill>
          <p:spPr>
            <a:xfrm>
              <a:off x="75240" y="7123320"/>
              <a:ext cx="1031400" cy="352800"/>
            </a:xfrm>
            <a:prstGeom prst="rect">
              <a:avLst/>
            </a:prstGeom>
            <a:ln w="0">
              <a:noFill/>
            </a:ln>
          </p:spPr>
        </p:pic>
        <p:sp>
          <p:nvSpPr>
            <p:cNvPr id="440" name=""/>
            <p:cNvSpPr/>
            <p:nvPr/>
          </p:nvSpPr>
          <p:spPr>
            <a:xfrm>
              <a:off x="192600" y="7122600"/>
              <a:ext cx="914040" cy="72360"/>
            </a:xfrm>
            <a:prstGeom prst="rect">
              <a:avLst/>
            </a:prstGeom>
            <a:solidFill>
              <a:srgbClr val="ffffff"/>
            </a:solidFill>
            <a:ln w="0">
              <a:solidFill>
                <a:srgbClr val="ffffff"/>
              </a:solidFill>
            </a:ln>
          </p:spPr>
          <p:style>
            <a:lnRef idx="0"/>
            <a:fillRef idx="0"/>
            <a:effectRef idx="0"/>
            <a:fontRef idx="minor"/>
          </p:style>
        </p:sp>
      </p:grpSp>
      <p:pic>
        <p:nvPicPr>
          <p:cNvPr id="441" name="" descr=""/>
          <p:cNvPicPr/>
          <p:nvPr/>
        </p:nvPicPr>
        <p:blipFill>
          <a:blip r:embed="rId8"/>
          <a:srcRect l="41623" t="32034" r="25501" b="57593"/>
          <a:stretch/>
        </p:blipFill>
        <p:spPr>
          <a:xfrm>
            <a:off x="36000" y="8328600"/>
            <a:ext cx="1031400" cy="227880"/>
          </a:xfrm>
          <a:prstGeom prst="rect">
            <a:avLst/>
          </a:prstGeom>
          <a:ln w="0">
            <a:noFill/>
          </a:ln>
        </p:spPr>
      </p:pic>
      <p:sp>
        <p:nvSpPr>
          <p:cNvPr id="442" name="Google Shape;232;p 2"/>
          <p:cNvSpPr/>
          <p:nvPr/>
        </p:nvSpPr>
        <p:spPr>
          <a:xfrm>
            <a:off x="4550040" y="8767440"/>
            <a:ext cx="24152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Figure 2</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Google Shape;427;p7"/>
          <p:cNvSpPr/>
          <p:nvPr/>
        </p:nvSpPr>
        <p:spPr>
          <a:xfrm>
            <a:off x="2776680" y="3587760"/>
            <a:ext cx="704880" cy="678600"/>
          </a:xfrm>
          <a:prstGeom prst="ellipse">
            <a:avLst/>
          </a:prstGeom>
          <a:gradFill rotWithShape="0">
            <a:gsLst>
              <a:gs pos="0">
                <a:srgbClr val="81d2ff"/>
              </a:gs>
              <a:gs pos="100000">
                <a:srgbClr val="b3e1ff"/>
              </a:gs>
            </a:gsLst>
            <a:lin ang="2700000"/>
          </a:gra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sp>
      <p:grpSp>
        <p:nvGrpSpPr>
          <p:cNvPr id="444" name="Google Shape;428;p7"/>
          <p:cNvGrpSpPr/>
          <p:nvPr/>
        </p:nvGrpSpPr>
        <p:grpSpPr>
          <a:xfrm>
            <a:off x="65520" y="4957920"/>
            <a:ext cx="495720" cy="449280"/>
            <a:chOff x="65520" y="4957920"/>
            <a:chExt cx="495720" cy="449280"/>
          </a:xfrm>
        </p:grpSpPr>
        <p:pic>
          <p:nvPicPr>
            <p:cNvPr id="445" name="Google Shape;429;p7" descr=""/>
            <p:cNvPicPr/>
            <p:nvPr/>
          </p:nvPicPr>
          <p:blipFill>
            <a:blip r:embed="rId1"/>
            <a:srcRect l="74360" t="36305" r="16217" b="52805"/>
            <a:stretch/>
          </p:blipFill>
          <p:spPr>
            <a:xfrm rot="21282600">
              <a:off x="78480" y="4974480"/>
              <a:ext cx="373680" cy="302040"/>
            </a:xfrm>
            <a:prstGeom prst="rect">
              <a:avLst/>
            </a:prstGeom>
            <a:ln w="0">
              <a:noFill/>
            </a:ln>
          </p:spPr>
        </p:pic>
        <p:sp>
          <p:nvSpPr>
            <p:cNvPr id="446" name="Google Shape;430;p7"/>
            <p:cNvSpPr/>
            <p:nvPr/>
          </p:nvSpPr>
          <p:spPr>
            <a:xfrm rot="19921800">
              <a:off x="245160" y="5238000"/>
              <a:ext cx="309960" cy="102240"/>
            </a:xfrm>
            <a:prstGeom prst="rect">
              <a:avLst/>
            </a:prstGeom>
            <a:solidFill>
              <a:schemeClr val="lt1"/>
            </a:solidFill>
            <a:ln w="0">
              <a:noFill/>
            </a:ln>
          </p:spPr>
          <p:style>
            <a:lnRef idx="0"/>
            <a:fillRef idx="0"/>
            <a:effectRef idx="0"/>
            <a:fontRef idx="minor"/>
          </p:style>
        </p:sp>
      </p:grpSp>
      <p:sp>
        <p:nvSpPr>
          <p:cNvPr id="447" name="Google Shape;431;p7"/>
          <p:cNvSpPr/>
          <p:nvPr/>
        </p:nvSpPr>
        <p:spPr>
          <a:xfrm>
            <a:off x="5991840" y="8804520"/>
            <a:ext cx="8784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Figure 3</a:t>
            </a:r>
            <a:endParaRPr b="0" lang="en-US" sz="1400" spc="-1" strike="noStrike">
              <a:latin typeface="Arial"/>
            </a:endParaRPr>
          </a:p>
        </p:txBody>
      </p:sp>
      <p:sp>
        <p:nvSpPr>
          <p:cNvPr id="448" name="Google Shape;432;p7"/>
          <p:cNvSpPr/>
          <p:nvPr/>
        </p:nvSpPr>
        <p:spPr>
          <a:xfrm>
            <a:off x="2341800" y="0"/>
            <a:ext cx="1291680" cy="241920"/>
          </a:xfrm>
          <a:prstGeom prst="rect">
            <a:avLst/>
          </a:prstGeom>
          <a:solidFill>
            <a:schemeClr val="lt1"/>
          </a:solid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Transfer Learning</a:t>
            </a:r>
            <a:endParaRPr b="0" lang="en-US" sz="1000" spc="-1" strike="noStrike">
              <a:latin typeface="Arial"/>
            </a:endParaRPr>
          </a:p>
        </p:txBody>
      </p:sp>
      <p:pic>
        <p:nvPicPr>
          <p:cNvPr id="449" name="Google Shape;433;p7" descr="A screenshot of a computer&#10;&#10;Description automatically generated with low confidence"/>
          <p:cNvPicPr/>
          <p:nvPr/>
        </p:nvPicPr>
        <p:blipFill>
          <a:blip r:embed="rId2"/>
          <a:stretch/>
        </p:blipFill>
        <p:spPr>
          <a:xfrm>
            <a:off x="1665000" y="32040"/>
            <a:ext cx="5071680" cy="2430720"/>
          </a:xfrm>
          <a:prstGeom prst="rect">
            <a:avLst/>
          </a:prstGeom>
          <a:ln w="0">
            <a:noFill/>
          </a:ln>
        </p:spPr>
      </p:pic>
      <p:sp>
        <p:nvSpPr>
          <p:cNvPr id="450" name="Google Shape;434;p7"/>
          <p:cNvSpPr/>
          <p:nvPr/>
        </p:nvSpPr>
        <p:spPr>
          <a:xfrm flipH="1">
            <a:off x="4733280" y="1615320"/>
            <a:ext cx="248760" cy="901440"/>
          </a:xfrm>
          <a:custGeom>
            <a:avLst/>
            <a:gdLst/>
            <a:ahLst/>
            <a:rect l="l" t="t" r="r" b="b"/>
            <a:pathLst>
              <a:path w="21600" h="21600">
                <a:moveTo>
                  <a:pt x="0" y="0"/>
                </a:moveTo>
                <a:lnTo>
                  <a:pt x="21600" y="21600"/>
                </a:lnTo>
              </a:path>
            </a:pathLst>
          </a:custGeom>
          <a:noFill/>
          <a:ln w="12700">
            <a:solidFill>
              <a:srgbClr val="000000"/>
            </a:solidFill>
            <a:round/>
            <a:tailEnd len="med" type="triangle" w="med"/>
          </a:ln>
        </p:spPr>
        <p:style>
          <a:lnRef idx="0"/>
          <a:fillRef idx="0"/>
          <a:effectRef idx="0"/>
          <a:fontRef idx="minor"/>
        </p:style>
      </p:sp>
      <p:graphicFrame>
        <p:nvGraphicFramePr>
          <p:cNvPr id="451" name="Google Shape;435;p7"/>
          <p:cNvGraphicFramePr/>
          <p:nvPr/>
        </p:nvGraphicFramePr>
        <p:xfrm>
          <a:off x="3849120" y="2574720"/>
          <a:ext cx="1136520" cy="101160"/>
        </p:xfrm>
        <a:graphic>
          <a:graphicData uri="http://schemas.openxmlformats.org/drawingml/2006/table">
            <a:tbl>
              <a:tblPr/>
              <a:tblGrid>
                <a:gridCol w="227160"/>
                <a:gridCol w="227160"/>
                <a:gridCol w="227160"/>
                <a:gridCol w="227160"/>
                <a:gridCol w="22824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bl>
          </a:graphicData>
        </a:graphic>
      </p:graphicFrame>
      <p:sp>
        <p:nvSpPr>
          <p:cNvPr id="452" name="Google Shape;436;p7"/>
          <p:cNvSpPr/>
          <p:nvPr/>
        </p:nvSpPr>
        <p:spPr>
          <a:xfrm>
            <a:off x="3783600" y="2634120"/>
            <a:ext cx="1231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Embedding Vector</a:t>
            </a:r>
            <a:endParaRPr b="0" lang="en-US" sz="1000" spc="-1" strike="noStrike">
              <a:latin typeface="Arial"/>
            </a:endParaRPr>
          </a:p>
        </p:txBody>
      </p:sp>
      <p:sp>
        <p:nvSpPr>
          <p:cNvPr id="453" name="Google Shape;437;p7"/>
          <p:cNvSpPr/>
          <p:nvPr/>
        </p:nvSpPr>
        <p:spPr>
          <a:xfrm>
            <a:off x="2939760" y="2412720"/>
            <a:ext cx="61128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Input</a:t>
            </a:r>
            <a:endParaRPr b="0" lang="en-US" sz="1000" spc="-1" strike="noStrike">
              <a:latin typeface="Arial"/>
            </a:endParaRPr>
          </a:p>
        </p:txBody>
      </p:sp>
      <p:sp>
        <p:nvSpPr>
          <p:cNvPr id="454" name="Google Shape;438;p7"/>
          <p:cNvSpPr/>
          <p:nvPr/>
        </p:nvSpPr>
        <p:spPr>
          <a:xfrm>
            <a:off x="5598720" y="2451960"/>
            <a:ext cx="1231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TF– LSTM Model</a:t>
            </a:r>
            <a:endParaRPr b="0" lang="en-US" sz="1000" spc="-1" strike="noStrike">
              <a:latin typeface="Arial"/>
            </a:endParaRPr>
          </a:p>
        </p:txBody>
      </p:sp>
      <p:sp>
        <p:nvSpPr>
          <p:cNvPr id="455" name="Google Shape;439;p7"/>
          <p:cNvSpPr/>
          <p:nvPr/>
        </p:nvSpPr>
        <p:spPr>
          <a:xfrm>
            <a:off x="4903560" y="-48600"/>
            <a:ext cx="682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Output</a:t>
            </a:r>
            <a:endParaRPr b="0" lang="en-US" sz="1000" spc="-1" strike="noStrike">
              <a:latin typeface="Arial"/>
            </a:endParaRPr>
          </a:p>
        </p:txBody>
      </p:sp>
      <p:sp>
        <p:nvSpPr>
          <p:cNvPr id="456" name="Google Shape;440;p7"/>
          <p:cNvSpPr/>
          <p:nvPr/>
        </p:nvSpPr>
        <p:spPr>
          <a:xfrm>
            <a:off x="0" y="241920"/>
            <a:ext cx="1983240" cy="117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u="sng">
                <a:solidFill>
                  <a:srgbClr val="000000"/>
                </a:solidFill>
                <a:uFillTx/>
                <a:latin typeface="Arial"/>
                <a:ea typeface="Arial"/>
              </a:rPr>
              <a:t>DeepRepurpose:</a:t>
            </a:r>
            <a:endParaRPr b="0" lang="en-US" sz="1000" spc="-1" strike="noStrike">
              <a:latin typeface="Arial"/>
            </a:endParaRPr>
          </a:p>
          <a:p>
            <a:pPr marL="171360" indent="-171360">
              <a:lnSpc>
                <a:spcPct val="100000"/>
              </a:lnSpc>
              <a:buClr>
                <a:srgbClr val="000000"/>
              </a:buClr>
              <a:buFont typeface="Arial"/>
              <a:buChar char="•"/>
              <a:tabLst>
                <a:tab algn="l" pos="0"/>
              </a:tabLst>
            </a:pPr>
            <a:r>
              <a:rPr b="0" lang="en-US" sz="1000" spc="-1" strike="noStrike">
                <a:solidFill>
                  <a:srgbClr val="000000"/>
                </a:solidFill>
                <a:latin typeface="Arial"/>
                <a:ea typeface="Arial"/>
              </a:rPr>
              <a:t>TF-LSTM model trained on 2.5 million compounds from PubChem + MOSES.</a:t>
            </a:r>
            <a:endParaRPr b="0" lang="en-US" sz="1000" spc="-1" strike="noStrike">
              <a:latin typeface="Arial"/>
            </a:endParaRPr>
          </a:p>
          <a:p>
            <a:pPr marL="171360" indent="-171360">
              <a:lnSpc>
                <a:spcPct val="100000"/>
              </a:lnSpc>
              <a:buClr>
                <a:srgbClr val="000000"/>
              </a:buClr>
              <a:buFont typeface="Arial"/>
              <a:buChar char="•"/>
              <a:tabLst>
                <a:tab algn="l" pos="0"/>
              </a:tabLst>
            </a:pPr>
            <a:r>
              <a:rPr b="0" lang="en-US" sz="1000" spc="-1" strike="noStrike">
                <a:solidFill>
                  <a:srgbClr val="000000"/>
                </a:solidFill>
                <a:latin typeface="Arial"/>
                <a:ea typeface="Arial"/>
              </a:rPr>
              <a:t>96.7% reconstructed compounds are valid.</a:t>
            </a:r>
            <a:endParaRPr b="0" lang="en-US" sz="1000" spc="-1" strike="noStrike">
              <a:latin typeface="Arial"/>
            </a:endParaRPr>
          </a:p>
          <a:p>
            <a:pPr marL="171360" indent="-171360">
              <a:lnSpc>
                <a:spcPct val="100000"/>
              </a:lnSpc>
              <a:buClr>
                <a:srgbClr val="000000"/>
              </a:buClr>
              <a:buFont typeface="Arial"/>
              <a:buChar char="•"/>
              <a:tabLst>
                <a:tab algn="l" pos="0"/>
              </a:tabLst>
            </a:pPr>
            <a:r>
              <a:rPr b="0" lang="en-US" sz="1000" spc="-1" strike="noStrike">
                <a:solidFill>
                  <a:srgbClr val="000000"/>
                </a:solidFill>
                <a:latin typeface="Arial Narrow"/>
                <a:ea typeface="Arial Narrow"/>
              </a:rPr>
              <a:t>μ</a:t>
            </a:r>
            <a:r>
              <a:rPr b="0" lang="en-US" sz="1000" spc="-1" strike="noStrike" baseline="-25000">
                <a:solidFill>
                  <a:srgbClr val="000000"/>
                </a:solidFill>
                <a:latin typeface="Arial"/>
                <a:ea typeface="Arial"/>
              </a:rPr>
              <a:t>error</a:t>
            </a:r>
            <a:r>
              <a:rPr b="0" lang="en-US" sz="1000" spc="-1" strike="noStrike">
                <a:solidFill>
                  <a:srgbClr val="000000"/>
                </a:solidFill>
                <a:latin typeface="Arial"/>
                <a:ea typeface="Arial"/>
              </a:rPr>
              <a:t> per sample is 0.001</a:t>
            </a:r>
            <a:endParaRPr b="0" lang="en-US" sz="1000" spc="-1" strike="noStrike">
              <a:latin typeface="Arial"/>
            </a:endParaRPr>
          </a:p>
        </p:txBody>
      </p:sp>
      <p:sp>
        <p:nvSpPr>
          <p:cNvPr id="457" name="Google Shape;441;p7"/>
          <p:cNvSpPr/>
          <p:nvPr/>
        </p:nvSpPr>
        <p:spPr>
          <a:xfrm>
            <a:off x="0" y="-3060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A</a:t>
            </a:r>
            <a:endParaRPr b="0" lang="en-US" sz="1400" spc="-1" strike="noStrike">
              <a:latin typeface="Arial"/>
            </a:endParaRPr>
          </a:p>
        </p:txBody>
      </p:sp>
      <p:sp>
        <p:nvSpPr>
          <p:cNvPr id="458" name="Google Shape;442;p7"/>
          <p:cNvSpPr/>
          <p:nvPr/>
        </p:nvSpPr>
        <p:spPr>
          <a:xfrm>
            <a:off x="0" y="2888280"/>
            <a:ext cx="6856200" cy="360"/>
          </a:xfrm>
          <a:custGeom>
            <a:avLst/>
            <a:gdLst/>
            <a:ahLst/>
            <a:rect l="l" t="t" r="r" b="b"/>
            <a:pathLst>
              <a:path w="21600" h="21600">
                <a:moveTo>
                  <a:pt x="0" y="0"/>
                </a:moveTo>
                <a:lnTo>
                  <a:pt x="21600" y="21600"/>
                </a:lnTo>
              </a:path>
            </a:pathLst>
          </a:custGeom>
          <a:noFill/>
          <a:ln w="9525">
            <a:solidFill>
              <a:srgbClr val="000000"/>
            </a:solidFill>
            <a:round/>
          </a:ln>
        </p:spPr>
        <p:style>
          <a:lnRef idx="0"/>
          <a:fillRef idx="0"/>
          <a:effectRef idx="0"/>
          <a:fontRef idx="minor"/>
        </p:style>
      </p:sp>
      <p:sp>
        <p:nvSpPr>
          <p:cNvPr id="459" name="Google Shape;443;p7"/>
          <p:cNvSpPr/>
          <p:nvPr/>
        </p:nvSpPr>
        <p:spPr>
          <a:xfrm>
            <a:off x="0" y="5537880"/>
            <a:ext cx="6856200" cy="360"/>
          </a:xfrm>
          <a:custGeom>
            <a:avLst/>
            <a:gdLst/>
            <a:ahLst/>
            <a:rect l="l" t="t" r="r" b="b"/>
            <a:pathLst>
              <a:path w="21600" h="21600">
                <a:moveTo>
                  <a:pt x="0" y="0"/>
                </a:moveTo>
                <a:lnTo>
                  <a:pt x="21600" y="21600"/>
                </a:lnTo>
              </a:path>
            </a:pathLst>
          </a:custGeom>
          <a:noFill/>
          <a:ln w="9525">
            <a:solidFill>
              <a:srgbClr val="000000"/>
            </a:solidFill>
            <a:round/>
          </a:ln>
        </p:spPr>
        <p:style>
          <a:lnRef idx="0"/>
          <a:fillRef idx="0"/>
          <a:effectRef idx="0"/>
          <a:fontRef idx="minor"/>
        </p:style>
      </p:sp>
      <p:sp>
        <p:nvSpPr>
          <p:cNvPr id="460" name="Google Shape;444;p7"/>
          <p:cNvSpPr/>
          <p:nvPr/>
        </p:nvSpPr>
        <p:spPr>
          <a:xfrm>
            <a:off x="0" y="295452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B</a:t>
            </a:r>
            <a:endParaRPr b="0" lang="en-US" sz="1400" spc="-1" strike="noStrike">
              <a:latin typeface="Arial"/>
            </a:endParaRPr>
          </a:p>
        </p:txBody>
      </p:sp>
      <p:pic>
        <p:nvPicPr>
          <p:cNvPr id="461" name="Google Shape;445;p7" descr=""/>
          <p:cNvPicPr/>
          <p:nvPr/>
        </p:nvPicPr>
        <p:blipFill>
          <a:blip r:embed="rId3"/>
          <a:stretch/>
        </p:blipFill>
        <p:spPr>
          <a:xfrm>
            <a:off x="-178200" y="3174480"/>
            <a:ext cx="3729240" cy="2153160"/>
          </a:xfrm>
          <a:prstGeom prst="rect">
            <a:avLst/>
          </a:prstGeom>
          <a:ln w="0">
            <a:noFill/>
          </a:ln>
        </p:spPr>
      </p:pic>
      <p:sp>
        <p:nvSpPr>
          <p:cNvPr id="462" name="Google Shape;446;p7"/>
          <p:cNvSpPr/>
          <p:nvPr/>
        </p:nvSpPr>
        <p:spPr>
          <a:xfrm>
            <a:off x="-62640" y="5272920"/>
            <a:ext cx="9284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Drug Targets</a:t>
            </a:r>
            <a:endParaRPr b="0" lang="en-US" sz="1000" spc="-1" strike="noStrike">
              <a:latin typeface="Arial"/>
            </a:endParaRPr>
          </a:p>
        </p:txBody>
      </p:sp>
      <p:sp>
        <p:nvSpPr>
          <p:cNvPr id="463" name="Google Shape;447;p7"/>
          <p:cNvSpPr/>
          <p:nvPr/>
        </p:nvSpPr>
        <p:spPr>
          <a:xfrm rot="10800000">
            <a:off x="314280" y="4730040"/>
            <a:ext cx="360" cy="31032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464" name="Google Shape;448;p7"/>
          <p:cNvSpPr/>
          <p:nvPr/>
        </p:nvSpPr>
        <p:spPr>
          <a:xfrm>
            <a:off x="1451880" y="5039640"/>
            <a:ext cx="177768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Random Walk with Restart </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on the STRING PPI network</a:t>
            </a:r>
            <a:endParaRPr b="0" lang="en-US" sz="1000" spc="-1" strike="noStrike">
              <a:latin typeface="Arial"/>
            </a:endParaRPr>
          </a:p>
        </p:txBody>
      </p:sp>
      <p:sp>
        <p:nvSpPr>
          <p:cNvPr id="465" name="Google Shape;449;p7"/>
          <p:cNvSpPr/>
          <p:nvPr/>
        </p:nvSpPr>
        <p:spPr>
          <a:xfrm>
            <a:off x="2270520" y="2876040"/>
            <a:ext cx="19573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Pathway Distance Estimation</a:t>
            </a:r>
            <a:endParaRPr b="0" lang="en-US" sz="1000" spc="-1" strike="noStrike">
              <a:latin typeface="Arial"/>
            </a:endParaRPr>
          </a:p>
        </p:txBody>
      </p:sp>
      <p:graphicFrame>
        <p:nvGraphicFramePr>
          <p:cNvPr id="466" name="Google Shape;450;p7"/>
          <p:cNvGraphicFramePr/>
          <p:nvPr/>
        </p:nvGraphicFramePr>
        <p:xfrm>
          <a:off x="3857400" y="3386880"/>
          <a:ext cx="125280" cy="1646640"/>
        </p:xfrm>
        <a:graphic>
          <a:graphicData uri="http://schemas.openxmlformats.org/drawingml/2006/table">
            <a:tbl>
              <a:tblPr/>
              <a:tblGrid>
                <a:gridCol w="125280"/>
              </a:tblGrid>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540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bl>
          </a:graphicData>
        </a:graphic>
      </p:graphicFrame>
      <p:sp>
        <p:nvSpPr>
          <p:cNvPr id="467" name="Google Shape;451;p7"/>
          <p:cNvSpPr/>
          <p:nvPr/>
        </p:nvSpPr>
        <p:spPr>
          <a:xfrm>
            <a:off x="3429000" y="4237560"/>
            <a:ext cx="37368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468" name="Google Shape;452;p7"/>
          <p:cNvSpPr/>
          <p:nvPr/>
        </p:nvSpPr>
        <p:spPr>
          <a:xfrm>
            <a:off x="3319920" y="5027400"/>
            <a:ext cx="1414080" cy="415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Probability (</a:t>
            </a:r>
            <a:r>
              <a:rPr b="1" lang="en-US" sz="1000" spc="-1" strike="noStrike">
                <a:solidFill>
                  <a:srgbClr val="000000"/>
                </a:solidFill>
                <a:latin typeface="Arial"/>
                <a:ea typeface="Arial"/>
              </a:rPr>
              <a:t>p</a:t>
            </a:r>
            <a:r>
              <a:rPr b="1" lang="en-US" sz="1000" spc="-1" strike="noStrike" baseline="30000">
                <a:solidFill>
                  <a:srgbClr val="202124"/>
                </a:solidFill>
                <a:latin typeface="Arial"/>
                <a:ea typeface="Arial"/>
              </a:rPr>
              <a:t>∞</a:t>
            </a:r>
            <a:r>
              <a:rPr b="0" lang="en-US" sz="1000" spc="-1" strike="noStrike">
                <a:solidFill>
                  <a:srgbClr val="202124"/>
                </a:solidFill>
                <a:latin typeface="Arial"/>
                <a:ea typeface="Arial"/>
              </a:rPr>
              <a:t>)</a:t>
            </a:r>
            <a:endParaRPr b="0" lang="en-US" sz="1000" spc="-1" strike="noStrike">
              <a:latin typeface="Arial"/>
            </a:endParaRPr>
          </a:p>
          <a:p>
            <a:pPr>
              <a:lnSpc>
                <a:spcPct val="100000"/>
              </a:lnSpc>
              <a:buNone/>
              <a:tabLst>
                <a:tab algn="l" pos="0"/>
              </a:tabLst>
            </a:pPr>
            <a:r>
              <a:rPr b="1" lang="en-US" sz="1000" spc="-1" strike="noStrike">
                <a:solidFill>
                  <a:srgbClr val="000000"/>
                </a:solidFill>
                <a:latin typeface="Arial"/>
                <a:ea typeface="Arial"/>
              </a:rPr>
              <a:t>p</a:t>
            </a:r>
            <a:r>
              <a:rPr b="1" lang="en-US" sz="1000" spc="-1" strike="noStrike" baseline="30000">
                <a:solidFill>
                  <a:srgbClr val="202124"/>
                </a:solidFill>
                <a:latin typeface="Arial"/>
                <a:ea typeface="Arial"/>
              </a:rPr>
              <a:t>∞</a:t>
            </a:r>
            <a:r>
              <a:rPr b="1" lang="en-US" sz="1000" spc="-1" strike="noStrike">
                <a:solidFill>
                  <a:srgbClr val="202124"/>
                </a:solidFill>
                <a:latin typeface="Arial"/>
                <a:ea typeface="Arial"/>
              </a:rPr>
              <a:t>= β(I – (1- β)W)</a:t>
            </a:r>
            <a:r>
              <a:rPr b="1" lang="en-US" sz="1000" spc="-1" strike="noStrike" baseline="30000">
                <a:solidFill>
                  <a:srgbClr val="202124"/>
                </a:solidFill>
                <a:latin typeface="Arial"/>
                <a:ea typeface="Arial"/>
              </a:rPr>
              <a:t>-1</a:t>
            </a:r>
            <a:r>
              <a:rPr b="1" lang="en-US" sz="1000" spc="-1" strike="noStrike">
                <a:solidFill>
                  <a:srgbClr val="202124"/>
                </a:solidFill>
                <a:latin typeface="Arial"/>
                <a:ea typeface="Arial"/>
              </a:rPr>
              <a:t>p</a:t>
            </a:r>
            <a:r>
              <a:rPr b="1" lang="en-US" sz="1000" spc="-1" strike="noStrike" baseline="-25000">
                <a:solidFill>
                  <a:srgbClr val="202124"/>
                </a:solidFill>
                <a:latin typeface="Arial"/>
                <a:ea typeface="Arial"/>
              </a:rPr>
              <a:t>0</a:t>
            </a:r>
            <a:endParaRPr b="0" lang="en-US" sz="1000" spc="-1" strike="noStrike">
              <a:latin typeface="Arial"/>
            </a:endParaRPr>
          </a:p>
        </p:txBody>
      </p:sp>
      <p:graphicFrame>
        <p:nvGraphicFramePr>
          <p:cNvPr id="469" name="Google Shape;453;p7"/>
          <p:cNvGraphicFramePr/>
          <p:nvPr/>
        </p:nvGraphicFramePr>
        <p:xfrm>
          <a:off x="4291560" y="3391560"/>
          <a:ext cx="125280" cy="1629000"/>
        </p:xfrm>
        <a:graphic>
          <a:graphicData uri="http://schemas.openxmlformats.org/drawingml/2006/table">
            <a:tbl>
              <a:tblPr/>
              <a:tblGrid>
                <a:gridCol w="125280"/>
              </a:tblGrid>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2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bl>
          </a:graphicData>
        </a:graphic>
      </p:graphicFrame>
      <p:sp>
        <p:nvSpPr>
          <p:cNvPr id="470" name="Google Shape;454;p7"/>
          <p:cNvSpPr/>
          <p:nvPr/>
        </p:nvSpPr>
        <p:spPr>
          <a:xfrm>
            <a:off x="4027680" y="4123800"/>
            <a:ext cx="2678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c00000"/>
                </a:solidFill>
                <a:latin typeface="Arial"/>
                <a:ea typeface="Arial"/>
              </a:rPr>
              <a:t>X</a:t>
            </a:r>
            <a:endParaRPr b="0" lang="en-US" sz="1000" spc="-1" strike="noStrike">
              <a:latin typeface="Arial"/>
            </a:endParaRPr>
          </a:p>
        </p:txBody>
      </p:sp>
      <p:sp>
        <p:nvSpPr>
          <p:cNvPr id="471" name="Google Shape;455;p7"/>
          <p:cNvSpPr/>
          <p:nvPr/>
        </p:nvSpPr>
        <p:spPr>
          <a:xfrm>
            <a:off x="3942720" y="3038760"/>
            <a:ext cx="81432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Expression</a:t>
            </a:r>
            <a:endParaRPr b="0" lang="en-US" sz="1000" spc="-1" strike="noStrike">
              <a:latin typeface="Arial"/>
            </a:endParaRPr>
          </a:p>
          <a:p>
            <a:pPr algn="ctr">
              <a:lnSpc>
                <a:spcPct val="100000"/>
              </a:lnSpc>
              <a:buNone/>
              <a:tabLst>
                <a:tab algn="l" pos="0"/>
              </a:tabLst>
            </a:pPr>
            <a:r>
              <a:rPr b="0" lang="en-US" sz="1000" spc="-1" strike="noStrike">
                <a:solidFill>
                  <a:srgbClr val="000000"/>
                </a:solidFill>
                <a:latin typeface="Arial"/>
                <a:ea typeface="Arial"/>
              </a:rPr>
              <a:t>Profile</a:t>
            </a:r>
            <a:endParaRPr b="0" lang="en-US" sz="1000" spc="-1" strike="noStrike">
              <a:latin typeface="Arial"/>
            </a:endParaRPr>
          </a:p>
        </p:txBody>
      </p:sp>
      <p:sp>
        <p:nvSpPr>
          <p:cNvPr id="472" name="Google Shape;456;p7"/>
          <p:cNvSpPr/>
          <p:nvPr/>
        </p:nvSpPr>
        <p:spPr>
          <a:xfrm>
            <a:off x="2793600" y="3404880"/>
            <a:ext cx="6717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Pathway</a:t>
            </a:r>
            <a:endParaRPr b="0" lang="en-US" sz="1000" spc="-1" strike="noStrike">
              <a:latin typeface="Arial"/>
            </a:endParaRPr>
          </a:p>
        </p:txBody>
      </p:sp>
      <p:sp>
        <p:nvSpPr>
          <p:cNvPr id="473" name="Google Shape;457;p7"/>
          <p:cNvSpPr/>
          <p:nvPr/>
        </p:nvSpPr>
        <p:spPr>
          <a:xfrm>
            <a:off x="4481640" y="4098960"/>
            <a:ext cx="235440" cy="27504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800" spc="-1" strike="noStrike">
                <a:solidFill>
                  <a:srgbClr val="000000"/>
                </a:solidFill>
                <a:latin typeface="Arial"/>
                <a:ea typeface="Arial"/>
              </a:rPr>
              <a:t> </a:t>
            </a:r>
            <a:endParaRPr b="0" lang="en-US" sz="1800" spc="-1" strike="noStrike">
              <a:latin typeface="Arial"/>
            </a:endParaRPr>
          </a:p>
        </p:txBody>
      </p:sp>
      <p:graphicFrame>
        <p:nvGraphicFramePr>
          <p:cNvPr id="474" name="Google Shape;458;p7"/>
          <p:cNvGraphicFramePr/>
          <p:nvPr/>
        </p:nvGraphicFramePr>
        <p:xfrm>
          <a:off x="4790160" y="3404880"/>
          <a:ext cx="133920" cy="1629000"/>
        </p:xfrm>
        <a:graphic>
          <a:graphicData uri="http://schemas.openxmlformats.org/drawingml/2006/table">
            <a:tbl>
              <a:tblPr/>
              <a:tblGrid>
                <a:gridCol w="133920"/>
              </a:tblGrid>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216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bl>
          </a:graphicData>
        </a:graphic>
      </p:graphicFrame>
      <p:sp>
        <p:nvSpPr>
          <p:cNvPr id="475" name="Google Shape;459;p7"/>
          <p:cNvSpPr/>
          <p:nvPr/>
        </p:nvSpPr>
        <p:spPr>
          <a:xfrm>
            <a:off x="4986360" y="4237560"/>
            <a:ext cx="85536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476" name="Google Shape;460;p7"/>
          <p:cNvSpPr/>
          <p:nvPr/>
        </p:nvSpPr>
        <p:spPr>
          <a:xfrm flipH="1" rot="10800000">
            <a:off x="5321520" y="3400200"/>
            <a:ext cx="364680" cy="1645560"/>
          </a:xfrm>
          <a:prstGeom prst="triangle">
            <a:avLst>
              <a:gd name="adj" fmla="val 0"/>
            </a:avLst>
          </a:prstGeom>
          <a:solidFill>
            <a:srgbClr val="ffc000"/>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sp>
      <p:sp>
        <p:nvSpPr>
          <p:cNvPr id="477" name="Google Shape;461;p7"/>
          <p:cNvSpPr/>
          <p:nvPr/>
        </p:nvSpPr>
        <p:spPr>
          <a:xfrm rot="16866000">
            <a:off x="5118120" y="3962160"/>
            <a:ext cx="6188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AUcell</a:t>
            </a:r>
            <a:endParaRPr b="0" lang="en-US" sz="1000" spc="-1" strike="noStrike">
              <a:latin typeface="Arial"/>
            </a:endParaRPr>
          </a:p>
        </p:txBody>
      </p:sp>
      <p:sp>
        <p:nvSpPr>
          <p:cNvPr id="478" name="Google Shape;462;p7"/>
          <p:cNvSpPr/>
          <p:nvPr/>
        </p:nvSpPr>
        <p:spPr>
          <a:xfrm>
            <a:off x="6060960" y="4174920"/>
            <a:ext cx="338400" cy="154440"/>
          </a:xfrm>
          <a:prstGeom prst="rect">
            <a:avLst/>
          </a:prstGeom>
          <a:solidFill>
            <a:srgbClr val="f1b584"/>
          </a:solidFill>
          <a:ln w="25400">
            <a:solidFill>
              <a:srgbClr val="000000"/>
            </a:solidFill>
            <a:round/>
          </a:ln>
        </p:spPr>
        <p:style>
          <a:lnRef idx="0"/>
          <a:fillRef idx="0"/>
          <a:effectRef idx="0"/>
          <a:fontRef idx="minor"/>
        </p:style>
      </p:sp>
      <p:sp>
        <p:nvSpPr>
          <p:cNvPr id="479" name="Google Shape;463;p7"/>
          <p:cNvSpPr/>
          <p:nvPr/>
        </p:nvSpPr>
        <p:spPr>
          <a:xfrm>
            <a:off x="5555520" y="4339440"/>
            <a:ext cx="13172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Distance = 1 - AUC </a:t>
            </a:r>
            <a:endParaRPr b="0" lang="en-US" sz="1000" spc="-1" strike="noStrike">
              <a:latin typeface="Arial"/>
            </a:endParaRPr>
          </a:p>
        </p:txBody>
      </p:sp>
      <p:pic>
        <p:nvPicPr>
          <p:cNvPr id="480" name="Google Shape;464;p7" descr=""/>
          <p:cNvPicPr/>
          <p:nvPr/>
        </p:nvPicPr>
        <p:blipFill>
          <a:blip r:embed="rId5"/>
          <a:stretch/>
        </p:blipFill>
        <p:spPr>
          <a:xfrm>
            <a:off x="8280" y="5770440"/>
            <a:ext cx="6803280" cy="3265920"/>
          </a:xfrm>
          <a:prstGeom prst="rect">
            <a:avLst/>
          </a:prstGeom>
          <a:ln w="0">
            <a:noFill/>
          </a:ln>
        </p:spPr>
      </p:pic>
      <p:sp>
        <p:nvSpPr>
          <p:cNvPr id="481" name="Google Shape;465;p7"/>
          <p:cNvSpPr/>
          <p:nvPr/>
        </p:nvSpPr>
        <p:spPr>
          <a:xfrm>
            <a:off x="0" y="558684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C</a:t>
            </a:r>
            <a:endParaRPr b="0" lang="en-US" sz="1400" spc="-1" strike="noStrike">
              <a:latin typeface="Arial"/>
            </a:endParaRPr>
          </a:p>
        </p:txBody>
      </p:sp>
      <p:sp>
        <p:nvSpPr>
          <p:cNvPr id="482" name="Google Shape;466;p7"/>
          <p:cNvSpPr/>
          <p:nvPr/>
        </p:nvSpPr>
        <p:spPr>
          <a:xfrm>
            <a:off x="2716920" y="5553720"/>
            <a:ext cx="11156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GATNET Model</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Google Shape;427;p 1"/>
          <p:cNvSpPr/>
          <p:nvPr/>
        </p:nvSpPr>
        <p:spPr>
          <a:xfrm>
            <a:off x="2777040" y="3587760"/>
            <a:ext cx="704880" cy="678600"/>
          </a:xfrm>
          <a:prstGeom prst="ellipse">
            <a:avLst/>
          </a:prstGeom>
          <a:gradFill rotWithShape="0">
            <a:gsLst>
              <a:gs pos="0">
                <a:srgbClr val="81d2ff"/>
              </a:gs>
              <a:gs pos="100000">
                <a:srgbClr val="b3e1ff"/>
              </a:gs>
            </a:gsLst>
            <a:lin ang="2700000"/>
          </a:gra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sp>
      <p:grpSp>
        <p:nvGrpSpPr>
          <p:cNvPr id="484" name="Google Shape;428;p 1"/>
          <p:cNvGrpSpPr/>
          <p:nvPr/>
        </p:nvGrpSpPr>
        <p:grpSpPr>
          <a:xfrm>
            <a:off x="65880" y="4957920"/>
            <a:ext cx="495720" cy="449280"/>
            <a:chOff x="65880" y="4957920"/>
            <a:chExt cx="495720" cy="449280"/>
          </a:xfrm>
        </p:grpSpPr>
        <p:pic>
          <p:nvPicPr>
            <p:cNvPr id="485" name="Google Shape;429;p 1" descr=""/>
            <p:cNvPicPr/>
            <p:nvPr/>
          </p:nvPicPr>
          <p:blipFill>
            <a:blip r:embed="rId1"/>
            <a:srcRect l="74360" t="36305" r="16217" b="52805"/>
            <a:stretch/>
          </p:blipFill>
          <p:spPr>
            <a:xfrm rot="21282600">
              <a:off x="78840" y="4974480"/>
              <a:ext cx="373680" cy="302040"/>
            </a:xfrm>
            <a:prstGeom prst="rect">
              <a:avLst/>
            </a:prstGeom>
            <a:ln w="0">
              <a:noFill/>
            </a:ln>
          </p:spPr>
        </p:pic>
        <p:sp>
          <p:nvSpPr>
            <p:cNvPr id="486" name="Google Shape;430;p 1"/>
            <p:cNvSpPr/>
            <p:nvPr/>
          </p:nvSpPr>
          <p:spPr>
            <a:xfrm rot="19921800">
              <a:off x="245520" y="5238000"/>
              <a:ext cx="309960" cy="102240"/>
            </a:xfrm>
            <a:prstGeom prst="rect">
              <a:avLst/>
            </a:prstGeom>
            <a:solidFill>
              <a:schemeClr val="lt1"/>
            </a:solidFill>
            <a:ln w="0">
              <a:noFill/>
            </a:ln>
          </p:spPr>
          <p:style>
            <a:lnRef idx="0"/>
            <a:fillRef idx="0"/>
            <a:effectRef idx="0"/>
            <a:fontRef idx="minor"/>
          </p:style>
        </p:sp>
      </p:grpSp>
      <p:sp>
        <p:nvSpPr>
          <p:cNvPr id="487" name="Google Shape;431;p 1"/>
          <p:cNvSpPr/>
          <p:nvPr/>
        </p:nvSpPr>
        <p:spPr>
          <a:xfrm>
            <a:off x="5992200" y="8804520"/>
            <a:ext cx="8784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Figure 3</a:t>
            </a:r>
            <a:endParaRPr b="0" lang="en-US" sz="1400" spc="-1" strike="noStrike">
              <a:latin typeface="Arial"/>
            </a:endParaRPr>
          </a:p>
        </p:txBody>
      </p:sp>
      <p:sp>
        <p:nvSpPr>
          <p:cNvPr id="488" name="Google Shape;432;p 1"/>
          <p:cNvSpPr/>
          <p:nvPr/>
        </p:nvSpPr>
        <p:spPr>
          <a:xfrm>
            <a:off x="2342160" y="0"/>
            <a:ext cx="1291680" cy="241920"/>
          </a:xfrm>
          <a:prstGeom prst="rect">
            <a:avLst/>
          </a:prstGeom>
          <a:solidFill>
            <a:schemeClr val="lt1"/>
          </a:solid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Transfer Learning</a:t>
            </a:r>
            <a:endParaRPr b="0" lang="en-US" sz="1000" spc="-1" strike="noStrike">
              <a:latin typeface="Arial"/>
            </a:endParaRPr>
          </a:p>
        </p:txBody>
      </p:sp>
      <p:pic>
        <p:nvPicPr>
          <p:cNvPr id="489" name="Google Shape;433;p 1" descr="A screenshot of a computer&#10;&#10;Description automatically generated with low confidence"/>
          <p:cNvPicPr/>
          <p:nvPr/>
        </p:nvPicPr>
        <p:blipFill>
          <a:blip r:embed="rId2"/>
          <a:stretch/>
        </p:blipFill>
        <p:spPr>
          <a:xfrm>
            <a:off x="1665360" y="32040"/>
            <a:ext cx="5071680" cy="2430720"/>
          </a:xfrm>
          <a:prstGeom prst="rect">
            <a:avLst/>
          </a:prstGeom>
          <a:ln w="0">
            <a:noFill/>
          </a:ln>
        </p:spPr>
      </p:pic>
      <p:sp>
        <p:nvSpPr>
          <p:cNvPr id="490" name="Google Shape;434;p 1"/>
          <p:cNvSpPr/>
          <p:nvPr/>
        </p:nvSpPr>
        <p:spPr>
          <a:xfrm flipH="1">
            <a:off x="4733640" y="1615320"/>
            <a:ext cx="248760" cy="901440"/>
          </a:xfrm>
          <a:custGeom>
            <a:avLst/>
            <a:gdLst/>
            <a:ahLst/>
            <a:rect l="l" t="t" r="r" b="b"/>
            <a:pathLst>
              <a:path w="21600" h="21600">
                <a:moveTo>
                  <a:pt x="0" y="0"/>
                </a:moveTo>
                <a:lnTo>
                  <a:pt x="21600" y="21600"/>
                </a:lnTo>
              </a:path>
            </a:pathLst>
          </a:custGeom>
          <a:noFill/>
          <a:ln w="12700">
            <a:solidFill>
              <a:srgbClr val="000000"/>
            </a:solidFill>
            <a:round/>
            <a:tailEnd len="med" type="triangle" w="med"/>
          </a:ln>
        </p:spPr>
        <p:style>
          <a:lnRef idx="0"/>
          <a:fillRef idx="0"/>
          <a:effectRef idx="0"/>
          <a:fontRef idx="minor"/>
        </p:style>
      </p:sp>
      <p:graphicFrame>
        <p:nvGraphicFramePr>
          <p:cNvPr id="491" name="Google Shape;435;p 1"/>
          <p:cNvGraphicFramePr/>
          <p:nvPr/>
        </p:nvGraphicFramePr>
        <p:xfrm>
          <a:off x="3849480" y="2574720"/>
          <a:ext cx="1136520" cy="101160"/>
        </p:xfrm>
        <a:graphic>
          <a:graphicData uri="http://schemas.openxmlformats.org/drawingml/2006/table">
            <a:tbl>
              <a:tblPr/>
              <a:tblGrid>
                <a:gridCol w="227160"/>
                <a:gridCol w="227160"/>
                <a:gridCol w="227160"/>
                <a:gridCol w="227160"/>
                <a:gridCol w="22824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bl>
          </a:graphicData>
        </a:graphic>
      </p:graphicFrame>
      <p:sp>
        <p:nvSpPr>
          <p:cNvPr id="492" name="Google Shape;436;p 1"/>
          <p:cNvSpPr/>
          <p:nvPr/>
        </p:nvSpPr>
        <p:spPr>
          <a:xfrm>
            <a:off x="3783960" y="2634120"/>
            <a:ext cx="1231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Embedding Vector</a:t>
            </a:r>
            <a:endParaRPr b="0" lang="en-US" sz="1000" spc="-1" strike="noStrike">
              <a:latin typeface="Arial"/>
            </a:endParaRPr>
          </a:p>
        </p:txBody>
      </p:sp>
      <p:sp>
        <p:nvSpPr>
          <p:cNvPr id="493" name="Google Shape;437;p 1"/>
          <p:cNvSpPr/>
          <p:nvPr/>
        </p:nvSpPr>
        <p:spPr>
          <a:xfrm>
            <a:off x="2940120" y="2412720"/>
            <a:ext cx="61128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Input</a:t>
            </a:r>
            <a:endParaRPr b="0" lang="en-US" sz="1000" spc="-1" strike="noStrike">
              <a:latin typeface="Arial"/>
            </a:endParaRPr>
          </a:p>
        </p:txBody>
      </p:sp>
      <p:sp>
        <p:nvSpPr>
          <p:cNvPr id="494" name="Google Shape;438;p 1"/>
          <p:cNvSpPr/>
          <p:nvPr/>
        </p:nvSpPr>
        <p:spPr>
          <a:xfrm>
            <a:off x="5599080" y="2451960"/>
            <a:ext cx="1231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TF– LSTM Model</a:t>
            </a:r>
            <a:endParaRPr b="0" lang="en-US" sz="1000" spc="-1" strike="noStrike">
              <a:latin typeface="Arial"/>
            </a:endParaRPr>
          </a:p>
        </p:txBody>
      </p:sp>
      <p:sp>
        <p:nvSpPr>
          <p:cNvPr id="495" name="Google Shape;439;p 1"/>
          <p:cNvSpPr/>
          <p:nvPr/>
        </p:nvSpPr>
        <p:spPr>
          <a:xfrm>
            <a:off x="4903920" y="-48600"/>
            <a:ext cx="682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Output</a:t>
            </a:r>
            <a:endParaRPr b="0" lang="en-US" sz="1000" spc="-1" strike="noStrike">
              <a:latin typeface="Arial"/>
            </a:endParaRPr>
          </a:p>
        </p:txBody>
      </p:sp>
      <p:sp>
        <p:nvSpPr>
          <p:cNvPr id="496" name="Google Shape;442;p 1"/>
          <p:cNvSpPr/>
          <p:nvPr/>
        </p:nvSpPr>
        <p:spPr>
          <a:xfrm>
            <a:off x="360" y="2888280"/>
            <a:ext cx="6856200" cy="360"/>
          </a:xfrm>
          <a:custGeom>
            <a:avLst/>
            <a:gdLst/>
            <a:ahLst/>
            <a:rect l="l" t="t" r="r" b="b"/>
            <a:pathLst>
              <a:path w="21600" h="21600">
                <a:moveTo>
                  <a:pt x="0" y="0"/>
                </a:moveTo>
                <a:lnTo>
                  <a:pt x="21600" y="21600"/>
                </a:lnTo>
              </a:path>
            </a:pathLst>
          </a:custGeom>
          <a:noFill/>
          <a:ln w="9525">
            <a:solidFill>
              <a:srgbClr val="000000"/>
            </a:solidFill>
            <a:round/>
          </a:ln>
        </p:spPr>
        <p:style>
          <a:lnRef idx="0"/>
          <a:fillRef idx="0"/>
          <a:effectRef idx="0"/>
          <a:fontRef idx="minor"/>
        </p:style>
      </p:sp>
      <p:sp>
        <p:nvSpPr>
          <p:cNvPr id="497" name="Google Shape;443;p 1"/>
          <p:cNvSpPr/>
          <p:nvPr/>
        </p:nvSpPr>
        <p:spPr>
          <a:xfrm>
            <a:off x="360" y="5537880"/>
            <a:ext cx="6856200" cy="360"/>
          </a:xfrm>
          <a:custGeom>
            <a:avLst/>
            <a:gdLst/>
            <a:ahLst/>
            <a:rect l="l" t="t" r="r" b="b"/>
            <a:pathLst>
              <a:path w="21600" h="21600">
                <a:moveTo>
                  <a:pt x="0" y="0"/>
                </a:moveTo>
                <a:lnTo>
                  <a:pt x="21600" y="21600"/>
                </a:lnTo>
              </a:path>
            </a:pathLst>
          </a:custGeom>
          <a:noFill/>
          <a:ln w="9525">
            <a:solidFill>
              <a:srgbClr val="000000"/>
            </a:solidFill>
            <a:round/>
          </a:ln>
        </p:spPr>
        <p:style>
          <a:lnRef idx="0"/>
          <a:fillRef idx="0"/>
          <a:effectRef idx="0"/>
          <a:fontRef idx="minor"/>
        </p:style>
      </p:sp>
      <p:pic>
        <p:nvPicPr>
          <p:cNvPr id="498" name="Google Shape;445;p 1" descr=""/>
          <p:cNvPicPr/>
          <p:nvPr/>
        </p:nvPicPr>
        <p:blipFill>
          <a:blip r:embed="rId3"/>
          <a:stretch/>
        </p:blipFill>
        <p:spPr>
          <a:xfrm>
            <a:off x="-177840" y="3174480"/>
            <a:ext cx="3729240" cy="2153160"/>
          </a:xfrm>
          <a:prstGeom prst="rect">
            <a:avLst/>
          </a:prstGeom>
          <a:ln w="0">
            <a:noFill/>
          </a:ln>
        </p:spPr>
      </p:pic>
      <p:sp>
        <p:nvSpPr>
          <p:cNvPr id="499" name="Google Shape;446;p 1"/>
          <p:cNvSpPr/>
          <p:nvPr/>
        </p:nvSpPr>
        <p:spPr>
          <a:xfrm>
            <a:off x="-62280" y="5272920"/>
            <a:ext cx="9284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Drug Targets</a:t>
            </a:r>
            <a:endParaRPr b="0" lang="en-US" sz="1000" spc="-1" strike="noStrike">
              <a:latin typeface="Arial"/>
            </a:endParaRPr>
          </a:p>
        </p:txBody>
      </p:sp>
      <p:sp>
        <p:nvSpPr>
          <p:cNvPr id="500" name="Google Shape;447;p 1"/>
          <p:cNvSpPr/>
          <p:nvPr/>
        </p:nvSpPr>
        <p:spPr>
          <a:xfrm rot="10800000">
            <a:off x="314640" y="4730040"/>
            <a:ext cx="360" cy="31032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501" name="Google Shape;448;p 1"/>
          <p:cNvSpPr/>
          <p:nvPr/>
        </p:nvSpPr>
        <p:spPr>
          <a:xfrm>
            <a:off x="1452240" y="5039640"/>
            <a:ext cx="177768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Random Walk with Restart </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on the STRING PPI network</a:t>
            </a:r>
            <a:endParaRPr b="0" lang="en-US" sz="1000" spc="-1" strike="noStrike">
              <a:latin typeface="Arial"/>
            </a:endParaRPr>
          </a:p>
        </p:txBody>
      </p:sp>
      <p:sp>
        <p:nvSpPr>
          <p:cNvPr id="502" name="Google Shape;449;p 1"/>
          <p:cNvSpPr/>
          <p:nvPr/>
        </p:nvSpPr>
        <p:spPr>
          <a:xfrm>
            <a:off x="2270880" y="2876040"/>
            <a:ext cx="19573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Pathway Distance Estimation</a:t>
            </a:r>
            <a:endParaRPr b="0" lang="en-US" sz="1000" spc="-1" strike="noStrike">
              <a:latin typeface="Arial"/>
            </a:endParaRPr>
          </a:p>
        </p:txBody>
      </p:sp>
      <p:graphicFrame>
        <p:nvGraphicFramePr>
          <p:cNvPr id="503" name="Google Shape;450;p 1"/>
          <p:cNvGraphicFramePr/>
          <p:nvPr/>
        </p:nvGraphicFramePr>
        <p:xfrm>
          <a:off x="3857760" y="3386880"/>
          <a:ext cx="125280" cy="1646640"/>
        </p:xfrm>
        <a:graphic>
          <a:graphicData uri="http://schemas.openxmlformats.org/drawingml/2006/table">
            <a:tbl>
              <a:tblPr/>
              <a:tblGrid>
                <a:gridCol w="125280"/>
              </a:tblGrid>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540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bl>
          </a:graphicData>
        </a:graphic>
      </p:graphicFrame>
      <p:sp>
        <p:nvSpPr>
          <p:cNvPr id="504" name="Google Shape;451;p 1"/>
          <p:cNvSpPr/>
          <p:nvPr/>
        </p:nvSpPr>
        <p:spPr>
          <a:xfrm>
            <a:off x="3429360" y="4237560"/>
            <a:ext cx="37368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505" name="Google Shape;452;p 1"/>
          <p:cNvSpPr/>
          <p:nvPr/>
        </p:nvSpPr>
        <p:spPr>
          <a:xfrm>
            <a:off x="3320280" y="5027400"/>
            <a:ext cx="1414080" cy="415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Probability (</a:t>
            </a:r>
            <a:r>
              <a:rPr b="1" lang="en-US" sz="1000" spc="-1" strike="noStrike">
                <a:solidFill>
                  <a:srgbClr val="000000"/>
                </a:solidFill>
                <a:latin typeface="Arial"/>
                <a:ea typeface="Arial"/>
              </a:rPr>
              <a:t>p</a:t>
            </a:r>
            <a:r>
              <a:rPr b="1" lang="en-US" sz="1000" spc="-1" strike="noStrike" baseline="30000">
                <a:solidFill>
                  <a:srgbClr val="202124"/>
                </a:solidFill>
                <a:latin typeface="Arial"/>
                <a:ea typeface="Arial"/>
              </a:rPr>
              <a:t>∞</a:t>
            </a:r>
            <a:r>
              <a:rPr b="0" lang="en-US" sz="1000" spc="-1" strike="noStrike">
                <a:solidFill>
                  <a:srgbClr val="202124"/>
                </a:solidFill>
                <a:latin typeface="Arial"/>
                <a:ea typeface="Arial"/>
              </a:rPr>
              <a:t>)</a:t>
            </a:r>
            <a:endParaRPr b="0" lang="en-US" sz="1000" spc="-1" strike="noStrike">
              <a:latin typeface="Arial"/>
            </a:endParaRPr>
          </a:p>
          <a:p>
            <a:pPr>
              <a:lnSpc>
                <a:spcPct val="100000"/>
              </a:lnSpc>
              <a:buNone/>
              <a:tabLst>
                <a:tab algn="l" pos="0"/>
              </a:tabLst>
            </a:pPr>
            <a:r>
              <a:rPr b="1" lang="en-US" sz="1000" spc="-1" strike="noStrike">
                <a:solidFill>
                  <a:srgbClr val="000000"/>
                </a:solidFill>
                <a:latin typeface="Arial"/>
                <a:ea typeface="Arial"/>
              </a:rPr>
              <a:t>p</a:t>
            </a:r>
            <a:r>
              <a:rPr b="1" lang="en-US" sz="1000" spc="-1" strike="noStrike" baseline="30000">
                <a:solidFill>
                  <a:srgbClr val="202124"/>
                </a:solidFill>
                <a:latin typeface="Arial"/>
                <a:ea typeface="Arial"/>
              </a:rPr>
              <a:t>∞</a:t>
            </a:r>
            <a:r>
              <a:rPr b="1" lang="en-US" sz="1000" spc="-1" strike="noStrike">
                <a:solidFill>
                  <a:srgbClr val="202124"/>
                </a:solidFill>
                <a:latin typeface="Arial"/>
                <a:ea typeface="Arial"/>
              </a:rPr>
              <a:t>= β(I – (1- β)W)</a:t>
            </a:r>
            <a:r>
              <a:rPr b="1" lang="en-US" sz="1000" spc="-1" strike="noStrike" baseline="30000">
                <a:solidFill>
                  <a:srgbClr val="202124"/>
                </a:solidFill>
                <a:latin typeface="Arial"/>
                <a:ea typeface="Arial"/>
              </a:rPr>
              <a:t>-1</a:t>
            </a:r>
            <a:r>
              <a:rPr b="1" lang="en-US" sz="1000" spc="-1" strike="noStrike">
                <a:solidFill>
                  <a:srgbClr val="202124"/>
                </a:solidFill>
                <a:latin typeface="Arial"/>
                <a:ea typeface="Arial"/>
              </a:rPr>
              <a:t>p</a:t>
            </a:r>
            <a:r>
              <a:rPr b="1" lang="en-US" sz="1000" spc="-1" strike="noStrike" baseline="-25000">
                <a:solidFill>
                  <a:srgbClr val="202124"/>
                </a:solidFill>
                <a:latin typeface="Arial"/>
                <a:ea typeface="Arial"/>
              </a:rPr>
              <a:t>0</a:t>
            </a:r>
            <a:endParaRPr b="0" lang="en-US" sz="1000" spc="-1" strike="noStrike">
              <a:latin typeface="Arial"/>
            </a:endParaRPr>
          </a:p>
        </p:txBody>
      </p:sp>
      <p:graphicFrame>
        <p:nvGraphicFramePr>
          <p:cNvPr id="506" name="Google Shape;453;p 1"/>
          <p:cNvGraphicFramePr/>
          <p:nvPr/>
        </p:nvGraphicFramePr>
        <p:xfrm>
          <a:off x="4291920" y="3391560"/>
          <a:ext cx="125280" cy="1629000"/>
        </p:xfrm>
        <a:graphic>
          <a:graphicData uri="http://schemas.openxmlformats.org/drawingml/2006/table">
            <a:tbl>
              <a:tblPr/>
              <a:tblGrid>
                <a:gridCol w="125280"/>
              </a:tblGrid>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2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bl>
          </a:graphicData>
        </a:graphic>
      </p:graphicFrame>
      <p:sp>
        <p:nvSpPr>
          <p:cNvPr id="507" name="Google Shape;454;p 1"/>
          <p:cNvSpPr/>
          <p:nvPr/>
        </p:nvSpPr>
        <p:spPr>
          <a:xfrm>
            <a:off x="4028040" y="4123800"/>
            <a:ext cx="2678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c00000"/>
                </a:solidFill>
                <a:latin typeface="Arial"/>
                <a:ea typeface="Arial"/>
              </a:rPr>
              <a:t>X</a:t>
            </a:r>
            <a:endParaRPr b="0" lang="en-US" sz="1000" spc="-1" strike="noStrike">
              <a:latin typeface="Arial"/>
            </a:endParaRPr>
          </a:p>
        </p:txBody>
      </p:sp>
      <p:sp>
        <p:nvSpPr>
          <p:cNvPr id="508" name="Google Shape;455;p 1"/>
          <p:cNvSpPr/>
          <p:nvPr/>
        </p:nvSpPr>
        <p:spPr>
          <a:xfrm>
            <a:off x="3943080" y="3038760"/>
            <a:ext cx="81432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Expression</a:t>
            </a:r>
            <a:endParaRPr b="0" lang="en-US" sz="1000" spc="-1" strike="noStrike">
              <a:latin typeface="Arial"/>
            </a:endParaRPr>
          </a:p>
          <a:p>
            <a:pPr algn="ctr">
              <a:lnSpc>
                <a:spcPct val="100000"/>
              </a:lnSpc>
              <a:buNone/>
              <a:tabLst>
                <a:tab algn="l" pos="0"/>
              </a:tabLst>
            </a:pPr>
            <a:r>
              <a:rPr b="0" lang="en-US" sz="1000" spc="-1" strike="noStrike">
                <a:solidFill>
                  <a:srgbClr val="000000"/>
                </a:solidFill>
                <a:latin typeface="Arial"/>
                <a:ea typeface="Arial"/>
              </a:rPr>
              <a:t>Profile</a:t>
            </a:r>
            <a:endParaRPr b="0" lang="en-US" sz="1000" spc="-1" strike="noStrike">
              <a:latin typeface="Arial"/>
            </a:endParaRPr>
          </a:p>
        </p:txBody>
      </p:sp>
      <p:sp>
        <p:nvSpPr>
          <p:cNvPr id="509" name="Google Shape;456;p 1"/>
          <p:cNvSpPr/>
          <p:nvPr/>
        </p:nvSpPr>
        <p:spPr>
          <a:xfrm>
            <a:off x="2793960" y="3404880"/>
            <a:ext cx="6717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Pathway</a:t>
            </a:r>
            <a:endParaRPr b="0" lang="en-US" sz="1000" spc="-1" strike="noStrike">
              <a:latin typeface="Arial"/>
            </a:endParaRPr>
          </a:p>
        </p:txBody>
      </p:sp>
      <p:sp>
        <p:nvSpPr>
          <p:cNvPr id="510" name="Google Shape;457;p 1"/>
          <p:cNvSpPr/>
          <p:nvPr/>
        </p:nvSpPr>
        <p:spPr>
          <a:xfrm>
            <a:off x="4482000" y="4098960"/>
            <a:ext cx="235440" cy="27504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800" spc="-1" strike="noStrike">
                <a:solidFill>
                  <a:srgbClr val="000000"/>
                </a:solidFill>
                <a:latin typeface="Arial"/>
                <a:ea typeface="Arial"/>
              </a:rPr>
              <a:t> </a:t>
            </a:r>
            <a:endParaRPr b="0" lang="en-US" sz="1800" spc="-1" strike="noStrike">
              <a:latin typeface="Arial"/>
            </a:endParaRPr>
          </a:p>
        </p:txBody>
      </p:sp>
      <p:graphicFrame>
        <p:nvGraphicFramePr>
          <p:cNvPr id="511" name="Google Shape;458;p 1"/>
          <p:cNvGraphicFramePr/>
          <p:nvPr/>
        </p:nvGraphicFramePr>
        <p:xfrm>
          <a:off x="4790520" y="3404880"/>
          <a:ext cx="133920" cy="1629000"/>
        </p:xfrm>
        <a:graphic>
          <a:graphicData uri="http://schemas.openxmlformats.org/drawingml/2006/table">
            <a:tbl>
              <a:tblPr/>
              <a:tblGrid>
                <a:gridCol w="133920"/>
              </a:tblGrid>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216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bl>
          </a:graphicData>
        </a:graphic>
      </p:graphicFrame>
      <p:sp>
        <p:nvSpPr>
          <p:cNvPr id="512" name="Google Shape;459;p 1"/>
          <p:cNvSpPr/>
          <p:nvPr/>
        </p:nvSpPr>
        <p:spPr>
          <a:xfrm>
            <a:off x="4986720" y="4237560"/>
            <a:ext cx="85536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513" name="Google Shape;460;p 1"/>
          <p:cNvSpPr/>
          <p:nvPr/>
        </p:nvSpPr>
        <p:spPr>
          <a:xfrm flipH="1" rot="10800000">
            <a:off x="5321880" y="3400200"/>
            <a:ext cx="364680" cy="1645560"/>
          </a:xfrm>
          <a:prstGeom prst="triangle">
            <a:avLst>
              <a:gd name="adj" fmla="val 0"/>
            </a:avLst>
          </a:prstGeom>
          <a:solidFill>
            <a:srgbClr val="bf819e"/>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sp>
      <p:sp>
        <p:nvSpPr>
          <p:cNvPr id="514" name="Google Shape;461;p 1"/>
          <p:cNvSpPr/>
          <p:nvPr/>
        </p:nvSpPr>
        <p:spPr>
          <a:xfrm rot="16866000">
            <a:off x="5118480" y="3962160"/>
            <a:ext cx="6188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AUcell</a:t>
            </a:r>
            <a:endParaRPr b="0" lang="en-US" sz="1000" spc="-1" strike="noStrike">
              <a:latin typeface="Arial"/>
            </a:endParaRPr>
          </a:p>
        </p:txBody>
      </p:sp>
      <p:sp>
        <p:nvSpPr>
          <p:cNvPr id="515" name="Google Shape;462;p 1"/>
          <p:cNvSpPr/>
          <p:nvPr/>
        </p:nvSpPr>
        <p:spPr>
          <a:xfrm>
            <a:off x="6061320" y="4174920"/>
            <a:ext cx="338400" cy="154440"/>
          </a:xfrm>
          <a:prstGeom prst="rect">
            <a:avLst/>
          </a:prstGeom>
          <a:solidFill>
            <a:srgbClr val="e0c2cd"/>
          </a:solidFill>
          <a:ln w="25400">
            <a:solidFill>
              <a:srgbClr val="000000"/>
            </a:solidFill>
            <a:round/>
          </a:ln>
        </p:spPr>
        <p:style>
          <a:lnRef idx="0"/>
          <a:fillRef idx="0"/>
          <a:effectRef idx="0"/>
          <a:fontRef idx="minor"/>
        </p:style>
      </p:sp>
      <p:sp>
        <p:nvSpPr>
          <p:cNvPr id="516" name="Google Shape;463;p 1"/>
          <p:cNvSpPr/>
          <p:nvPr/>
        </p:nvSpPr>
        <p:spPr>
          <a:xfrm>
            <a:off x="5555880" y="4339440"/>
            <a:ext cx="13172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Distance = 1 - AUC </a:t>
            </a:r>
            <a:endParaRPr b="0" lang="en-US" sz="1000" spc="-1" strike="noStrike">
              <a:latin typeface="Arial"/>
            </a:endParaRPr>
          </a:p>
        </p:txBody>
      </p:sp>
      <p:pic>
        <p:nvPicPr>
          <p:cNvPr id="517" name="Google Shape;464;p 1" descr=""/>
          <p:cNvPicPr/>
          <p:nvPr/>
        </p:nvPicPr>
        <p:blipFill>
          <a:blip r:embed="rId5"/>
          <a:stretch/>
        </p:blipFill>
        <p:spPr>
          <a:xfrm>
            <a:off x="0" y="5770440"/>
            <a:ext cx="6803280" cy="3265920"/>
          </a:xfrm>
          <a:prstGeom prst="rect">
            <a:avLst/>
          </a:prstGeom>
          <a:ln w="0">
            <a:noFill/>
          </a:ln>
        </p:spPr>
      </p:pic>
      <p:sp>
        <p:nvSpPr>
          <p:cNvPr id="518" name="Google Shape;466;p 1"/>
          <p:cNvSpPr/>
          <p:nvPr/>
        </p:nvSpPr>
        <p:spPr>
          <a:xfrm>
            <a:off x="2717280" y="5553720"/>
            <a:ext cx="11156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GATNET Model</a:t>
            </a:r>
            <a:endParaRPr b="0" lang="en-US" sz="1000" spc="-1" strike="noStrike">
              <a:latin typeface="Arial"/>
            </a:endParaRPr>
          </a:p>
        </p:txBody>
      </p:sp>
      <p:sp>
        <p:nvSpPr>
          <p:cNvPr id="519" name=""/>
          <p:cNvSpPr/>
          <p:nvPr/>
        </p:nvSpPr>
        <p:spPr>
          <a:xfrm>
            <a:off x="21600" y="7772400"/>
            <a:ext cx="227520" cy="1141920"/>
          </a:xfrm>
          <a:prstGeom prst="rect">
            <a:avLst/>
          </a:prstGeom>
          <a:solidFill>
            <a:srgbClr val="ffffff"/>
          </a:solidFill>
          <a:ln w="0">
            <a:solidFill>
              <a:srgbClr val="ffffff"/>
            </a:solidFill>
          </a:ln>
        </p:spPr>
        <p:style>
          <a:lnRef idx="0"/>
          <a:fillRef idx="0"/>
          <a:effectRef idx="0"/>
          <a:fontRef idx="minor"/>
        </p:style>
      </p:sp>
      <p:sp>
        <p:nvSpPr>
          <p:cNvPr id="520" name=""/>
          <p:cNvSpPr/>
          <p:nvPr/>
        </p:nvSpPr>
        <p:spPr>
          <a:xfrm rot="16039800">
            <a:off x="-330120" y="8073720"/>
            <a:ext cx="1207080" cy="45612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pPr algn="ctr">
              <a:lnSpc>
                <a:spcPct val="100000"/>
              </a:lnSpc>
              <a:buNone/>
            </a:pPr>
            <a:r>
              <a:rPr b="0" lang="en-US" sz="1100" spc="-1" strike="noStrike">
                <a:solidFill>
                  <a:srgbClr val="000000"/>
                </a:solidFill>
                <a:latin typeface="Arial"/>
                <a:ea typeface="DejaVu Sans"/>
              </a:rPr>
              <a:t>Patient Representation</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1" name="Google Shape;472;p8" descr="A diagram of a graph&#10;&#10;Description automatically generated"/>
          <p:cNvPicPr/>
          <p:nvPr/>
        </p:nvPicPr>
        <p:blipFill>
          <a:blip r:embed="rId1"/>
          <a:stretch/>
        </p:blipFill>
        <p:spPr>
          <a:xfrm>
            <a:off x="5259600" y="113760"/>
            <a:ext cx="1602720" cy="1560240"/>
          </a:xfrm>
          <a:prstGeom prst="rect">
            <a:avLst/>
          </a:prstGeom>
          <a:ln w="0">
            <a:noFill/>
          </a:ln>
        </p:spPr>
      </p:pic>
      <p:pic>
        <p:nvPicPr>
          <p:cNvPr id="522" name="Google Shape;473;p8" descr="A diagram of a graph&#10;&#10;Description automatically generated"/>
          <p:cNvPicPr/>
          <p:nvPr/>
        </p:nvPicPr>
        <p:blipFill>
          <a:blip r:embed="rId2"/>
          <a:stretch/>
        </p:blipFill>
        <p:spPr>
          <a:xfrm>
            <a:off x="5268240" y="1928880"/>
            <a:ext cx="1577160" cy="1534320"/>
          </a:xfrm>
          <a:prstGeom prst="rect">
            <a:avLst/>
          </a:prstGeom>
          <a:ln w="0">
            <a:noFill/>
          </a:ln>
        </p:spPr>
      </p:pic>
      <p:pic>
        <p:nvPicPr>
          <p:cNvPr id="523" name="Google Shape;474;p8" descr=""/>
          <p:cNvPicPr/>
          <p:nvPr/>
        </p:nvPicPr>
        <p:blipFill>
          <a:blip r:embed="rId3"/>
          <a:stretch/>
        </p:blipFill>
        <p:spPr>
          <a:xfrm>
            <a:off x="3684240" y="105120"/>
            <a:ext cx="1577160" cy="1560240"/>
          </a:xfrm>
          <a:prstGeom prst="rect">
            <a:avLst/>
          </a:prstGeom>
          <a:ln w="0">
            <a:noFill/>
          </a:ln>
        </p:spPr>
      </p:pic>
      <p:pic>
        <p:nvPicPr>
          <p:cNvPr id="524" name="Google Shape;475;p8" descr="A diagram of a graph&#10;&#10;Description automatically generated"/>
          <p:cNvPicPr/>
          <p:nvPr/>
        </p:nvPicPr>
        <p:blipFill>
          <a:blip r:embed="rId4"/>
          <a:stretch/>
        </p:blipFill>
        <p:spPr>
          <a:xfrm>
            <a:off x="2185920" y="129960"/>
            <a:ext cx="1491480" cy="1519200"/>
          </a:xfrm>
          <a:prstGeom prst="rect">
            <a:avLst/>
          </a:prstGeom>
          <a:ln w="0">
            <a:noFill/>
          </a:ln>
        </p:spPr>
      </p:pic>
      <p:pic>
        <p:nvPicPr>
          <p:cNvPr id="525" name="Google Shape;476;p8" descr=""/>
          <p:cNvPicPr/>
          <p:nvPr/>
        </p:nvPicPr>
        <p:blipFill>
          <a:blip r:embed="rId5"/>
          <a:stretch/>
        </p:blipFill>
        <p:spPr>
          <a:xfrm>
            <a:off x="2520" y="95760"/>
            <a:ext cx="2184840" cy="1707840"/>
          </a:xfrm>
          <a:prstGeom prst="rect">
            <a:avLst/>
          </a:prstGeom>
          <a:ln w="0">
            <a:noFill/>
          </a:ln>
        </p:spPr>
      </p:pic>
      <p:sp>
        <p:nvSpPr>
          <p:cNvPr id="526" name="Google Shape;477;p8"/>
          <p:cNvSpPr/>
          <p:nvPr/>
        </p:nvSpPr>
        <p:spPr>
          <a:xfrm>
            <a:off x="-83160" y="-7992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A</a:t>
            </a:r>
            <a:endParaRPr b="0" lang="en-US" sz="1400" spc="-1" strike="noStrike">
              <a:latin typeface="Arial"/>
            </a:endParaRPr>
          </a:p>
        </p:txBody>
      </p:sp>
      <p:sp>
        <p:nvSpPr>
          <p:cNvPr id="527" name="Google Shape;478;p8"/>
          <p:cNvSpPr/>
          <p:nvPr/>
        </p:nvSpPr>
        <p:spPr>
          <a:xfrm>
            <a:off x="2059920" y="-6912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B</a:t>
            </a:r>
            <a:endParaRPr b="0" lang="en-US" sz="1400" spc="-1" strike="noStrike">
              <a:latin typeface="Arial"/>
            </a:endParaRPr>
          </a:p>
        </p:txBody>
      </p:sp>
      <p:sp>
        <p:nvSpPr>
          <p:cNvPr id="528" name="Google Shape;479;p8"/>
          <p:cNvSpPr/>
          <p:nvPr/>
        </p:nvSpPr>
        <p:spPr>
          <a:xfrm>
            <a:off x="3592440" y="-5832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C</a:t>
            </a:r>
            <a:endParaRPr b="0" lang="en-US" sz="1400" spc="-1" strike="noStrike">
              <a:latin typeface="Arial"/>
            </a:endParaRPr>
          </a:p>
        </p:txBody>
      </p:sp>
      <p:sp>
        <p:nvSpPr>
          <p:cNvPr id="529" name="Google Shape;480;p8"/>
          <p:cNvSpPr/>
          <p:nvPr/>
        </p:nvSpPr>
        <p:spPr>
          <a:xfrm>
            <a:off x="5158800" y="-5832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D</a:t>
            </a:r>
            <a:endParaRPr b="0" lang="en-US" sz="1400" spc="-1" strike="noStrike">
              <a:latin typeface="Arial"/>
            </a:endParaRPr>
          </a:p>
        </p:txBody>
      </p:sp>
      <p:grpSp>
        <p:nvGrpSpPr>
          <p:cNvPr id="530" name="Google Shape;481;p8"/>
          <p:cNvGrpSpPr/>
          <p:nvPr/>
        </p:nvGrpSpPr>
        <p:grpSpPr>
          <a:xfrm>
            <a:off x="173520" y="1872720"/>
            <a:ext cx="460080" cy="603720"/>
            <a:chOff x="173520" y="1872720"/>
            <a:chExt cx="460080" cy="603720"/>
          </a:xfrm>
        </p:grpSpPr>
        <p:sp>
          <p:nvSpPr>
            <p:cNvPr id="531" name="Google Shape;482;p8"/>
            <p:cNvSpPr/>
            <p:nvPr/>
          </p:nvSpPr>
          <p:spPr>
            <a:xfrm rot="10800000">
              <a:off x="173520" y="1872720"/>
              <a:ext cx="360" cy="603360"/>
            </a:xfrm>
            <a:custGeom>
              <a:avLst/>
              <a:gdLst/>
              <a:ahLst/>
              <a:rect l="l" t="t" r="r" b="b"/>
              <a:pathLst>
                <a:path w="21600" h="21600">
                  <a:moveTo>
                    <a:pt x="0" y="0"/>
                  </a:moveTo>
                  <a:lnTo>
                    <a:pt x="21600" y="21600"/>
                  </a:lnTo>
                </a:path>
              </a:pathLst>
            </a:custGeom>
            <a:noFill/>
            <a:ln w="9525">
              <a:solidFill>
                <a:srgbClr val="000000"/>
              </a:solidFill>
              <a:round/>
              <a:tailEnd len="med" type="stealth" w="med"/>
            </a:ln>
          </p:spPr>
          <p:style>
            <a:lnRef idx="0"/>
            <a:fillRef idx="0"/>
            <a:effectRef idx="0"/>
            <a:fontRef idx="minor"/>
          </p:style>
        </p:sp>
        <p:sp>
          <p:nvSpPr>
            <p:cNvPr id="532" name="Google Shape;483;p8"/>
            <p:cNvSpPr/>
            <p:nvPr/>
          </p:nvSpPr>
          <p:spPr>
            <a:xfrm>
              <a:off x="181080" y="2476080"/>
              <a:ext cx="452520" cy="360"/>
            </a:xfrm>
            <a:custGeom>
              <a:avLst/>
              <a:gdLst/>
              <a:ahLst/>
              <a:rect l="l" t="t" r="r" b="b"/>
              <a:pathLst>
                <a:path w="21600" h="21600">
                  <a:moveTo>
                    <a:pt x="0" y="0"/>
                  </a:moveTo>
                  <a:lnTo>
                    <a:pt x="21600" y="21600"/>
                  </a:lnTo>
                </a:path>
              </a:pathLst>
            </a:custGeom>
            <a:noFill/>
            <a:ln w="9525">
              <a:solidFill>
                <a:srgbClr val="000000"/>
              </a:solidFill>
              <a:round/>
              <a:tailEnd len="med" type="stealth" w="med"/>
            </a:ln>
          </p:spPr>
          <p:style>
            <a:lnRef idx="0"/>
            <a:fillRef idx="0"/>
            <a:effectRef idx="0"/>
            <a:fontRef idx="minor"/>
          </p:style>
        </p:sp>
      </p:grpSp>
      <p:sp>
        <p:nvSpPr>
          <p:cNvPr id="533" name="Google Shape;484;p8"/>
          <p:cNvSpPr/>
          <p:nvPr/>
        </p:nvSpPr>
        <p:spPr>
          <a:xfrm>
            <a:off x="-24120" y="2473920"/>
            <a:ext cx="79920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800" spc="-1" strike="noStrike">
                <a:solidFill>
                  <a:srgbClr val="000000"/>
                </a:solidFill>
                <a:latin typeface="Arial"/>
                <a:ea typeface="Arial"/>
              </a:rPr>
              <a:t>True AUC</a:t>
            </a:r>
            <a:endParaRPr b="0" lang="en-US" sz="800" spc="-1" strike="noStrike">
              <a:latin typeface="Arial"/>
            </a:endParaRPr>
          </a:p>
        </p:txBody>
      </p:sp>
      <p:sp>
        <p:nvSpPr>
          <p:cNvPr id="534" name="Google Shape;485;p8"/>
          <p:cNvSpPr/>
          <p:nvPr/>
        </p:nvSpPr>
        <p:spPr>
          <a:xfrm rot="16200000">
            <a:off x="-355320" y="2084400"/>
            <a:ext cx="88740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800" spc="-1" strike="noStrike">
                <a:solidFill>
                  <a:srgbClr val="000000"/>
                </a:solidFill>
                <a:latin typeface="Arial"/>
                <a:ea typeface="Arial"/>
              </a:rPr>
              <a:t>Predicted AUC</a:t>
            </a:r>
            <a:endParaRPr b="0" lang="en-US" sz="800" spc="-1" strike="noStrike">
              <a:latin typeface="Arial"/>
            </a:endParaRPr>
          </a:p>
        </p:txBody>
      </p:sp>
      <p:sp>
        <p:nvSpPr>
          <p:cNvPr id="535" name="Google Shape;486;p8"/>
          <p:cNvSpPr/>
          <p:nvPr/>
        </p:nvSpPr>
        <p:spPr>
          <a:xfrm>
            <a:off x="6017760" y="8827560"/>
            <a:ext cx="8784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Figure 4</a:t>
            </a:r>
            <a:endParaRPr b="0" lang="en-US" sz="1400" spc="-1" strike="noStrike">
              <a:latin typeface="Arial"/>
            </a:endParaRPr>
          </a:p>
        </p:txBody>
      </p:sp>
      <p:sp>
        <p:nvSpPr>
          <p:cNvPr id="536" name="Google Shape;487;p8"/>
          <p:cNvSpPr/>
          <p:nvPr/>
        </p:nvSpPr>
        <p:spPr>
          <a:xfrm>
            <a:off x="595440" y="1671120"/>
            <a:ext cx="3031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E</a:t>
            </a:r>
            <a:endParaRPr b="0" lang="en-US" sz="1400" spc="-1" strike="noStrike">
              <a:latin typeface="Arial"/>
            </a:endParaRPr>
          </a:p>
        </p:txBody>
      </p:sp>
      <p:sp>
        <p:nvSpPr>
          <p:cNvPr id="537" name="Google Shape;488;p8"/>
          <p:cNvSpPr/>
          <p:nvPr/>
        </p:nvSpPr>
        <p:spPr>
          <a:xfrm>
            <a:off x="2098440" y="1685520"/>
            <a:ext cx="2919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F</a:t>
            </a:r>
            <a:endParaRPr b="0" lang="en-US" sz="1400" spc="-1" strike="noStrike">
              <a:latin typeface="Arial"/>
            </a:endParaRPr>
          </a:p>
        </p:txBody>
      </p:sp>
      <p:sp>
        <p:nvSpPr>
          <p:cNvPr id="538" name="Google Shape;489;p8"/>
          <p:cNvSpPr/>
          <p:nvPr/>
        </p:nvSpPr>
        <p:spPr>
          <a:xfrm>
            <a:off x="3636000" y="1689480"/>
            <a:ext cx="3222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G</a:t>
            </a:r>
            <a:endParaRPr b="0" lang="en-US" sz="1400" spc="-1" strike="noStrike">
              <a:latin typeface="Arial"/>
            </a:endParaRPr>
          </a:p>
        </p:txBody>
      </p:sp>
      <p:sp>
        <p:nvSpPr>
          <p:cNvPr id="539" name="Google Shape;490;p8"/>
          <p:cNvSpPr/>
          <p:nvPr/>
        </p:nvSpPr>
        <p:spPr>
          <a:xfrm>
            <a:off x="5181120" y="169812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H</a:t>
            </a:r>
            <a:endParaRPr b="0" lang="en-US" sz="1400" spc="-1" strike="noStrike">
              <a:latin typeface="Arial"/>
            </a:endParaRPr>
          </a:p>
        </p:txBody>
      </p:sp>
      <p:pic>
        <p:nvPicPr>
          <p:cNvPr id="540" name="Google Shape;491;p8" descr="A diagram of a graph&#10;&#10;Description automatically generated"/>
          <p:cNvPicPr/>
          <p:nvPr/>
        </p:nvPicPr>
        <p:blipFill>
          <a:blip r:embed="rId6"/>
          <a:stretch/>
        </p:blipFill>
        <p:spPr>
          <a:xfrm>
            <a:off x="696240" y="1937520"/>
            <a:ext cx="1491480" cy="1457280"/>
          </a:xfrm>
          <a:prstGeom prst="rect">
            <a:avLst/>
          </a:prstGeom>
          <a:ln w="0">
            <a:noFill/>
          </a:ln>
        </p:spPr>
      </p:pic>
      <p:pic>
        <p:nvPicPr>
          <p:cNvPr id="541" name="Google Shape;492;p8" descr="A diagram of a graph&#10;&#10;Description automatically generated"/>
          <p:cNvPicPr/>
          <p:nvPr/>
        </p:nvPicPr>
        <p:blipFill>
          <a:blip r:embed="rId7"/>
          <a:stretch/>
        </p:blipFill>
        <p:spPr>
          <a:xfrm>
            <a:off x="2194560" y="1911600"/>
            <a:ext cx="1551240" cy="1551600"/>
          </a:xfrm>
          <a:prstGeom prst="rect">
            <a:avLst/>
          </a:prstGeom>
          <a:ln w="0">
            <a:noFill/>
          </a:ln>
        </p:spPr>
      </p:pic>
      <p:pic>
        <p:nvPicPr>
          <p:cNvPr id="542" name="Google Shape;493;p8" descr="A diagram of a catboost&#10;&#10;Description automatically generated"/>
          <p:cNvPicPr/>
          <p:nvPr/>
        </p:nvPicPr>
        <p:blipFill>
          <a:blip r:embed="rId8"/>
          <a:stretch/>
        </p:blipFill>
        <p:spPr>
          <a:xfrm>
            <a:off x="3778200" y="1906200"/>
            <a:ext cx="1474200" cy="1571040"/>
          </a:xfrm>
          <a:prstGeom prst="rect">
            <a:avLst/>
          </a:prstGeom>
          <a:ln w="0">
            <a:noFill/>
          </a:ln>
        </p:spPr>
      </p:pic>
      <p:sp>
        <p:nvSpPr>
          <p:cNvPr id="543" name="Google Shape;494;p8"/>
          <p:cNvSpPr/>
          <p:nvPr/>
        </p:nvSpPr>
        <p:spPr>
          <a:xfrm>
            <a:off x="180360" y="4907160"/>
            <a:ext cx="3247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L</a:t>
            </a:r>
            <a:endParaRPr b="0" lang="en-US" sz="1400" spc="-1" strike="noStrike">
              <a:latin typeface="Arial"/>
            </a:endParaRPr>
          </a:p>
        </p:txBody>
      </p:sp>
      <p:sp>
        <p:nvSpPr>
          <p:cNvPr id="544" name="Google Shape;495;p8"/>
          <p:cNvSpPr/>
          <p:nvPr/>
        </p:nvSpPr>
        <p:spPr>
          <a:xfrm>
            <a:off x="3308760" y="4950000"/>
            <a:ext cx="3247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M</a:t>
            </a:r>
            <a:endParaRPr b="0" lang="en-US" sz="1400" spc="-1" strike="noStrike">
              <a:latin typeface="Arial"/>
            </a:endParaRPr>
          </a:p>
        </p:txBody>
      </p:sp>
      <p:sp>
        <p:nvSpPr>
          <p:cNvPr id="545" name="Google Shape;496;p8"/>
          <p:cNvSpPr/>
          <p:nvPr/>
        </p:nvSpPr>
        <p:spPr>
          <a:xfrm>
            <a:off x="747720" y="4984560"/>
            <a:ext cx="227556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100" spc="-1" strike="noStrike">
                <a:solidFill>
                  <a:srgbClr val="000000"/>
                </a:solidFill>
                <a:latin typeface="Arial"/>
                <a:ea typeface="Arial"/>
              </a:rPr>
              <a:t>Top Best Patient Predictions</a:t>
            </a:r>
            <a:endParaRPr b="0" lang="en-US" sz="1100" spc="-1" strike="noStrike">
              <a:latin typeface="Arial"/>
            </a:endParaRPr>
          </a:p>
        </p:txBody>
      </p:sp>
      <p:sp>
        <p:nvSpPr>
          <p:cNvPr id="546" name="Google Shape;497;p8"/>
          <p:cNvSpPr/>
          <p:nvPr/>
        </p:nvSpPr>
        <p:spPr>
          <a:xfrm>
            <a:off x="3867120" y="5001840"/>
            <a:ext cx="227556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100" spc="-1" strike="noStrike">
                <a:solidFill>
                  <a:srgbClr val="000000"/>
                </a:solidFill>
                <a:latin typeface="Arial"/>
                <a:ea typeface="Arial"/>
              </a:rPr>
              <a:t>Bottom Worse Patient Predictions</a:t>
            </a:r>
            <a:endParaRPr b="0" lang="en-US" sz="1100" spc="-1" strike="noStrike">
              <a:latin typeface="Arial"/>
            </a:endParaRPr>
          </a:p>
        </p:txBody>
      </p:sp>
      <p:sp>
        <p:nvSpPr>
          <p:cNvPr id="547" name="Google Shape;498;p8"/>
          <p:cNvSpPr/>
          <p:nvPr/>
        </p:nvSpPr>
        <p:spPr>
          <a:xfrm>
            <a:off x="747720" y="8903520"/>
            <a:ext cx="227556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100" spc="-1" strike="noStrike">
                <a:solidFill>
                  <a:srgbClr val="000000"/>
                </a:solidFill>
                <a:latin typeface="Arial"/>
                <a:ea typeface="Arial"/>
              </a:rPr>
              <a:t>Top Best Drug Predictions</a:t>
            </a:r>
            <a:endParaRPr b="0" lang="en-US" sz="1100" spc="-1" strike="noStrike">
              <a:latin typeface="Arial"/>
            </a:endParaRPr>
          </a:p>
        </p:txBody>
      </p:sp>
      <p:sp>
        <p:nvSpPr>
          <p:cNvPr id="548" name="Google Shape;499;p8"/>
          <p:cNvSpPr/>
          <p:nvPr/>
        </p:nvSpPr>
        <p:spPr>
          <a:xfrm>
            <a:off x="3970440" y="8903520"/>
            <a:ext cx="227556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100" spc="-1" strike="noStrike">
                <a:solidFill>
                  <a:srgbClr val="000000"/>
                </a:solidFill>
                <a:latin typeface="Arial"/>
                <a:ea typeface="Arial"/>
              </a:rPr>
              <a:t>Bottom Worse Drug Predictions</a:t>
            </a:r>
            <a:endParaRPr b="0" lang="en-US" sz="1100" spc="-1" strike="noStrike">
              <a:latin typeface="Arial"/>
            </a:endParaRPr>
          </a:p>
        </p:txBody>
      </p:sp>
      <p:pic>
        <p:nvPicPr>
          <p:cNvPr id="549" name="Google Shape;500;p8" descr="A diagram of a graph&#10;&#10;Description automatically generated"/>
          <p:cNvPicPr/>
          <p:nvPr/>
        </p:nvPicPr>
        <p:blipFill>
          <a:blip r:embed="rId9"/>
          <a:stretch/>
        </p:blipFill>
        <p:spPr>
          <a:xfrm>
            <a:off x="1421280" y="3519000"/>
            <a:ext cx="1503720" cy="1477080"/>
          </a:xfrm>
          <a:prstGeom prst="rect">
            <a:avLst/>
          </a:prstGeom>
          <a:ln w="0">
            <a:noFill/>
          </a:ln>
        </p:spPr>
      </p:pic>
      <p:sp>
        <p:nvSpPr>
          <p:cNvPr id="550" name="Google Shape;501;p8"/>
          <p:cNvSpPr/>
          <p:nvPr/>
        </p:nvSpPr>
        <p:spPr>
          <a:xfrm>
            <a:off x="1176480" y="3365280"/>
            <a:ext cx="2325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I</a:t>
            </a:r>
            <a:endParaRPr b="0" lang="en-US" sz="1400" spc="-1" strike="noStrike">
              <a:latin typeface="Arial"/>
            </a:endParaRPr>
          </a:p>
        </p:txBody>
      </p:sp>
      <p:pic>
        <p:nvPicPr>
          <p:cNvPr id="551" name="Google Shape;502;p8" descr="A diagram of a graph&#10;&#10;Description automatically generated"/>
          <p:cNvPicPr/>
          <p:nvPr/>
        </p:nvPicPr>
        <p:blipFill>
          <a:blip r:embed="rId10"/>
          <a:stretch/>
        </p:blipFill>
        <p:spPr>
          <a:xfrm>
            <a:off x="3217680" y="3519720"/>
            <a:ext cx="1503720" cy="1467000"/>
          </a:xfrm>
          <a:prstGeom prst="rect">
            <a:avLst/>
          </a:prstGeom>
          <a:ln w="0">
            <a:noFill/>
          </a:ln>
        </p:spPr>
      </p:pic>
      <p:sp>
        <p:nvSpPr>
          <p:cNvPr id="552" name="Google Shape;503;p8"/>
          <p:cNvSpPr/>
          <p:nvPr/>
        </p:nvSpPr>
        <p:spPr>
          <a:xfrm>
            <a:off x="2972520" y="3399480"/>
            <a:ext cx="2822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J</a:t>
            </a:r>
            <a:endParaRPr b="0" lang="en-US" sz="1400" spc="-1" strike="noStrike">
              <a:latin typeface="Arial"/>
            </a:endParaRPr>
          </a:p>
        </p:txBody>
      </p:sp>
      <p:sp>
        <p:nvSpPr>
          <p:cNvPr id="553" name="Google Shape;504;p8"/>
          <p:cNvSpPr/>
          <p:nvPr/>
        </p:nvSpPr>
        <p:spPr>
          <a:xfrm>
            <a:off x="4880520" y="341676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K</a:t>
            </a:r>
            <a:endParaRPr b="0" lang="en-US" sz="1400" spc="-1" strike="noStrike">
              <a:latin typeface="Arial"/>
            </a:endParaRPr>
          </a:p>
        </p:txBody>
      </p:sp>
      <p:pic>
        <p:nvPicPr>
          <p:cNvPr id="554" name="Google Shape;505;p8" descr=""/>
          <p:cNvPicPr/>
          <p:nvPr/>
        </p:nvPicPr>
        <p:blipFill>
          <a:blip r:embed="rId11"/>
          <a:stretch/>
        </p:blipFill>
        <p:spPr>
          <a:xfrm>
            <a:off x="5185440" y="3521160"/>
            <a:ext cx="1486800" cy="1464120"/>
          </a:xfrm>
          <a:prstGeom prst="rect">
            <a:avLst/>
          </a:prstGeom>
          <a:ln w="0">
            <a:noFill/>
          </a:ln>
        </p:spPr>
      </p:pic>
      <p:pic>
        <p:nvPicPr>
          <p:cNvPr id="555" name="Google Shape;506;p8" descr=""/>
          <p:cNvPicPr/>
          <p:nvPr/>
        </p:nvPicPr>
        <p:blipFill>
          <a:blip r:embed="rId12"/>
          <a:stretch/>
        </p:blipFill>
        <p:spPr>
          <a:xfrm>
            <a:off x="596520" y="5168880"/>
            <a:ext cx="5938200" cy="37288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Google Shape;511;p9"/>
          <p:cNvSpPr/>
          <p:nvPr/>
        </p:nvSpPr>
        <p:spPr>
          <a:xfrm>
            <a:off x="6017760" y="8827560"/>
            <a:ext cx="8784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Figure 5</a:t>
            </a:r>
            <a:endParaRPr b="0" lang="en-US" sz="1400" spc="-1" strike="noStrike">
              <a:latin typeface="Arial"/>
            </a:endParaRPr>
          </a:p>
        </p:txBody>
      </p:sp>
      <p:pic>
        <p:nvPicPr>
          <p:cNvPr id="557" name="Google Shape;512;p9" descr=""/>
          <p:cNvPicPr/>
          <p:nvPr/>
        </p:nvPicPr>
        <p:blipFill>
          <a:blip r:embed="rId1"/>
          <a:stretch/>
        </p:blipFill>
        <p:spPr>
          <a:xfrm>
            <a:off x="3600" y="112680"/>
            <a:ext cx="6814800" cy="62442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Google Shape;517;p10"/>
          <p:cNvSpPr/>
          <p:nvPr/>
        </p:nvSpPr>
        <p:spPr>
          <a:xfrm>
            <a:off x="4634280" y="8836200"/>
            <a:ext cx="22219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Supplementary Figure 1</a:t>
            </a:r>
            <a:endParaRPr b="0" lang="en-US" sz="1400" spc="-1" strike="noStrike">
              <a:latin typeface="Arial"/>
            </a:endParaRPr>
          </a:p>
        </p:txBody>
      </p:sp>
      <p:pic>
        <p:nvPicPr>
          <p:cNvPr id="559" name="Google Shape;518;p10" descr=""/>
          <p:cNvPicPr/>
          <p:nvPr/>
        </p:nvPicPr>
        <p:blipFill>
          <a:blip r:embed="rId1"/>
          <a:stretch/>
        </p:blipFill>
        <p:spPr>
          <a:xfrm>
            <a:off x="190800" y="77040"/>
            <a:ext cx="2741400" cy="3319920"/>
          </a:xfrm>
          <a:prstGeom prst="rect">
            <a:avLst/>
          </a:prstGeom>
          <a:ln w="0">
            <a:noFill/>
          </a:ln>
        </p:spPr>
      </p:pic>
      <p:sp>
        <p:nvSpPr>
          <p:cNvPr id="560" name="Google Shape;519;p10"/>
          <p:cNvSpPr/>
          <p:nvPr/>
        </p:nvSpPr>
        <p:spPr>
          <a:xfrm>
            <a:off x="-59760" y="-25560"/>
            <a:ext cx="3441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A</a:t>
            </a:r>
            <a:endParaRPr b="0" lang="en-US" sz="1400" spc="-1" strike="noStrike">
              <a:latin typeface="Arial"/>
            </a:endParaRPr>
          </a:p>
        </p:txBody>
      </p:sp>
      <p:sp>
        <p:nvSpPr>
          <p:cNvPr id="561" name="Google Shape;520;p10"/>
          <p:cNvSpPr/>
          <p:nvPr/>
        </p:nvSpPr>
        <p:spPr>
          <a:xfrm>
            <a:off x="-59760" y="3364920"/>
            <a:ext cx="3441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B</a:t>
            </a:r>
            <a:endParaRPr b="0" lang="en-US" sz="1400" spc="-1" strike="noStrike">
              <a:latin typeface="Arial"/>
            </a:endParaRPr>
          </a:p>
        </p:txBody>
      </p:sp>
      <p:pic>
        <p:nvPicPr>
          <p:cNvPr id="562" name="Google Shape;521;p10" descr=""/>
          <p:cNvPicPr/>
          <p:nvPr/>
        </p:nvPicPr>
        <p:blipFill>
          <a:blip r:embed="rId2"/>
          <a:stretch/>
        </p:blipFill>
        <p:spPr>
          <a:xfrm>
            <a:off x="62640" y="3692880"/>
            <a:ext cx="4993200" cy="2672640"/>
          </a:xfrm>
          <a:prstGeom prst="rect">
            <a:avLst/>
          </a:prstGeom>
          <a:ln w="0">
            <a:noFill/>
          </a:ln>
        </p:spPr>
      </p:pic>
      <p:sp>
        <p:nvSpPr>
          <p:cNvPr id="563" name="Google Shape;522;p10"/>
          <p:cNvSpPr/>
          <p:nvPr/>
        </p:nvSpPr>
        <p:spPr>
          <a:xfrm>
            <a:off x="3056400" y="-25560"/>
            <a:ext cx="3441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C</a:t>
            </a:r>
            <a:endParaRPr b="0" lang="en-US" sz="1400" spc="-1" strike="noStrike">
              <a:latin typeface="Arial"/>
            </a:endParaRPr>
          </a:p>
        </p:txBody>
      </p:sp>
      <p:pic>
        <p:nvPicPr>
          <p:cNvPr id="564" name="Google Shape;523;p10" descr=""/>
          <p:cNvPicPr/>
          <p:nvPr/>
        </p:nvPicPr>
        <p:blipFill>
          <a:blip r:embed="rId3"/>
          <a:stretch/>
        </p:blipFill>
        <p:spPr>
          <a:xfrm>
            <a:off x="3093480" y="191160"/>
            <a:ext cx="3743280" cy="2013480"/>
          </a:xfrm>
          <a:prstGeom prst="rect">
            <a:avLst/>
          </a:prstGeom>
          <a:ln w="0">
            <a:noFill/>
          </a:ln>
        </p:spPr>
      </p:pic>
      <p:pic>
        <p:nvPicPr>
          <p:cNvPr id="565" name="Google Shape;524;p10" descr=""/>
          <p:cNvPicPr/>
          <p:nvPr/>
        </p:nvPicPr>
        <p:blipFill>
          <a:blip r:embed="rId4"/>
          <a:stretch/>
        </p:blipFill>
        <p:spPr>
          <a:xfrm>
            <a:off x="62640" y="6503040"/>
            <a:ext cx="5061600" cy="2455200"/>
          </a:xfrm>
          <a:prstGeom prst="rect">
            <a:avLst/>
          </a:prstGeom>
          <a:ln w="0">
            <a:noFill/>
          </a:ln>
        </p:spPr>
      </p:pic>
      <p:sp>
        <p:nvSpPr>
          <p:cNvPr id="566" name="Google Shape;525;p10"/>
          <p:cNvSpPr/>
          <p:nvPr/>
        </p:nvSpPr>
        <p:spPr>
          <a:xfrm>
            <a:off x="-25560" y="6292800"/>
            <a:ext cx="3441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D</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7" name="Google Shape;531;p11" descr="A diagram of a catboost&#10;&#10;Description automatically generated"/>
          <p:cNvPicPr/>
          <p:nvPr/>
        </p:nvPicPr>
        <p:blipFill>
          <a:blip r:embed="rId1"/>
          <a:stretch/>
        </p:blipFill>
        <p:spPr>
          <a:xfrm>
            <a:off x="2768040" y="2162880"/>
            <a:ext cx="1825200" cy="1776960"/>
          </a:xfrm>
          <a:prstGeom prst="rect">
            <a:avLst/>
          </a:prstGeom>
          <a:ln w="0">
            <a:noFill/>
          </a:ln>
        </p:spPr>
      </p:pic>
      <p:pic>
        <p:nvPicPr>
          <p:cNvPr id="568" name="Google Shape;532;p11" descr="A diagram of a graph&#10;&#10;Description automatically generated"/>
          <p:cNvPicPr/>
          <p:nvPr/>
        </p:nvPicPr>
        <p:blipFill>
          <a:blip r:embed="rId2"/>
          <a:stretch/>
        </p:blipFill>
        <p:spPr>
          <a:xfrm>
            <a:off x="944280" y="2196000"/>
            <a:ext cx="1765440" cy="1728000"/>
          </a:xfrm>
          <a:prstGeom prst="rect">
            <a:avLst/>
          </a:prstGeom>
          <a:ln w="0">
            <a:noFill/>
          </a:ln>
        </p:spPr>
      </p:pic>
      <p:pic>
        <p:nvPicPr>
          <p:cNvPr id="569" name="Google Shape;533;p11" descr="A diagram of a graph&#10;&#10;Description automatically generated"/>
          <p:cNvPicPr/>
          <p:nvPr/>
        </p:nvPicPr>
        <p:blipFill>
          <a:blip r:embed="rId3"/>
          <a:stretch/>
        </p:blipFill>
        <p:spPr>
          <a:xfrm>
            <a:off x="5113800" y="131760"/>
            <a:ext cx="1731240" cy="1677960"/>
          </a:xfrm>
          <a:prstGeom prst="rect">
            <a:avLst/>
          </a:prstGeom>
          <a:ln w="0">
            <a:noFill/>
          </a:ln>
        </p:spPr>
      </p:pic>
      <p:pic>
        <p:nvPicPr>
          <p:cNvPr id="570" name="Google Shape;534;p11" descr="A diagram of a graph&#10;&#10;Description automatically generated"/>
          <p:cNvPicPr/>
          <p:nvPr/>
        </p:nvPicPr>
        <p:blipFill>
          <a:blip r:embed="rId4"/>
          <a:stretch/>
        </p:blipFill>
        <p:spPr>
          <a:xfrm>
            <a:off x="3367440" y="130680"/>
            <a:ext cx="1619640" cy="1628640"/>
          </a:xfrm>
          <a:prstGeom prst="rect">
            <a:avLst/>
          </a:prstGeom>
          <a:ln w="0">
            <a:noFill/>
          </a:ln>
        </p:spPr>
      </p:pic>
      <p:pic>
        <p:nvPicPr>
          <p:cNvPr id="571" name="Google Shape;535;p11" descr="A diagram of a graph&#10;&#10;Description automatically generated"/>
          <p:cNvPicPr/>
          <p:nvPr/>
        </p:nvPicPr>
        <p:blipFill>
          <a:blip r:embed="rId5"/>
          <a:stretch/>
        </p:blipFill>
        <p:spPr>
          <a:xfrm>
            <a:off x="1680840" y="96480"/>
            <a:ext cx="1619640" cy="1662840"/>
          </a:xfrm>
          <a:prstGeom prst="rect">
            <a:avLst/>
          </a:prstGeom>
          <a:ln w="0">
            <a:noFill/>
          </a:ln>
        </p:spPr>
      </p:pic>
      <p:pic>
        <p:nvPicPr>
          <p:cNvPr id="572" name="Google Shape;536;p11" descr="A diagram of a graph&#10;&#10;Description automatically generated"/>
          <p:cNvPicPr/>
          <p:nvPr/>
        </p:nvPicPr>
        <p:blipFill>
          <a:blip r:embed="rId6"/>
          <a:stretch/>
        </p:blipFill>
        <p:spPr>
          <a:xfrm>
            <a:off x="2520" y="127800"/>
            <a:ext cx="1619640" cy="1634400"/>
          </a:xfrm>
          <a:prstGeom prst="rect">
            <a:avLst/>
          </a:prstGeom>
          <a:ln w="0">
            <a:noFill/>
          </a:ln>
        </p:spPr>
      </p:pic>
      <p:pic>
        <p:nvPicPr>
          <p:cNvPr id="573" name="Google Shape;537;p11" descr="A picture containing text, screenshot, line, font&#10;&#10;Description automatically generated"/>
          <p:cNvPicPr/>
          <p:nvPr/>
        </p:nvPicPr>
        <p:blipFill>
          <a:blip r:embed="rId7"/>
          <a:stretch/>
        </p:blipFill>
        <p:spPr>
          <a:xfrm>
            <a:off x="5179320" y="7584840"/>
            <a:ext cx="1667880" cy="1559880"/>
          </a:xfrm>
          <a:prstGeom prst="rect">
            <a:avLst/>
          </a:prstGeom>
          <a:ln w="0">
            <a:noFill/>
          </a:ln>
        </p:spPr>
      </p:pic>
      <p:pic>
        <p:nvPicPr>
          <p:cNvPr id="574" name="Google Shape;538;p11" descr="A picture containing text, screenshot, line, font&#10;&#10;Description automatically generated"/>
          <p:cNvPicPr/>
          <p:nvPr/>
        </p:nvPicPr>
        <p:blipFill>
          <a:blip r:embed="rId8"/>
          <a:stretch/>
        </p:blipFill>
        <p:spPr>
          <a:xfrm>
            <a:off x="3458520" y="7572240"/>
            <a:ext cx="1610640" cy="1552320"/>
          </a:xfrm>
          <a:prstGeom prst="rect">
            <a:avLst/>
          </a:prstGeom>
          <a:ln w="0">
            <a:noFill/>
          </a:ln>
        </p:spPr>
      </p:pic>
      <p:pic>
        <p:nvPicPr>
          <p:cNvPr id="575" name="Google Shape;539;p11" descr="A picture containing text, screenshot, line, font&#10;&#10;Description automatically generated"/>
          <p:cNvPicPr/>
          <p:nvPr/>
        </p:nvPicPr>
        <p:blipFill>
          <a:blip r:embed="rId9"/>
          <a:stretch/>
        </p:blipFill>
        <p:spPr>
          <a:xfrm>
            <a:off x="99000" y="7622280"/>
            <a:ext cx="1676160" cy="1501200"/>
          </a:xfrm>
          <a:prstGeom prst="rect">
            <a:avLst/>
          </a:prstGeom>
          <a:ln w="0">
            <a:noFill/>
          </a:ln>
        </p:spPr>
      </p:pic>
      <p:pic>
        <p:nvPicPr>
          <p:cNvPr id="576" name="Google Shape;540;p11" descr="A picture containing text, screenshot, font, line&#10;&#10;Description automatically generated"/>
          <p:cNvPicPr/>
          <p:nvPr/>
        </p:nvPicPr>
        <p:blipFill>
          <a:blip r:embed="rId10"/>
          <a:stretch/>
        </p:blipFill>
        <p:spPr>
          <a:xfrm>
            <a:off x="3434040" y="5931360"/>
            <a:ext cx="1676160" cy="1556280"/>
          </a:xfrm>
          <a:prstGeom prst="rect">
            <a:avLst/>
          </a:prstGeom>
          <a:ln w="0">
            <a:noFill/>
          </a:ln>
        </p:spPr>
      </p:pic>
      <p:pic>
        <p:nvPicPr>
          <p:cNvPr id="577" name="Google Shape;541;p11" descr="A picture containing text, screenshot, font, line&#10;&#10;Description automatically generated"/>
          <p:cNvPicPr/>
          <p:nvPr/>
        </p:nvPicPr>
        <p:blipFill>
          <a:blip r:embed="rId11"/>
          <a:stretch/>
        </p:blipFill>
        <p:spPr>
          <a:xfrm>
            <a:off x="5130000" y="5916960"/>
            <a:ext cx="1725480" cy="1618200"/>
          </a:xfrm>
          <a:prstGeom prst="rect">
            <a:avLst/>
          </a:prstGeom>
          <a:ln w="0">
            <a:noFill/>
          </a:ln>
        </p:spPr>
      </p:pic>
      <p:pic>
        <p:nvPicPr>
          <p:cNvPr id="578" name="Google Shape;542;p11" descr="A picture containing text, screenshot, font, line&#10;&#10;Description automatically generated"/>
          <p:cNvPicPr/>
          <p:nvPr/>
        </p:nvPicPr>
        <p:blipFill>
          <a:blip r:embed="rId12"/>
          <a:stretch/>
        </p:blipFill>
        <p:spPr>
          <a:xfrm>
            <a:off x="1754280" y="5931360"/>
            <a:ext cx="1676160" cy="1580760"/>
          </a:xfrm>
          <a:prstGeom prst="rect">
            <a:avLst/>
          </a:prstGeom>
          <a:ln w="0">
            <a:noFill/>
          </a:ln>
        </p:spPr>
      </p:pic>
      <p:pic>
        <p:nvPicPr>
          <p:cNvPr id="579" name="Google Shape;543;p11" descr="A picture containing text, screenshot, line, font&#10;&#10;Description automatically generated"/>
          <p:cNvPicPr/>
          <p:nvPr/>
        </p:nvPicPr>
        <p:blipFill>
          <a:blip r:embed="rId13"/>
          <a:stretch/>
        </p:blipFill>
        <p:spPr>
          <a:xfrm>
            <a:off x="82800" y="5904720"/>
            <a:ext cx="1676160" cy="1585440"/>
          </a:xfrm>
          <a:prstGeom prst="rect">
            <a:avLst/>
          </a:prstGeom>
          <a:ln w="0">
            <a:noFill/>
          </a:ln>
        </p:spPr>
      </p:pic>
      <p:pic>
        <p:nvPicPr>
          <p:cNvPr id="580" name="Google Shape;544;p11" descr="A picture containing text, screenshot, font, line&#10;&#10;Description automatically generated"/>
          <p:cNvPicPr/>
          <p:nvPr/>
        </p:nvPicPr>
        <p:blipFill>
          <a:blip r:embed="rId14"/>
          <a:stretch/>
        </p:blipFill>
        <p:spPr>
          <a:xfrm>
            <a:off x="5187240" y="4224960"/>
            <a:ext cx="1692720" cy="1585440"/>
          </a:xfrm>
          <a:prstGeom prst="rect">
            <a:avLst/>
          </a:prstGeom>
          <a:ln w="0">
            <a:noFill/>
          </a:ln>
        </p:spPr>
      </p:pic>
      <p:pic>
        <p:nvPicPr>
          <p:cNvPr id="581" name="Google Shape;545;p11" descr="A picture containing text, screenshot, font, line&#10;&#10;Description automatically generated"/>
          <p:cNvPicPr/>
          <p:nvPr/>
        </p:nvPicPr>
        <p:blipFill>
          <a:blip r:embed="rId15"/>
          <a:stretch/>
        </p:blipFill>
        <p:spPr>
          <a:xfrm>
            <a:off x="3483000" y="4233240"/>
            <a:ext cx="1627200" cy="1585440"/>
          </a:xfrm>
          <a:prstGeom prst="rect">
            <a:avLst/>
          </a:prstGeom>
          <a:ln w="0">
            <a:noFill/>
          </a:ln>
        </p:spPr>
      </p:pic>
      <p:pic>
        <p:nvPicPr>
          <p:cNvPr id="582" name="Google Shape;546;p11" descr="A picture containing text, screenshot, line, font&#10;&#10;Description automatically generated"/>
          <p:cNvPicPr/>
          <p:nvPr/>
        </p:nvPicPr>
        <p:blipFill>
          <a:blip r:embed="rId16"/>
          <a:stretch/>
        </p:blipFill>
        <p:spPr>
          <a:xfrm>
            <a:off x="1762560" y="4233240"/>
            <a:ext cx="1651680" cy="1585440"/>
          </a:xfrm>
          <a:prstGeom prst="rect">
            <a:avLst/>
          </a:prstGeom>
          <a:ln w="0">
            <a:noFill/>
          </a:ln>
        </p:spPr>
      </p:pic>
      <p:pic>
        <p:nvPicPr>
          <p:cNvPr id="583" name="Google Shape;547;p11" descr="A picture containing text, screenshot, font, line&#10;&#10;Description automatically generated"/>
          <p:cNvPicPr/>
          <p:nvPr/>
        </p:nvPicPr>
        <p:blipFill>
          <a:blip r:embed="rId17"/>
          <a:stretch/>
        </p:blipFill>
        <p:spPr>
          <a:xfrm>
            <a:off x="107280" y="4233240"/>
            <a:ext cx="1651680" cy="1585440"/>
          </a:xfrm>
          <a:prstGeom prst="rect">
            <a:avLst/>
          </a:prstGeom>
          <a:ln w="0">
            <a:noFill/>
          </a:ln>
        </p:spPr>
      </p:pic>
      <p:sp>
        <p:nvSpPr>
          <p:cNvPr id="584" name="Google Shape;548;p11"/>
          <p:cNvSpPr/>
          <p:nvPr/>
        </p:nvSpPr>
        <p:spPr>
          <a:xfrm>
            <a:off x="-90360" y="-6696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A</a:t>
            </a:r>
            <a:endParaRPr b="0" lang="en-US" sz="1400" spc="-1" strike="noStrike">
              <a:latin typeface="Arial"/>
            </a:endParaRPr>
          </a:p>
        </p:txBody>
      </p:sp>
      <p:sp>
        <p:nvSpPr>
          <p:cNvPr id="585" name="Google Shape;549;p11"/>
          <p:cNvSpPr/>
          <p:nvPr/>
        </p:nvSpPr>
        <p:spPr>
          <a:xfrm>
            <a:off x="1553400" y="-6696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B</a:t>
            </a:r>
            <a:endParaRPr b="0" lang="en-US" sz="1400" spc="-1" strike="noStrike">
              <a:latin typeface="Arial"/>
            </a:endParaRPr>
          </a:p>
        </p:txBody>
      </p:sp>
      <p:sp>
        <p:nvSpPr>
          <p:cNvPr id="586" name="Google Shape;550;p11"/>
          <p:cNvSpPr/>
          <p:nvPr/>
        </p:nvSpPr>
        <p:spPr>
          <a:xfrm>
            <a:off x="3265560" y="-5724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C</a:t>
            </a:r>
            <a:endParaRPr b="0" lang="en-US" sz="1400" spc="-1" strike="noStrike">
              <a:latin typeface="Arial"/>
            </a:endParaRPr>
          </a:p>
        </p:txBody>
      </p:sp>
      <p:grpSp>
        <p:nvGrpSpPr>
          <p:cNvPr id="587" name="Google Shape;551;p11"/>
          <p:cNvGrpSpPr/>
          <p:nvPr/>
        </p:nvGrpSpPr>
        <p:grpSpPr>
          <a:xfrm>
            <a:off x="-87120" y="2477160"/>
            <a:ext cx="957960" cy="895680"/>
            <a:chOff x="-87120" y="2477160"/>
            <a:chExt cx="957960" cy="895680"/>
          </a:xfrm>
        </p:grpSpPr>
        <p:grpSp>
          <p:nvGrpSpPr>
            <p:cNvPr id="588" name="Google Shape;552;p11"/>
            <p:cNvGrpSpPr/>
            <p:nvPr/>
          </p:nvGrpSpPr>
          <p:grpSpPr>
            <a:xfrm>
              <a:off x="186480" y="2534760"/>
              <a:ext cx="452520" cy="603720"/>
              <a:chOff x="186480" y="2534760"/>
              <a:chExt cx="452520" cy="603720"/>
            </a:xfrm>
          </p:grpSpPr>
          <p:sp>
            <p:nvSpPr>
              <p:cNvPr id="589" name="Google Shape;553;p11"/>
              <p:cNvSpPr/>
              <p:nvPr/>
            </p:nvSpPr>
            <p:spPr>
              <a:xfrm rot="10800000">
                <a:off x="187560" y="2534760"/>
                <a:ext cx="360" cy="603360"/>
              </a:xfrm>
              <a:custGeom>
                <a:avLst/>
                <a:gdLst/>
                <a:ahLst/>
                <a:rect l="l" t="t" r="r" b="b"/>
                <a:pathLst>
                  <a:path w="21600" h="21600">
                    <a:moveTo>
                      <a:pt x="0" y="0"/>
                    </a:moveTo>
                    <a:lnTo>
                      <a:pt x="21600" y="21600"/>
                    </a:lnTo>
                  </a:path>
                </a:pathLst>
              </a:custGeom>
              <a:noFill/>
              <a:ln w="9525">
                <a:solidFill>
                  <a:srgbClr val="000000"/>
                </a:solidFill>
                <a:round/>
                <a:tailEnd len="med" type="stealth" w="med"/>
              </a:ln>
            </p:spPr>
            <p:style>
              <a:lnRef idx="0"/>
              <a:fillRef idx="0"/>
              <a:effectRef idx="0"/>
              <a:fontRef idx="minor"/>
            </p:style>
          </p:sp>
          <p:sp>
            <p:nvSpPr>
              <p:cNvPr id="590" name="Google Shape;554;p11"/>
              <p:cNvSpPr/>
              <p:nvPr/>
            </p:nvSpPr>
            <p:spPr>
              <a:xfrm>
                <a:off x="186480" y="3138120"/>
                <a:ext cx="452520" cy="360"/>
              </a:xfrm>
              <a:custGeom>
                <a:avLst/>
                <a:gdLst/>
                <a:ahLst/>
                <a:rect l="l" t="t" r="r" b="b"/>
                <a:pathLst>
                  <a:path w="21600" h="21600">
                    <a:moveTo>
                      <a:pt x="0" y="0"/>
                    </a:moveTo>
                    <a:lnTo>
                      <a:pt x="21600" y="21600"/>
                    </a:lnTo>
                  </a:path>
                </a:pathLst>
              </a:custGeom>
              <a:noFill/>
              <a:ln w="9525">
                <a:solidFill>
                  <a:srgbClr val="000000"/>
                </a:solidFill>
                <a:round/>
                <a:tailEnd len="med" type="stealth" w="med"/>
              </a:ln>
            </p:spPr>
            <p:style>
              <a:lnRef idx="0"/>
              <a:fillRef idx="0"/>
              <a:effectRef idx="0"/>
              <a:fontRef idx="minor"/>
            </p:style>
          </p:sp>
        </p:grpSp>
        <p:sp>
          <p:nvSpPr>
            <p:cNvPr id="591" name="Google Shape;555;p11"/>
            <p:cNvSpPr/>
            <p:nvPr/>
          </p:nvSpPr>
          <p:spPr>
            <a:xfrm>
              <a:off x="-87120" y="3161520"/>
              <a:ext cx="9579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800" spc="-1" strike="noStrike">
                  <a:solidFill>
                    <a:srgbClr val="000000"/>
                  </a:solidFill>
                  <a:latin typeface="Arial"/>
                  <a:ea typeface="Arial"/>
                </a:rPr>
                <a:t>True AUC</a:t>
              </a:r>
              <a:endParaRPr b="0" lang="en-US" sz="800" spc="-1" strike="noStrike">
                <a:latin typeface="Arial"/>
              </a:endParaRPr>
            </a:p>
          </p:txBody>
        </p:sp>
        <p:sp>
          <p:nvSpPr>
            <p:cNvPr id="592" name="Google Shape;556;p11"/>
            <p:cNvSpPr/>
            <p:nvPr/>
          </p:nvSpPr>
          <p:spPr>
            <a:xfrm rot="16200000">
              <a:off x="-354240" y="2802240"/>
              <a:ext cx="8614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800" spc="-1" strike="noStrike">
                  <a:solidFill>
                    <a:srgbClr val="000000"/>
                  </a:solidFill>
                  <a:latin typeface="Arial"/>
                  <a:ea typeface="Arial"/>
                </a:rPr>
                <a:t>Predicted AUC</a:t>
              </a:r>
              <a:endParaRPr b="0" lang="en-US" sz="800" spc="-1" strike="noStrike">
                <a:latin typeface="Arial"/>
              </a:endParaRPr>
            </a:p>
          </p:txBody>
        </p:sp>
      </p:grpSp>
      <p:sp>
        <p:nvSpPr>
          <p:cNvPr id="593" name="Google Shape;557;p11"/>
          <p:cNvSpPr/>
          <p:nvPr/>
        </p:nvSpPr>
        <p:spPr>
          <a:xfrm>
            <a:off x="4635360" y="1822680"/>
            <a:ext cx="22219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Supplementary Figure 2</a:t>
            </a:r>
            <a:endParaRPr b="0" lang="en-US" sz="1400" spc="-1" strike="noStrike">
              <a:latin typeface="Arial"/>
            </a:endParaRPr>
          </a:p>
        </p:txBody>
      </p:sp>
      <p:sp>
        <p:nvSpPr>
          <p:cNvPr id="594" name="Google Shape;558;p11"/>
          <p:cNvSpPr/>
          <p:nvPr/>
        </p:nvSpPr>
        <p:spPr>
          <a:xfrm>
            <a:off x="4922640" y="-5724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D</a:t>
            </a:r>
            <a:endParaRPr b="0" lang="en-US" sz="1400" spc="-1" strike="noStrike">
              <a:latin typeface="Arial"/>
            </a:endParaRPr>
          </a:p>
        </p:txBody>
      </p:sp>
      <p:sp>
        <p:nvSpPr>
          <p:cNvPr id="595" name="Google Shape;559;p11"/>
          <p:cNvSpPr/>
          <p:nvPr/>
        </p:nvSpPr>
        <p:spPr>
          <a:xfrm>
            <a:off x="819720" y="2010960"/>
            <a:ext cx="3031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E</a:t>
            </a:r>
            <a:endParaRPr b="0" lang="en-US" sz="1400" spc="-1" strike="noStrike">
              <a:latin typeface="Arial"/>
            </a:endParaRPr>
          </a:p>
        </p:txBody>
      </p:sp>
      <p:sp>
        <p:nvSpPr>
          <p:cNvPr id="596" name="Google Shape;560;p11"/>
          <p:cNvSpPr/>
          <p:nvPr/>
        </p:nvSpPr>
        <p:spPr>
          <a:xfrm>
            <a:off x="2604600" y="2010960"/>
            <a:ext cx="2919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F</a:t>
            </a:r>
            <a:endParaRPr b="0" lang="en-US" sz="1400" spc="-1" strike="noStrike">
              <a:latin typeface="Arial"/>
            </a:endParaRPr>
          </a:p>
        </p:txBody>
      </p:sp>
      <p:sp>
        <p:nvSpPr>
          <p:cNvPr id="597" name="Google Shape;561;p11"/>
          <p:cNvSpPr/>
          <p:nvPr/>
        </p:nvSpPr>
        <p:spPr>
          <a:xfrm>
            <a:off x="4521240" y="2010960"/>
            <a:ext cx="3222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G</a:t>
            </a:r>
            <a:endParaRPr b="0" lang="en-US" sz="1400" spc="-1" strike="noStrike">
              <a:latin typeface="Arial"/>
            </a:endParaRPr>
          </a:p>
        </p:txBody>
      </p:sp>
      <p:sp>
        <p:nvSpPr>
          <p:cNvPr id="598" name="Google Shape;562;p11"/>
          <p:cNvSpPr/>
          <p:nvPr/>
        </p:nvSpPr>
        <p:spPr>
          <a:xfrm>
            <a:off x="0" y="4049640"/>
            <a:ext cx="6856200" cy="360"/>
          </a:xfrm>
          <a:custGeom>
            <a:avLst/>
            <a:gdLst/>
            <a:ahLst/>
            <a:rect l="l" t="t" r="r" b="b"/>
            <a:pathLst>
              <a:path w="21600" h="21600">
                <a:moveTo>
                  <a:pt x="0" y="0"/>
                </a:moveTo>
                <a:lnTo>
                  <a:pt x="21600" y="21600"/>
                </a:lnTo>
              </a:path>
            </a:pathLst>
          </a:custGeom>
          <a:noFill/>
          <a:ln w="12700">
            <a:solidFill>
              <a:srgbClr val="000000"/>
            </a:solidFill>
            <a:round/>
          </a:ln>
        </p:spPr>
        <p:style>
          <a:lnRef idx="0"/>
          <a:fillRef idx="0"/>
          <a:effectRef idx="0"/>
          <a:fontRef idx="minor"/>
        </p:style>
      </p:sp>
      <p:sp>
        <p:nvSpPr>
          <p:cNvPr id="599" name="Google Shape;563;p11"/>
          <p:cNvSpPr/>
          <p:nvPr/>
        </p:nvSpPr>
        <p:spPr>
          <a:xfrm>
            <a:off x="-64080" y="405648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H</a:t>
            </a:r>
            <a:endParaRPr b="0" lang="en-US" sz="1400" spc="-1" strike="noStrike">
              <a:latin typeface="Arial"/>
            </a:endParaRPr>
          </a:p>
        </p:txBody>
      </p:sp>
      <p:sp>
        <p:nvSpPr>
          <p:cNvPr id="600" name="Google Shape;564;p11"/>
          <p:cNvSpPr/>
          <p:nvPr/>
        </p:nvSpPr>
        <p:spPr>
          <a:xfrm>
            <a:off x="1626120" y="407736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I</a:t>
            </a:r>
            <a:endParaRPr b="0" lang="en-US" sz="1400" spc="-1" strike="noStrike">
              <a:latin typeface="Arial"/>
            </a:endParaRPr>
          </a:p>
        </p:txBody>
      </p:sp>
      <p:sp>
        <p:nvSpPr>
          <p:cNvPr id="601" name="Google Shape;565;p11"/>
          <p:cNvSpPr/>
          <p:nvPr/>
        </p:nvSpPr>
        <p:spPr>
          <a:xfrm>
            <a:off x="3280320" y="407592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J</a:t>
            </a:r>
            <a:endParaRPr b="0" lang="en-US" sz="1400" spc="-1" strike="noStrike">
              <a:latin typeface="Arial"/>
            </a:endParaRPr>
          </a:p>
        </p:txBody>
      </p:sp>
      <p:sp>
        <p:nvSpPr>
          <p:cNvPr id="602" name="Google Shape;566;p11"/>
          <p:cNvSpPr/>
          <p:nvPr/>
        </p:nvSpPr>
        <p:spPr>
          <a:xfrm>
            <a:off x="4966920" y="410580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K</a:t>
            </a:r>
            <a:endParaRPr b="0" lang="en-US" sz="1400" spc="-1" strike="noStrike">
              <a:latin typeface="Arial"/>
            </a:endParaRPr>
          </a:p>
        </p:txBody>
      </p:sp>
      <p:sp>
        <p:nvSpPr>
          <p:cNvPr id="603" name="Google Shape;567;p11"/>
          <p:cNvSpPr/>
          <p:nvPr/>
        </p:nvSpPr>
        <p:spPr>
          <a:xfrm>
            <a:off x="-56520" y="5764320"/>
            <a:ext cx="2919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L</a:t>
            </a:r>
            <a:endParaRPr b="0" lang="en-US" sz="1400" spc="-1" strike="noStrike">
              <a:latin typeface="Arial"/>
            </a:endParaRPr>
          </a:p>
        </p:txBody>
      </p:sp>
      <p:sp>
        <p:nvSpPr>
          <p:cNvPr id="604" name="Google Shape;568;p11"/>
          <p:cNvSpPr/>
          <p:nvPr/>
        </p:nvSpPr>
        <p:spPr>
          <a:xfrm>
            <a:off x="1591560" y="5765400"/>
            <a:ext cx="3319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M</a:t>
            </a:r>
            <a:endParaRPr b="0" lang="en-US" sz="1400" spc="-1" strike="noStrike">
              <a:latin typeface="Arial"/>
            </a:endParaRPr>
          </a:p>
        </p:txBody>
      </p:sp>
      <p:sp>
        <p:nvSpPr>
          <p:cNvPr id="605" name="Google Shape;569;p11"/>
          <p:cNvSpPr/>
          <p:nvPr/>
        </p:nvSpPr>
        <p:spPr>
          <a:xfrm>
            <a:off x="3354480" y="575532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N</a:t>
            </a:r>
            <a:endParaRPr b="0" lang="en-US" sz="1400" spc="-1" strike="noStrike">
              <a:latin typeface="Arial"/>
            </a:endParaRPr>
          </a:p>
        </p:txBody>
      </p:sp>
      <p:sp>
        <p:nvSpPr>
          <p:cNvPr id="606" name="Google Shape;570;p11"/>
          <p:cNvSpPr/>
          <p:nvPr/>
        </p:nvSpPr>
        <p:spPr>
          <a:xfrm>
            <a:off x="5001480" y="5763600"/>
            <a:ext cx="3222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O</a:t>
            </a:r>
            <a:endParaRPr b="0" lang="en-US" sz="1400" spc="-1" strike="noStrike">
              <a:latin typeface="Arial"/>
            </a:endParaRPr>
          </a:p>
        </p:txBody>
      </p:sp>
      <p:sp>
        <p:nvSpPr>
          <p:cNvPr id="607" name="Google Shape;571;p11"/>
          <p:cNvSpPr/>
          <p:nvPr/>
        </p:nvSpPr>
        <p:spPr>
          <a:xfrm>
            <a:off x="-45720" y="7394040"/>
            <a:ext cx="3031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P</a:t>
            </a:r>
            <a:endParaRPr b="0" lang="en-US" sz="1400" spc="-1" strike="noStrike">
              <a:latin typeface="Arial"/>
            </a:endParaRPr>
          </a:p>
        </p:txBody>
      </p:sp>
      <p:sp>
        <p:nvSpPr>
          <p:cNvPr id="608" name="Google Shape;572;p11"/>
          <p:cNvSpPr/>
          <p:nvPr/>
        </p:nvSpPr>
        <p:spPr>
          <a:xfrm>
            <a:off x="1601280" y="7418520"/>
            <a:ext cx="3222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Q</a:t>
            </a:r>
            <a:endParaRPr b="0" lang="en-US" sz="1400" spc="-1" strike="noStrike">
              <a:latin typeface="Arial"/>
            </a:endParaRPr>
          </a:p>
        </p:txBody>
      </p:sp>
      <p:sp>
        <p:nvSpPr>
          <p:cNvPr id="609" name="Google Shape;573;p11"/>
          <p:cNvSpPr/>
          <p:nvPr/>
        </p:nvSpPr>
        <p:spPr>
          <a:xfrm>
            <a:off x="3362760" y="739404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R</a:t>
            </a:r>
            <a:endParaRPr b="0" lang="en-US" sz="1400" spc="-1" strike="noStrike">
              <a:latin typeface="Arial"/>
            </a:endParaRPr>
          </a:p>
        </p:txBody>
      </p:sp>
      <p:sp>
        <p:nvSpPr>
          <p:cNvPr id="610" name="Google Shape;574;p11"/>
          <p:cNvSpPr/>
          <p:nvPr/>
        </p:nvSpPr>
        <p:spPr>
          <a:xfrm>
            <a:off x="5001480" y="7418520"/>
            <a:ext cx="3031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S</a:t>
            </a:r>
            <a:endParaRPr b="0" lang="en-US" sz="1400" spc="-1" strike="noStrike">
              <a:latin typeface="Arial"/>
            </a:endParaRPr>
          </a:p>
        </p:txBody>
      </p:sp>
      <p:pic>
        <p:nvPicPr>
          <p:cNvPr id="611" name="Google Shape;575;p11" descr="A picture containing text, screenshot, font, line&#10;&#10;Description automatically generated"/>
          <p:cNvPicPr/>
          <p:nvPr/>
        </p:nvPicPr>
        <p:blipFill>
          <a:blip r:embed="rId18"/>
          <a:stretch/>
        </p:blipFill>
        <p:spPr>
          <a:xfrm>
            <a:off x="1828080" y="7602840"/>
            <a:ext cx="1586160" cy="1539720"/>
          </a:xfrm>
          <a:prstGeom prst="rect">
            <a:avLst/>
          </a:prstGeom>
          <a:ln w="0">
            <a:noFill/>
          </a:ln>
        </p:spPr>
      </p:pic>
      <p:pic>
        <p:nvPicPr>
          <p:cNvPr id="612" name="Google Shape;576;p11" descr="A diagram of a graph&#10;&#10;Description automatically generated"/>
          <p:cNvPicPr/>
          <p:nvPr/>
        </p:nvPicPr>
        <p:blipFill>
          <a:blip r:embed="rId19"/>
          <a:stretch/>
        </p:blipFill>
        <p:spPr>
          <a:xfrm>
            <a:off x="4745880" y="2134440"/>
            <a:ext cx="1868040" cy="17913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3" name="Google Shape;581;p12" descr="A graph of value and numbers&#10;&#10;Description automatically generated"/>
          <p:cNvPicPr/>
          <p:nvPr/>
        </p:nvPicPr>
        <p:blipFill>
          <a:blip r:embed="rId1"/>
          <a:stretch/>
        </p:blipFill>
        <p:spPr>
          <a:xfrm>
            <a:off x="3607200" y="104040"/>
            <a:ext cx="3015360" cy="3951000"/>
          </a:xfrm>
          <a:prstGeom prst="rect">
            <a:avLst/>
          </a:prstGeom>
          <a:ln w="0">
            <a:noFill/>
          </a:ln>
        </p:spPr>
      </p:pic>
      <p:pic>
        <p:nvPicPr>
          <p:cNvPr id="614" name="Google Shape;582;p12" descr="A graph of a number of numbers and a bar graph&#10;&#10;Description automatically generated"/>
          <p:cNvPicPr/>
          <p:nvPr/>
        </p:nvPicPr>
        <p:blipFill>
          <a:blip r:embed="rId2"/>
          <a:stretch/>
        </p:blipFill>
        <p:spPr>
          <a:xfrm>
            <a:off x="110880" y="100080"/>
            <a:ext cx="2678400" cy="4113000"/>
          </a:xfrm>
          <a:prstGeom prst="rect">
            <a:avLst/>
          </a:prstGeom>
          <a:ln w="0">
            <a:noFill/>
          </a:ln>
        </p:spPr>
      </p:pic>
      <p:sp>
        <p:nvSpPr>
          <p:cNvPr id="615" name="Google Shape;583;p12"/>
          <p:cNvSpPr/>
          <p:nvPr/>
        </p:nvSpPr>
        <p:spPr>
          <a:xfrm>
            <a:off x="-46800" y="-5580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A</a:t>
            </a:r>
            <a:endParaRPr b="0" lang="en-US" sz="1400" spc="-1" strike="noStrike">
              <a:latin typeface="Arial"/>
            </a:endParaRPr>
          </a:p>
        </p:txBody>
      </p:sp>
      <p:sp>
        <p:nvSpPr>
          <p:cNvPr id="616" name="Google Shape;584;p12"/>
          <p:cNvSpPr/>
          <p:nvPr/>
        </p:nvSpPr>
        <p:spPr>
          <a:xfrm>
            <a:off x="3452760" y="-6516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B</a:t>
            </a:r>
            <a:endParaRPr b="0" lang="en-US" sz="1400" spc="-1" strike="noStrike">
              <a:latin typeface="Arial"/>
            </a:endParaRPr>
          </a:p>
        </p:txBody>
      </p:sp>
      <p:sp>
        <p:nvSpPr>
          <p:cNvPr id="617" name="Google Shape;585;p12"/>
          <p:cNvSpPr/>
          <p:nvPr/>
        </p:nvSpPr>
        <p:spPr>
          <a:xfrm>
            <a:off x="4691520" y="8838000"/>
            <a:ext cx="263988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Supplementary Figure 3</a:t>
            </a:r>
            <a:endParaRPr b="0" lang="en-US" sz="1400" spc="-1" strike="noStrike">
              <a:latin typeface="Arial"/>
            </a:endParaRPr>
          </a:p>
        </p:txBody>
      </p:sp>
      <p:sp>
        <p:nvSpPr>
          <p:cNvPr id="618" name="Google Shape;586;p12"/>
          <p:cNvSpPr/>
          <p:nvPr/>
        </p:nvSpPr>
        <p:spPr>
          <a:xfrm>
            <a:off x="1562760" y="434304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C</a:t>
            </a:r>
            <a:endParaRPr b="0" lang="en-US" sz="1400" spc="-1" strike="noStrike">
              <a:latin typeface="Arial"/>
            </a:endParaRPr>
          </a:p>
        </p:txBody>
      </p:sp>
      <p:pic>
        <p:nvPicPr>
          <p:cNvPr id="619" name="Google Shape;587;p12" descr="A blue and yellow graph&#10;&#10;Description automatically generated"/>
          <p:cNvPicPr/>
          <p:nvPr/>
        </p:nvPicPr>
        <p:blipFill>
          <a:blip r:embed="rId3"/>
          <a:stretch/>
        </p:blipFill>
        <p:spPr>
          <a:xfrm>
            <a:off x="1856880" y="4458240"/>
            <a:ext cx="2731680" cy="46522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20" name="Google Shape;593;p14"/>
          <p:cNvGraphicFramePr/>
          <p:nvPr/>
        </p:nvGraphicFramePr>
        <p:xfrm>
          <a:off x="0" y="0"/>
          <a:ext cx="6857280" cy="6677280"/>
        </p:xfrm>
        <a:graphic>
          <a:graphicData uri="http://schemas.openxmlformats.org/drawingml/2006/table">
            <a:tbl>
              <a:tblPr/>
              <a:tblGrid>
                <a:gridCol w="1117440"/>
                <a:gridCol w="681120"/>
                <a:gridCol w="558720"/>
                <a:gridCol w="489960"/>
                <a:gridCol w="504360"/>
                <a:gridCol w="475560"/>
                <a:gridCol w="444960"/>
                <a:gridCol w="368280"/>
                <a:gridCol w="524520"/>
                <a:gridCol w="524520"/>
                <a:gridCol w="583200"/>
                <a:gridCol w="585000"/>
              </a:tblGrid>
              <a:tr h="395640">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Methods</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Features Used</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CV (MAE)</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Test (MAE)</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CV (RMSE)</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Test (RMSE)</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CV (r2)</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Test (r2)</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CV Pearson (r ) </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Test Pearson (r )</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CV Spearman (r )</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1" lang="en-US" sz="900" spc="-1" strike="noStrike">
                          <a:solidFill>
                            <a:srgbClr val="000000"/>
                          </a:solidFill>
                          <a:latin typeface="Arial"/>
                          <a:ea typeface="Arial"/>
                        </a:rPr>
                        <a:t>Test Spearman (r )</a:t>
                      </a:r>
                      <a:endParaRPr b="0" lang="en-US" sz="9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Ridge Regressor</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30.224 +/- 1.972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44.859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40.342 +/- 2.906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60.005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0.555 +/- 0.052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0.281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0.744 +/- 0.034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0.742 +/- 0.032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0.556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Ridge Regressor</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MFP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29.925 +/- 1.917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43.476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40.103 +/- 2.891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57.257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0.559 +/- 0.052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0.336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0.747 +/- 0.034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0.579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0.745 +/- 0.033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0.578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Linear SVR</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30.125 +/- 1.955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44.968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40.249 +/- 2.898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60.366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0.556 +/- 0.051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0.278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0.745 +/- 0.034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0.527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0.743 +/- 0.032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0.557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Linear SVR</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MFP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29.934 +/- 1.922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43.894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40.088 +/- 2.894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57.731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0.559 +/- 0.052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0.328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0.747 +/- 0.034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0.572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0.745 +/- 0.033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0.571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RF</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21.824 +/- 0.973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39.626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29.865 +/- 1.514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52.277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0.787 +/- 0.021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0.442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0.887 +/- 0.012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0.665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0.886 +/- 0.009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0.656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RF</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MFP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20.749 +/- 1.221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40.156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28.287 +/- 1.834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52.528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0.817 +/- 0.021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0.904 +/- 0.012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0.661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0.9 +/- 0.01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XGBoost</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24.288 +/- 1.212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39.843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31.939 +/- 1.755 </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52.339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0.728 +/- 0.038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0.853 +/- 0.022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0.835 +/- 0.022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XGBoost</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MFP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22.937 +/- 1.009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40.534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30.101 +/- 1.445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52.876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0.782 +/- 0.037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0.884 +/- 0.21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0.867 +/- 0.022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LightGBM</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21.02 +/- 1.48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39.044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31.919 +/- 2.432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52.032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0.725 +/- 0.036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0.439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0.851 +/- 0.021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0.663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0.85 +/- 0.017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0.652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LightGBM</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MFP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23.232 +/- 1.079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40.071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31.123 +/- 1.651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52.554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0.752 +/- 0.037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0.867 +/- 0.021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0.854 +/- 0.021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Catboost</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26.35 +/- 1.559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39.24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37.256 +/- 2.51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52.449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0.623 +/- 0.044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0.789 +/- 0.028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0.789 +/- 0.024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Catboost</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MFP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21.529 +/- 1.119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39.497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28.748 +/- 1.63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52.091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0.786 +/- 0.029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0.441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0.887 +/- 0.016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0.664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0.872 +/- 0.016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0.656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DNN</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23.511 +/- 1.431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45.151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32.091 +/- 2.1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58.69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0.718 +/- 0.032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0.847 +/- 0.019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0.565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0.836 +/- 0.018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0.552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DNN</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MFP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18.189 +/- 1.05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42.647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25.422 +/- 1.582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56.177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0.824 +/- 0.018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0.356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0.908 +/- 0.01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0.596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0.899 +/- 0.01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0.587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4848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Graph Attention Network + FFNN</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SMILES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26.312 +/- 0.370</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40.697</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37.113 +/- 0.644</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54.904</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0.643 +/- 0.0069</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0.393</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0.802 +/- 0.0042</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0.627</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0.800 +/- 0.0057</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0.617</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r>
              <a:tr h="34848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CNN + FFNN</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SMILES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26.026 +/- 0.228</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40.85</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37.031 +/- 0.489</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55.6</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0.646 +/- 0.0067</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0.397</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0.803 +/- 0.0043</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0.63</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0.800 +/- 0.0041</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0.627</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r>
              <a:tr h="348480">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LSTM + FFNN</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gn="r">
                        <a:lnSpc>
                          <a:spcPct val="100000"/>
                        </a:lnSpc>
                        <a:buNone/>
                        <a:tabLst>
                          <a:tab algn="l" pos="0"/>
                        </a:tabLst>
                      </a:pPr>
                      <a:r>
                        <a:rPr b="0" lang="en-US" sz="800" spc="-1" strike="noStrike">
                          <a:solidFill>
                            <a:srgbClr val="000000"/>
                          </a:solidFill>
                          <a:latin typeface="Arial"/>
                          <a:ea typeface="Arial"/>
                        </a:rPr>
                        <a:t>SMILES + Cell Line</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26.267 +/- 0.420</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40.70</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36.871 +/- 0.611</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55.14</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0.645 +/- 0.0076</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0.389</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0.803 +/- 0.0047</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0.624</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0.799 +/- 0.0056</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c>
                  <a:txBody>
                    <a:bodyPr lIns="7920" rIns="7920" anchor="b">
                      <a:noAutofit/>
                    </a:bodyPr>
                    <a:p>
                      <a:pPr>
                        <a:lnSpc>
                          <a:spcPct val="100000"/>
                        </a:lnSpc>
                        <a:buNone/>
                        <a:tabLst>
                          <a:tab algn="l" pos="0"/>
                        </a:tabLst>
                      </a:pPr>
                      <a:r>
                        <a:rPr b="0" lang="en-US" sz="800" spc="-1" strike="noStrike">
                          <a:solidFill>
                            <a:srgbClr val="000000"/>
                          </a:solidFill>
                          <a:latin typeface="Arial"/>
                          <a:ea typeface="Arial"/>
                        </a:rPr>
                        <a:t>0.618</a:t>
                      </a:r>
                      <a:endParaRPr b="0" lang="en-US" sz="800" spc="-1" strike="noStrike">
                        <a:latin typeface="Arial"/>
                      </a:endParaRPr>
                    </a:p>
                  </a:txBody>
                  <a:tcPr anchor="b" marL="7920" marR="7920">
                    <a:lnL w="9360">
                      <a:solidFill>
                        <a:srgbClr val="cccccc"/>
                      </a:solidFill>
                    </a:lnL>
                    <a:lnR w="9360">
                      <a:solidFill>
                        <a:srgbClr val="cccccc"/>
                      </a:solidFill>
                    </a:lnR>
                    <a:lnT w="9360">
                      <a:solidFill>
                        <a:srgbClr val="cccccc"/>
                      </a:solidFill>
                    </a:lnT>
                    <a:lnB w="9360">
                      <a:solidFill>
                        <a:srgbClr val="cccccc"/>
                      </a:solidFill>
                    </a:lnB>
                    <a:noFill/>
                  </a:tcPr>
                </a:tc>
              </a:tr>
            </a:tbl>
          </a:graphicData>
        </a:graphic>
      </p:graphicFrame>
      <p:sp>
        <p:nvSpPr>
          <p:cNvPr id="621" name="Google Shape;594;p14"/>
          <p:cNvSpPr/>
          <p:nvPr/>
        </p:nvSpPr>
        <p:spPr>
          <a:xfrm>
            <a:off x="0" y="7545960"/>
            <a:ext cx="45417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Table 1: Performance comparison of different machine learning models </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22" name="Google Shape;599;p15"/>
          <p:cNvGraphicFramePr/>
          <p:nvPr/>
        </p:nvGraphicFramePr>
        <p:xfrm>
          <a:off x="0" y="0"/>
          <a:ext cx="6865200" cy="8255520"/>
        </p:xfrm>
        <a:graphic>
          <a:graphicData uri="http://schemas.openxmlformats.org/drawingml/2006/table">
            <a:tbl>
              <a:tblPr/>
              <a:tblGrid>
                <a:gridCol w="942120"/>
                <a:gridCol w="825840"/>
                <a:gridCol w="524160"/>
                <a:gridCol w="585360"/>
                <a:gridCol w="475200"/>
                <a:gridCol w="528480"/>
                <a:gridCol w="451080"/>
                <a:gridCol w="565200"/>
                <a:gridCol w="590400"/>
                <a:gridCol w="676080"/>
                <a:gridCol w="701640"/>
              </a:tblGrid>
              <a:tr h="360000">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Features Used</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CV (MAE)</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Test (MAE)</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CV (RMSE)</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Test (RMSE)</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CV (r2)</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Test (r2)</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CV (Pearson r)</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Test (Pearson r)</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CV (Spearman r)</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c>
                  <a:txBody>
                    <a:bodyPr lIns="12600" rIns="12600" anchor="b">
                      <a:noAutofit/>
                    </a:bodyPr>
                    <a:p>
                      <a:pPr algn="r">
                        <a:lnSpc>
                          <a:spcPct val="100000"/>
                        </a:lnSpc>
                        <a:buNone/>
                        <a:tabLst>
                          <a:tab algn="l" pos="0"/>
                        </a:tabLst>
                      </a:pPr>
                      <a:r>
                        <a:rPr b="1" lang="en-US" sz="800" spc="-1" strike="noStrike">
                          <a:solidFill>
                            <a:srgbClr val="000000"/>
                          </a:solidFill>
                          <a:latin typeface="Arial"/>
                          <a:ea typeface="Arial"/>
                        </a:rPr>
                        <a:t>Test (Spearman r)</a:t>
                      </a:r>
                      <a:endParaRPr b="0" lang="en-US" sz="800" spc="-1" strike="noStrike">
                        <a:latin typeface="Arial"/>
                      </a:endParaRPr>
                    </a:p>
                  </a:txBody>
                  <a:tcPr anchor="b" marL="12600" marR="12600">
                    <a:lnL w="9360">
                      <a:solidFill>
                        <a:srgbClr val="cccccc"/>
                      </a:solidFill>
                    </a:lnL>
                    <a:lnR w="9360">
                      <a:solidFill>
                        <a:srgbClr val="cccccc"/>
                      </a:solidFill>
                    </a:lnR>
                    <a:lnT w="9360">
                      <a:solidFill>
                        <a:srgbClr val="cccccc"/>
                      </a:solidFill>
                    </a:lnT>
                    <a:lnB w="9360">
                      <a:solidFill>
                        <a:srgbClr val="cccccc"/>
                      </a:solidFill>
                    </a:lnB>
                    <a:noFill/>
                  </a:tcPr>
                </a:tc>
              </a:tr>
              <a:tr h="36000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27.458 +/- 1.207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40.465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38.85 +/- 1.856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54.114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0.591 +/- 0.054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0.406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0.768 +/- 0.035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0.637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0.774 +/- 0.028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0.626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6000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Onco +Var + AUC</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20.862 +/- 1.39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39.542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31.731 +/- 2.305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52.46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0.728 +/- 0.037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0.853 +/- 0.022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0.852 +/- 0.017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6000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Pathways + AUC</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19.556 +/- 1.005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40.149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30.409 +/- 1.866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53.287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0.751 +/- 0.03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0.412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0.866 +/- 0.017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0.867 +/- 0.014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0.628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6000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Modules + AUC</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20.996 +/- 1.183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39.337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31.81 +/- 2.001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52.509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0.728 +/- 0.033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0.429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0.853 +/- 0.019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0.854 +/- 0.015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6000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Mutations + AUC</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22.004 +/- 1.185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39.604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32.911 +/- 1.944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52.854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0.709 +/- 0.038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0.429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0.842 +/- 0.022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0.843 +/- 0.018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37404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 + Pathways + Modules</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25.35 +/- 1.324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39.398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36.136 +/- 2.137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52.482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0.646 +/- 0.044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0.803 +/- 0.027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0.804 +/- 0.023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63576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 + Pathways + Mutations</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25.59 +/- 1.377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39.507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36.397 +/- 2.138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52.792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0.641 +/- 0.044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 +/- 0.027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0.801 +/- 0023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63576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 + Pathways + Onco +Var</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24.765 +/- 1.473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39.718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35.574 +/- 2.351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52.744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0.658 +/- 0.042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0.427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0.81 +/- 0.026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0.81 +/- 0.021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635760">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MFP + AUC + Modules + Mutations</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25.858 +/- 1.415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38.94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36.688 +/- 2.168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52.229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0.635 +/- 0.045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0.441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0.796 +/- 0.028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0.664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0.797 +/- 0.023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0.656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63576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 + Modules + Onco + Var</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24.768 +/- 1.405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39.517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35.575 +/- 2.239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52.653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0.657 +/- 0.042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0.81 +/- 0.026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0.809 +/- 0.021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63576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 + Mutations + Onco + Var</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24.749 +/- 1.477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39.289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35.578 +/- 2.396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52.387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0.657 +/- 0.044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0.81 +/- 0.027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0.661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0.81 +/- 0.022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63576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 + Mutations + Modules + Onco + Var</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24.743 +/- 1.51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39.177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35.559 +/- 2.445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52.323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0.657 +/- 0.043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0.44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0.81 +/- 0.026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0.664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0.81 +/- 0.021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1" lang="en-US" sz="800" spc="-1" strike="noStrike">
                          <a:solidFill>
                            <a:srgbClr val="000000"/>
                          </a:solidFill>
                          <a:latin typeface="Arial"/>
                          <a:ea typeface="Arial"/>
                        </a:rPr>
                        <a:t>0.655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63576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 + Mutations + Pathways + Onco + Var</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25.675 +/- 1.556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39.803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36.518 +/- 2.458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53.268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0.638 +/- 0.045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0.419</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0.798 +/- 0.028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0.797 +/- 0.023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0.638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63576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 + Modules + Pathways + Onco + Var</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24.718 +/- 1.461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39.422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35.531 +/- 2.354</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52.581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0.658 +/- 0.046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0.811 +/- 0.028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0.81 +/- 0.023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0.648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r h="635760">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MFP + AUC + Mutations + Modules + Pathways</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27.653 +/- 1.425</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39.403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38.459 +/- 2.177</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52.601</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0.599 +/- 0.48</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0.436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0.774 +/- 0.03</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0.775 +/- 0.026</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solidFill>
                      <a:srgbClr val="ffffff"/>
                    </a:solidFill>
                  </a:tcPr>
                </a:tc>
                <a:tc>
                  <a:txBody>
                    <a:bodyPr lIns="22680" rIns="22680" anchor="b">
                      <a:noAutofit/>
                    </a:bodyPr>
                    <a:p>
                      <a:pPr algn="r">
                        <a:lnSpc>
                          <a:spcPct val="100000"/>
                        </a:lnSpc>
                        <a:buNone/>
                        <a:tabLst>
                          <a:tab algn="l" pos="0"/>
                        </a:tabLst>
                      </a:pPr>
                      <a:r>
                        <a:rPr b="0" lang="en-US" sz="800" spc="-1" strike="noStrike">
                          <a:solidFill>
                            <a:srgbClr val="000000"/>
                          </a:solidFill>
                          <a:latin typeface="Arial"/>
                          <a:ea typeface="Arial"/>
                        </a:rPr>
                        <a:t>0.652</a:t>
                      </a:r>
                      <a:endParaRPr b="0" lang="en-US" sz="800" spc="-1" strike="noStrike">
                        <a:latin typeface="Arial"/>
                      </a:endParaRPr>
                    </a:p>
                  </a:txBody>
                  <a:tcPr anchor="b" marL="22680" marR="22680">
                    <a:lnL w="9360">
                      <a:solidFill>
                        <a:srgbClr val="cccccc"/>
                      </a:solidFill>
                    </a:lnL>
                    <a:lnR w="9360">
                      <a:solidFill>
                        <a:srgbClr val="cccccc"/>
                      </a:solidFill>
                    </a:lnR>
                    <a:lnT w="9360">
                      <a:solidFill>
                        <a:srgbClr val="cccccc"/>
                      </a:solidFill>
                    </a:lnT>
                    <a:lnB w="9360">
                      <a:solidFill>
                        <a:srgbClr val="cccccc"/>
                      </a:solidFill>
                    </a:lnB>
                    <a:noFill/>
                  </a:tcPr>
                </a:tc>
              </a:tr>
            </a:tbl>
          </a:graphicData>
        </a:graphic>
      </p:graphicFrame>
      <p:sp>
        <p:nvSpPr>
          <p:cNvPr id="623" name="Google Shape;600;p15"/>
          <p:cNvSpPr/>
          <p:nvPr/>
        </p:nvSpPr>
        <p:spPr>
          <a:xfrm>
            <a:off x="253080" y="8318160"/>
            <a:ext cx="6856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Supplementary Table 1</a:t>
            </a:r>
            <a:r>
              <a:rPr b="0" lang="en-US" sz="1000" spc="-1" strike="noStrike">
                <a:solidFill>
                  <a:srgbClr val="000000"/>
                </a:solidFill>
                <a:latin typeface="Arial"/>
                <a:ea typeface="Arial"/>
              </a:rPr>
              <a:t>: </a:t>
            </a:r>
            <a:r>
              <a:rPr b="1" lang="en-US" sz="1000" spc="-1" strike="noStrike">
                <a:solidFill>
                  <a:srgbClr val="000000"/>
                </a:solidFill>
                <a:latin typeface="Arial"/>
                <a:ea typeface="Arial"/>
              </a:rPr>
              <a:t>Ablation study of different feature sets used for the optimal model construction.</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624" name="Google Shape;606;p16"/>
          <p:cNvSpPr/>
          <p:nvPr/>
        </p:nvSpPr>
        <p:spPr>
          <a:xfrm>
            <a:off x="-47160" y="0"/>
            <a:ext cx="6872040" cy="5781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100" spc="-1" strike="noStrike">
                <a:solidFill>
                  <a:srgbClr val="000000"/>
                </a:solidFill>
                <a:latin typeface="Arial"/>
                <a:ea typeface="Arial"/>
              </a:rPr>
              <a:t>Background: </a:t>
            </a: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1. 699 cell lines from CCLE with 19,177 gene expression profiles. This information was downloaded from Cancer Dependency Map Public 21Q3. We filtered the original data consisting of 1,377 cell lines 🡪 699 cell lines to keep only those cell lines with COSMIC ids to match the drug-response dataset from GDSC portal. We include 10 features related to cell line metadata including age, gender, type, name of cell line etc. for the cancer cell lines. </a:t>
            </a:r>
            <a:endParaRPr b="0" lang="en-US" sz="1100" spc="-1" strike="noStrike">
              <a:latin typeface="Arial"/>
            </a:endParaRPr>
          </a:p>
          <a:p>
            <a:pPr>
              <a:lnSpc>
                <a:spcPct val="100000"/>
              </a:lnSpc>
              <a:buNone/>
              <a:tabLst>
                <a:tab algn="l" pos="0"/>
              </a:tabLst>
            </a:pP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2. Genes of interest include genes which are part of several inflammasome/inflammatory cell death pathways including:</a:t>
            </a: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a) Reactome inflammasome, b) KEGG nod like signaling pathway, c) GO biological process inflammasome complex, d) Reactome pyroptosis, e) Necroptotic signaling pathway from GO, f) PANoptosis pathway, g) Immunogenic cell death pathway (ICR) 🡪 total of 170 (167 of which are present in the 19,177 genes)</a:t>
            </a:r>
            <a:endParaRPr b="0" lang="en-US" sz="1100" spc="-1" strike="noStrike">
              <a:latin typeface="Arial"/>
            </a:endParaRPr>
          </a:p>
          <a:p>
            <a:pPr>
              <a:lnSpc>
                <a:spcPct val="100000"/>
              </a:lnSpc>
              <a:buNone/>
              <a:tabLst>
                <a:tab algn="l" pos="0"/>
              </a:tabLst>
            </a:pP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3. Seven pathways considered for inflammatory cell death as mentioned above.</a:t>
            </a:r>
            <a:endParaRPr b="0" lang="en-US" sz="1100" spc="-1" strike="noStrike">
              <a:latin typeface="Arial"/>
            </a:endParaRPr>
          </a:p>
          <a:p>
            <a:pPr>
              <a:lnSpc>
                <a:spcPct val="100000"/>
              </a:lnSpc>
              <a:buNone/>
              <a:tabLst>
                <a:tab algn="l" pos="0"/>
              </a:tabLst>
            </a:pP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4. We got the mutation profile and copy number variation profile for the 170 genes of interest. The mutation profile and copy number variation was obtained from Harmonizome database from Mayan lab.</a:t>
            </a:r>
            <a:endParaRPr b="0" lang="en-US" sz="1100" spc="-1" strike="noStrike">
              <a:latin typeface="Arial"/>
            </a:endParaRPr>
          </a:p>
          <a:p>
            <a:pPr>
              <a:lnSpc>
                <a:spcPct val="100000"/>
              </a:lnSpc>
              <a:buNone/>
              <a:tabLst>
                <a:tab algn="l" pos="0"/>
              </a:tabLst>
            </a:pP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5. We removed genes which had no variation in expression, mutation or CNV across cell lines including:</a:t>
            </a: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Mutation_ERBIN, Mutation_NLRP2B, Mutation_STMP1, Mutation_PYDC2, Mutation_CARD18, CNV_ERBIN, CNV_NLRP2B, CNV_STMP1</a:t>
            </a:r>
            <a:endParaRPr b="0" lang="en-US" sz="1100" spc="-1" strike="noStrike">
              <a:latin typeface="Arial"/>
            </a:endParaRPr>
          </a:p>
          <a:p>
            <a:pPr>
              <a:lnSpc>
                <a:spcPct val="100000"/>
              </a:lnSpc>
              <a:buNone/>
              <a:tabLst>
                <a:tab algn="l" pos="0"/>
              </a:tabLst>
            </a:pP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6. Total Features include: </a:t>
            </a:r>
            <a:endParaRPr b="0" lang="en-US" sz="1100" spc="-1" strike="noStrike">
              <a:latin typeface="Arial"/>
            </a:endParaRPr>
          </a:p>
          <a:p>
            <a:pPr marL="228600" indent="-228600">
              <a:lnSpc>
                <a:spcPct val="100000"/>
              </a:lnSpc>
              <a:buClr>
                <a:srgbClr val="000000"/>
              </a:buClr>
              <a:buFont typeface="Arial"/>
              <a:buAutoNum type="alphaLcParenR"/>
              <a:tabLst>
                <a:tab algn="l" pos="0"/>
              </a:tabLst>
            </a:pPr>
            <a:r>
              <a:rPr b="0" lang="en-US" sz="1100" spc="-1" strike="noStrike">
                <a:solidFill>
                  <a:srgbClr val="000000"/>
                </a:solidFill>
                <a:latin typeface="Arial"/>
                <a:ea typeface="Arial"/>
              </a:rPr>
              <a:t>Cell Line Features (10); b) Pathways (7); c) Expression (167); d) Mutation (162); e) CNV (164) </a:t>
            </a:r>
            <a:endParaRPr b="0" lang="en-US" sz="1100" spc="-1" strike="noStrike">
              <a:latin typeface="Arial"/>
            </a:endParaRPr>
          </a:p>
          <a:p>
            <a:pPr>
              <a:lnSpc>
                <a:spcPct val="100000"/>
              </a:lnSpc>
              <a:buNone/>
              <a:tabLst>
                <a:tab algn="l" pos="0"/>
              </a:tabLst>
            </a:pP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7. The dose response information is obtained from GDSC portal. It contains drug response for a particular cell line with prediction variables: IC50score and Z-score. In the GDSC portal, the Z-score is used to determine sensitive and resistant drugs with cut-offs of -2 and 2 respectively. We use the –log10(IC50score) as our y variable (term to predict). It contains 398 unique drugs and 989 cell lines.</a:t>
            </a:r>
            <a:endParaRPr b="0" lang="en-US" sz="1100" spc="-1" strike="noStrike">
              <a:latin typeface="Arial"/>
            </a:endParaRPr>
          </a:p>
          <a:p>
            <a:pPr>
              <a:lnSpc>
                <a:spcPct val="100000"/>
              </a:lnSpc>
              <a:buNone/>
              <a:tabLst>
                <a:tab algn="l" pos="0"/>
              </a:tabLst>
            </a:pPr>
            <a:endParaRPr b="0" lang="en-US" sz="1100" spc="-1" strike="noStrike">
              <a:latin typeface="Arial"/>
            </a:endParaRPr>
          </a:p>
          <a:p>
            <a:pPr>
              <a:lnSpc>
                <a:spcPct val="100000"/>
              </a:lnSpc>
              <a:buNone/>
              <a:tabLst>
                <a:tab algn="l" pos="0"/>
              </a:tabLst>
            </a:pPr>
            <a:r>
              <a:rPr b="0" lang="en-US" sz="1100" spc="-1" strike="noStrike">
                <a:solidFill>
                  <a:srgbClr val="000000"/>
                </a:solidFill>
                <a:latin typeface="Arial"/>
                <a:ea typeface="Arial"/>
              </a:rPr>
              <a:t>8. The viability information is also obtained from GDSC portal. It contains cell viability at different dosage levels. </a:t>
            </a:r>
            <a:r>
              <a:rPr b="1" lang="en-US" sz="1100" spc="-1" strike="noStrike">
                <a:solidFill>
                  <a:srgbClr val="000000"/>
                </a:solidFill>
                <a:latin typeface="Arial"/>
                <a:ea typeface="Arial"/>
              </a:rPr>
              <a:t>Currently not used.</a:t>
            </a:r>
            <a:endParaRPr b="0" lang="en-US" sz="1100" spc="-1" strike="noStrike">
              <a:latin typeface="Arial"/>
            </a:endParaRPr>
          </a:p>
          <a:p>
            <a:pPr>
              <a:lnSpc>
                <a:spcPct val="100000"/>
              </a:lnSpc>
              <a:buNone/>
              <a:tabLst>
                <a:tab algn="l" pos="0"/>
              </a:tabLst>
            </a:pPr>
            <a:endParaRPr b="0" lang="en-US" sz="1100" spc="-1" strike="noStrike">
              <a:latin typeface="Arial"/>
            </a:endParaRPr>
          </a:p>
          <a:p>
            <a:pPr>
              <a:lnSpc>
                <a:spcPct val="100000"/>
              </a:lnSpc>
              <a:buNone/>
              <a:tabLst>
                <a:tab algn="l" pos="0"/>
              </a:tabLst>
            </a:pPr>
            <a:endParaRPr b="0" lang="en-US" sz="1100" spc="-1" strike="noStrike">
              <a:latin typeface="Arial"/>
            </a:endParaRPr>
          </a:p>
        </p:txBody>
      </p:sp>
      <p:sp>
        <p:nvSpPr>
          <p:cNvPr id="625" name="Google Shape;607;p16"/>
          <p:cNvSpPr/>
          <p:nvPr/>
        </p:nvSpPr>
        <p:spPr>
          <a:xfrm>
            <a:off x="-23760" y="5769360"/>
            <a:ext cx="6824880" cy="1261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100" spc="-1" strike="noStrike">
                <a:solidFill>
                  <a:srgbClr val="000000"/>
                </a:solidFill>
                <a:latin typeface="Arial"/>
                <a:ea typeface="Arial"/>
              </a:rPr>
              <a:t>Methods:</a:t>
            </a:r>
            <a:endParaRPr b="0" lang="en-US" sz="1100" spc="-1" strike="noStrike">
              <a:latin typeface="Arial"/>
            </a:endParaRPr>
          </a:p>
          <a:p>
            <a:pPr marL="228600" indent="-228600">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The gene expression profile for each cell line is quantile normalized (19,177 genes), scaled and converted to z-scores.</a:t>
            </a:r>
            <a:endParaRPr b="0" lang="en-US" sz="1100" spc="-1" strike="noStrike">
              <a:latin typeface="Arial"/>
            </a:endParaRPr>
          </a:p>
          <a:p>
            <a:pPr marL="228600" indent="-228600">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 </a:t>
            </a:r>
            <a:r>
              <a:rPr b="0" lang="en-US" sz="1100" spc="-1" strike="noStrike">
                <a:solidFill>
                  <a:srgbClr val="000000"/>
                </a:solidFill>
                <a:latin typeface="Arial"/>
                <a:ea typeface="Arial"/>
              </a:rPr>
              <a:t>T-sne plots are made for 699 cell lines with cancer types based on expression profiles as well as the features we have engineered.</a:t>
            </a:r>
            <a:endParaRPr b="0" lang="en-US" sz="1100" spc="-1" strike="noStrike">
              <a:latin typeface="Arial"/>
            </a:endParaRPr>
          </a:p>
          <a:p>
            <a:pPr marL="228600" indent="-228600">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A complexheatmap visualization of the different features used and how they look across the 699 cancer cell lines.</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626" name="Google Shape;612;p17"/>
          <p:cNvSpPr/>
          <p:nvPr/>
        </p:nvSpPr>
        <p:spPr>
          <a:xfrm>
            <a:off x="0" y="0"/>
            <a:ext cx="6856200" cy="7622640"/>
          </a:xfrm>
          <a:prstGeom prst="rect">
            <a:avLst/>
          </a:prstGeom>
          <a:noFill/>
          <a:ln w="0">
            <a:noFill/>
          </a:ln>
        </p:spPr>
        <p:style>
          <a:lnRef idx="0"/>
          <a:fillRef idx="0"/>
          <a:effectRef idx="0"/>
          <a:fontRef idx="minor"/>
        </p:style>
        <p:txBody>
          <a:bodyPr lIns="90000" rIns="90000" tIns="45000" bIns="45000" anchor="t">
            <a:spAutoFit/>
          </a:bodyPr>
          <a:p>
            <a:pPr marL="283320" indent="-283320" algn="just">
              <a:lnSpc>
                <a:spcPct val="100000"/>
              </a:lnSpc>
              <a:buNone/>
              <a:tabLst>
                <a:tab algn="l" pos="0"/>
              </a:tabLst>
            </a:pPr>
            <a:r>
              <a:rPr b="1" lang="en-US" sz="1100" spc="-1" strike="noStrike">
                <a:solidFill>
                  <a:srgbClr val="000000"/>
                </a:solidFill>
                <a:latin typeface="Arial"/>
                <a:ea typeface="Arial"/>
              </a:rPr>
              <a:t>Background: </a:t>
            </a:r>
            <a:endParaRPr b="0" lang="en-US" sz="1100" spc="-1" strike="noStrike">
              <a:latin typeface="Arial"/>
            </a:endParaRPr>
          </a:p>
          <a:p>
            <a:pPr marL="2833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We obtained drug information for 399 drugs from GDSC portal and the cell line information for 699 cell lines from CCLE.</a:t>
            </a:r>
            <a:endParaRPr b="0" lang="en-US" sz="1100" spc="-1" strike="noStrike">
              <a:latin typeface="Arial"/>
            </a:endParaRPr>
          </a:p>
          <a:p>
            <a:pPr marL="283320" indent="-283320" algn="just">
              <a:lnSpc>
                <a:spcPct val="100000"/>
              </a:lnSpc>
              <a:buNone/>
              <a:tabLst>
                <a:tab algn="l" pos="0"/>
              </a:tabLst>
            </a:pPr>
            <a:r>
              <a:rPr b="0" lang="en-US" sz="1100" spc="-1" strike="noStrike">
                <a:solidFill>
                  <a:srgbClr val="000000"/>
                </a:solidFill>
                <a:latin typeface="Arial"/>
                <a:ea typeface="Arial"/>
              </a:rPr>
              <a:t>2. </a:t>
            </a:r>
            <a:r>
              <a:rPr b="0" lang="en-US" sz="1100" spc="-1" strike="noStrike">
                <a:solidFill>
                  <a:srgbClr val="000000"/>
                </a:solidFill>
                <a:latin typeface="Arial"/>
                <a:ea typeface="Arial"/>
              </a:rPr>
              <a:t>	</a:t>
            </a:r>
            <a:r>
              <a:rPr b="0" lang="en-US" sz="1100" spc="-1" strike="noStrike">
                <a:solidFill>
                  <a:srgbClr val="000000"/>
                </a:solidFill>
                <a:latin typeface="Arial"/>
                <a:ea typeface="Arial"/>
              </a:rPr>
              <a:t>We curated and added each drug’s target from resources like Drug Bank, its SMILES, Inchikey, Molecular weight, molecular formula representations from PubChem, CheMBL and NCBI API.</a:t>
            </a:r>
            <a:endParaRPr b="0" lang="en-US" sz="1100" spc="-1" strike="noStrike">
              <a:latin typeface="Arial"/>
            </a:endParaRPr>
          </a:p>
          <a:p>
            <a:pPr marL="283320" indent="-283320" algn="just">
              <a:lnSpc>
                <a:spcPct val="100000"/>
              </a:lnSpc>
              <a:buNone/>
              <a:tabLst>
                <a:tab algn="l" pos="0"/>
              </a:tabLst>
            </a:pPr>
            <a:r>
              <a:rPr b="0" lang="en-US" sz="1100" spc="-1" strike="noStrike">
                <a:solidFill>
                  <a:srgbClr val="000000"/>
                </a:solidFill>
                <a:latin typeface="Arial"/>
                <a:ea typeface="Arial"/>
              </a:rPr>
              <a:t>3. </a:t>
            </a:r>
            <a:r>
              <a:rPr b="0" lang="en-US" sz="1100" spc="-1" strike="noStrike">
                <a:solidFill>
                  <a:srgbClr val="000000"/>
                </a:solidFill>
                <a:latin typeface="Arial"/>
                <a:ea typeface="Arial"/>
              </a:rPr>
              <a:t>	</a:t>
            </a:r>
            <a:r>
              <a:rPr b="0" lang="en-US" sz="1100" spc="-1" strike="noStrike">
                <a:solidFill>
                  <a:srgbClr val="000000"/>
                </a:solidFill>
                <a:latin typeface="Arial"/>
                <a:ea typeface="Arial"/>
              </a:rPr>
              <a:t>There are a total of 373 unique drugs available from this dataset.</a:t>
            </a:r>
            <a:endParaRPr b="0" lang="en-US" sz="1100" spc="-1" strike="noStrike">
              <a:latin typeface="Arial"/>
            </a:endParaRPr>
          </a:p>
          <a:p>
            <a:pPr marL="283320" indent="-283320" algn="just">
              <a:lnSpc>
                <a:spcPct val="100000"/>
              </a:lnSpc>
              <a:buNone/>
              <a:tabLst>
                <a:tab algn="l" pos="0"/>
              </a:tabLst>
            </a:pPr>
            <a:r>
              <a:rPr b="0" lang="en-US" sz="1100" spc="-1" strike="noStrike">
                <a:solidFill>
                  <a:srgbClr val="000000"/>
                </a:solidFill>
                <a:latin typeface="Arial"/>
                <a:ea typeface="Arial"/>
              </a:rPr>
              <a:t>4.</a:t>
            </a:r>
            <a:r>
              <a:rPr b="0" lang="en-US" sz="1100" spc="-1" strike="noStrike">
                <a:solidFill>
                  <a:srgbClr val="000000"/>
                </a:solidFill>
                <a:latin typeface="Arial"/>
                <a:ea typeface="Arial"/>
              </a:rPr>
              <a:t>	</a:t>
            </a:r>
            <a:r>
              <a:rPr b="0" lang="en-US" sz="1100" spc="-1" strike="noStrike">
                <a:solidFill>
                  <a:srgbClr val="000000"/>
                </a:solidFill>
                <a:latin typeface="Arial"/>
                <a:ea typeface="Arial"/>
              </a:rPr>
              <a:t>We find a total of 379,005 drug-cell line sensitivity profiles from GDSC portal (GDSC 1 &amp; 2 combined).</a:t>
            </a:r>
            <a:endParaRPr b="0" lang="en-US" sz="1100" spc="-1" strike="noStrike">
              <a:latin typeface="Arial"/>
            </a:endParaRPr>
          </a:p>
          <a:p>
            <a:pPr marL="283320" indent="-283320" algn="just">
              <a:lnSpc>
                <a:spcPct val="100000"/>
              </a:lnSpc>
              <a:buClr>
                <a:srgbClr val="000000"/>
              </a:buClr>
              <a:buFont typeface="Arial"/>
              <a:buAutoNum type="arabicPeriod" startAt="5"/>
              <a:tabLst>
                <a:tab algn="l" pos="0"/>
              </a:tabLst>
            </a:pPr>
            <a:r>
              <a:rPr b="0" lang="en-US" sz="1100" spc="-1" strike="noStrike">
                <a:solidFill>
                  <a:srgbClr val="000000"/>
                </a:solidFill>
                <a:latin typeface="Arial"/>
                <a:ea typeface="Arial"/>
              </a:rPr>
              <a:t>After filtering, removing duplicates and combined drug plus cell line features, we end up with a total of 151,636 drug-cell line combination profiles consisting of 253 drugs and 693 cell lines.</a:t>
            </a:r>
            <a:endParaRPr b="0" lang="en-US" sz="1100" spc="-1" strike="noStrike">
              <a:latin typeface="Arial"/>
            </a:endParaRPr>
          </a:p>
          <a:p>
            <a:pPr marL="283320" indent="-283320" algn="just">
              <a:lnSpc>
                <a:spcPct val="100000"/>
              </a:lnSpc>
              <a:buNone/>
              <a:tabLst>
                <a:tab algn="l" pos="0"/>
              </a:tabLst>
            </a:pPr>
            <a:endParaRPr b="0" lang="en-US" sz="1100" spc="-1" strike="noStrike">
              <a:latin typeface="Arial"/>
            </a:endParaRPr>
          </a:p>
          <a:p>
            <a:pPr marL="283320" indent="-283320" algn="just">
              <a:lnSpc>
                <a:spcPct val="100000"/>
              </a:lnSpc>
              <a:buNone/>
              <a:tabLst>
                <a:tab algn="l" pos="0"/>
              </a:tabLst>
            </a:pPr>
            <a:r>
              <a:rPr b="1" lang="en-US" sz="1100" spc="-1" strike="noStrike">
                <a:solidFill>
                  <a:srgbClr val="000000"/>
                </a:solidFill>
                <a:latin typeface="Arial"/>
                <a:ea typeface="Arial"/>
              </a:rPr>
              <a:t>Method:</a:t>
            </a:r>
            <a:endParaRPr b="0" lang="en-US" sz="1100" spc="-1" strike="noStrike">
              <a:latin typeface="Arial"/>
            </a:endParaRPr>
          </a:p>
          <a:p>
            <a:pPr marL="2833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We perform inner joins with drug profiles and cell line profiles to get drug-cell features used for the predictive models.</a:t>
            </a:r>
            <a:endParaRPr b="0" lang="en-US" sz="1100" spc="-1" strike="noStrike">
              <a:latin typeface="Arial"/>
            </a:endParaRPr>
          </a:p>
          <a:p>
            <a:pPr marL="2833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For each drug, we have its known targets. We perform a random walk with restart to get a random walk score for each drug using ‘diffusr’ package in R. It provides the probability of a drug impacting all the genes in our cell line’s expression profile. This affinity is based on topology and doesn’t consider individual gene’s expression in a particular cell line. To get a cell line specific affinity, we multiply the random walk scores with corresponding genes’ expression levels.  Using this information and the gene set for each pathway, we estimate the distance of a drug from each of the 7 inflammasome related pathways using ‘AUCell’ package in R.</a:t>
            </a:r>
            <a:endParaRPr b="0" lang="en-US" sz="1100" spc="-1" strike="noStrike">
              <a:latin typeface="Arial"/>
            </a:endParaRPr>
          </a:p>
          <a:p>
            <a:pPr marL="2833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For each drug, we can estimate its molecular fingerprint representation using the RDKIT package in python.</a:t>
            </a:r>
            <a:endParaRPr b="0" lang="en-US" sz="1100" spc="-1" strike="noStrike">
              <a:latin typeface="Arial"/>
            </a:endParaRPr>
          </a:p>
          <a:p>
            <a:pPr marL="2833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For each drug, we can also estimate its representation using a transfer-learning based approach. We pass the drug SMILES to a TF-LSTM autoencoder trained on over 2 million drug SMILES and obtain a embedding vector representation of the drug which can be fed to a machine learning algorithm.</a:t>
            </a:r>
            <a:endParaRPr b="0" lang="en-US" sz="1100" spc="-1" strike="noStrike">
              <a:latin typeface="Arial"/>
            </a:endParaRPr>
          </a:p>
          <a:p>
            <a:pPr marL="2833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All the cell line information (expression, mutation, copy number) + drug information (vector representation) + pathway enrichments (pathway activation based on expression) and distance of a pathway from a drug’s known targets are used as features to predict the drug response.</a:t>
            </a:r>
            <a:endParaRPr b="0" lang="en-US" sz="1100" spc="-1" strike="noStrike">
              <a:latin typeface="Arial"/>
            </a:endParaRPr>
          </a:p>
          <a:p>
            <a:pPr marL="2833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We used a variety of machine learning methods including:</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Linear Regression</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Elastic Net</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SVM</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Random Forests</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Xgboost</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LightGBM</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Feed Forward Neural Networks (DNN)</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Graph Attention Network (GAT) + DNN</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Convolutional Neural Network (CNN) + DNN</a:t>
            </a:r>
            <a:endParaRPr b="0" lang="en-US" sz="1100" spc="-1" strike="noStrike">
              <a:latin typeface="Arial"/>
            </a:endParaRPr>
          </a:p>
          <a:p>
            <a:pPr lvl="1" marL="7405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Long-Short Term Memory (LSTM) + DNN</a:t>
            </a:r>
            <a:endParaRPr b="0" lang="en-US" sz="1100" spc="-1" strike="noStrike">
              <a:latin typeface="Arial"/>
            </a:endParaRPr>
          </a:p>
          <a:p>
            <a:pPr marL="2833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We built different models on training set (565 cell lines) and test on a complete independent test set (128 cell lines on which no training is performed)</a:t>
            </a:r>
            <a:endParaRPr b="0" lang="en-US" sz="1100" spc="-1" strike="noStrike">
              <a:latin typeface="Arial"/>
            </a:endParaRPr>
          </a:p>
          <a:p>
            <a:pPr marL="283320" indent="-283320" algn="just">
              <a:lnSpc>
                <a:spcPct val="100000"/>
              </a:lnSpc>
              <a:buClr>
                <a:srgbClr val="000000"/>
              </a:buClr>
              <a:buFont typeface="Arial"/>
              <a:buAutoNum type="arabicPeriod"/>
              <a:tabLst>
                <a:tab algn="l" pos="0"/>
              </a:tabLst>
            </a:pPr>
            <a:r>
              <a:rPr b="0" lang="en-US" sz="1100" spc="-1" strike="noStrike">
                <a:solidFill>
                  <a:srgbClr val="000000"/>
                </a:solidFill>
                <a:latin typeface="Arial"/>
                <a:ea typeface="Arial"/>
              </a:rPr>
              <a:t>We highlight the variable importance (i.e. the top features) driving the prediction for each of these different machine learning models and performance is highlighted in Table.</a:t>
            </a:r>
            <a:endParaRPr b="0" lang="en-US" sz="1100" spc="-1" strike="noStrike">
              <a:latin typeface="Arial"/>
            </a:endParaRPr>
          </a:p>
          <a:p>
            <a:pPr marL="283320" indent="-213480" algn="just">
              <a:lnSpc>
                <a:spcPct val="100000"/>
              </a:lnSpc>
              <a:buNone/>
              <a:tabLst>
                <a:tab algn="l" pos="0"/>
              </a:tabLst>
            </a:pPr>
            <a:endParaRPr b="0" lang="en-US" sz="1100" spc="-1" strike="noStrike">
              <a:latin typeface="Arial"/>
            </a:endParaRPr>
          </a:p>
          <a:p>
            <a:pPr marL="457200" indent="-213480" algn="just">
              <a:lnSpc>
                <a:spcPct val="100000"/>
              </a:lnSpc>
              <a:buNone/>
              <a:tabLst>
                <a:tab algn="l" pos="0"/>
              </a:tabLst>
            </a:pP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627" name="Google Shape;617;p18"/>
          <p:cNvSpPr/>
          <p:nvPr/>
        </p:nvSpPr>
        <p:spPr>
          <a:xfrm>
            <a:off x="2776680" y="3587760"/>
            <a:ext cx="704880" cy="678600"/>
          </a:xfrm>
          <a:prstGeom prst="ellipse">
            <a:avLst/>
          </a:prstGeom>
          <a:gradFill rotWithShape="0">
            <a:gsLst>
              <a:gs pos="0">
                <a:srgbClr val="81d2ff"/>
              </a:gs>
              <a:gs pos="100000">
                <a:srgbClr val="b3e1ff"/>
              </a:gs>
            </a:gsLst>
            <a:lin ang="2700000"/>
          </a:gra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sp>
      <p:grpSp>
        <p:nvGrpSpPr>
          <p:cNvPr id="628" name="Google Shape;618;p18"/>
          <p:cNvGrpSpPr/>
          <p:nvPr/>
        </p:nvGrpSpPr>
        <p:grpSpPr>
          <a:xfrm>
            <a:off x="65520" y="4957920"/>
            <a:ext cx="495720" cy="449280"/>
            <a:chOff x="65520" y="4957920"/>
            <a:chExt cx="495720" cy="449280"/>
          </a:xfrm>
        </p:grpSpPr>
        <p:pic>
          <p:nvPicPr>
            <p:cNvPr id="629" name="Google Shape;619;p18" descr=""/>
            <p:cNvPicPr/>
            <p:nvPr/>
          </p:nvPicPr>
          <p:blipFill>
            <a:blip r:embed="rId1"/>
            <a:srcRect l="74360" t="36305" r="16217" b="52805"/>
            <a:stretch/>
          </p:blipFill>
          <p:spPr>
            <a:xfrm rot="21282600">
              <a:off x="78480" y="4974480"/>
              <a:ext cx="373680" cy="302040"/>
            </a:xfrm>
            <a:prstGeom prst="rect">
              <a:avLst/>
            </a:prstGeom>
            <a:ln w="0">
              <a:noFill/>
            </a:ln>
          </p:spPr>
        </p:pic>
        <p:sp>
          <p:nvSpPr>
            <p:cNvPr id="630" name="Google Shape;620;p18"/>
            <p:cNvSpPr/>
            <p:nvPr/>
          </p:nvSpPr>
          <p:spPr>
            <a:xfrm rot="19921800">
              <a:off x="245160" y="5238000"/>
              <a:ext cx="309960" cy="102240"/>
            </a:xfrm>
            <a:prstGeom prst="rect">
              <a:avLst/>
            </a:prstGeom>
            <a:solidFill>
              <a:schemeClr val="lt1"/>
            </a:solidFill>
            <a:ln w="0">
              <a:noFill/>
            </a:ln>
          </p:spPr>
          <p:style>
            <a:lnRef idx="0"/>
            <a:fillRef idx="0"/>
            <a:effectRef idx="0"/>
            <a:fontRef idx="minor"/>
          </p:style>
        </p:sp>
      </p:grpSp>
      <p:sp>
        <p:nvSpPr>
          <p:cNvPr id="631" name="Google Shape;621;p18"/>
          <p:cNvSpPr/>
          <p:nvPr/>
        </p:nvSpPr>
        <p:spPr>
          <a:xfrm>
            <a:off x="5627520" y="8826480"/>
            <a:ext cx="12762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Unused Data</a:t>
            </a:r>
            <a:endParaRPr b="0" lang="en-US" sz="1400" spc="-1" strike="noStrike">
              <a:latin typeface="Arial"/>
            </a:endParaRPr>
          </a:p>
        </p:txBody>
      </p:sp>
      <p:sp>
        <p:nvSpPr>
          <p:cNvPr id="632" name="Google Shape;622;p18"/>
          <p:cNvSpPr/>
          <p:nvPr/>
        </p:nvSpPr>
        <p:spPr>
          <a:xfrm>
            <a:off x="2341800" y="0"/>
            <a:ext cx="1291680" cy="241920"/>
          </a:xfrm>
          <a:prstGeom prst="rect">
            <a:avLst/>
          </a:prstGeom>
          <a:solidFill>
            <a:schemeClr val="lt1"/>
          </a:solid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Transfer Learning</a:t>
            </a:r>
            <a:endParaRPr b="0" lang="en-US" sz="1000" spc="-1" strike="noStrike">
              <a:latin typeface="Arial"/>
            </a:endParaRPr>
          </a:p>
        </p:txBody>
      </p:sp>
      <p:pic>
        <p:nvPicPr>
          <p:cNvPr id="633" name="Google Shape;623;p18" descr="A screenshot of a computer&#10;&#10;Description automatically generated with low confidence"/>
          <p:cNvPicPr/>
          <p:nvPr/>
        </p:nvPicPr>
        <p:blipFill>
          <a:blip r:embed="rId2"/>
          <a:stretch/>
        </p:blipFill>
        <p:spPr>
          <a:xfrm>
            <a:off x="1665000" y="32040"/>
            <a:ext cx="5071680" cy="2430720"/>
          </a:xfrm>
          <a:prstGeom prst="rect">
            <a:avLst/>
          </a:prstGeom>
          <a:ln w="0">
            <a:noFill/>
          </a:ln>
        </p:spPr>
      </p:pic>
      <p:sp>
        <p:nvSpPr>
          <p:cNvPr id="634" name="Google Shape;624;p18"/>
          <p:cNvSpPr/>
          <p:nvPr/>
        </p:nvSpPr>
        <p:spPr>
          <a:xfrm flipH="1">
            <a:off x="4733280" y="1615320"/>
            <a:ext cx="248760" cy="901440"/>
          </a:xfrm>
          <a:custGeom>
            <a:avLst/>
            <a:gdLst/>
            <a:ahLst/>
            <a:rect l="l" t="t" r="r" b="b"/>
            <a:pathLst>
              <a:path w="21600" h="21600">
                <a:moveTo>
                  <a:pt x="0" y="0"/>
                </a:moveTo>
                <a:lnTo>
                  <a:pt x="21600" y="21600"/>
                </a:lnTo>
              </a:path>
            </a:pathLst>
          </a:custGeom>
          <a:noFill/>
          <a:ln w="12700">
            <a:solidFill>
              <a:srgbClr val="000000"/>
            </a:solidFill>
            <a:round/>
            <a:tailEnd len="med" type="triangle" w="med"/>
          </a:ln>
        </p:spPr>
        <p:style>
          <a:lnRef idx="0"/>
          <a:fillRef idx="0"/>
          <a:effectRef idx="0"/>
          <a:fontRef idx="minor"/>
        </p:style>
      </p:sp>
      <p:graphicFrame>
        <p:nvGraphicFramePr>
          <p:cNvPr id="635" name="Google Shape;625;p18"/>
          <p:cNvGraphicFramePr/>
          <p:nvPr/>
        </p:nvGraphicFramePr>
        <p:xfrm>
          <a:off x="3849120" y="2574720"/>
          <a:ext cx="1136520" cy="101160"/>
        </p:xfrm>
        <a:graphic>
          <a:graphicData uri="http://schemas.openxmlformats.org/drawingml/2006/table">
            <a:tbl>
              <a:tblPr/>
              <a:tblGrid>
                <a:gridCol w="227160"/>
                <a:gridCol w="227160"/>
                <a:gridCol w="227160"/>
                <a:gridCol w="227160"/>
                <a:gridCol w="22824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eeece1"/>
                    </a:solidFill>
                  </a:tcPr>
                </a:tc>
              </a:tr>
            </a:tbl>
          </a:graphicData>
        </a:graphic>
      </p:graphicFrame>
      <p:sp>
        <p:nvSpPr>
          <p:cNvPr id="636" name="Google Shape;626;p18"/>
          <p:cNvSpPr/>
          <p:nvPr/>
        </p:nvSpPr>
        <p:spPr>
          <a:xfrm>
            <a:off x="3783600" y="2634120"/>
            <a:ext cx="1231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Embedding Vector</a:t>
            </a:r>
            <a:endParaRPr b="0" lang="en-US" sz="1000" spc="-1" strike="noStrike">
              <a:latin typeface="Arial"/>
            </a:endParaRPr>
          </a:p>
        </p:txBody>
      </p:sp>
      <p:sp>
        <p:nvSpPr>
          <p:cNvPr id="637" name="Google Shape;627;p18"/>
          <p:cNvSpPr/>
          <p:nvPr/>
        </p:nvSpPr>
        <p:spPr>
          <a:xfrm>
            <a:off x="2939760" y="2412720"/>
            <a:ext cx="61128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Input</a:t>
            </a:r>
            <a:endParaRPr b="0" lang="en-US" sz="1000" spc="-1" strike="noStrike">
              <a:latin typeface="Arial"/>
            </a:endParaRPr>
          </a:p>
        </p:txBody>
      </p:sp>
      <p:sp>
        <p:nvSpPr>
          <p:cNvPr id="638" name="Google Shape;628;p18"/>
          <p:cNvSpPr/>
          <p:nvPr/>
        </p:nvSpPr>
        <p:spPr>
          <a:xfrm>
            <a:off x="5598720" y="2451960"/>
            <a:ext cx="1231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TF– LSTM Model</a:t>
            </a:r>
            <a:endParaRPr b="0" lang="en-US" sz="1000" spc="-1" strike="noStrike">
              <a:latin typeface="Arial"/>
            </a:endParaRPr>
          </a:p>
        </p:txBody>
      </p:sp>
      <p:sp>
        <p:nvSpPr>
          <p:cNvPr id="639" name="Google Shape;629;p18"/>
          <p:cNvSpPr/>
          <p:nvPr/>
        </p:nvSpPr>
        <p:spPr>
          <a:xfrm>
            <a:off x="4903560" y="-48600"/>
            <a:ext cx="6822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Output</a:t>
            </a:r>
            <a:endParaRPr b="0" lang="en-US" sz="1000" spc="-1" strike="noStrike">
              <a:latin typeface="Arial"/>
            </a:endParaRPr>
          </a:p>
        </p:txBody>
      </p:sp>
      <p:sp>
        <p:nvSpPr>
          <p:cNvPr id="640" name="Google Shape;630;p18"/>
          <p:cNvSpPr/>
          <p:nvPr/>
        </p:nvSpPr>
        <p:spPr>
          <a:xfrm>
            <a:off x="0" y="241920"/>
            <a:ext cx="1983240" cy="1176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u="sng">
                <a:solidFill>
                  <a:srgbClr val="000000"/>
                </a:solidFill>
                <a:uFillTx/>
                <a:latin typeface="Arial"/>
                <a:ea typeface="Arial"/>
              </a:rPr>
              <a:t>DeepRepurpose:</a:t>
            </a:r>
            <a:endParaRPr b="0" lang="en-US" sz="1000" spc="-1" strike="noStrike">
              <a:latin typeface="Arial"/>
            </a:endParaRPr>
          </a:p>
          <a:p>
            <a:pPr marL="171360" indent="-171360">
              <a:lnSpc>
                <a:spcPct val="100000"/>
              </a:lnSpc>
              <a:buClr>
                <a:srgbClr val="000000"/>
              </a:buClr>
              <a:buFont typeface="Arial"/>
              <a:buChar char="•"/>
              <a:tabLst>
                <a:tab algn="l" pos="0"/>
              </a:tabLst>
            </a:pPr>
            <a:r>
              <a:rPr b="0" lang="en-US" sz="1000" spc="-1" strike="noStrike">
                <a:solidFill>
                  <a:srgbClr val="000000"/>
                </a:solidFill>
                <a:latin typeface="Arial"/>
                <a:ea typeface="Arial"/>
              </a:rPr>
              <a:t>TF-LSTM model trained on 2.5 million compounds from PubChem + MOSES.</a:t>
            </a:r>
            <a:endParaRPr b="0" lang="en-US" sz="1000" spc="-1" strike="noStrike">
              <a:latin typeface="Arial"/>
            </a:endParaRPr>
          </a:p>
          <a:p>
            <a:pPr marL="171360" indent="-171360">
              <a:lnSpc>
                <a:spcPct val="100000"/>
              </a:lnSpc>
              <a:buClr>
                <a:srgbClr val="000000"/>
              </a:buClr>
              <a:buFont typeface="Arial"/>
              <a:buChar char="•"/>
              <a:tabLst>
                <a:tab algn="l" pos="0"/>
              </a:tabLst>
            </a:pPr>
            <a:r>
              <a:rPr b="0" lang="en-US" sz="1000" spc="-1" strike="noStrike">
                <a:solidFill>
                  <a:srgbClr val="000000"/>
                </a:solidFill>
                <a:latin typeface="Arial"/>
                <a:ea typeface="Arial"/>
              </a:rPr>
              <a:t>96.7% reconstructed compounds are valid.</a:t>
            </a:r>
            <a:endParaRPr b="0" lang="en-US" sz="1000" spc="-1" strike="noStrike">
              <a:latin typeface="Arial"/>
            </a:endParaRPr>
          </a:p>
          <a:p>
            <a:pPr marL="171360" indent="-171360">
              <a:lnSpc>
                <a:spcPct val="100000"/>
              </a:lnSpc>
              <a:buClr>
                <a:srgbClr val="000000"/>
              </a:buClr>
              <a:buFont typeface="Arial"/>
              <a:buChar char="•"/>
              <a:tabLst>
                <a:tab algn="l" pos="0"/>
              </a:tabLst>
            </a:pPr>
            <a:r>
              <a:rPr b="0" lang="en-US" sz="1000" spc="-1" strike="noStrike">
                <a:solidFill>
                  <a:srgbClr val="000000"/>
                </a:solidFill>
                <a:latin typeface="Arial Narrow"/>
                <a:ea typeface="Arial Narrow"/>
              </a:rPr>
              <a:t>μ</a:t>
            </a:r>
            <a:r>
              <a:rPr b="0" lang="en-US" sz="1000" spc="-1" strike="noStrike" baseline="-25000">
                <a:solidFill>
                  <a:srgbClr val="000000"/>
                </a:solidFill>
                <a:latin typeface="Arial"/>
                <a:ea typeface="Arial"/>
              </a:rPr>
              <a:t>error</a:t>
            </a:r>
            <a:r>
              <a:rPr b="0" lang="en-US" sz="1000" spc="-1" strike="noStrike">
                <a:solidFill>
                  <a:srgbClr val="000000"/>
                </a:solidFill>
                <a:latin typeface="Arial"/>
                <a:ea typeface="Arial"/>
              </a:rPr>
              <a:t> per sample is 0.001</a:t>
            </a:r>
            <a:endParaRPr b="0" lang="en-US" sz="1000" spc="-1" strike="noStrike">
              <a:latin typeface="Arial"/>
            </a:endParaRPr>
          </a:p>
        </p:txBody>
      </p:sp>
      <p:sp>
        <p:nvSpPr>
          <p:cNvPr id="641" name="Google Shape;631;p18"/>
          <p:cNvSpPr/>
          <p:nvPr/>
        </p:nvSpPr>
        <p:spPr>
          <a:xfrm>
            <a:off x="0" y="-3060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A</a:t>
            </a:r>
            <a:endParaRPr b="0" lang="en-US" sz="1400" spc="-1" strike="noStrike">
              <a:latin typeface="Arial"/>
            </a:endParaRPr>
          </a:p>
        </p:txBody>
      </p:sp>
      <p:sp>
        <p:nvSpPr>
          <p:cNvPr id="642" name="Google Shape;632;p18"/>
          <p:cNvSpPr/>
          <p:nvPr/>
        </p:nvSpPr>
        <p:spPr>
          <a:xfrm>
            <a:off x="0" y="2888280"/>
            <a:ext cx="6856200" cy="360"/>
          </a:xfrm>
          <a:custGeom>
            <a:avLst/>
            <a:gdLst/>
            <a:ahLst/>
            <a:rect l="l" t="t" r="r" b="b"/>
            <a:pathLst>
              <a:path w="21600" h="21600">
                <a:moveTo>
                  <a:pt x="0" y="0"/>
                </a:moveTo>
                <a:lnTo>
                  <a:pt x="21600" y="21600"/>
                </a:lnTo>
              </a:path>
            </a:pathLst>
          </a:custGeom>
          <a:noFill/>
          <a:ln w="9525">
            <a:solidFill>
              <a:srgbClr val="000000"/>
            </a:solidFill>
            <a:round/>
          </a:ln>
        </p:spPr>
        <p:style>
          <a:lnRef idx="0"/>
          <a:fillRef idx="0"/>
          <a:effectRef idx="0"/>
          <a:fontRef idx="minor"/>
        </p:style>
      </p:sp>
      <p:sp>
        <p:nvSpPr>
          <p:cNvPr id="643" name="Google Shape;633;p18"/>
          <p:cNvSpPr/>
          <p:nvPr/>
        </p:nvSpPr>
        <p:spPr>
          <a:xfrm>
            <a:off x="0" y="5672520"/>
            <a:ext cx="6856200" cy="360"/>
          </a:xfrm>
          <a:custGeom>
            <a:avLst/>
            <a:gdLst/>
            <a:ahLst/>
            <a:rect l="l" t="t" r="r" b="b"/>
            <a:pathLst>
              <a:path w="21600" h="21600">
                <a:moveTo>
                  <a:pt x="0" y="0"/>
                </a:moveTo>
                <a:lnTo>
                  <a:pt x="21600" y="21600"/>
                </a:lnTo>
              </a:path>
            </a:pathLst>
          </a:custGeom>
          <a:noFill/>
          <a:ln w="9525">
            <a:solidFill>
              <a:srgbClr val="000000"/>
            </a:solidFill>
            <a:round/>
          </a:ln>
        </p:spPr>
        <p:style>
          <a:lnRef idx="0"/>
          <a:fillRef idx="0"/>
          <a:effectRef idx="0"/>
          <a:fontRef idx="minor"/>
        </p:style>
      </p:sp>
      <p:sp>
        <p:nvSpPr>
          <p:cNvPr id="644" name="Google Shape;634;p18"/>
          <p:cNvSpPr/>
          <p:nvPr/>
        </p:nvSpPr>
        <p:spPr>
          <a:xfrm>
            <a:off x="0" y="295452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B</a:t>
            </a:r>
            <a:endParaRPr b="0" lang="en-US" sz="1400" spc="-1" strike="noStrike">
              <a:latin typeface="Arial"/>
            </a:endParaRPr>
          </a:p>
        </p:txBody>
      </p:sp>
      <p:pic>
        <p:nvPicPr>
          <p:cNvPr id="645" name="Google Shape;635;p18" descr=""/>
          <p:cNvPicPr/>
          <p:nvPr/>
        </p:nvPicPr>
        <p:blipFill>
          <a:blip r:embed="rId3"/>
          <a:stretch/>
        </p:blipFill>
        <p:spPr>
          <a:xfrm>
            <a:off x="-178200" y="3174480"/>
            <a:ext cx="3729240" cy="2153160"/>
          </a:xfrm>
          <a:prstGeom prst="rect">
            <a:avLst/>
          </a:prstGeom>
          <a:ln w="0">
            <a:noFill/>
          </a:ln>
        </p:spPr>
      </p:pic>
      <p:sp>
        <p:nvSpPr>
          <p:cNvPr id="646" name="Google Shape;636;p18"/>
          <p:cNvSpPr/>
          <p:nvPr/>
        </p:nvSpPr>
        <p:spPr>
          <a:xfrm>
            <a:off x="-62640" y="5272920"/>
            <a:ext cx="9284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Drug Targets</a:t>
            </a:r>
            <a:endParaRPr b="0" lang="en-US" sz="1000" spc="-1" strike="noStrike">
              <a:latin typeface="Arial"/>
            </a:endParaRPr>
          </a:p>
        </p:txBody>
      </p:sp>
      <p:sp>
        <p:nvSpPr>
          <p:cNvPr id="647" name="Google Shape;637;p18"/>
          <p:cNvSpPr/>
          <p:nvPr/>
        </p:nvSpPr>
        <p:spPr>
          <a:xfrm rot="10800000">
            <a:off x="314280" y="4730040"/>
            <a:ext cx="360" cy="31032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648" name="Google Shape;638;p18"/>
          <p:cNvSpPr/>
          <p:nvPr/>
        </p:nvSpPr>
        <p:spPr>
          <a:xfrm>
            <a:off x="1451880" y="5039640"/>
            <a:ext cx="177768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Random Walk with Restart </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on the STRING PPI network</a:t>
            </a:r>
            <a:endParaRPr b="0" lang="en-US" sz="1000" spc="-1" strike="noStrike">
              <a:latin typeface="Arial"/>
            </a:endParaRPr>
          </a:p>
        </p:txBody>
      </p:sp>
      <p:sp>
        <p:nvSpPr>
          <p:cNvPr id="649" name="Google Shape;639;p18"/>
          <p:cNvSpPr/>
          <p:nvPr/>
        </p:nvSpPr>
        <p:spPr>
          <a:xfrm>
            <a:off x="2270520" y="2876040"/>
            <a:ext cx="19573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Pathway Distance Estimation</a:t>
            </a:r>
            <a:endParaRPr b="0" lang="en-US" sz="1000" spc="-1" strike="noStrike">
              <a:latin typeface="Arial"/>
            </a:endParaRPr>
          </a:p>
        </p:txBody>
      </p:sp>
      <p:graphicFrame>
        <p:nvGraphicFramePr>
          <p:cNvPr id="650" name="Google Shape;640;p18"/>
          <p:cNvGraphicFramePr/>
          <p:nvPr/>
        </p:nvGraphicFramePr>
        <p:xfrm>
          <a:off x="3857400" y="3386880"/>
          <a:ext cx="125280" cy="1646640"/>
        </p:xfrm>
        <a:graphic>
          <a:graphicData uri="http://schemas.openxmlformats.org/drawingml/2006/table">
            <a:tbl>
              <a:tblPr/>
              <a:tblGrid>
                <a:gridCol w="125280"/>
              </a:tblGrid>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432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r h="27540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c00000"/>
                        </a:gs>
                        <a:gs pos="100000">
                          <a:srgbClr val="ffffff"/>
                        </a:gs>
                      </a:gsLst>
                      <a:lin ang="16200000"/>
                    </a:gradFill>
                  </a:tcPr>
                </a:tc>
              </a:tr>
            </a:tbl>
          </a:graphicData>
        </a:graphic>
      </p:graphicFrame>
      <p:sp>
        <p:nvSpPr>
          <p:cNvPr id="651" name="Google Shape;641;p18"/>
          <p:cNvSpPr/>
          <p:nvPr/>
        </p:nvSpPr>
        <p:spPr>
          <a:xfrm>
            <a:off x="3429000" y="4237560"/>
            <a:ext cx="37368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652" name="Google Shape;642;p18"/>
          <p:cNvSpPr/>
          <p:nvPr/>
        </p:nvSpPr>
        <p:spPr>
          <a:xfrm>
            <a:off x="3319920" y="5027400"/>
            <a:ext cx="1414080" cy="415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Probability (</a:t>
            </a:r>
            <a:r>
              <a:rPr b="1" lang="en-US" sz="1000" spc="-1" strike="noStrike">
                <a:solidFill>
                  <a:srgbClr val="000000"/>
                </a:solidFill>
                <a:latin typeface="Arial"/>
                <a:ea typeface="Arial"/>
              </a:rPr>
              <a:t>p</a:t>
            </a:r>
            <a:r>
              <a:rPr b="1" lang="en-US" sz="1000" spc="-1" strike="noStrike" baseline="30000">
                <a:solidFill>
                  <a:srgbClr val="202124"/>
                </a:solidFill>
                <a:latin typeface="Arial"/>
                <a:ea typeface="Arial"/>
              </a:rPr>
              <a:t>∞</a:t>
            </a:r>
            <a:r>
              <a:rPr b="0" lang="en-US" sz="1000" spc="-1" strike="noStrike">
                <a:solidFill>
                  <a:srgbClr val="202124"/>
                </a:solidFill>
                <a:latin typeface="Arial"/>
                <a:ea typeface="Arial"/>
              </a:rPr>
              <a:t>)</a:t>
            </a:r>
            <a:endParaRPr b="0" lang="en-US" sz="1000" spc="-1" strike="noStrike">
              <a:latin typeface="Arial"/>
            </a:endParaRPr>
          </a:p>
          <a:p>
            <a:pPr>
              <a:lnSpc>
                <a:spcPct val="100000"/>
              </a:lnSpc>
              <a:buNone/>
              <a:tabLst>
                <a:tab algn="l" pos="0"/>
              </a:tabLst>
            </a:pPr>
            <a:r>
              <a:rPr b="1" lang="en-US" sz="1000" spc="-1" strike="noStrike">
                <a:solidFill>
                  <a:srgbClr val="000000"/>
                </a:solidFill>
                <a:latin typeface="Arial"/>
                <a:ea typeface="Arial"/>
              </a:rPr>
              <a:t>p</a:t>
            </a:r>
            <a:r>
              <a:rPr b="1" lang="en-US" sz="1000" spc="-1" strike="noStrike" baseline="30000">
                <a:solidFill>
                  <a:srgbClr val="202124"/>
                </a:solidFill>
                <a:latin typeface="Arial"/>
                <a:ea typeface="Arial"/>
              </a:rPr>
              <a:t>∞</a:t>
            </a:r>
            <a:r>
              <a:rPr b="1" lang="en-US" sz="1000" spc="-1" strike="noStrike">
                <a:solidFill>
                  <a:srgbClr val="202124"/>
                </a:solidFill>
                <a:latin typeface="Arial"/>
                <a:ea typeface="Arial"/>
              </a:rPr>
              <a:t>= β(I – (1- β)W)</a:t>
            </a:r>
            <a:r>
              <a:rPr b="1" lang="en-US" sz="1000" spc="-1" strike="noStrike" baseline="30000">
                <a:solidFill>
                  <a:srgbClr val="202124"/>
                </a:solidFill>
                <a:latin typeface="Arial"/>
                <a:ea typeface="Arial"/>
              </a:rPr>
              <a:t>-1</a:t>
            </a:r>
            <a:r>
              <a:rPr b="1" lang="en-US" sz="1000" spc="-1" strike="noStrike">
                <a:solidFill>
                  <a:srgbClr val="202124"/>
                </a:solidFill>
                <a:latin typeface="Arial"/>
                <a:ea typeface="Arial"/>
              </a:rPr>
              <a:t>p</a:t>
            </a:r>
            <a:r>
              <a:rPr b="1" lang="en-US" sz="1000" spc="-1" strike="noStrike" baseline="-25000">
                <a:solidFill>
                  <a:srgbClr val="202124"/>
                </a:solidFill>
                <a:latin typeface="Arial"/>
                <a:ea typeface="Arial"/>
              </a:rPr>
              <a:t>0</a:t>
            </a:r>
            <a:endParaRPr b="0" lang="en-US" sz="1000" spc="-1" strike="noStrike">
              <a:latin typeface="Arial"/>
            </a:endParaRPr>
          </a:p>
        </p:txBody>
      </p:sp>
      <p:graphicFrame>
        <p:nvGraphicFramePr>
          <p:cNvPr id="653" name="Google Shape;643;p18"/>
          <p:cNvGraphicFramePr/>
          <p:nvPr/>
        </p:nvGraphicFramePr>
        <p:xfrm>
          <a:off x="4291560" y="3391560"/>
          <a:ext cx="125280" cy="1629000"/>
        </p:xfrm>
        <a:graphic>
          <a:graphicData uri="http://schemas.openxmlformats.org/drawingml/2006/table">
            <a:tbl>
              <a:tblPr/>
              <a:tblGrid>
                <a:gridCol w="125280"/>
              </a:tblGrid>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2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bl>
          </a:graphicData>
        </a:graphic>
      </p:graphicFrame>
      <p:sp>
        <p:nvSpPr>
          <p:cNvPr id="654" name="Google Shape;644;p18"/>
          <p:cNvSpPr/>
          <p:nvPr/>
        </p:nvSpPr>
        <p:spPr>
          <a:xfrm>
            <a:off x="4027680" y="4123800"/>
            <a:ext cx="2678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c00000"/>
                </a:solidFill>
                <a:latin typeface="Arial"/>
                <a:ea typeface="Arial"/>
              </a:rPr>
              <a:t>X</a:t>
            </a:r>
            <a:endParaRPr b="0" lang="en-US" sz="1000" spc="-1" strike="noStrike">
              <a:latin typeface="Arial"/>
            </a:endParaRPr>
          </a:p>
        </p:txBody>
      </p:sp>
      <p:sp>
        <p:nvSpPr>
          <p:cNvPr id="655" name="Google Shape;645;p18"/>
          <p:cNvSpPr/>
          <p:nvPr/>
        </p:nvSpPr>
        <p:spPr>
          <a:xfrm>
            <a:off x="3942720" y="3038760"/>
            <a:ext cx="81432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lang="en-US" sz="1000" spc="-1" strike="noStrike">
                <a:solidFill>
                  <a:srgbClr val="000000"/>
                </a:solidFill>
                <a:latin typeface="Arial"/>
                <a:ea typeface="Arial"/>
              </a:rPr>
              <a:t>Expression</a:t>
            </a:r>
            <a:endParaRPr b="0" lang="en-US" sz="1000" spc="-1" strike="noStrike">
              <a:latin typeface="Arial"/>
            </a:endParaRPr>
          </a:p>
          <a:p>
            <a:pPr algn="ctr">
              <a:lnSpc>
                <a:spcPct val="100000"/>
              </a:lnSpc>
              <a:buNone/>
              <a:tabLst>
                <a:tab algn="l" pos="0"/>
              </a:tabLst>
            </a:pPr>
            <a:r>
              <a:rPr b="0" lang="en-US" sz="1000" spc="-1" strike="noStrike">
                <a:solidFill>
                  <a:srgbClr val="000000"/>
                </a:solidFill>
                <a:latin typeface="Arial"/>
                <a:ea typeface="Arial"/>
              </a:rPr>
              <a:t>Profile</a:t>
            </a:r>
            <a:endParaRPr b="0" lang="en-US" sz="1000" spc="-1" strike="noStrike">
              <a:latin typeface="Arial"/>
            </a:endParaRPr>
          </a:p>
        </p:txBody>
      </p:sp>
      <p:sp>
        <p:nvSpPr>
          <p:cNvPr id="656" name="Google Shape;646;p18"/>
          <p:cNvSpPr/>
          <p:nvPr/>
        </p:nvSpPr>
        <p:spPr>
          <a:xfrm>
            <a:off x="2793600" y="3404880"/>
            <a:ext cx="6717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Pathway</a:t>
            </a:r>
            <a:endParaRPr b="0" lang="en-US" sz="1000" spc="-1" strike="noStrike">
              <a:latin typeface="Arial"/>
            </a:endParaRPr>
          </a:p>
        </p:txBody>
      </p:sp>
      <p:sp>
        <p:nvSpPr>
          <p:cNvPr id="657" name="Google Shape;647;p18"/>
          <p:cNvSpPr/>
          <p:nvPr/>
        </p:nvSpPr>
        <p:spPr>
          <a:xfrm>
            <a:off x="4481640" y="4098960"/>
            <a:ext cx="235440" cy="27504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800" spc="-1" strike="noStrike">
                <a:solidFill>
                  <a:srgbClr val="000000"/>
                </a:solidFill>
                <a:latin typeface="Arial"/>
                <a:ea typeface="Arial"/>
              </a:rPr>
              <a:t> </a:t>
            </a:r>
            <a:endParaRPr b="0" lang="en-US" sz="1800" spc="-1" strike="noStrike">
              <a:latin typeface="Arial"/>
            </a:endParaRPr>
          </a:p>
        </p:txBody>
      </p:sp>
      <p:graphicFrame>
        <p:nvGraphicFramePr>
          <p:cNvPr id="658" name="Google Shape;648;p18"/>
          <p:cNvGraphicFramePr/>
          <p:nvPr/>
        </p:nvGraphicFramePr>
        <p:xfrm>
          <a:off x="4790160" y="3404880"/>
          <a:ext cx="133920" cy="1629000"/>
        </p:xfrm>
        <a:graphic>
          <a:graphicData uri="http://schemas.openxmlformats.org/drawingml/2006/table">
            <a:tbl>
              <a:tblPr/>
              <a:tblGrid>
                <a:gridCol w="133920"/>
              </a:tblGrid>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r h="272160">
                <a:tc>
                  <a:tcPr anchor="t" marL="360" marR="360">
                    <a:lnL w="12240">
                      <a:solidFill>
                        <a:srgbClr val="000000"/>
                      </a:solidFill>
                    </a:lnL>
                    <a:lnR w="12240">
                      <a:solidFill>
                        <a:srgbClr val="000000"/>
                      </a:solidFill>
                    </a:lnR>
                    <a:lnT w="12240">
                      <a:solidFill>
                        <a:srgbClr val="000000"/>
                      </a:solidFill>
                    </a:lnT>
                    <a:lnB w="12240">
                      <a:solidFill>
                        <a:srgbClr val="000000"/>
                      </a:solidFill>
                    </a:lnB>
                    <a:gradFill rotWithShape="0">
                      <a:gsLst>
                        <a:gs pos="0">
                          <a:srgbClr val="ff7f7f"/>
                        </a:gs>
                        <a:gs pos="100000">
                          <a:srgbClr val="ffe1e1"/>
                        </a:gs>
                      </a:gsLst>
                      <a:path path="circle">
                        <a:fillToRect l="49000" t="50000" r="51000" b="50000"/>
                      </a:path>
                    </a:gradFill>
                  </a:tcPr>
                </a:tc>
              </a:tr>
            </a:tbl>
          </a:graphicData>
        </a:graphic>
      </p:graphicFrame>
      <p:sp>
        <p:nvSpPr>
          <p:cNvPr id="659" name="Google Shape;649;p18"/>
          <p:cNvSpPr/>
          <p:nvPr/>
        </p:nvSpPr>
        <p:spPr>
          <a:xfrm>
            <a:off x="4986360" y="4237560"/>
            <a:ext cx="85536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660" name="Google Shape;650;p18"/>
          <p:cNvSpPr/>
          <p:nvPr/>
        </p:nvSpPr>
        <p:spPr>
          <a:xfrm flipH="1" rot="10800000">
            <a:off x="5321520" y="3400200"/>
            <a:ext cx="364680" cy="1645560"/>
          </a:xfrm>
          <a:prstGeom prst="triangle">
            <a:avLst>
              <a:gd name="adj" fmla="val 0"/>
            </a:avLst>
          </a:prstGeom>
          <a:solidFill>
            <a:srgbClr val="ffc000"/>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sp>
      <p:sp>
        <p:nvSpPr>
          <p:cNvPr id="661" name="Google Shape;651;p18"/>
          <p:cNvSpPr/>
          <p:nvPr/>
        </p:nvSpPr>
        <p:spPr>
          <a:xfrm rot="16866000">
            <a:off x="5118120" y="3962160"/>
            <a:ext cx="6188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AUcell</a:t>
            </a:r>
            <a:endParaRPr b="0" lang="en-US" sz="1000" spc="-1" strike="noStrike">
              <a:latin typeface="Arial"/>
            </a:endParaRPr>
          </a:p>
        </p:txBody>
      </p:sp>
      <p:sp>
        <p:nvSpPr>
          <p:cNvPr id="662" name="Google Shape;652;p18"/>
          <p:cNvSpPr/>
          <p:nvPr/>
        </p:nvSpPr>
        <p:spPr>
          <a:xfrm>
            <a:off x="6060960" y="4174920"/>
            <a:ext cx="338400" cy="154440"/>
          </a:xfrm>
          <a:prstGeom prst="rect">
            <a:avLst/>
          </a:prstGeom>
          <a:solidFill>
            <a:srgbClr val="f1b584"/>
          </a:solidFill>
          <a:ln w="25400">
            <a:solidFill>
              <a:srgbClr val="000000"/>
            </a:solidFill>
            <a:round/>
          </a:ln>
        </p:spPr>
        <p:style>
          <a:lnRef idx="0"/>
          <a:fillRef idx="0"/>
          <a:effectRef idx="0"/>
          <a:fontRef idx="minor"/>
        </p:style>
      </p:sp>
      <p:sp>
        <p:nvSpPr>
          <p:cNvPr id="663" name="Google Shape;653;p18"/>
          <p:cNvSpPr/>
          <p:nvPr/>
        </p:nvSpPr>
        <p:spPr>
          <a:xfrm>
            <a:off x="5555520" y="4339440"/>
            <a:ext cx="13172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AUC = 1 - Distance</a:t>
            </a:r>
            <a:endParaRPr b="0" lang="en-US" sz="1000" spc="-1" strike="noStrike">
              <a:latin typeface="Arial"/>
            </a:endParaRPr>
          </a:p>
        </p:txBody>
      </p:sp>
      <p:graphicFrame>
        <p:nvGraphicFramePr>
          <p:cNvPr id="664" name="Google Shape;654;p18"/>
          <p:cNvGraphicFramePr/>
          <p:nvPr/>
        </p:nvGraphicFramePr>
        <p:xfrm>
          <a:off x="1451880" y="6401880"/>
          <a:ext cx="125280" cy="1629000"/>
        </p:xfrm>
        <a:graphic>
          <a:graphicData uri="http://schemas.openxmlformats.org/drawingml/2006/table">
            <a:tbl>
              <a:tblPr/>
              <a:tblGrid>
                <a:gridCol w="125280"/>
              </a:tblGrid>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144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r h="272160">
                <a:tc>
                  <a:tcPr anchor="t" marL="360" marR="360">
                    <a:lnL w="12240">
                      <a:solidFill>
                        <a:srgbClr val="000000"/>
                      </a:solidFill>
                    </a:lnL>
                    <a:lnR w="12240">
                      <a:solidFill>
                        <a:srgbClr val="000000"/>
                      </a:solidFill>
                    </a:lnR>
                    <a:lnT w="12240">
                      <a:solidFill>
                        <a:srgbClr val="000000"/>
                      </a:solidFill>
                    </a:lnT>
                    <a:lnB w="12240">
                      <a:solidFill>
                        <a:srgbClr val="000000"/>
                      </a:solidFill>
                    </a:lnB>
                    <a:solidFill>
                      <a:srgbClr val="ff0000">
                        <a:alpha val="50000"/>
                      </a:srgbClr>
                    </a:solidFill>
                  </a:tcPr>
                </a:tc>
              </a:tr>
            </a:tbl>
          </a:graphicData>
        </a:graphic>
      </p:graphicFrame>
      <p:sp>
        <p:nvSpPr>
          <p:cNvPr id="665" name="Google Shape;655;p18"/>
          <p:cNvSpPr/>
          <p:nvPr/>
        </p:nvSpPr>
        <p:spPr>
          <a:xfrm rot="16200000">
            <a:off x="720360" y="7117200"/>
            <a:ext cx="12121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Expression Profile</a:t>
            </a:r>
            <a:endParaRPr b="0" lang="en-US" sz="1000" spc="-1" strike="noStrike">
              <a:latin typeface="Arial"/>
            </a:endParaRPr>
          </a:p>
        </p:txBody>
      </p:sp>
      <p:pic>
        <p:nvPicPr>
          <p:cNvPr id="666" name="Google Shape;656;p18" descr="A group of cupcakes&#10;&#10;Description automatically generated with medium confidence"/>
          <p:cNvPicPr/>
          <p:nvPr/>
        </p:nvPicPr>
        <p:blipFill>
          <a:blip r:embed="rId5"/>
          <a:stretch/>
        </p:blipFill>
        <p:spPr>
          <a:xfrm rot="16200000">
            <a:off x="-862560" y="6906960"/>
            <a:ext cx="2663640" cy="840240"/>
          </a:xfrm>
          <a:prstGeom prst="rect">
            <a:avLst/>
          </a:prstGeom>
          <a:ln w="0">
            <a:noFill/>
          </a:ln>
        </p:spPr>
      </p:pic>
      <p:sp>
        <p:nvSpPr>
          <p:cNvPr id="667" name="Google Shape;657;p18"/>
          <p:cNvSpPr/>
          <p:nvPr/>
        </p:nvSpPr>
        <p:spPr>
          <a:xfrm>
            <a:off x="2259360" y="5681880"/>
            <a:ext cx="1227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000" spc="-1" strike="noStrike">
                <a:solidFill>
                  <a:srgbClr val="000000"/>
                </a:solidFill>
                <a:latin typeface="Arial"/>
                <a:ea typeface="Arial"/>
              </a:rPr>
              <a:t>Immune Profiling</a:t>
            </a:r>
            <a:endParaRPr b="0" lang="en-US" sz="1000" spc="-1" strike="noStrike">
              <a:latin typeface="Arial"/>
            </a:endParaRPr>
          </a:p>
        </p:txBody>
      </p:sp>
      <p:sp>
        <p:nvSpPr>
          <p:cNvPr id="668" name="Google Shape;658;p18"/>
          <p:cNvSpPr/>
          <p:nvPr/>
        </p:nvSpPr>
        <p:spPr>
          <a:xfrm>
            <a:off x="-39240" y="8733960"/>
            <a:ext cx="120564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Immune Celltypes</a:t>
            </a:r>
            <a:endParaRPr b="0" lang="en-US" sz="1000" spc="-1" strike="noStrike">
              <a:latin typeface="Arial"/>
            </a:endParaRPr>
          </a:p>
        </p:txBody>
      </p:sp>
      <p:sp>
        <p:nvSpPr>
          <p:cNvPr id="669" name="Google Shape;659;p18"/>
          <p:cNvSpPr/>
          <p:nvPr/>
        </p:nvSpPr>
        <p:spPr>
          <a:xfrm>
            <a:off x="929160" y="7115760"/>
            <a:ext cx="235440" cy="27504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800" spc="-1" strike="noStrike">
                <a:solidFill>
                  <a:srgbClr val="000000"/>
                </a:solidFill>
                <a:latin typeface="Arial"/>
                <a:ea typeface="Arial"/>
              </a:rPr>
              <a:t> </a:t>
            </a:r>
            <a:endParaRPr b="0" lang="en-US" sz="1800" spc="-1" strike="noStrike">
              <a:latin typeface="Arial"/>
            </a:endParaRPr>
          </a:p>
        </p:txBody>
      </p:sp>
      <p:sp>
        <p:nvSpPr>
          <p:cNvPr id="670" name="Google Shape;660;p18"/>
          <p:cNvSpPr/>
          <p:nvPr/>
        </p:nvSpPr>
        <p:spPr>
          <a:xfrm>
            <a:off x="1579320" y="7228080"/>
            <a:ext cx="1358640" cy="82404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671" name="Google Shape;661;p18"/>
          <p:cNvSpPr/>
          <p:nvPr/>
        </p:nvSpPr>
        <p:spPr>
          <a:xfrm rot="1810200">
            <a:off x="1771560" y="7472520"/>
            <a:ext cx="114012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De-convolution</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MCPcounter</a:t>
            </a:r>
            <a:endParaRPr b="0" lang="en-US" sz="1000" spc="-1" strike="noStrike">
              <a:latin typeface="Arial"/>
            </a:endParaRPr>
          </a:p>
        </p:txBody>
      </p:sp>
      <p:graphicFrame>
        <p:nvGraphicFramePr>
          <p:cNvPr id="672" name="Google Shape;662;p18"/>
          <p:cNvGraphicFramePr/>
          <p:nvPr/>
        </p:nvGraphicFramePr>
        <p:xfrm>
          <a:off x="3131640" y="8160840"/>
          <a:ext cx="1986120" cy="101160"/>
        </p:xfrm>
        <a:graphic>
          <a:graphicData uri="http://schemas.openxmlformats.org/drawingml/2006/table">
            <a:tbl>
              <a:tblPr/>
              <a:tblGrid>
                <a:gridCol w="370080"/>
                <a:gridCol w="403920"/>
                <a:gridCol w="403920"/>
                <a:gridCol w="403920"/>
                <a:gridCol w="40464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4bacc6">
                        <a:alpha val="50000"/>
                      </a:srgbClr>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4bacc6">
                        <a:alpha val="50000"/>
                      </a:srgbClr>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4bacc6">
                        <a:alpha val="50000"/>
                      </a:srgbClr>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a5d5e2"/>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4bacc6">
                        <a:alpha val="50000"/>
                      </a:srgbClr>
                    </a:solidFill>
                  </a:tcPr>
                </a:tc>
              </a:tr>
            </a:tbl>
          </a:graphicData>
        </a:graphic>
      </p:graphicFrame>
      <p:sp>
        <p:nvSpPr>
          <p:cNvPr id="673" name="Google Shape;663;p18"/>
          <p:cNvSpPr/>
          <p:nvPr/>
        </p:nvSpPr>
        <p:spPr>
          <a:xfrm>
            <a:off x="3271680" y="8227440"/>
            <a:ext cx="146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Immune Cell Fractions</a:t>
            </a:r>
            <a:endParaRPr b="0" lang="en-US" sz="1000" spc="-1" strike="noStrike">
              <a:latin typeface="Arial"/>
            </a:endParaRPr>
          </a:p>
        </p:txBody>
      </p:sp>
      <p:sp>
        <p:nvSpPr>
          <p:cNvPr id="674" name="Google Shape;664;p18"/>
          <p:cNvSpPr/>
          <p:nvPr/>
        </p:nvSpPr>
        <p:spPr>
          <a:xfrm flipH="1" rot="10800000">
            <a:off x="1573200" y="6437160"/>
            <a:ext cx="1413000" cy="7635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675" name="Google Shape;665;p18"/>
          <p:cNvSpPr/>
          <p:nvPr/>
        </p:nvSpPr>
        <p:spPr>
          <a:xfrm rot="19855200">
            <a:off x="1793880" y="6611760"/>
            <a:ext cx="102600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Thorsson et al,</a:t>
            </a:r>
            <a:endParaRPr b="0" lang="en-US" sz="1000" spc="-1" strike="noStrike">
              <a:latin typeface="Arial"/>
            </a:endParaRPr>
          </a:p>
          <a:p>
            <a:pPr>
              <a:lnSpc>
                <a:spcPct val="100000"/>
              </a:lnSpc>
              <a:buNone/>
              <a:tabLst>
                <a:tab algn="l" pos="0"/>
              </a:tabLst>
            </a:pPr>
            <a:r>
              <a:rPr b="0" lang="en-US" sz="1000" spc="-1" strike="noStrike">
                <a:solidFill>
                  <a:srgbClr val="000000"/>
                </a:solidFill>
                <a:latin typeface="Arial"/>
                <a:ea typeface="Arial"/>
              </a:rPr>
              <a:t>Immunity 2018</a:t>
            </a:r>
            <a:endParaRPr b="0" lang="en-US" sz="1000" spc="-1" strike="noStrike">
              <a:latin typeface="Arial"/>
            </a:endParaRPr>
          </a:p>
        </p:txBody>
      </p:sp>
      <p:sp>
        <p:nvSpPr>
          <p:cNvPr id="676" name="Google Shape;666;p18"/>
          <p:cNvSpPr/>
          <p:nvPr/>
        </p:nvSpPr>
        <p:spPr>
          <a:xfrm>
            <a:off x="3231720" y="6435000"/>
            <a:ext cx="100764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677" name="Google Shape;667;p18"/>
          <p:cNvSpPr/>
          <p:nvPr/>
        </p:nvSpPr>
        <p:spPr>
          <a:xfrm>
            <a:off x="3319920" y="6401880"/>
            <a:ext cx="714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SSGSEA</a:t>
            </a:r>
            <a:endParaRPr b="0" lang="en-US" sz="1000" spc="-1" strike="noStrike">
              <a:latin typeface="Arial"/>
            </a:endParaRPr>
          </a:p>
        </p:txBody>
      </p:sp>
      <p:graphicFrame>
        <p:nvGraphicFramePr>
          <p:cNvPr id="678" name="Google Shape;668;p18"/>
          <p:cNvGraphicFramePr/>
          <p:nvPr/>
        </p:nvGraphicFramePr>
        <p:xfrm>
          <a:off x="4427280" y="6394680"/>
          <a:ext cx="1973160" cy="101160"/>
        </p:xfrm>
        <a:graphic>
          <a:graphicData uri="http://schemas.openxmlformats.org/drawingml/2006/table">
            <a:tbl>
              <a:tblPr/>
              <a:tblGrid>
                <a:gridCol w="367560"/>
                <a:gridCol w="401400"/>
                <a:gridCol w="401400"/>
                <a:gridCol w="401400"/>
                <a:gridCol w="401760"/>
              </a:tblGrid>
              <a:tr h="101520">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98c2cd"/>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98c2cd"/>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98c2cd"/>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98c2cd"/>
                    </a:solidFill>
                  </a:tcPr>
                </a:tc>
                <a:tc>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98c2cd"/>
                    </a:solidFill>
                  </a:tcPr>
                </a:tc>
              </a:tr>
            </a:tbl>
          </a:graphicData>
        </a:graphic>
      </p:graphicFrame>
      <p:sp>
        <p:nvSpPr>
          <p:cNvPr id="679" name="Google Shape;669;p18"/>
          <p:cNvSpPr/>
          <p:nvPr/>
        </p:nvSpPr>
        <p:spPr>
          <a:xfrm>
            <a:off x="4590360" y="6439680"/>
            <a:ext cx="155340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1000" spc="-1" strike="noStrike">
                <a:solidFill>
                  <a:srgbClr val="000000"/>
                </a:solidFill>
                <a:latin typeface="Arial"/>
                <a:ea typeface="Arial"/>
              </a:rPr>
              <a:t>Immune Cell Activations</a:t>
            </a:r>
            <a:endParaRPr b="0" lang="en-US" sz="1000" spc="-1" strike="noStrike">
              <a:latin typeface="Arial"/>
            </a:endParaRPr>
          </a:p>
        </p:txBody>
      </p:sp>
      <p:sp>
        <p:nvSpPr>
          <p:cNvPr id="680" name="Google Shape;670;p18"/>
          <p:cNvSpPr/>
          <p:nvPr/>
        </p:nvSpPr>
        <p:spPr>
          <a:xfrm>
            <a:off x="-2880" y="5671440"/>
            <a:ext cx="3128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US" sz="1400" spc="-1" strike="noStrike">
                <a:solidFill>
                  <a:srgbClr val="000000"/>
                </a:solidFill>
                <a:latin typeface="Arial"/>
                <a:ea typeface="Arial"/>
              </a:rPr>
              <a:t>C</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1" name="Google Shape;676;p19" descr=""/>
          <p:cNvPicPr/>
          <p:nvPr/>
        </p:nvPicPr>
        <p:blipFill>
          <a:blip r:embed="rId1"/>
          <a:stretch/>
        </p:blipFill>
        <p:spPr>
          <a:xfrm>
            <a:off x="0" y="134640"/>
            <a:ext cx="6856200" cy="8873280"/>
          </a:xfrm>
          <a:prstGeom prst="rect">
            <a:avLst/>
          </a:prstGeom>
          <a:ln w="0">
            <a:noFill/>
          </a:ln>
        </p:spPr>
      </p:pic>
      <p:sp>
        <p:nvSpPr>
          <p:cNvPr id="682" name="Google Shape;677;p19"/>
          <p:cNvSpPr/>
          <p:nvPr/>
        </p:nvSpPr>
        <p:spPr>
          <a:xfrm>
            <a:off x="627120" y="134640"/>
            <a:ext cx="560196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1" lang="en-US" sz="1400" spc="-1" strike="noStrike">
                <a:solidFill>
                  <a:srgbClr val="ff0000"/>
                </a:solidFill>
                <a:latin typeface="Arial"/>
                <a:ea typeface="Arial"/>
              </a:rPr>
              <a:t>Research Article Checklist should be placed after presentation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25</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2020-05-30T15:26:25Z</dcterms:created>
  <dc:creator>Microsoft Office User</dc:creator>
  <dc:description/>
  <dc:language>en-US</dc:language>
  <cp:lastModifiedBy/>
  <dcterms:modified xsi:type="dcterms:W3CDTF">2025-05-12T13:52:25Z</dcterms:modified>
  <cp:revision>6</cp:revision>
  <dc:subject/>
  <dc:title/>
</cp:coreProperties>
</file>

<file path=docProps/custom.xml><?xml version="1.0" encoding="utf-8"?>
<Properties xmlns="http://schemas.openxmlformats.org/officeDocument/2006/custom-properties" xmlns:vt="http://schemas.openxmlformats.org/officeDocument/2006/docPropsVTypes"/>
</file>