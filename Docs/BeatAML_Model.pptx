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_rels/notesSlide19.xml.rels" ContentType="application/vnd.openxmlformats-package.relationships+xml"/>
  <Override PartName="/ppt/notesSlides/_rels/notesSlide9.xml.rels" ContentType="application/vnd.openxmlformats-package.relationships+xml"/>
  <Override PartName="/ppt/notesSlides/_rels/notesSlide16.xml.rels" ContentType="application/vnd.openxmlformats-package.relationships+xml"/>
  <Override PartName="/ppt/notesSlides/_rels/notesSlide14.xml.rels" ContentType="application/vnd.openxmlformats-package.relationships+xml"/>
  <Override PartName="/ppt/notesSlides/_rels/notesSlide7.xml.rels" ContentType="application/vnd.openxmlformats-package.relationships+xml"/>
  <Override PartName="/ppt/notesSlides/_rels/notesSlide1.xml.rels" ContentType="application/vnd.openxmlformats-package.relationships+xml"/>
  <Override PartName="/ppt/notesSlides/_rels/notesSlide12.xml.rels" ContentType="application/vnd.openxmlformats-package.relationships+xml"/>
  <Override PartName="/ppt/notesSlides/_rels/notesSlide2.xml.rels" ContentType="application/vnd.openxmlformats-package.relationshi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9.xml" ContentType="application/vnd.openxmlformats-officedocument.presentationml.notesSlide+xml"/>
  <Override PartName="/ppt/_rels/presentation.xml.rels" ContentType="application/vnd.openxmlformats-package.relationships+xml"/>
  <Override PartName="/ppt/slideLayouts/_rels/slideLayout19.xml.rels" ContentType="application/vnd.openxmlformats-package.relationships+xml"/>
  <Override PartName="/ppt/slideLayouts/_rels/slideLayout13.xml.rels" ContentType="application/vnd.openxmlformats-package.relationships+xml"/>
  <Override PartName="/ppt/slideLayouts/_rels/slideLayout23.xml.rels" ContentType="application/vnd.openxmlformats-package.relationships+xml"/>
  <Override PartName="/ppt/slideLayouts/_rels/slideLayout30.xml.rels" ContentType="application/vnd.openxmlformats-package.relationships+xml"/>
  <Override PartName="/ppt/slideLayouts/_rels/slideLayout14.xml.rels" ContentType="application/vnd.openxmlformats-package.relationships+xml"/>
  <Override PartName="/ppt/slideLayouts/_rels/slideLayout29.xml.rels" ContentType="application/vnd.openxmlformats-package.relationships+xml"/>
  <Override PartName="/ppt/slideLayouts/_rels/slideLayout10.xml.rels" ContentType="application/vnd.openxmlformats-package.relationships+xml"/>
  <Override PartName="/ppt/slideLayouts/_rels/slideLayout25.xml.rels" ContentType="application/vnd.openxmlformats-package.relationships+xml"/>
  <Override PartName="/ppt/slideLayouts/_rels/slideLayout16.xml.rels" ContentType="application/vnd.openxmlformats-package.relationships+xml"/>
  <Override PartName="/ppt/slideLayouts/_rels/slideLayout32.xml.rels" ContentType="application/vnd.openxmlformats-package.relationships+xml"/>
  <Override PartName="/ppt/slideLayouts/_rels/slideLayout34.xml.rels" ContentType="application/vnd.openxmlformats-package.relationships+xml"/>
  <Override PartName="/ppt/slideLayouts/_rels/slideLayout20.xml.rels" ContentType="application/vnd.openxmlformats-package.relationships+xml"/>
  <Override PartName="/ppt/slideLayouts/_rels/slideLayout35.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9.xml.rels" ContentType="application/vnd.openxmlformats-package.relationships+xml"/>
  <Override PartName="/ppt/slideLayouts/_rels/slideLayout24.xml.rels" ContentType="application/vnd.openxmlformats-package.relationships+xml"/>
  <Override PartName="/ppt/slideLayouts/_rels/slideLayout15.xml.rels" ContentType="application/vnd.openxmlformats-package.relationships+xml"/>
  <Override PartName="/ppt/slideLayouts/_rels/slideLayout31.xml.rels" ContentType="application/vnd.openxmlformats-package.relationships+xml"/>
  <Override PartName="/ppt/slideLayouts/_rels/slideLayout2.xml.rels" ContentType="application/vnd.openxmlformats-package.relationships+xml"/>
  <Override PartName="/ppt/slideLayouts/_rels/slideLayout8.xml.rels" ContentType="application/vnd.openxmlformats-package.relationships+xml"/>
  <Override PartName="/ppt/slideLayouts/_rels/slideLayout22.xml.rels" ContentType="application/vnd.openxmlformats-package.relationships+xml"/>
  <Override PartName="/ppt/slideLayouts/_rels/slideLayout28.xml.rels" ContentType="application/vnd.openxmlformats-package.relationships+xml"/>
  <Override PartName="/ppt/slideLayouts/_rels/slideLayout7.xml.rels" ContentType="application/vnd.openxmlformats-package.relationships+xml"/>
  <Override PartName="/ppt/slideLayouts/_rels/slideLayout1.xml.rels" ContentType="application/vnd.openxmlformats-package.relationships+xml"/>
  <Override PartName="/ppt/slideLayouts/_rels/slideLayout6.xml.rels" ContentType="application/vnd.openxmlformats-package.relationships+xml"/>
  <Override PartName="/ppt/slideLayouts/_rels/slideLayout36.xml.rels" ContentType="application/vnd.openxmlformats-package.relationships+xml"/>
  <Override PartName="/ppt/slideLayouts/_rels/slideLayout21.xml.rels" ContentType="application/vnd.openxmlformats-package.relationships+xml"/>
  <Override PartName="/ppt/slideLayouts/_rels/slideLayout27.xml.rels" ContentType="application/vnd.openxmlformats-package.relationships+xml"/>
  <Override PartName="/ppt/slideLayouts/_rels/slideLayout5.xml.rels" ContentType="application/vnd.openxmlformats-package.relationships+xml"/>
  <Override PartName="/ppt/slideLayouts/_rels/slideLayout1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1.xml.rels" ContentType="application/vnd.openxmlformats-package.relationships+xml"/>
  <Override PartName="/ppt/slideLayouts/_rels/slideLayout26.xml.rels" ContentType="application/vnd.openxmlformats-package.relationships+xml"/>
  <Override PartName="/ppt/slideLayouts/slideLayout29.xml" ContentType="application/vnd.openxmlformats-officedocument.presentationml.slideLayout+xml"/>
  <Override PartName="/ppt/slideLayouts/slideLayout9.xml" ContentType="application/vnd.openxmlformats-officedocument.presentationml.slideLayout+xml"/>
  <Override PartName="/ppt/slideLayouts/slideLayout28.xml" ContentType="application/vnd.openxmlformats-officedocument.presentationml.slideLayout+xml"/>
  <Override PartName="/ppt/slideLayouts/slideLayout8.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27.xml" ContentType="application/vnd.openxmlformats-officedocument.presentationml.slideLayout+xml"/>
  <Override PartName="/ppt/slideLayouts/slideLayout7.xml" ContentType="application/vnd.openxmlformats-officedocument.presentationml.slideLayout+xml"/>
  <Override PartName="/ppt/slideLayouts/slideLayout33.xml" ContentType="application/vnd.openxmlformats-officedocument.presentationml.slideLayout+xml"/>
  <Override PartName="/ppt/slideLayouts/slideLayout10.xml" ContentType="application/vnd.openxmlformats-officedocument.presentationml.slideLayout+xml"/>
  <Override PartName="/ppt/slideLayouts/slideLayout34.xml" ContentType="application/vnd.openxmlformats-officedocument.presentationml.slideLayout+xml"/>
  <Override PartName="/ppt/slideLayouts/slideLayout11.xml" ContentType="application/vnd.openxmlformats-officedocument.presentationml.slideLayout+xml"/>
  <Override PartName="/ppt/slideLayouts/slideLayout35.xml" ContentType="application/vnd.openxmlformats-officedocument.presentationml.slideLayout+xml"/>
  <Override PartName="/ppt/slideLayouts/slideLayout12.xml" ContentType="application/vnd.openxmlformats-officedocument.presentationml.slideLayout+xml"/>
  <Override PartName="/ppt/slideLayouts/slideLayout36.xml" ContentType="application/vnd.openxmlformats-officedocument.presentationml.slideLayout+xml"/>
  <Override PartName="/ppt/slideLayouts/slideLayout26.xml" ContentType="application/vnd.openxmlformats-officedocument.presentationml.slideLayout+xml"/>
  <Override PartName="/ppt/slideLayouts/slideLayout6.xml" ContentType="application/vnd.openxmlformats-officedocument.presentationml.slideLayout+xml"/>
  <Override PartName="/ppt/slideLayouts/slideLayout25.xml" ContentType="application/vnd.openxmlformats-officedocument.presentationml.slideLayout+xml"/>
  <Override PartName="/ppt/slideLayouts/slideLayout5.xml" ContentType="application/vnd.openxmlformats-officedocument.presentationml.slideLayout+xml"/>
  <Override PartName="/ppt/slideLayouts/slideLayout24.xml" ContentType="application/vnd.openxmlformats-officedocument.presentationml.slideLayout+xml"/>
  <Override PartName="/ppt/slideLayouts/slideLayout4.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Layouts/slideLayout2.xml" ContentType="application/vnd.openxmlformats-officedocument.presentationml.slideLayout+xml"/>
  <Override PartName="/ppt/slideLayouts/slideLayout18.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media/image59.jpeg" ContentType="image/jpeg"/>
  <Override PartName="/ppt/media/image6.png" ContentType="image/png"/>
  <Override PartName="/ppt/media/image18.png" ContentType="image/png"/>
  <Override PartName="/ppt/media/image56.png" ContentType="image/png"/>
  <Override PartName="/ppt/media/image55.png" ContentType="image/png"/>
  <Override PartName="/ppt/media/image54.png" ContentType="image/png"/>
  <Override PartName="/ppt/media/image76.jpeg" ContentType="image/jpeg"/>
  <Override PartName="/ppt/media/image58.jpeg" ContentType="image/jpeg"/>
  <Override PartName="/ppt/media/image73.png" ContentType="image/png"/>
  <Override PartName="/ppt/media/image53.png" ContentType="image/png"/>
  <Override PartName="/ppt/media/image52.png" ContentType="image/png"/>
  <Override PartName="/ppt/media/image95.jpeg" ContentType="image/jpeg"/>
  <Override PartName="/ppt/media/image51.png" ContentType="image/png"/>
  <Override PartName="/ppt/media/image50.png" ContentType="image/png"/>
  <Override PartName="/ppt/media/image46.png" ContentType="image/png"/>
  <Override PartName="/ppt/media/image45.png" ContentType="image/png"/>
  <Override PartName="/ppt/media/image44.png" ContentType="image/png"/>
  <Override PartName="/ppt/media/image75.jpeg" ContentType="image/jpeg"/>
  <Override PartName="/ppt/media/image57.jpeg" ContentType="image/jpeg"/>
  <Override PartName="/ppt/media/image43.png" ContentType="image/png"/>
  <Override PartName="/ppt/media/image42.png" ContentType="image/png"/>
  <Override PartName="/ppt/media/image94.jpeg" ContentType="image/jpeg"/>
  <Override PartName="/ppt/media/image41.png" ContentType="image/png"/>
  <Override PartName="/ppt/media/image40.png" ContentType="image/png"/>
  <Override PartName="/ppt/media/image30.png" ContentType="image/png"/>
  <Override PartName="/ppt/media/image39.png" ContentType="image/png"/>
  <Override PartName="/ppt/media/image64.jpeg" ContentType="image/jpeg"/>
  <Override PartName="/ppt/media/image9.png" ContentType="image/png"/>
  <Override PartName="/ppt/media/image13.png" ContentType="image/png"/>
  <Override PartName="/ppt/media/image1.png" ContentType="image/png"/>
  <Override PartName="/ppt/media/image38.png" ContentType="image/png"/>
  <Override PartName="/ppt/media/image8.png" ContentType="image/png"/>
  <Override PartName="/ppt/media/image82.jpeg" ContentType="image/jpeg"/>
  <Override PartName="/ppt/media/image49.png" ContentType="image/png"/>
  <Override PartName="/ppt/media/image65.jpeg" ContentType="image/jpeg"/>
  <Override PartName="/ppt/media/image100.png" ContentType="image/png"/>
  <Override PartName="/ppt/media/image12.png" ContentType="image/png"/>
  <Override PartName="/ppt/media/image37.png" ContentType="image/png"/>
  <Override PartName="/ppt/media/image7.png" ContentType="image/png"/>
  <Override PartName="/ppt/media/image19.png" ContentType="image/png"/>
  <Override PartName="/ppt/media/image62.jpeg" ContentType="image/jpeg"/>
  <Override PartName="/ppt/media/image79.jpeg" ContentType="image/jpeg"/>
  <Override PartName="/ppt/media/image48.png" ContentType="image/png"/>
  <Override PartName="/ppt/media/image23.png" ContentType="image/png"/>
  <Override PartName="/ppt/media/image81.jpeg" ContentType="image/jpeg"/>
  <Override PartName="/ppt/media/image66.jpeg" ContentType="image/jpeg"/>
  <Override PartName="/ppt/media/image11.png" ContentType="image/png"/>
  <Override PartName="/ppt/media/image91.jpeg" ContentType="image/jpeg"/>
  <Override PartName="/ppt/media/image70.png" ContentType="image/png"/>
  <Override PartName="/ppt/media/image28.png" ContentType="image/png"/>
  <Override PartName="/ppt/media/image67.jpeg" ContentType="image/jpeg"/>
  <Override PartName="/ppt/media/image69.png" ContentType="image/png"/>
  <Override PartName="/ppt/media/image71.png" ContentType="image/png"/>
  <Override PartName="/ppt/media/image72.png" ContentType="image/png"/>
  <Override PartName="/ppt/media/image80.jpeg" ContentType="image/jpeg"/>
  <Override PartName="/ppt/media/image102.png" ContentType="image/png"/>
  <Override PartName="/ppt/media/image87.jpeg" ContentType="image/jpeg"/>
  <Override PartName="/ppt/media/image99.png" ContentType="image/png"/>
  <Override PartName="/ppt/media/image88.jpeg" ContentType="image/jpeg"/>
  <Override PartName="/ppt/media/image2.png" ContentType="image/png"/>
  <Override PartName="/ppt/media/image14.png" ContentType="image/png"/>
  <Override PartName="/ppt/media/image97.png" ContentType="image/png"/>
  <Override PartName="/ppt/media/image90.jpeg" ContentType="image/jpeg"/>
  <Override PartName="/ppt/media/image29.png" ContentType="image/png"/>
  <Override PartName="/ppt/media/image63.jpeg" ContentType="image/jpeg"/>
  <Override PartName="/ppt/media/image61.png" ContentType="image/png"/>
  <Override PartName="/ppt/media/image98.png" ContentType="image/png"/>
  <Override PartName="/ppt/media/image96.png" ContentType="image/png"/>
  <Override PartName="/ppt/media/image22.png" ContentType="image/png"/>
  <Override PartName="/ppt/media/image101.png" ContentType="image/png"/>
  <Override PartName="/ppt/media/image85.jpeg" ContentType="image/jpeg"/>
  <Override PartName="/ppt/media/image86.jpeg" ContentType="image/jpeg"/>
  <Override PartName="/ppt/media/image78.jpeg" ContentType="image/jpeg"/>
  <Override PartName="/ppt/media/image36.png" ContentType="image/png"/>
  <Override PartName="/ppt/media/image84.jpeg" ContentType="image/jpeg"/>
  <Override PartName="/ppt/media/image60.jpeg" ContentType="image/jpeg"/>
  <Override PartName="/ppt/media/image77.jpeg" ContentType="image/jpeg"/>
  <Override PartName="/ppt/media/image26.png" ContentType="image/png"/>
  <Override PartName="/ppt/media/image68.png" ContentType="image/png"/>
  <Override PartName="/ppt/media/image31.png" ContentType="image/png"/>
  <Override PartName="/ppt/media/image83.jpeg" ContentType="image/jpeg"/>
  <Override PartName="/ppt/media/image21.png" ContentType="image/png"/>
  <Override PartName="/ppt/media/image89.jpeg" ContentType="image/jpeg"/>
  <Override PartName="/ppt/media/image20.png" ContentType="image/png"/>
  <Override PartName="/ppt/media/image24.png" ContentType="image/png"/>
  <Override PartName="/ppt/media/image25.png" ContentType="image/png"/>
  <Override PartName="/ppt/media/image32.png" ContentType="image/png"/>
  <Override PartName="/ppt/media/image93.jpeg" ContentType="image/jpeg"/>
  <Override PartName="/ppt/media/image15.png" ContentType="image/png"/>
  <Override PartName="/ppt/media/image92.jpeg" ContentType="image/jpeg"/>
  <Override PartName="/ppt/media/image3.png" ContentType="image/png"/>
  <Override PartName="/ppt/media/image33.png" ContentType="image/png"/>
  <Override PartName="/ppt/media/image27.png" ContentType="image/png"/>
  <Override PartName="/ppt/media/image16.png" ContentType="image/png"/>
  <Override PartName="/ppt/media/image4.png" ContentType="image/png"/>
  <Override PartName="/ppt/media/image34.png" ContentType="image/png"/>
  <Override PartName="/ppt/media/image74.jpeg" ContentType="image/jpeg"/>
  <Override PartName="/ppt/media/image17.png" ContentType="image/png"/>
  <Override PartName="/ppt/media/image5.png" ContentType="image/png"/>
  <Override PartName="/ppt/media/image35.png" ContentType="image/png"/>
  <Override PartName="/ppt/media/image10.png" ContentType="image/png"/>
  <Override PartName="/ppt/media/image47.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6858000" cy="9144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r>
              <a:rPr b="0" lang="en-US" sz="1400" spc="-1" strike="noStrike">
                <a:solidFill>
                  <a:srgbClr val="000000"/>
                </a:solidFill>
                <a:latin typeface="Arial"/>
              </a:rPr>
              <a:t>Click to move the slide</a:t>
            </a:r>
            <a:endParaRPr b="0" lang="en-US" sz="1400" spc="-1" strike="noStrike">
              <a:solidFill>
                <a:srgbClr val="000000"/>
              </a:solidFill>
              <a:latin typeface="Arial"/>
            </a:endParaRPr>
          </a:p>
        </p:txBody>
      </p:sp>
      <p:sp>
        <p:nvSpPr>
          <p:cNvPr id="121"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r>
              <a:rPr b="0" lang="en-US" sz="2000" spc="-1" strike="noStrike">
                <a:latin typeface="Arial"/>
              </a:rPr>
              <a:t>Click to edit the notes format</a:t>
            </a:r>
            <a:endParaRPr b="0" lang="en-US" sz="2000" spc="-1" strike="noStrike">
              <a:latin typeface="Arial"/>
            </a:endParaRPr>
          </a:p>
        </p:txBody>
      </p:sp>
      <p:sp>
        <p:nvSpPr>
          <p:cNvPr id="122" name="PlaceHolder 3"/>
          <p:cNvSpPr>
            <a:spLocks noGrp="1"/>
          </p:cNvSpPr>
          <p:nvPr>
            <p:ph type="hdr"/>
          </p:nvPr>
        </p:nvSpPr>
        <p:spPr>
          <a:xfrm>
            <a:off x="0" y="0"/>
            <a:ext cx="3372840" cy="50256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123" name="PlaceHolder 4"/>
          <p:cNvSpPr>
            <a:spLocks noGrp="1"/>
          </p:cNvSpPr>
          <p:nvPr>
            <p:ph type="dt" idx="7"/>
          </p:nvPr>
        </p:nvSpPr>
        <p:spPr>
          <a:xfrm>
            <a:off x="4399200" y="0"/>
            <a:ext cx="3372840" cy="50256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124" name="PlaceHolder 5"/>
          <p:cNvSpPr>
            <a:spLocks noGrp="1"/>
          </p:cNvSpPr>
          <p:nvPr>
            <p:ph type="ftr" idx="8"/>
          </p:nvPr>
        </p:nvSpPr>
        <p:spPr>
          <a:xfrm>
            <a:off x="0" y="9555480"/>
            <a:ext cx="3372840" cy="50256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125" name="PlaceHolder 6"/>
          <p:cNvSpPr>
            <a:spLocks noGrp="1"/>
          </p:cNvSpPr>
          <p:nvPr>
            <p:ph type="sldNum" idx="9"/>
          </p:nvPr>
        </p:nvSpPr>
        <p:spPr>
          <a:xfrm>
            <a:off x="4399200" y="9555480"/>
            <a:ext cx="3372840" cy="50256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7A9F3451-EA17-484D-81D5-D51011364D00}"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3" name="PlaceHolder 1"/>
          <p:cNvSpPr>
            <a:spLocks noGrp="1"/>
          </p:cNvSpPr>
          <p:nvPr>
            <p:ph type="sldImg"/>
          </p:nvPr>
        </p:nvSpPr>
        <p:spPr>
          <a:xfrm>
            <a:off x="2143080" y="685800"/>
            <a:ext cx="2571480" cy="3428640"/>
          </a:xfrm>
          <a:prstGeom prst="rect">
            <a:avLst/>
          </a:prstGeom>
          <a:ln w="0">
            <a:noFill/>
          </a:ln>
        </p:spPr>
      </p:sp>
      <p:sp>
        <p:nvSpPr>
          <p:cNvPr id="654"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US" sz="2000" spc="-1" strike="noStrike">
              <a:latin typeface="Arial"/>
            </a:endParaRPr>
          </a:p>
        </p:txBody>
      </p:sp>
      <p:sp>
        <p:nvSpPr>
          <p:cNvPr id="655" name="PlaceHolder 3"/>
          <p:cNvSpPr>
            <a:spLocks noGrp="1"/>
          </p:cNvSpPr>
          <p:nvPr>
            <p:ph type="sldNum" idx="10"/>
          </p:nvPr>
        </p:nvSpPr>
        <p:spPr>
          <a:xfrm>
            <a:off x="3884760" y="8685360"/>
            <a:ext cx="2971440" cy="456840"/>
          </a:xfrm>
          <a:prstGeom prst="rect">
            <a:avLst/>
          </a:prstGeom>
          <a:noFill/>
          <a:ln w="0">
            <a:noFill/>
          </a:ln>
        </p:spPr>
        <p:txBody>
          <a:bodyPr anchor="b">
            <a:noAutofit/>
          </a:bodyPr>
          <a:lstStyle>
            <a:lvl1pPr algn="r">
              <a:lnSpc>
                <a:spcPct val="100000"/>
              </a:lnSpc>
              <a:buNone/>
              <a:tabLst>
                <a:tab algn="l" pos="0"/>
              </a:tabLst>
              <a:defRPr b="0" lang="en-US" sz="1400" spc="-1" strike="noStrike">
                <a:latin typeface="Times New Roman"/>
              </a:defRPr>
            </a:lvl1pPr>
          </a:lstStyle>
          <a:p>
            <a:pPr algn="r">
              <a:lnSpc>
                <a:spcPct val="100000"/>
              </a:lnSpc>
              <a:buNone/>
              <a:tabLst>
                <a:tab algn="l" pos="0"/>
              </a:tabLst>
            </a:pPr>
            <a:fld id="{18BBF37F-6FC5-479D-934F-17A91E85AF50}" type="slidenum">
              <a:rPr b="0" lang="en-US" sz="1400" spc="-1" strike="noStrike">
                <a:latin typeface="Times New Roman"/>
              </a:rPr>
              <a:t>3</a:t>
            </a:fld>
            <a:endParaRPr b="0" lang="en-US" sz="14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6" name="PlaceHolder 1"/>
          <p:cNvSpPr>
            <a:spLocks noGrp="1"/>
          </p:cNvSpPr>
          <p:nvPr>
            <p:ph type="sldImg"/>
          </p:nvPr>
        </p:nvSpPr>
        <p:spPr>
          <a:xfrm>
            <a:off x="2143080" y="685800"/>
            <a:ext cx="2571480" cy="3428640"/>
          </a:xfrm>
          <a:prstGeom prst="rect">
            <a:avLst/>
          </a:prstGeom>
          <a:ln w="0">
            <a:noFill/>
          </a:ln>
        </p:spPr>
      </p:sp>
      <p:sp>
        <p:nvSpPr>
          <p:cNvPr id="657"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US" sz="2000" spc="-1" strike="noStrike">
              <a:latin typeface="Arial"/>
            </a:endParaRPr>
          </a:p>
        </p:txBody>
      </p:sp>
      <p:sp>
        <p:nvSpPr>
          <p:cNvPr id="658" name="PlaceHolder 3"/>
          <p:cNvSpPr>
            <a:spLocks noGrp="1"/>
          </p:cNvSpPr>
          <p:nvPr>
            <p:ph type="sldNum" idx="11"/>
          </p:nvPr>
        </p:nvSpPr>
        <p:spPr>
          <a:xfrm>
            <a:off x="3884760" y="8685360"/>
            <a:ext cx="2971440" cy="456840"/>
          </a:xfrm>
          <a:prstGeom prst="rect">
            <a:avLst/>
          </a:prstGeom>
          <a:noFill/>
          <a:ln w="0">
            <a:noFill/>
          </a:ln>
        </p:spPr>
        <p:txBody>
          <a:bodyPr anchor="b">
            <a:noAutofit/>
          </a:bodyPr>
          <a:lstStyle>
            <a:lvl1pPr algn="r">
              <a:lnSpc>
                <a:spcPct val="100000"/>
              </a:lnSpc>
              <a:buNone/>
              <a:tabLst>
                <a:tab algn="l" pos="0"/>
              </a:tabLst>
              <a:defRPr b="0" lang="en-US" sz="1400" spc="-1" strike="noStrike">
                <a:latin typeface="Times New Roman"/>
              </a:defRPr>
            </a:lvl1pPr>
          </a:lstStyle>
          <a:p>
            <a:pPr algn="r">
              <a:lnSpc>
                <a:spcPct val="100000"/>
              </a:lnSpc>
              <a:buNone/>
              <a:tabLst>
                <a:tab algn="l" pos="0"/>
              </a:tabLst>
            </a:pPr>
            <a:fld id="{99864A66-276D-45F5-AD14-060C09E9E3FB}" type="slidenum">
              <a:rPr b="0" lang="en-US" sz="1400" spc="-1" strike="noStrike">
                <a:latin typeface="Times New Roman"/>
              </a:rPr>
              <a:t>3</a:t>
            </a:fld>
            <a:endParaRPr b="0" lang="en-US" sz="14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9" name="PlaceHolder 1"/>
          <p:cNvSpPr>
            <a:spLocks noGrp="1"/>
          </p:cNvSpPr>
          <p:nvPr>
            <p:ph type="sldImg"/>
          </p:nvPr>
        </p:nvSpPr>
        <p:spPr>
          <a:xfrm>
            <a:off x="2143080" y="685800"/>
            <a:ext cx="2571480" cy="3428640"/>
          </a:xfrm>
          <a:prstGeom prst="rect">
            <a:avLst/>
          </a:prstGeom>
          <a:ln w="0">
            <a:noFill/>
          </a:ln>
        </p:spPr>
      </p:sp>
      <p:sp>
        <p:nvSpPr>
          <p:cNvPr id="660"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US" sz="2000" spc="-1" strike="noStrike">
              <a:latin typeface="Arial"/>
            </a:endParaRPr>
          </a:p>
        </p:txBody>
      </p:sp>
      <p:sp>
        <p:nvSpPr>
          <p:cNvPr id="661" name="PlaceHolder 3"/>
          <p:cNvSpPr>
            <a:spLocks noGrp="1"/>
          </p:cNvSpPr>
          <p:nvPr>
            <p:ph type="sldNum" idx="12"/>
          </p:nvPr>
        </p:nvSpPr>
        <p:spPr>
          <a:xfrm>
            <a:off x="3884760" y="8685360"/>
            <a:ext cx="2971440" cy="456840"/>
          </a:xfrm>
          <a:prstGeom prst="rect">
            <a:avLst/>
          </a:prstGeom>
          <a:noFill/>
          <a:ln w="0">
            <a:noFill/>
          </a:ln>
        </p:spPr>
        <p:txBody>
          <a:bodyPr anchor="b">
            <a:noAutofit/>
          </a:bodyPr>
          <a:lstStyle>
            <a:lvl1pPr algn="r">
              <a:lnSpc>
                <a:spcPct val="100000"/>
              </a:lnSpc>
              <a:buNone/>
              <a:tabLst>
                <a:tab algn="l" pos="0"/>
              </a:tabLst>
              <a:defRPr b="0" lang="en-US" sz="1400" spc="-1" strike="noStrike">
                <a:latin typeface="Times New Roman"/>
              </a:defRPr>
            </a:lvl1pPr>
          </a:lstStyle>
          <a:p>
            <a:pPr algn="r">
              <a:lnSpc>
                <a:spcPct val="100000"/>
              </a:lnSpc>
              <a:buNone/>
              <a:tabLst>
                <a:tab algn="l" pos="0"/>
              </a:tabLst>
            </a:pPr>
            <a:fld id="{E268DE6A-8AB5-40A3-8803-780636B90031}" type="slidenum">
              <a:rPr b="0" lang="en-US" sz="1400" spc="-1" strike="noStrike">
                <a:latin typeface="Times New Roman"/>
              </a:rPr>
              <a:t>3</a:t>
            </a:fld>
            <a:endParaRPr b="0" lang="en-US" sz="14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2" name="PlaceHolder 1"/>
          <p:cNvSpPr>
            <a:spLocks noGrp="1"/>
          </p:cNvSpPr>
          <p:nvPr>
            <p:ph type="sldImg"/>
          </p:nvPr>
        </p:nvSpPr>
        <p:spPr>
          <a:xfrm>
            <a:off x="2143080" y="685800"/>
            <a:ext cx="2571480" cy="3428640"/>
          </a:xfrm>
          <a:prstGeom prst="rect">
            <a:avLst/>
          </a:prstGeom>
          <a:ln w="0">
            <a:noFill/>
          </a:ln>
        </p:spPr>
      </p:sp>
      <p:sp>
        <p:nvSpPr>
          <p:cNvPr id="663"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US" sz="2000" spc="-1" strike="noStrike">
              <a:latin typeface="Arial"/>
            </a:endParaRPr>
          </a:p>
        </p:txBody>
      </p:sp>
      <p:sp>
        <p:nvSpPr>
          <p:cNvPr id="664" name="PlaceHolder 3"/>
          <p:cNvSpPr>
            <a:spLocks noGrp="1"/>
          </p:cNvSpPr>
          <p:nvPr>
            <p:ph type="sldNum" idx="13"/>
          </p:nvPr>
        </p:nvSpPr>
        <p:spPr>
          <a:xfrm>
            <a:off x="3884760" y="8685360"/>
            <a:ext cx="2971440" cy="456840"/>
          </a:xfrm>
          <a:prstGeom prst="rect">
            <a:avLst/>
          </a:prstGeom>
          <a:noFill/>
          <a:ln w="0">
            <a:noFill/>
          </a:ln>
        </p:spPr>
        <p:txBody>
          <a:bodyPr anchor="b">
            <a:noAutofit/>
          </a:bodyPr>
          <a:lstStyle>
            <a:lvl1pPr algn="r">
              <a:lnSpc>
                <a:spcPct val="100000"/>
              </a:lnSpc>
              <a:buNone/>
              <a:tabLst>
                <a:tab algn="l" pos="0"/>
              </a:tabLst>
              <a:defRPr b="0" lang="en-US" sz="1400" spc="-1" strike="noStrike">
                <a:latin typeface="Times New Roman"/>
              </a:defRPr>
            </a:lvl1pPr>
          </a:lstStyle>
          <a:p>
            <a:pPr algn="r">
              <a:lnSpc>
                <a:spcPct val="100000"/>
              </a:lnSpc>
              <a:buNone/>
              <a:tabLst>
                <a:tab algn="l" pos="0"/>
              </a:tabLst>
            </a:pPr>
            <a:fld id="{897AE8C9-B663-4DE9-BC02-50C4388F5A01}" type="slidenum">
              <a:rPr b="0" lang="en-US" sz="1400" spc="-1" strike="noStrike">
                <a:latin typeface="Times New Roman"/>
              </a:rPr>
              <a:t>3</a:t>
            </a:fld>
            <a:endParaRPr b="0" lang="en-US" sz="14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5" name="PlaceHolder 1"/>
          <p:cNvSpPr>
            <a:spLocks noGrp="1"/>
          </p:cNvSpPr>
          <p:nvPr>
            <p:ph type="sldImg"/>
          </p:nvPr>
        </p:nvSpPr>
        <p:spPr>
          <a:xfrm>
            <a:off x="2470320" y="763560"/>
            <a:ext cx="2830320" cy="3771720"/>
          </a:xfrm>
          <a:prstGeom prst="rect">
            <a:avLst/>
          </a:prstGeom>
          <a:ln w="0">
            <a:noFill/>
          </a:ln>
        </p:spPr>
      </p:sp>
      <p:sp>
        <p:nvSpPr>
          <p:cNvPr id="666"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US" sz="2000" spc="-1" strike="noStrike">
              <a:latin typeface="Arial"/>
            </a:endParaRPr>
          </a:p>
        </p:txBody>
      </p:sp>
      <p:sp>
        <p:nvSpPr>
          <p:cNvPr id="667" name="PlaceHolder 3"/>
          <p:cNvSpPr>
            <a:spLocks noGrp="1"/>
          </p:cNvSpPr>
          <p:nvPr>
            <p:ph type="sldNum" idx="14"/>
          </p:nvPr>
        </p:nvSpPr>
        <p:spPr>
          <a:xfrm>
            <a:off x="3884760" y="8685360"/>
            <a:ext cx="2971440" cy="456840"/>
          </a:xfrm>
          <a:prstGeom prst="rect">
            <a:avLst/>
          </a:prstGeom>
          <a:noFill/>
          <a:ln w="0">
            <a:noFill/>
          </a:ln>
        </p:spPr>
        <p:txBody>
          <a:bodyPr anchor="b">
            <a:noAutofit/>
          </a:bodyPr>
          <a:lstStyle>
            <a:lvl1pPr algn="r">
              <a:lnSpc>
                <a:spcPct val="100000"/>
              </a:lnSpc>
              <a:buNone/>
              <a:tabLst>
                <a:tab algn="l" pos="0"/>
              </a:tabLst>
              <a:defRPr b="0" lang="en-US" sz="1400" spc="-1" strike="noStrike">
                <a:latin typeface="Times New Roman"/>
              </a:defRPr>
            </a:lvl1pPr>
          </a:lstStyle>
          <a:p>
            <a:pPr algn="r">
              <a:lnSpc>
                <a:spcPct val="100000"/>
              </a:lnSpc>
              <a:buNone/>
              <a:tabLst>
                <a:tab algn="l" pos="0"/>
              </a:tabLst>
            </a:pPr>
            <a:fld id="{CF56D24F-B525-402A-8DFC-9E5DAF8179B1}" type="slidenum">
              <a:rPr b="0" lang="en-US" sz="1400" spc="-1" strike="noStrike">
                <a:latin typeface="Times New Roman"/>
              </a:rPr>
              <a:t>3</a:t>
            </a:fld>
            <a:endParaRPr b="0" lang="en-US" sz="14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8" name="PlaceHolder 1"/>
          <p:cNvSpPr>
            <a:spLocks noGrp="1"/>
          </p:cNvSpPr>
          <p:nvPr>
            <p:ph type="sldImg"/>
          </p:nvPr>
        </p:nvSpPr>
        <p:spPr>
          <a:xfrm>
            <a:off x="2470320" y="763560"/>
            <a:ext cx="2830320" cy="3771720"/>
          </a:xfrm>
          <a:prstGeom prst="rect">
            <a:avLst/>
          </a:prstGeom>
          <a:ln w="0">
            <a:noFill/>
          </a:ln>
        </p:spPr>
      </p:sp>
      <p:sp>
        <p:nvSpPr>
          <p:cNvPr id="669"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US" sz="2000" spc="-1" strike="noStrike">
              <a:latin typeface="Arial"/>
            </a:endParaRPr>
          </a:p>
        </p:txBody>
      </p:sp>
      <p:sp>
        <p:nvSpPr>
          <p:cNvPr id="670" name="PlaceHolder 3"/>
          <p:cNvSpPr>
            <a:spLocks noGrp="1"/>
          </p:cNvSpPr>
          <p:nvPr>
            <p:ph type="sldNum" idx="15"/>
          </p:nvPr>
        </p:nvSpPr>
        <p:spPr>
          <a:xfrm>
            <a:off x="3884760" y="8685360"/>
            <a:ext cx="2971440" cy="456840"/>
          </a:xfrm>
          <a:prstGeom prst="rect">
            <a:avLst/>
          </a:prstGeom>
          <a:noFill/>
          <a:ln w="0">
            <a:noFill/>
          </a:ln>
        </p:spPr>
        <p:txBody>
          <a:bodyPr anchor="b">
            <a:noAutofit/>
          </a:bodyPr>
          <a:lstStyle>
            <a:lvl1pPr algn="r">
              <a:lnSpc>
                <a:spcPct val="100000"/>
              </a:lnSpc>
              <a:buNone/>
              <a:tabLst>
                <a:tab algn="l" pos="0"/>
              </a:tabLst>
              <a:defRPr b="0" lang="en-US" sz="1400" spc="-1" strike="noStrike">
                <a:latin typeface="Times New Roman"/>
              </a:defRPr>
            </a:lvl1pPr>
          </a:lstStyle>
          <a:p>
            <a:pPr algn="r">
              <a:lnSpc>
                <a:spcPct val="100000"/>
              </a:lnSpc>
              <a:buNone/>
              <a:tabLst>
                <a:tab algn="l" pos="0"/>
              </a:tabLst>
            </a:pPr>
            <a:fld id="{FA7E3072-8E6B-4C9A-A710-B65D09BE95BC}" type="slidenum">
              <a:rPr b="0" lang="en-US" sz="1400" spc="-1" strike="noStrike">
                <a:latin typeface="Times New Roman"/>
              </a:rPr>
              <a:t>3</a:t>
            </a:fld>
            <a:endParaRPr b="0" lang="en-US" sz="14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1" name="PlaceHolder 1"/>
          <p:cNvSpPr>
            <a:spLocks noGrp="1"/>
          </p:cNvSpPr>
          <p:nvPr>
            <p:ph type="sldImg"/>
          </p:nvPr>
        </p:nvSpPr>
        <p:spPr>
          <a:xfrm>
            <a:off x="2470320" y="763560"/>
            <a:ext cx="2830320" cy="3771720"/>
          </a:xfrm>
          <a:prstGeom prst="rect">
            <a:avLst/>
          </a:prstGeom>
          <a:ln w="0">
            <a:noFill/>
          </a:ln>
        </p:spPr>
      </p:sp>
      <p:sp>
        <p:nvSpPr>
          <p:cNvPr id="672"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US" sz="2000" spc="-1" strike="noStrike">
              <a:latin typeface="Arial"/>
            </a:endParaRPr>
          </a:p>
        </p:txBody>
      </p:sp>
      <p:sp>
        <p:nvSpPr>
          <p:cNvPr id="673" name="PlaceHolder 3"/>
          <p:cNvSpPr>
            <a:spLocks noGrp="1"/>
          </p:cNvSpPr>
          <p:nvPr>
            <p:ph type="sldNum" idx="16"/>
          </p:nvPr>
        </p:nvSpPr>
        <p:spPr>
          <a:xfrm>
            <a:off x="3884760" y="8685360"/>
            <a:ext cx="2971440" cy="456840"/>
          </a:xfrm>
          <a:prstGeom prst="rect">
            <a:avLst/>
          </a:prstGeom>
          <a:noFill/>
          <a:ln w="0">
            <a:noFill/>
          </a:ln>
        </p:spPr>
        <p:txBody>
          <a:bodyPr anchor="b">
            <a:noAutofit/>
          </a:bodyPr>
          <a:lstStyle>
            <a:lvl1pPr algn="r">
              <a:lnSpc>
                <a:spcPct val="100000"/>
              </a:lnSpc>
              <a:buNone/>
              <a:tabLst>
                <a:tab algn="l" pos="0"/>
              </a:tabLst>
              <a:defRPr b="0" lang="en-US" sz="1400" spc="-1" strike="noStrike">
                <a:latin typeface="Times New Roman"/>
              </a:defRPr>
            </a:lvl1pPr>
          </a:lstStyle>
          <a:p>
            <a:pPr algn="r">
              <a:lnSpc>
                <a:spcPct val="100000"/>
              </a:lnSpc>
              <a:buNone/>
              <a:tabLst>
                <a:tab algn="l" pos="0"/>
              </a:tabLst>
            </a:pPr>
            <a:fld id="{B89C4CB7-54C5-49A3-9F03-783CD044FA00}" type="slidenum">
              <a:rPr b="0" lang="en-US" sz="1400" spc="-1" strike="noStrike">
                <a:latin typeface="Times New Roman"/>
              </a:rPr>
              <a:t>&lt;number&gt;</a:t>
            </a:fld>
            <a:endParaRPr b="0" lang="en-US" sz="14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4" name="PlaceHolder 1"/>
          <p:cNvSpPr>
            <a:spLocks noGrp="1"/>
          </p:cNvSpPr>
          <p:nvPr>
            <p:ph type="sldImg"/>
          </p:nvPr>
        </p:nvSpPr>
        <p:spPr>
          <a:xfrm>
            <a:off x="2143080" y="685800"/>
            <a:ext cx="2571480" cy="3428640"/>
          </a:xfrm>
          <a:prstGeom prst="rect">
            <a:avLst/>
          </a:prstGeom>
          <a:ln w="0">
            <a:noFill/>
          </a:ln>
        </p:spPr>
      </p:sp>
      <p:sp>
        <p:nvSpPr>
          <p:cNvPr id="675"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US" sz="2000" spc="-1" strike="noStrike">
              <a:latin typeface="Arial"/>
            </a:endParaRPr>
          </a:p>
        </p:txBody>
      </p:sp>
      <p:sp>
        <p:nvSpPr>
          <p:cNvPr id="676" name="PlaceHolder 3"/>
          <p:cNvSpPr>
            <a:spLocks noGrp="1"/>
          </p:cNvSpPr>
          <p:nvPr>
            <p:ph type="sldNum" idx="17"/>
          </p:nvPr>
        </p:nvSpPr>
        <p:spPr>
          <a:xfrm>
            <a:off x="3884760" y="8685360"/>
            <a:ext cx="2971440" cy="456840"/>
          </a:xfrm>
          <a:prstGeom prst="rect">
            <a:avLst/>
          </a:prstGeom>
          <a:noFill/>
          <a:ln w="0">
            <a:noFill/>
          </a:ln>
        </p:spPr>
        <p:txBody>
          <a:bodyPr anchor="b">
            <a:noAutofit/>
          </a:bodyPr>
          <a:lstStyle>
            <a:lvl1pPr algn="r">
              <a:lnSpc>
                <a:spcPct val="100000"/>
              </a:lnSpc>
              <a:buNone/>
              <a:tabLst>
                <a:tab algn="l" pos="0"/>
              </a:tabLst>
              <a:defRPr b="0" lang="en-US" sz="1400" spc="-1" strike="noStrike">
                <a:latin typeface="Times New Roman"/>
              </a:defRPr>
            </a:lvl1pPr>
          </a:lstStyle>
          <a:p>
            <a:pPr algn="r">
              <a:lnSpc>
                <a:spcPct val="100000"/>
              </a:lnSpc>
              <a:buNone/>
              <a:tabLst>
                <a:tab algn="l" pos="0"/>
              </a:tabLst>
            </a:pPr>
            <a:fld id="{8BBB6F0E-71DD-4159-B9BC-074D38D5EAB6}" type="slidenum">
              <a:rPr b="0" lang="en-US" sz="1400" spc="-1" strike="noStrike">
                <a:latin typeface="Times New Roman"/>
              </a:rPr>
              <a:t>&lt;number&gt;</a:t>
            </a:fld>
            <a:endParaRPr b="0" lang="en-US" sz="14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0E7D73C9-33B9-40C3-9DA9-DC4B67CA130F}" type="slidenum">
              <a:t>&lt;#&gt;</a:t>
            </a:fld>
          </a:p>
        </p:txBody>
      </p:sp>
      <p:sp>
        <p:nvSpPr>
          <p:cNvPr id="4" name="PlaceHolder 3"/>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6" name="PlaceHolder 2"/>
          <p:cNvSpPr>
            <a:spLocks noGrp="1"/>
          </p:cNvSpPr>
          <p:nvPr>
            <p:ph type="subTitle"/>
          </p:nvPr>
        </p:nvSpPr>
        <p:spPr>
          <a:xfrm>
            <a:off x="343080" y="2133720"/>
            <a:ext cx="6171840" cy="603432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393D1B80-CCD1-49C9-86D7-5BEA6482731B}"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8" name="PlaceHolder 2"/>
          <p:cNvSpPr>
            <a:spLocks noGrp="1"/>
          </p:cNvSpPr>
          <p:nvPr>
            <p:ph/>
          </p:nvPr>
        </p:nvSpPr>
        <p:spPr>
          <a:xfrm>
            <a:off x="343080" y="2133720"/>
            <a:ext cx="617184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57553EF1-4CF7-495E-BED1-6AE282848864}"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10" name="PlaceHolder 2"/>
          <p:cNvSpPr>
            <a:spLocks noGrp="1"/>
          </p:cNvSpPr>
          <p:nvPr>
            <p:ph/>
          </p:nvPr>
        </p:nvSpPr>
        <p:spPr>
          <a:xfrm>
            <a:off x="3430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1" name="PlaceHolder 3"/>
          <p:cNvSpPr>
            <a:spLocks noGrp="1"/>
          </p:cNvSpPr>
          <p:nvPr>
            <p:ph/>
          </p:nvPr>
        </p:nvSpPr>
        <p:spPr>
          <a:xfrm>
            <a:off x="35056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9E167C28-60A7-4A79-A619-262DEAC38366}" type="slidenum">
              <a:t>&lt;#&gt;</a:t>
            </a:fld>
          </a:p>
        </p:txBody>
      </p:sp>
      <p:sp>
        <p:nvSpPr>
          <p:cNvPr id="7" name="PlaceHolder 6"/>
          <p:cNvSpPr>
            <a:spLocks noGrp="1"/>
          </p:cNvSpPr>
          <p:nvPr>
            <p:ph type="dt" idx="1"/>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D20950D0-775D-493C-8E4F-6DE5AB8748F8}" type="slidenum">
              <a:t>&lt;#&gt;</a:t>
            </a:fld>
          </a:p>
        </p:txBody>
      </p:sp>
      <p:sp>
        <p:nvSpPr>
          <p:cNvPr id="5" name="PlaceHolder 4"/>
          <p:cNvSpPr>
            <a:spLocks noGrp="1"/>
          </p:cNvSpPr>
          <p:nvPr>
            <p:ph type="dt" idx="1"/>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343080" y="366120"/>
            <a:ext cx="6171840" cy="706356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35532A0E-C88A-4C3B-9595-A74FDAA5DF82}" type="slidenum">
              <a:t>&lt;#&gt;</a:t>
            </a:fld>
          </a:p>
        </p:txBody>
      </p:sp>
      <p:sp>
        <p:nvSpPr>
          <p:cNvPr id="5" name="PlaceHolder 4"/>
          <p:cNvSpPr>
            <a:spLocks noGrp="1"/>
          </p:cNvSpPr>
          <p:nvPr>
            <p:ph type="dt" idx="1"/>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15" name="PlaceHolder 2"/>
          <p:cNvSpPr>
            <a:spLocks noGrp="1"/>
          </p:cNvSpPr>
          <p:nvPr>
            <p:ph/>
          </p:nvPr>
        </p:nvSpPr>
        <p:spPr>
          <a:xfrm>
            <a:off x="3430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6" name="PlaceHolder 3"/>
          <p:cNvSpPr>
            <a:spLocks noGrp="1"/>
          </p:cNvSpPr>
          <p:nvPr>
            <p:ph/>
          </p:nvPr>
        </p:nvSpPr>
        <p:spPr>
          <a:xfrm>
            <a:off x="35056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7" name="PlaceHolder 4"/>
          <p:cNvSpPr>
            <a:spLocks noGrp="1"/>
          </p:cNvSpPr>
          <p:nvPr>
            <p:ph/>
          </p:nvPr>
        </p:nvSpPr>
        <p:spPr>
          <a:xfrm>
            <a:off x="3430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44E5CDBF-CA69-4064-8307-91977C445A23}"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19" name="PlaceHolder 2"/>
          <p:cNvSpPr>
            <a:spLocks noGrp="1"/>
          </p:cNvSpPr>
          <p:nvPr>
            <p:ph/>
          </p:nvPr>
        </p:nvSpPr>
        <p:spPr>
          <a:xfrm>
            <a:off x="3430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20" name="PlaceHolder 3"/>
          <p:cNvSpPr>
            <a:spLocks noGrp="1"/>
          </p:cNvSpPr>
          <p:nvPr>
            <p:ph/>
          </p:nvPr>
        </p:nvSpPr>
        <p:spPr>
          <a:xfrm>
            <a:off x="35056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21" name="PlaceHolder 4"/>
          <p:cNvSpPr>
            <a:spLocks noGrp="1"/>
          </p:cNvSpPr>
          <p:nvPr>
            <p:ph/>
          </p:nvPr>
        </p:nvSpPr>
        <p:spPr>
          <a:xfrm>
            <a:off x="35056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BD4D7301-38D2-40B0-93AF-D35FA9CC4338}"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23" name="PlaceHolder 2"/>
          <p:cNvSpPr>
            <a:spLocks noGrp="1"/>
          </p:cNvSpPr>
          <p:nvPr>
            <p:ph/>
          </p:nvPr>
        </p:nvSpPr>
        <p:spPr>
          <a:xfrm>
            <a:off x="3430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24" name="PlaceHolder 3"/>
          <p:cNvSpPr>
            <a:spLocks noGrp="1"/>
          </p:cNvSpPr>
          <p:nvPr>
            <p:ph/>
          </p:nvPr>
        </p:nvSpPr>
        <p:spPr>
          <a:xfrm>
            <a:off x="35056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25" name="PlaceHolder 4"/>
          <p:cNvSpPr>
            <a:spLocks noGrp="1"/>
          </p:cNvSpPr>
          <p:nvPr>
            <p:ph/>
          </p:nvPr>
        </p:nvSpPr>
        <p:spPr>
          <a:xfrm>
            <a:off x="343080" y="5285880"/>
            <a:ext cx="617184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F0D87AAD-09A7-4F2F-B0DC-F1FBCC69B4B3}"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27" name="PlaceHolder 2"/>
          <p:cNvSpPr>
            <a:spLocks noGrp="1"/>
          </p:cNvSpPr>
          <p:nvPr>
            <p:ph/>
          </p:nvPr>
        </p:nvSpPr>
        <p:spPr>
          <a:xfrm>
            <a:off x="343080" y="2133720"/>
            <a:ext cx="617184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28" name="PlaceHolder 3"/>
          <p:cNvSpPr>
            <a:spLocks noGrp="1"/>
          </p:cNvSpPr>
          <p:nvPr>
            <p:ph/>
          </p:nvPr>
        </p:nvSpPr>
        <p:spPr>
          <a:xfrm>
            <a:off x="343080" y="5285880"/>
            <a:ext cx="617184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C948DD10-4E1E-4FAA-98F8-15A1AA4346FC}" type="slidenum">
              <a:t>&lt;#&gt;</a:t>
            </a:fld>
          </a:p>
        </p:txBody>
      </p:sp>
      <p:sp>
        <p:nvSpPr>
          <p:cNvPr id="7" name="PlaceHolder 6"/>
          <p:cNvSpPr>
            <a:spLocks noGrp="1"/>
          </p:cNvSpPr>
          <p:nvPr>
            <p:ph type="dt" idx="1"/>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30" name="PlaceHolder 2"/>
          <p:cNvSpPr>
            <a:spLocks noGrp="1"/>
          </p:cNvSpPr>
          <p:nvPr>
            <p:ph/>
          </p:nvPr>
        </p:nvSpPr>
        <p:spPr>
          <a:xfrm>
            <a:off x="3430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31" name="PlaceHolder 3"/>
          <p:cNvSpPr>
            <a:spLocks noGrp="1"/>
          </p:cNvSpPr>
          <p:nvPr>
            <p:ph/>
          </p:nvPr>
        </p:nvSpPr>
        <p:spPr>
          <a:xfrm>
            <a:off x="35056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32" name="PlaceHolder 4"/>
          <p:cNvSpPr>
            <a:spLocks noGrp="1"/>
          </p:cNvSpPr>
          <p:nvPr>
            <p:ph/>
          </p:nvPr>
        </p:nvSpPr>
        <p:spPr>
          <a:xfrm>
            <a:off x="3430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33" name="PlaceHolder 5"/>
          <p:cNvSpPr>
            <a:spLocks noGrp="1"/>
          </p:cNvSpPr>
          <p:nvPr>
            <p:ph/>
          </p:nvPr>
        </p:nvSpPr>
        <p:spPr>
          <a:xfrm>
            <a:off x="35056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7" name="PlaceHolder 6"/>
          <p:cNvSpPr>
            <a:spLocks noGrp="1"/>
          </p:cNvSpPr>
          <p:nvPr>
            <p:ph type="ftr" idx="2"/>
          </p:nvPr>
        </p:nvSpPr>
        <p:spPr/>
        <p:txBody>
          <a:bodyPr/>
          <a:p>
            <a:r>
              <a:t>Footer</a:t>
            </a:r>
          </a:p>
        </p:txBody>
      </p:sp>
      <p:sp>
        <p:nvSpPr>
          <p:cNvPr id="8" name="PlaceHolder 7"/>
          <p:cNvSpPr>
            <a:spLocks noGrp="1"/>
          </p:cNvSpPr>
          <p:nvPr>
            <p:ph type="sldNum" idx="3"/>
          </p:nvPr>
        </p:nvSpPr>
        <p:spPr/>
        <p:txBody>
          <a:bodyPr/>
          <a:p>
            <a:fld id="{4A50B5DD-FA4D-435D-B487-DEFD398F5220}" type="slidenum">
              <a:t>&lt;#&gt;</a:t>
            </a:fld>
          </a:p>
        </p:txBody>
      </p:sp>
      <p:sp>
        <p:nvSpPr>
          <p:cNvPr id="9" name="PlaceHolder 8"/>
          <p:cNvSpPr>
            <a:spLocks noGrp="1"/>
          </p:cNvSpPr>
          <p:nvPr>
            <p:ph type="dt" idx="1"/>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35" name="PlaceHolder 2"/>
          <p:cNvSpPr>
            <a:spLocks noGrp="1"/>
          </p:cNvSpPr>
          <p:nvPr>
            <p:ph/>
          </p:nvPr>
        </p:nvSpPr>
        <p:spPr>
          <a:xfrm>
            <a:off x="343080" y="213372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36" name="PlaceHolder 3"/>
          <p:cNvSpPr>
            <a:spLocks noGrp="1"/>
          </p:cNvSpPr>
          <p:nvPr>
            <p:ph/>
          </p:nvPr>
        </p:nvSpPr>
        <p:spPr>
          <a:xfrm>
            <a:off x="2430000" y="213372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37" name="PlaceHolder 4"/>
          <p:cNvSpPr>
            <a:spLocks noGrp="1"/>
          </p:cNvSpPr>
          <p:nvPr>
            <p:ph/>
          </p:nvPr>
        </p:nvSpPr>
        <p:spPr>
          <a:xfrm>
            <a:off x="4516920" y="213372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38" name="PlaceHolder 5"/>
          <p:cNvSpPr>
            <a:spLocks noGrp="1"/>
          </p:cNvSpPr>
          <p:nvPr>
            <p:ph/>
          </p:nvPr>
        </p:nvSpPr>
        <p:spPr>
          <a:xfrm>
            <a:off x="343080" y="528588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39" name="PlaceHolder 6"/>
          <p:cNvSpPr>
            <a:spLocks noGrp="1"/>
          </p:cNvSpPr>
          <p:nvPr>
            <p:ph/>
          </p:nvPr>
        </p:nvSpPr>
        <p:spPr>
          <a:xfrm>
            <a:off x="2430000" y="528588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40" name="PlaceHolder 7"/>
          <p:cNvSpPr>
            <a:spLocks noGrp="1"/>
          </p:cNvSpPr>
          <p:nvPr>
            <p:ph/>
          </p:nvPr>
        </p:nvSpPr>
        <p:spPr>
          <a:xfrm>
            <a:off x="4516920" y="528588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9" name="PlaceHolder 8"/>
          <p:cNvSpPr>
            <a:spLocks noGrp="1"/>
          </p:cNvSpPr>
          <p:nvPr>
            <p:ph type="ftr" idx="2"/>
          </p:nvPr>
        </p:nvSpPr>
        <p:spPr/>
        <p:txBody>
          <a:bodyPr/>
          <a:p>
            <a:r>
              <a:t>Footer</a:t>
            </a:r>
          </a:p>
        </p:txBody>
      </p:sp>
      <p:sp>
        <p:nvSpPr>
          <p:cNvPr id="10" name="PlaceHolder 9"/>
          <p:cNvSpPr>
            <a:spLocks noGrp="1"/>
          </p:cNvSpPr>
          <p:nvPr>
            <p:ph type="sldNum" idx="3"/>
          </p:nvPr>
        </p:nvSpPr>
        <p:spPr/>
        <p:txBody>
          <a:bodyPr/>
          <a:p>
            <a:fld id="{17084847-B70B-4734-B63F-44E44FE1053D}" type="slidenum">
              <a:t>&lt;#&gt;</a:t>
            </a:fld>
          </a:p>
        </p:txBody>
      </p:sp>
      <p:sp>
        <p:nvSpPr>
          <p:cNvPr id="11" name="PlaceHolder 10"/>
          <p:cNvSpPr>
            <a:spLocks noGrp="1"/>
          </p:cNvSpPr>
          <p:nvPr>
            <p:ph type="dt" idx="1"/>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C1D57469-FB4E-4A95-A771-9B1078E343A2}"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47" name="PlaceHolder 2"/>
          <p:cNvSpPr>
            <a:spLocks noGrp="1"/>
          </p:cNvSpPr>
          <p:nvPr>
            <p:ph type="subTitle"/>
          </p:nvPr>
        </p:nvSpPr>
        <p:spPr>
          <a:xfrm>
            <a:off x="343080" y="2133720"/>
            <a:ext cx="6171840" cy="603432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9E992624-32D3-45B7-91DB-9C3F8B3355C2}" type="slidenum">
              <a:t>&lt;#&gt;</a:t>
            </a:fld>
          </a:p>
        </p:txBody>
      </p:sp>
      <p:sp>
        <p:nvSpPr>
          <p:cNvPr id="6" name="PlaceHolder 5"/>
          <p:cNvSpPr>
            <a:spLocks noGrp="1"/>
          </p:cNvSpPr>
          <p:nvPr>
            <p:ph type="dt" idx="4"/>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49" name="PlaceHolder 2"/>
          <p:cNvSpPr>
            <a:spLocks noGrp="1"/>
          </p:cNvSpPr>
          <p:nvPr>
            <p:ph/>
          </p:nvPr>
        </p:nvSpPr>
        <p:spPr>
          <a:xfrm>
            <a:off x="343080" y="2133720"/>
            <a:ext cx="617184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B408AB14-BFEC-4DDD-A988-83E99CC3E468}" type="slidenum">
              <a:t>&lt;#&gt;</a:t>
            </a:fld>
          </a:p>
        </p:txBody>
      </p:sp>
      <p:sp>
        <p:nvSpPr>
          <p:cNvPr id="6" name="PlaceHolder 5"/>
          <p:cNvSpPr>
            <a:spLocks noGrp="1"/>
          </p:cNvSpPr>
          <p:nvPr>
            <p:ph type="dt" idx="4"/>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51" name="PlaceHolder 2"/>
          <p:cNvSpPr>
            <a:spLocks noGrp="1"/>
          </p:cNvSpPr>
          <p:nvPr>
            <p:ph/>
          </p:nvPr>
        </p:nvSpPr>
        <p:spPr>
          <a:xfrm>
            <a:off x="3430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52" name="PlaceHolder 3"/>
          <p:cNvSpPr>
            <a:spLocks noGrp="1"/>
          </p:cNvSpPr>
          <p:nvPr>
            <p:ph/>
          </p:nvPr>
        </p:nvSpPr>
        <p:spPr>
          <a:xfrm>
            <a:off x="35056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5" name="PlaceHolder 4"/>
          <p:cNvSpPr>
            <a:spLocks noGrp="1"/>
          </p:cNvSpPr>
          <p:nvPr>
            <p:ph type="ftr" idx="5"/>
          </p:nvPr>
        </p:nvSpPr>
        <p:spPr/>
        <p:txBody>
          <a:bodyPr/>
          <a:p>
            <a:r>
              <a:t>Footer</a:t>
            </a:r>
          </a:p>
        </p:txBody>
      </p:sp>
      <p:sp>
        <p:nvSpPr>
          <p:cNvPr id="6" name="PlaceHolder 5"/>
          <p:cNvSpPr>
            <a:spLocks noGrp="1"/>
          </p:cNvSpPr>
          <p:nvPr>
            <p:ph type="sldNum" idx="6"/>
          </p:nvPr>
        </p:nvSpPr>
        <p:spPr/>
        <p:txBody>
          <a:bodyPr/>
          <a:p>
            <a:fld id="{A632EFC1-91F7-4A1E-B062-D80DF9DBB806}" type="slidenum">
              <a:t>&lt;#&gt;</a:t>
            </a:fld>
          </a:p>
        </p:txBody>
      </p:sp>
      <p:sp>
        <p:nvSpPr>
          <p:cNvPr id="7" name="PlaceHolder 6"/>
          <p:cNvSpPr>
            <a:spLocks noGrp="1"/>
          </p:cNvSpPr>
          <p:nvPr>
            <p:ph type="dt" idx="4"/>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3" name="PlaceHolder 2"/>
          <p:cNvSpPr>
            <a:spLocks noGrp="1"/>
          </p:cNvSpPr>
          <p:nvPr>
            <p:ph type="ftr" idx="5"/>
          </p:nvPr>
        </p:nvSpPr>
        <p:spPr/>
        <p:txBody>
          <a:bodyPr/>
          <a:p>
            <a:r>
              <a:t>Footer</a:t>
            </a:r>
          </a:p>
        </p:txBody>
      </p:sp>
      <p:sp>
        <p:nvSpPr>
          <p:cNvPr id="4" name="PlaceHolder 3"/>
          <p:cNvSpPr>
            <a:spLocks noGrp="1"/>
          </p:cNvSpPr>
          <p:nvPr>
            <p:ph type="sldNum" idx="6"/>
          </p:nvPr>
        </p:nvSpPr>
        <p:spPr/>
        <p:txBody>
          <a:bodyPr/>
          <a:p>
            <a:fld id="{B2108727-7672-4492-AC5D-093EADF21FE0}" type="slidenum">
              <a:t>&lt;#&gt;</a:t>
            </a:fld>
          </a:p>
        </p:txBody>
      </p:sp>
      <p:sp>
        <p:nvSpPr>
          <p:cNvPr id="5" name="PlaceHolder 4"/>
          <p:cNvSpPr>
            <a:spLocks noGrp="1"/>
          </p:cNvSpPr>
          <p:nvPr>
            <p:ph type="dt" idx="4"/>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343080" y="366120"/>
            <a:ext cx="6171840" cy="706356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5"/>
          </p:nvPr>
        </p:nvSpPr>
        <p:spPr/>
        <p:txBody>
          <a:bodyPr/>
          <a:p>
            <a:r>
              <a:t>Footer</a:t>
            </a:r>
          </a:p>
        </p:txBody>
      </p:sp>
      <p:sp>
        <p:nvSpPr>
          <p:cNvPr id="4" name="PlaceHolder 3"/>
          <p:cNvSpPr>
            <a:spLocks noGrp="1"/>
          </p:cNvSpPr>
          <p:nvPr>
            <p:ph type="sldNum" idx="6"/>
          </p:nvPr>
        </p:nvSpPr>
        <p:spPr/>
        <p:txBody>
          <a:bodyPr/>
          <a:p>
            <a:fld id="{4C7CF4FF-0355-4608-B7D1-6B68729F73F7}" type="slidenum">
              <a:t>&lt;#&gt;</a:t>
            </a:fld>
          </a:p>
        </p:txBody>
      </p:sp>
      <p:sp>
        <p:nvSpPr>
          <p:cNvPr id="5" name="PlaceHolder 4"/>
          <p:cNvSpPr>
            <a:spLocks noGrp="1"/>
          </p:cNvSpPr>
          <p:nvPr>
            <p:ph type="dt" idx="4"/>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56" name="PlaceHolder 2"/>
          <p:cNvSpPr>
            <a:spLocks noGrp="1"/>
          </p:cNvSpPr>
          <p:nvPr>
            <p:ph/>
          </p:nvPr>
        </p:nvSpPr>
        <p:spPr>
          <a:xfrm>
            <a:off x="3430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57" name="PlaceHolder 3"/>
          <p:cNvSpPr>
            <a:spLocks noGrp="1"/>
          </p:cNvSpPr>
          <p:nvPr>
            <p:ph/>
          </p:nvPr>
        </p:nvSpPr>
        <p:spPr>
          <a:xfrm>
            <a:off x="35056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58" name="PlaceHolder 4"/>
          <p:cNvSpPr>
            <a:spLocks noGrp="1"/>
          </p:cNvSpPr>
          <p:nvPr>
            <p:ph/>
          </p:nvPr>
        </p:nvSpPr>
        <p:spPr>
          <a:xfrm>
            <a:off x="3430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F877B948-0936-416C-A143-A9F00DAD3C54}" type="slidenum">
              <a:t>&lt;#&gt;</a:t>
            </a:fld>
          </a:p>
        </p:txBody>
      </p:sp>
      <p:sp>
        <p:nvSpPr>
          <p:cNvPr id="8" name="PlaceHolder 7"/>
          <p:cNvSpPr>
            <a:spLocks noGrp="1"/>
          </p:cNvSpPr>
          <p:nvPr>
            <p:ph type="dt" idx="4"/>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60" name="PlaceHolder 2"/>
          <p:cNvSpPr>
            <a:spLocks noGrp="1"/>
          </p:cNvSpPr>
          <p:nvPr>
            <p:ph/>
          </p:nvPr>
        </p:nvSpPr>
        <p:spPr>
          <a:xfrm>
            <a:off x="3430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1" name="PlaceHolder 3"/>
          <p:cNvSpPr>
            <a:spLocks noGrp="1"/>
          </p:cNvSpPr>
          <p:nvPr>
            <p:ph/>
          </p:nvPr>
        </p:nvSpPr>
        <p:spPr>
          <a:xfrm>
            <a:off x="35056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2" name="PlaceHolder 4"/>
          <p:cNvSpPr>
            <a:spLocks noGrp="1"/>
          </p:cNvSpPr>
          <p:nvPr>
            <p:ph/>
          </p:nvPr>
        </p:nvSpPr>
        <p:spPr>
          <a:xfrm>
            <a:off x="35056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D8BA8998-663C-4CE9-B1FC-CCE2C126ECAD}" type="slidenum">
              <a:t>&lt;#&gt;</a:t>
            </a:fld>
          </a:p>
        </p:txBody>
      </p:sp>
      <p:sp>
        <p:nvSpPr>
          <p:cNvPr id="8" name="PlaceHolder 7"/>
          <p:cNvSpPr>
            <a:spLocks noGrp="1"/>
          </p:cNvSpPr>
          <p:nvPr>
            <p:ph type="dt" idx="4"/>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64" name="PlaceHolder 2"/>
          <p:cNvSpPr>
            <a:spLocks noGrp="1"/>
          </p:cNvSpPr>
          <p:nvPr>
            <p:ph/>
          </p:nvPr>
        </p:nvSpPr>
        <p:spPr>
          <a:xfrm>
            <a:off x="3430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5" name="PlaceHolder 3"/>
          <p:cNvSpPr>
            <a:spLocks noGrp="1"/>
          </p:cNvSpPr>
          <p:nvPr>
            <p:ph/>
          </p:nvPr>
        </p:nvSpPr>
        <p:spPr>
          <a:xfrm>
            <a:off x="35056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6" name="PlaceHolder 4"/>
          <p:cNvSpPr>
            <a:spLocks noGrp="1"/>
          </p:cNvSpPr>
          <p:nvPr>
            <p:ph/>
          </p:nvPr>
        </p:nvSpPr>
        <p:spPr>
          <a:xfrm>
            <a:off x="343080" y="5285880"/>
            <a:ext cx="617184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126215BD-6069-45A2-8E2F-ADD4136D6EBC}" type="slidenum">
              <a:t>&lt;#&gt;</a:t>
            </a:fld>
          </a:p>
        </p:txBody>
      </p:sp>
      <p:sp>
        <p:nvSpPr>
          <p:cNvPr id="8" name="PlaceHolder 7"/>
          <p:cNvSpPr>
            <a:spLocks noGrp="1"/>
          </p:cNvSpPr>
          <p:nvPr>
            <p:ph type="dt" idx="4"/>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68" name="PlaceHolder 2"/>
          <p:cNvSpPr>
            <a:spLocks noGrp="1"/>
          </p:cNvSpPr>
          <p:nvPr>
            <p:ph/>
          </p:nvPr>
        </p:nvSpPr>
        <p:spPr>
          <a:xfrm>
            <a:off x="343080" y="2133720"/>
            <a:ext cx="617184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69" name="PlaceHolder 3"/>
          <p:cNvSpPr>
            <a:spLocks noGrp="1"/>
          </p:cNvSpPr>
          <p:nvPr>
            <p:ph/>
          </p:nvPr>
        </p:nvSpPr>
        <p:spPr>
          <a:xfrm>
            <a:off x="343080" y="5285880"/>
            <a:ext cx="617184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5" name="PlaceHolder 4"/>
          <p:cNvSpPr>
            <a:spLocks noGrp="1"/>
          </p:cNvSpPr>
          <p:nvPr>
            <p:ph type="ftr" idx="5"/>
          </p:nvPr>
        </p:nvSpPr>
        <p:spPr/>
        <p:txBody>
          <a:bodyPr/>
          <a:p>
            <a:r>
              <a:t>Footer</a:t>
            </a:r>
          </a:p>
        </p:txBody>
      </p:sp>
      <p:sp>
        <p:nvSpPr>
          <p:cNvPr id="6" name="PlaceHolder 5"/>
          <p:cNvSpPr>
            <a:spLocks noGrp="1"/>
          </p:cNvSpPr>
          <p:nvPr>
            <p:ph type="sldNum" idx="6"/>
          </p:nvPr>
        </p:nvSpPr>
        <p:spPr/>
        <p:txBody>
          <a:bodyPr/>
          <a:p>
            <a:fld id="{1466F72A-3F0A-421F-9F71-C95888752085}" type="slidenum">
              <a:t>&lt;#&gt;</a:t>
            </a:fld>
          </a:p>
        </p:txBody>
      </p:sp>
      <p:sp>
        <p:nvSpPr>
          <p:cNvPr id="7" name="PlaceHolder 6"/>
          <p:cNvSpPr>
            <a:spLocks noGrp="1"/>
          </p:cNvSpPr>
          <p:nvPr>
            <p:ph type="dt" idx="4"/>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71" name="PlaceHolder 2"/>
          <p:cNvSpPr>
            <a:spLocks noGrp="1"/>
          </p:cNvSpPr>
          <p:nvPr>
            <p:ph/>
          </p:nvPr>
        </p:nvSpPr>
        <p:spPr>
          <a:xfrm>
            <a:off x="3430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72" name="PlaceHolder 3"/>
          <p:cNvSpPr>
            <a:spLocks noGrp="1"/>
          </p:cNvSpPr>
          <p:nvPr>
            <p:ph/>
          </p:nvPr>
        </p:nvSpPr>
        <p:spPr>
          <a:xfrm>
            <a:off x="35056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73" name="PlaceHolder 4"/>
          <p:cNvSpPr>
            <a:spLocks noGrp="1"/>
          </p:cNvSpPr>
          <p:nvPr>
            <p:ph/>
          </p:nvPr>
        </p:nvSpPr>
        <p:spPr>
          <a:xfrm>
            <a:off x="3430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74" name="PlaceHolder 5"/>
          <p:cNvSpPr>
            <a:spLocks noGrp="1"/>
          </p:cNvSpPr>
          <p:nvPr>
            <p:ph/>
          </p:nvPr>
        </p:nvSpPr>
        <p:spPr>
          <a:xfrm>
            <a:off x="35056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7" name="PlaceHolder 6"/>
          <p:cNvSpPr>
            <a:spLocks noGrp="1"/>
          </p:cNvSpPr>
          <p:nvPr>
            <p:ph type="ftr" idx="5"/>
          </p:nvPr>
        </p:nvSpPr>
        <p:spPr/>
        <p:txBody>
          <a:bodyPr/>
          <a:p>
            <a:r>
              <a:t>Footer</a:t>
            </a:r>
          </a:p>
        </p:txBody>
      </p:sp>
      <p:sp>
        <p:nvSpPr>
          <p:cNvPr id="8" name="PlaceHolder 7"/>
          <p:cNvSpPr>
            <a:spLocks noGrp="1"/>
          </p:cNvSpPr>
          <p:nvPr>
            <p:ph type="sldNum" idx="6"/>
          </p:nvPr>
        </p:nvSpPr>
        <p:spPr/>
        <p:txBody>
          <a:bodyPr/>
          <a:p>
            <a:fld id="{D35E7D17-1CFF-4B24-BF8B-26FEB1C898C1}" type="slidenum">
              <a:t>&lt;#&gt;</a:t>
            </a:fld>
          </a:p>
        </p:txBody>
      </p:sp>
      <p:sp>
        <p:nvSpPr>
          <p:cNvPr id="9" name="PlaceHolder 8"/>
          <p:cNvSpPr>
            <a:spLocks noGrp="1"/>
          </p:cNvSpPr>
          <p:nvPr>
            <p:ph type="dt" idx="4"/>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76" name="PlaceHolder 2"/>
          <p:cNvSpPr>
            <a:spLocks noGrp="1"/>
          </p:cNvSpPr>
          <p:nvPr>
            <p:ph/>
          </p:nvPr>
        </p:nvSpPr>
        <p:spPr>
          <a:xfrm>
            <a:off x="343080" y="213372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77" name="PlaceHolder 3"/>
          <p:cNvSpPr>
            <a:spLocks noGrp="1"/>
          </p:cNvSpPr>
          <p:nvPr>
            <p:ph/>
          </p:nvPr>
        </p:nvSpPr>
        <p:spPr>
          <a:xfrm>
            <a:off x="2430000" y="213372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78" name="PlaceHolder 4"/>
          <p:cNvSpPr>
            <a:spLocks noGrp="1"/>
          </p:cNvSpPr>
          <p:nvPr>
            <p:ph/>
          </p:nvPr>
        </p:nvSpPr>
        <p:spPr>
          <a:xfrm>
            <a:off x="4516920" y="213372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79" name="PlaceHolder 5"/>
          <p:cNvSpPr>
            <a:spLocks noGrp="1"/>
          </p:cNvSpPr>
          <p:nvPr>
            <p:ph/>
          </p:nvPr>
        </p:nvSpPr>
        <p:spPr>
          <a:xfrm>
            <a:off x="343080" y="528588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80" name="PlaceHolder 6"/>
          <p:cNvSpPr>
            <a:spLocks noGrp="1"/>
          </p:cNvSpPr>
          <p:nvPr>
            <p:ph/>
          </p:nvPr>
        </p:nvSpPr>
        <p:spPr>
          <a:xfrm>
            <a:off x="2430000" y="528588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81" name="PlaceHolder 7"/>
          <p:cNvSpPr>
            <a:spLocks noGrp="1"/>
          </p:cNvSpPr>
          <p:nvPr>
            <p:ph/>
          </p:nvPr>
        </p:nvSpPr>
        <p:spPr>
          <a:xfrm>
            <a:off x="4516920" y="528588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9" name="PlaceHolder 8"/>
          <p:cNvSpPr>
            <a:spLocks noGrp="1"/>
          </p:cNvSpPr>
          <p:nvPr>
            <p:ph type="ftr" idx="5"/>
          </p:nvPr>
        </p:nvSpPr>
        <p:spPr/>
        <p:txBody>
          <a:bodyPr/>
          <a:p>
            <a:r>
              <a:t>Footer</a:t>
            </a:r>
          </a:p>
        </p:txBody>
      </p:sp>
      <p:sp>
        <p:nvSpPr>
          <p:cNvPr id="10" name="PlaceHolder 9"/>
          <p:cNvSpPr>
            <a:spLocks noGrp="1"/>
          </p:cNvSpPr>
          <p:nvPr>
            <p:ph type="sldNum" idx="6"/>
          </p:nvPr>
        </p:nvSpPr>
        <p:spPr/>
        <p:txBody>
          <a:bodyPr/>
          <a:p>
            <a:fld id="{E8D14E80-C186-4F05-BFDB-AB992F98FD5C}" type="slidenum">
              <a:t>&lt;#&gt;</a:t>
            </a:fld>
          </a:p>
        </p:txBody>
      </p:sp>
      <p:sp>
        <p:nvSpPr>
          <p:cNvPr id="11" name="PlaceHolder 10"/>
          <p:cNvSpPr>
            <a:spLocks noGrp="1"/>
          </p:cNvSpPr>
          <p:nvPr>
            <p:ph type="dt" idx="4"/>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4"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85" name="PlaceHolder 2"/>
          <p:cNvSpPr>
            <a:spLocks noGrp="1"/>
          </p:cNvSpPr>
          <p:nvPr>
            <p:ph type="subTitle"/>
          </p:nvPr>
        </p:nvSpPr>
        <p:spPr>
          <a:xfrm>
            <a:off x="343080" y="2133720"/>
            <a:ext cx="6171840" cy="603432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6"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87" name="PlaceHolder 2"/>
          <p:cNvSpPr>
            <a:spLocks noGrp="1"/>
          </p:cNvSpPr>
          <p:nvPr>
            <p:ph/>
          </p:nvPr>
        </p:nvSpPr>
        <p:spPr>
          <a:xfrm>
            <a:off x="343080" y="2133720"/>
            <a:ext cx="617184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88"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89" name="PlaceHolder 2"/>
          <p:cNvSpPr>
            <a:spLocks noGrp="1"/>
          </p:cNvSpPr>
          <p:nvPr>
            <p:ph/>
          </p:nvPr>
        </p:nvSpPr>
        <p:spPr>
          <a:xfrm>
            <a:off x="3430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90" name="PlaceHolder 3"/>
          <p:cNvSpPr>
            <a:spLocks noGrp="1"/>
          </p:cNvSpPr>
          <p:nvPr>
            <p:ph/>
          </p:nvPr>
        </p:nvSpPr>
        <p:spPr>
          <a:xfrm>
            <a:off x="35056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1"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2" name="PlaceHolder 1"/>
          <p:cNvSpPr>
            <a:spLocks noGrp="1"/>
          </p:cNvSpPr>
          <p:nvPr>
            <p:ph type="subTitle"/>
          </p:nvPr>
        </p:nvSpPr>
        <p:spPr>
          <a:xfrm>
            <a:off x="343080" y="366120"/>
            <a:ext cx="6171840" cy="706356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3"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94" name="PlaceHolder 2"/>
          <p:cNvSpPr>
            <a:spLocks noGrp="1"/>
          </p:cNvSpPr>
          <p:nvPr>
            <p:ph/>
          </p:nvPr>
        </p:nvSpPr>
        <p:spPr>
          <a:xfrm>
            <a:off x="3430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95" name="PlaceHolder 3"/>
          <p:cNvSpPr>
            <a:spLocks noGrp="1"/>
          </p:cNvSpPr>
          <p:nvPr>
            <p:ph/>
          </p:nvPr>
        </p:nvSpPr>
        <p:spPr>
          <a:xfrm>
            <a:off x="35056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96" name="PlaceHolder 4"/>
          <p:cNvSpPr>
            <a:spLocks noGrp="1"/>
          </p:cNvSpPr>
          <p:nvPr>
            <p:ph/>
          </p:nvPr>
        </p:nvSpPr>
        <p:spPr>
          <a:xfrm>
            <a:off x="3430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97"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98" name="PlaceHolder 2"/>
          <p:cNvSpPr>
            <a:spLocks noGrp="1"/>
          </p:cNvSpPr>
          <p:nvPr>
            <p:ph/>
          </p:nvPr>
        </p:nvSpPr>
        <p:spPr>
          <a:xfrm>
            <a:off x="343080" y="2133720"/>
            <a:ext cx="3011760" cy="603432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99" name="PlaceHolder 3"/>
          <p:cNvSpPr>
            <a:spLocks noGrp="1"/>
          </p:cNvSpPr>
          <p:nvPr>
            <p:ph/>
          </p:nvPr>
        </p:nvSpPr>
        <p:spPr>
          <a:xfrm>
            <a:off x="35056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00" name="PlaceHolder 4"/>
          <p:cNvSpPr>
            <a:spLocks noGrp="1"/>
          </p:cNvSpPr>
          <p:nvPr>
            <p:ph/>
          </p:nvPr>
        </p:nvSpPr>
        <p:spPr>
          <a:xfrm>
            <a:off x="35056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1"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102" name="PlaceHolder 2"/>
          <p:cNvSpPr>
            <a:spLocks noGrp="1"/>
          </p:cNvSpPr>
          <p:nvPr>
            <p:ph/>
          </p:nvPr>
        </p:nvSpPr>
        <p:spPr>
          <a:xfrm>
            <a:off x="3430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03" name="PlaceHolder 3"/>
          <p:cNvSpPr>
            <a:spLocks noGrp="1"/>
          </p:cNvSpPr>
          <p:nvPr>
            <p:ph/>
          </p:nvPr>
        </p:nvSpPr>
        <p:spPr>
          <a:xfrm>
            <a:off x="35056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04" name="PlaceHolder 4"/>
          <p:cNvSpPr>
            <a:spLocks noGrp="1"/>
          </p:cNvSpPr>
          <p:nvPr>
            <p:ph/>
          </p:nvPr>
        </p:nvSpPr>
        <p:spPr>
          <a:xfrm>
            <a:off x="343080" y="5285880"/>
            <a:ext cx="617184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5"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106" name="PlaceHolder 2"/>
          <p:cNvSpPr>
            <a:spLocks noGrp="1"/>
          </p:cNvSpPr>
          <p:nvPr>
            <p:ph/>
          </p:nvPr>
        </p:nvSpPr>
        <p:spPr>
          <a:xfrm>
            <a:off x="343080" y="2133720"/>
            <a:ext cx="617184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07" name="PlaceHolder 3"/>
          <p:cNvSpPr>
            <a:spLocks noGrp="1"/>
          </p:cNvSpPr>
          <p:nvPr>
            <p:ph/>
          </p:nvPr>
        </p:nvSpPr>
        <p:spPr>
          <a:xfrm>
            <a:off x="343080" y="5285880"/>
            <a:ext cx="617184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109" name="PlaceHolder 2"/>
          <p:cNvSpPr>
            <a:spLocks noGrp="1"/>
          </p:cNvSpPr>
          <p:nvPr>
            <p:ph/>
          </p:nvPr>
        </p:nvSpPr>
        <p:spPr>
          <a:xfrm>
            <a:off x="3430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10" name="PlaceHolder 3"/>
          <p:cNvSpPr>
            <a:spLocks noGrp="1"/>
          </p:cNvSpPr>
          <p:nvPr>
            <p:ph/>
          </p:nvPr>
        </p:nvSpPr>
        <p:spPr>
          <a:xfrm>
            <a:off x="3505680" y="213372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11" name="PlaceHolder 4"/>
          <p:cNvSpPr>
            <a:spLocks noGrp="1"/>
          </p:cNvSpPr>
          <p:nvPr>
            <p:ph/>
          </p:nvPr>
        </p:nvSpPr>
        <p:spPr>
          <a:xfrm>
            <a:off x="3430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12" name="PlaceHolder 5"/>
          <p:cNvSpPr>
            <a:spLocks noGrp="1"/>
          </p:cNvSpPr>
          <p:nvPr>
            <p:ph/>
          </p:nvPr>
        </p:nvSpPr>
        <p:spPr>
          <a:xfrm>
            <a:off x="3505680" y="5285880"/>
            <a:ext cx="301176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3" name="PlaceHolder 1"/>
          <p:cNvSpPr>
            <a:spLocks noGrp="1"/>
          </p:cNvSpPr>
          <p:nvPr>
            <p:ph type="title"/>
          </p:nvPr>
        </p:nvSpPr>
        <p:spPr>
          <a:xfrm>
            <a:off x="343080" y="366120"/>
            <a:ext cx="6171840" cy="1523520"/>
          </a:xfrm>
          <a:prstGeom prst="rect">
            <a:avLst/>
          </a:prstGeom>
          <a:noFill/>
          <a:ln w="0">
            <a:noFill/>
          </a:ln>
        </p:spPr>
        <p:txBody>
          <a:bodyPr lIns="0" rIns="0" tIns="0" bIns="0" anchor="ctr">
            <a:noAutofit/>
          </a:bodyPr>
          <a:p>
            <a:endParaRPr b="0" lang="en-US" sz="1400" spc="-1" strike="noStrike">
              <a:solidFill>
                <a:srgbClr val="000000"/>
              </a:solidFill>
              <a:latin typeface="Arial"/>
            </a:endParaRPr>
          </a:p>
        </p:txBody>
      </p:sp>
      <p:sp>
        <p:nvSpPr>
          <p:cNvPr id="114" name="PlaceHolder 2"/>
          <p:cNvSpPr>
            <a:spLocks noGrp="1"/>
          </p:cNvSpPr>
          <p:nvPr>
            <p:ph/>
          </p:nvPr>
        </p:nvSpPr>
        <p:spPr>
          <a:xfrm>
            <a:off x="343080" y="213372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15" name="PlaceHolder 3"/>
          <p:cNvSpPr>
            <a:spLocks noGrp="1"/>
          </p:cNvSpPr>
          <p:nvPr>
            <p:ph/>
          </p:nvPr>
        </p:nvSpPr>
        <p:spPr>
          <a:xfrm>
            <a:off x="2430000" y="213372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16" name="PlaceHolder 4"/>
          <p:cNvSpPr>
            <a:spLocks noGrp="1"/>
          </p:cNvSpPr>
          <p:nvPr>
            <p:ph/>
          </p:nvPr>
        </p:nvSpPr>
        <p:spPr>
          <a:xfrm>
            <a:off x="4516920" y="213372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17" name="PlaceHolder 5"/>
          <p:cNvSpPr>
            <a:spLocks noGrp="1"/>
          </p:cNvSpPr>
          <p:nvPr>
            <p:ph/>
          </p:nvPr>
        </p:nvSpPr>
        <p:spPr>
          <a:xfrm>
            <a:off x="343080" y="528588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18" name="PlaceHolder 6"/>
          <p:cNvSpPr>
            <a:spLocks noGrp="1"/>
          </p:cNvSpPr>
          <p:nvPr>
            <p:ph/>
          </p:nvPr>
        </p:nvSpPr>
        <p:spPr>
          <a:xfrm>
            <a:off x="2430000" y="528588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
        <p:nvSpPr>
          <p:cNvPr id="119" name="PlaceHolder 7"/>
          <p:cNvSpPr>
            <a:spLocks noGrp="1"/>
          </p:cNvSpPr>
          <p:nvPr>
            <p:ph/>
          </p:nvPr>
        </p:nvSpPr>
        <p:spPr>
          <a:xfrm>
            <a:off x="4516920" y="5285880"/>
            <a:ext cx="1987200" cy="2878200"/>
          </a:xfrm>
          <a:prstGeom prst="rect">
            <a:avLst/>
          </a:prstGeom>
          <a:noFill/>
          <a:ln w="0">
            <a:noFill/>
          </a:ln>
        </p:spPr>
        <p:txBody>
          <a:bodyPr lIns="0" rIns="0" tIns="0" bIns="0" anchor="t">
            <a:normAutofit/>
          </a:bodyPr>
          <a:p>
            <a:endParaRPr b="0" lang="en-US" sz="14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343080" y="366120"/>
            <a:ext cx="6171840" cy="1523520"/>
          </a:xfrm>
          <a:prstGeom prst="rect">
            <a:avLst/>
          </a:prstGeom>
          <a:noFill/>
          <a:ln w="0">
            <a:noFill/>
          </a:ln>
        </p:spPr>
        <p:txBody>
          <a:bodyPr anchor="ctr">
            <a:normAutofit/>
          </a:bodyPr>
          <a:p>
            <a:r>
              <a:rPr b="0" lang="en-US" sz="4400" spc="-1" strike="noStrike">
                <a:solidFill>
                  <a:srgbClr val="000000"/>
                </a:solidFill>
                <a:latin typeface="Arial"/>
              </a:rPr>
              <a:t>Cl</a:t>
            </a:r>
            <a:r>
              <a:rPr b="0" lang="en-US" sz="4400" spc="-1" strike="noStrike">
                <a:solidFill>
                  <a:srgbClr val="000000"/>
                </a:solidFill>
                <a:latin typeface="Arial"/>
              </a:rPr>
              <a:t>ic</a:t>
            </a:r>
            <a:r>
              <a:rPr b="0" lang="en-US" sz="4400" spc="-1" strike="noStrike">
                <a:solidFill>
                  <a:srgbClr val="000000"/>
                </a:solidFill>
                <a:latin typeface="Arial"/>
              </a:rPr>
              <a:t>k </a:t>
            </a:r>
            <a:r>
              <a:rPr b="0" lang="en-US" sz="4400" spc="-1" strike="noStrike">
                <a:solidFill>
                  <a:srgbClr val="000000"/>
                </a:solidFill>
                <a:latin typeface="Arial"/>
              </a:rPr>
              <a:t>to </a:t>
            </a:r>
            <a:r>
              <a:rPr b="0" lang="en-US" sz="4400" spc="-1" strike="noStrike">
                <a:solidFill>
                  <a:srgbClr val="000000"/>
                </a:solidFill>
                <a:latin typeface="Arial"/>
              </a:rPr>
              <a:t>e</a:t>
            </a:r>
            <a:r>
              <a:rPr b="0" lang="en-US" sz="4400" spc="-1" strike="noStrike">
                <a:solidFill>
                  <a:srgbClr val="000000"/>
                </a:solidFill>
                <a:latin typeface="Arial"/>
              </a:rPr>
              <a:t>di</a:t>
            </a:r>
            <a:r>
              <a:rPr b="0" lang="en-US" sz="4400" spc="-1" strike="noStrike">
                <a:solidFill>
                  <a:srgbClr val="000000"/>
                </a:solidFill>
                <a:latin typeface="Arial"/>
              </a:rPr>
              <a:t>t </a:t>
            </a:r>
            <a:r>
              <a:rPr b="0" lang="en-US" sz="4400" spc="-1" strike="noStrike">
                <a:solidFill>
                  <a:srgbClr val="000000"/>
                </a:solidFill>
                <a:latin typeface="Arial"/>
              </a:rPr>
              <a:t>th</a:t>
            </a:r>
            <a:r>
              <a:rPr b="0" lang="en-US" sz="4400" spc="-1" strike="noStrike">
                <a:solidFill>
                  <a:srgbClr val="000000"/>
                </a:solidFill>
                <a:latin typeface="Arial"/>
              </a:rPr>
              <a:t>e </a:t>
            </a:r>
            <a:r>
              <a:rPr b="0" lang="en-US" sz="4400" spc="-1" strike="noStrike">
                <a:solidFill>
                  <a:srgbClr val="000000"/>
                </a:solidFill>
                <a:latin typeface="Arial"/>
              </a:rPr>
              <a:t>titl</a:t>
            </a:r>
            <a:r>
              <a:rPr b="0" lang="en-US" sz="4400" spc="-1" strike="noStrike">
                <a:solidFill>
                  <a:srgbClr val="000000"/>
                </a:solidFill>
                <a:latin typeface="Arial"/>
              </a:rPr>
              <a:t>e </a:t>
            </a:r>
            <a:r>
              <a:rPr b="0" lang="en-US" sz="4400" spc="-1" strike="noStrike">
                <a:solidFill>
                  <a:srgbClr val="000000"/>
                </a:solidFill>
                <a:latin typeface="Arial"/>
              </a:rPr>
              <a:t>te</a:t>
            </a:r>
            <a:r>
              <a:rPr b="0" lang="en-US" sz="4400" spc="-1" strike="noStrike">
                <a:solidFill>
                  <a:srgbClr val="000000"/>
                </a:solidFill>
                <a:latin typeface="Arial"/>
              </a:rPr>
              <a:t>xt </a:t>
            </a:r>
            <a:r>
              <a:rPr b="0" lang="en-US" sz="4400" spc="-1" strike="noStrike">
                <a:solidFill>
                  <a:srgbClr val="000000"/>
                </a:solidFill>
                <a:latin typeface="Arial"/>
              </a:rPr>
              <a:t>fo</a:t>
            </a:r>
            <a:r>
              <a:rPr b="0" lang="en-US" sz="4400" spc="-1" strike="noStrike">
                <a:solidFill>
                  <a:srgbClr val="000000"/>
                </a:solidFill>
                <a:latin typeface="Arial"/>
              </a:rPr>
              <a:t>r</a:t>
            </a:r>
            <a:r>
              <a:rPr b="0" lang="en-US" sz="4400" spc="-1" strike="noStrike">
                <a:solidFill>
                  <a:srgbClr val="000000"/>
                </a:solidFill>
                <a:latin typeface="Arial"/>
              </a:rPr>
              <a:t>m</a:t>
            </a:r>
            <a:r>
              <a:rPr b="0" lang="en-US" sz="4400" spc="-1" strike="noStrike">
                <a:solidFill>
                  <a:srgbClr val="000000"/>
                </a:solidFill>
                <a:latin typeface="Arial"/>
              </a:rPr>
              <a:t>at</a:t>
            </a:r>
            <a:endParaRPr b="0" lang="en-US" sz="4400" spc="-1" strike="noStrike">
              <a:solidFill>
                <a:srgbClr val="000000"/>
              </a:solidFill>
              <a:latin typeface="Arial"/>
            </a:endParaRPr>
          </a:p>
        </p:txBody>
      </p:sp>
      <p:sp>
        <p:nvSpPr>
          <p:cNvPr id="1" name="PlaceHolder 2"/>
          <p:cNvSpPr>
            <a:spLocks noGrp="1"/>
          </p:cNvSpPr>
          <p:nvPr>
            <p:ph type="body"/>
          </p:nvPr>
        </p:nvSpPr>
        <p:spPr>
          <a:xfrm>
            <a:off x="343080" y="2133720"/>
            <a:ext cx="6171840" cy="6034320"/>
          </a:xfrm>
          <a:prstGeom prst="rect">
            <a:avLst/>
          </a:prstGeom>
          <a:noFill/>
          <a:ln w="0">
            <a:noFill/>
          </a:ln>
        </p:spPr>
        <p:txBody>
          <a:bodyPr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3200" spc="-1" strike="noStrike">
                <a:solidFill>
                  <a:srgbClr val="000000"/>
                </a:solidFill>
                <a:latin typeface="Arial"/>
              </a:rPr>
              <a:t>Second Outline Level</a:t>
            </a:r>
            <a:endParaRPr b="0" lang="en-US" sz="32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3200" spc="-1" strike="noStrike">
                <a:solidFill>
                  <a:srgbClr val="000000"/>
                </a:solidFill>
                <a:latin typeface="Arial"/>
              </a:rPr>
              <a:t>Third Outline Level</a:t>
            </a:r>
            <a:endParaRPr b="0" lang="en-US" sz="32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3200" spc="-1" strike="noStrike">
                <a:solidFill>
                  <a:srgbClr val="000000"/>
                </a:solidFill>
                <a:latin typeface="Arial"/>
              </a:rPr>
              <a:t>Fourth Outline Level</a:t>
            </a:r>
            <a:endParaRPr b="0" lang="en-US" sz="32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3200" spc="-1" strike="noStrike">
                <a:solidFill>
                  <a:srgbClr val="000000"/>
                </a:solidFill>
                <a:latin typeface="Arial"/>
              </a:rPr>
              <a:t>Fifth Outline Level</a:t>
            </a:r>
            <a:endParaRPr b="0" lang="en-US" sz="32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3200" spc="-1" strike="noStrike">
                <a:solidFill>
                  <a:srgbClr val="000000"/>
                </a:solidFill>
                <a:latin typeface="Arial"/>
              </a:rPr>
              <a:t>Sixth Outline Level</a:t>
            </a:r>
            <a:endParaRPr b="0" lang="en-US" sz="32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3200" spc="-1" strike="noStrike">
                <a:solidFill>
                  <a:srgbClr val="000000"/>
                </a:solidFill>
                <a:latin typeface="Arial"/>
              </a:rPr>
              <a:t>Seventh Outline Level</a:t>
            </a:r>
            <a:endParaRPr b="0" lang="en-US" sz="3200" spc="-1" strike="noStrike">
              <a:solidFill>
                <a:srgbClr val="000000"/>
              </a:solidFill>
              <a:latin typeface="Arial"/>
            </a:endParaRPr>
          </a:p>
        </p:txBody>
      </p:sp>
      <p:sp>
        <p:nvSpPr>
          <p:cNvPr id="2" name="PlaceHolder 3"/>
          <p:cNvSpPr>
            <a:spLocks noGrp="1"/>
          </p:cNvSpPr>
          <p:nvPr>
            <p:ph type="dt" idx="1"/>
          </p:nvPr>
        </p:nvSpPr>
        <p:spPr>
          <a:xfrm>
            <a:off x="343080" y="8475120"/>
            <a:ext cx="1599840" cy="486360"/>
          </a:xfrm>
          <a:prstGeom prst="rect">
            <a:avLst/>
          </a:prstGeom>
          <a:noFill/>
          <a:ln w="0">
            <a:noFill/>
          </a:ln>
        </p:spPr>
        <p:txBody>
          <a:bodyPr anchor="ctr">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3" name="PlaceHolder 4"/>
          <p:cNvSpPr>
            <a:spLocks noGrp="1"/>
          </p:cNvSpPr>
          <p:nvPr>
            <p:ph type="ftr" idx="2"/>
          </p:nvPr>
        </p:nvSpPr>
        <p:spPr>
          <a:xfrm>
            <a:off x="2343240" y="8475120"/>
            <a:ext cx="2171520" cy="486360"/>
          </a:xfrm>
          <a:prstGeom prst="rect">
            <a:avLst/>
          </a:prstGeom>
          <a:noFill/>
          <a:ln w="0">
            <a:noFill/>
          </a:ln>
        </p:spPr>
        <p:txBody>
          <a:bodyPr anchor="ctr">
            <a:noAutofit/>
          </a:bodyPr>
          <a:lstStyle>
            <a:lvl1pPr algn="ctr">
              <a:buNone/>
              <a:defRPr b="0" lang="en-US" sz="1400" spc="-1" strike="noStrike">
                <a:latin typeface="Times New Roman"/>
              </a:defRPr>
            </a:lvl1pPr>
          </a:lstStyle>
          <a:p>
            <a:pPr algn="ctr">
              <a:buNone/>
            </a:pPr>
            <a:r>
              <a:rPr b="0" lang="en-US" sz="1400" spc="-1" strike="noStrike">
                <a:latin typeface="Times New Roman"/>
              </a:rPr>
              <a:t>&lt;footer&gt;</a:t>
            </a:r>
            <a:endParaRPr b="0" lang="en-US" sz="1400" spc="-1" strike="noStrike">
              <a:latin typeface="Times New Roman"/>
            </a:endParaRPr>
          </a:p>
        </p:txBody>
      </p:sp>
      <p:sp>
        <p:nvSpPr>
          <p:cNvPr id="4" name="PlaceHolder 5"/>
          <p:cNvSpPr>
            <a:spLocks noGrp="1"/>
          </p:cNvSpPr>
          <p:nvPr>
            <p:ph type="sldNum" idx="3"/>
          </p:nvPr>
        </p:nvSpPr>
        <p:spPr>
          <a:xfrm>
            <a:off x="4915080" y="8475120"/>
            <a:ext cx="1599840" cy="486360"/>
          </a:xfrm>
          <a:prstGeom prst="rect">
            <a:avLst/>
          </a:prstGeom>
          <a:noFill/>
          <a:ln w="0">
            <a:noFill/>
          </a:ln>
        </p:spPr>
        <p:txBody>
          <a:bodyPr anchor="ctr">
            <a:noAutofit/>
          </a:bodyPr>
          <a:lstStyle>
            <a:lvl1pPr algn="r">
              <a:lnSpc>
                <a:spcPct val="100000"/>
              </a:lnSpc>
              <a:buNone/>
              <a:tabLst>
                <a:tab algn="l" pos="0"/>
              </a:tabLst>
              <a:defRPr b="0" lang="en-US" sz="1200" spc="-1" strike="noStrike">
                <a:solidFill>
                  <a:srgbClr val="888888"/>
                </a:solidFill>
                <a:latin typeface="Arial"/>
                <a:ea typeface="Arial"/>
              </a:defRPr>
            </a:lvl1pPr>
          </a:lstStyle>
          <a:p>
            <a:pPr algn="r">
              <a:lnSpc>
                <a:spcPct val="100000"/>
              </a:lnSpc>
              <a:buNone/>
              <a:tabLst>
                <a:tab algn="l" pos="0"/>
              </a:tabLst>
            </a:pPr>
            <a:fld id="{CF6994F4-08EE-4642-BEC1-3ABFEECA2883}" type="slidenum">
              <a:rPr b="0" lang="en-US" sz="1200" spc="-1" strike="noStrike">
                <a:solidFill>
                  <a:srgbClr val="888888"/>
                </a:solidFill>
                <a:latin typeface="Arial"/>
                <a:ea typeface="Arial"/>
              </a:rPr>
              <a:t>&lt;number&gt;</a:t>
            </a:fld>
            <a:endParaRPr b="0" lang="en-US" sz="12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dt" idx="4"/>
          </p:nvPr>
        </p:nvSpPr>
        <p:spPr>
          <a:xfrm>
            <a:off x="343080" y="8475120"/>
            <a:ext cx="1599840" cy="486360"/>
          </a:xfrm>
          <a:prstGeom prst="rect">
            <a:avLst/>
          </a:prstGeom>
          <a:noFill/>
          <a:ln w="0">
            <a:noFill/>
          </a:ln>
        </p:spPr>
        <p:txBody>
          <a:bodyPr anchor="ctr">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42" name="PlaceHolder 2"/>
          <p:cNvSpPr>
            <a:spLocks noGrp="1"/>
          </p:cNvSpPr>
          <p:nvPr>
            <p:ph type="ftr" idx="5"/>
          </p:nvPr>
        </p:nvSpPr>
        <p:spPr>
          <a:xfrm>
            <a:off x="2343240" y="8475120"/>
            <a:ext cx="2171520" cy="486360"/>
          </a:xfrm>
          <a:prstGeom prst="rect">
            <a:avLst/>
          </a:prstGeom>
          <a:noFill/>
          <a:ln w="0">
            <a:noFill/>
          </a:ln>
        </p:spPr>
        <p:txBody>
          <a:bodyPr anchor="ctr">
            <a:noAutofit/>
          </a:bodyPr>
          <a:lstStyle>
            <a:lvl1pPr algn="ctr">
              <a:buNone/>
              <a:defRPr b="0" lang="en-US" sz="1400" spc="-1" strike="noStrike">
                <a:latin typeface="Times New Roman"/>
              </a:defRPr>
            </a:lvl1pPr>
          </a:lstStyle>
          <a:p>
            <a:pPr algn="ctr">
              <a:buNone/>
            </a:pPr>
            <a:r>
              <a:rPr b="0" lang="en-US" sz="1400" spc="-1" strike="noStrike">
                <a:latin typeface="Times New Roman"/>
              </a:rPr>
              <a:t>&lt;footer&gt;</a:t>
            </a:r>
            <a:endParaRPr b="0" lang="en-US" sz="1400" spc="-1" strike="noStrike">
              <a:latin typeface="Times New Roman"/>
            </a:endParaRPr>
          </a:p>
        </p:txBody>
      </p:sp>
      <p:sp>
        <p:nvSpPr>
          <p:cNvPr id="43" name="PlaceHolder 3"/>
          <p:cNvSpPr>
            <a:spLocks noGrp="1"/>
          </p:cNvSpPr>
          <p:nvPr>
            <p:ph type="sldNum" idx="6"/>
          </p:nvPr>
        </p:nvSpPr>
        <p:spPr>
          <a:xfrm>
            <a:off x="4915080" y="8475120"/>
            <a:ext cx="1599840" cy="486360"/>
          </a:xfrm>
          <a:prstGeom prst="rect">
            <a:avLst/>
          </a:prstGeom>
          <a:noFill/>
          <a:ln w="0">
            <a:noFill/>
          </a:ln>
        </p:spPr>
        <p:txBody>
          <a:bodyPr anchor="ctr">
            <a:noAutofit/>
          </a:bodyPr>
          <a:lstStyle>
            <a:lvl1pPr algn="r">
              <a:lnSpc>
                <a:spcPct val="100000"/>
              </a:lnSpc>
              <a:buNone/>
              <a:tabLst>
                <a:tab algn="l" pos="0"/>
              </a:tabLst>
              <a:defRPr b="0" lang="en-US" sz="1200" spc="-1" strike="noStrike">
                <a:solidFill>
                  <a:srgbClr val="888888"/>
                </a:solidFill>
                <a:latin typeface="Arial"/>
                <a:ea typeface="Arial"/>
              </a:defRPr>
            </a:lvl1pPr>
          </a:lstStyle>
          <a:p>
            <a:pPr algn="r">
              <a:lnSpc>
                <a:spcPct val="100000"/>
              </a:lnSpc>
              <a:buNone/>
              <a:tabLst>
                <a:tab algn="l" pos="0"/>
              </a:tabLst>
            </a:pPr>
            <a:fld id="{1ED1B79A-BC5F-48AC-9013-DFEFE4692E76}" type="slidenum">
              <a:rPr b="0" lang="en-US" sz="1200" spc="-1" strike="noStrike">
                <a:solidFill>
                  <a:srgbClr val="888888"/>
                </a:solidFill>
                <a:latin typeface="Arial"/>
                <a:ea typeface="Arial"/>
              </a:rPr>
              <a:t>&lt;number&gt;</a:t>
            </a:fld>
            <a:endParaRPr b="0" lang="en-US" sz="1200" spc="-1" strike="noStrike">
              <a:latin typeface="Times New Roman"/>
            </a:endParaRPr>
          </a:p>
        </p:txBody>
      </p:sp>
      <p:sp>
        <p:nvSpPr>
          <p:cNvPr id="44" name="PlaceHolder 4"/>
          <p:cNvSpPr>
            <a:spLocks noGrp="1"/>
          </p:cNvSpPr>
          <p:nvPr>
            <p:ph type="title"/>
          </p:nvPr>
        </p:nvSpPr>
        <p:spPr>
          <a:xfrm>
            <a:off x="342720" y="364680"/>
            <a:ext cx="6171840" cy="1526400"/>
          </a:xfrm>
          <a:prstGeom prst="rect">
            <a:avLst/>
          </a:prstGeom>
          <a:noFill/>
          <a:ln w="0">
            <a:noFill/>
          </a:ln>
        </p:spPr>
        <p:txBody>
          <a:bodyPr lIns="0" rIns="0" tIns="0" bIns="0" anchor="ctr">
            <a:noAutofit/>
          </a:bodyPr>
          <a:p>
            <a:r>
              <a:rPr b="0" lang="en-US" sz="1400" spc="-1" strike="noStrike">
                <a:solidFill>
                  <a:srgbClr val="000000"/>
                </a:solidFill>
                <a:latin typeface="Arial"/>
              </a:rPr>
              <a:t>Click to edit the title text format</a:t>
            </a:r>
            <a:endParaRPr b="0" lang="en-US" sz="1400" spc="-1" strike="noStrike">
              <a:solidFill>
                <a:srgbClr val="000000"/>
              </a:solidFill>
              <a:latin typeface="Arial"/>
            </a:endParaRPr>
          </a:p>
        </p:txBody>
      </p:sp>
      <p:sp>
        <p:nvSpPr>
          <p:cNvPr id="45" name="PlaceHolder 5"/>
          <p:cNvSpPr>
            <a:spLocks noGrp="1"/>
          </p:cNvSpPr>
          <p:nvPr>
            <p:ph type="body"/>
          </p:nvPr>
        </p:nvSpPr>
        <p:spPr>
          <a:xfrm>
            <a:off x="342720" y="2139480"/>
            <a:ext cx="6171840" cy="53028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343080" y="366840"/>
            <a:ext cx="6171480" cy="1523160"/>
          </a:xfrm>
          <a:prstGeom prst="rect">
            <a:avLst/>
          </a:prstGeom>
          <a:noFill/>
          <a:ln w="0">
            <a:noFill/>
          </a:ln>
        </p:spPr>
        <p:txBody>
          <a:bodyPr lIns="0" rIns="0" tIns="0" bIns="0" anchor="ctr">
            <a:noAutofit/>
          </a:bodyPr>
          <a:p>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3" name="PlaceHolder 2"/>
          <p:cNvSpPr>
            <a:spLocks noGrp="1"/>
          </p:cNvSpPr>
          <p:nvPr>
            <p:ph type="body"/>
          </p:nvPr>
        </p:nvSpPr>
        <p:spPr>
          <a:xfrm>
            <a:off x="342720" y="2139480"/>
            <a:ext cx="6171840" cy="53028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png"/><Relationship Id="rId15" Type="http://schemas.openxmlformats.org/officeDocument/2006/relationships/image" Target="../media/image16.png"/><Relationship Id="rId16" Type="http://schemas.openxmlformats.org/officeDocument/2006/relationships/image" Target="../media/image17.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0.png"/><Relationship Id="rId20" Type="http://schemas.openxmlformats.org/officeDocument/2006/relationships/image" Target="../media/image21.png"/><Relationship Id="rId21" Type="http://schemas.openxmlformats.org/officeDocument/2006/relationships/image" Target="../media/image22.png"/><Relationship Id="rId22" Type="http://schemas.openxmlformats.org/officeDocument/2006/relationships/image" Target="../media/image23.png"/><Relationship Id="rId23" Type="http://schemas.openxmlformats.org/officeDocument/2006/relationships/image" Target="../media/image24.png"/><Relationship Id="rId24" Type="http://schemas.openxmlformats.org/officeDocument/2006/relationships/image" Target="../media/image25.png"/><Relationship Id="rId25" Type="http://schemas.openxmlformats.org/officeDocument/2006/relationships/image" Target="../media/image26.png"/><Relationship Id="rId26" Type="http://schemas.openxmlformats.org/officeDocument/2006/relationships/image" Target="../media/image27.png"/><Relationship Id="rId27" Type="http://schemas.openxmlformats.org/officeDocument/2006/relationships/image" Target="../media/image28.png"/><Relationship Id="rId28" Type="http://schemas.openxmlformats.org/officeDocument/2006/relationships/image" Target="../media/image29.png"/><Relationship Id="rId29" Type="http://schemas.openxmlformats.org/officeDocument/2006/relationships/image" Target="../media/image30.png"/><Relationship Id="rId30" Type="http://schemas.openxmlformats.org/officeDocument/2006/relationships/image" Target="../media/image31.png"/><Relationship Id="rId31" Type="http://schemas.openxmlformats.org/officeDocument/2006/relationships/image" Target="../media/image32.png"/><Relationship Id="rId32" Type="http://schemas.openxmlformats.org/officeDocument/2006/relationships/image" Target="../media/image33.png"/><Relationship Id="rId33" Type="http://schemas.openxmlformats.org/officeDocument/2006/relationships/image" Target="../media/image34.png"/><Relationship Id="rId34" Type="http://schemas.openxmlformats.org/officeDocument/2006/relationships/image" Target="../media/image35.png"/><Relationship Id="rId35" Type="http://schemas.openxmlformats.org/officeDocument/2006/relationships/image" Target="../media/image36.png"/><Relationship Id="rId36" Type="http://schemas.openxmlformats.org/officeDocument/2006/relationships/image" Target="../media/image37.png"/><Relationship Id="rId37" Type="http://schemas.openxmlformats.org/officeDocument/2006/relationships/image" Target="../media/image38.png"/><Relationship Id="rId38" Type="http://schemas.openxmlformats.org/officeDocument/2006/relationships/image" Target="../media/image39.png"/><Relationship Id="rId39" Type="http://schemas.openxmlformats.org/officeDocument/2006/relationships/image" Target="../media/image40.png"/><Relationship Id="rId40" Type="http://schemas.openxmlformats.org/officeDocument/2006/relationships/image" Target="../media/image41.png"/><Relationship Id="rId41"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image" Target="../media/image42.png"/><Relationship Id="rId2"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image" Target="../media/image43.png"/><Relationship Id="rId2"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image" Target="../media/image44.png"/><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slideLayout" Target="../slideLayouts/slideLayout13.xml"/><Relationship Id="rId10"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image" Target="../media/image57.jpeg"/><Relationship Id="rId2" Type="http://schemas.openxmlformats.org/officeDocument/2006/relationships/image" Target="../media/image58.jpeg"/><Relationship Id="rId3" Type="http://schemas.openxmlformats.org/officeDocument/2006/relationships/image" Target="../media/image59.jpeg"/><Relationship Id="rId4" Type="http://schemas.openxmlformats.org/officeDocument/2006/relationships/image" Target="../media/image60.jpeg"/><Relationship Id="rId5" Type="http://schemas.openxmlformats.org/officeDocument/2006/relationships/image" Target="../media/image61.png"/><Relationship Id="rId6" Type="http://schemas.openxmlformats.org/officeDocument/2006/relationships/image" Target="../media/image62.jpeg"/><Relationship Id="rId7" Type="http://schemas.openxmlformats.org/officeDocument/2006/relationships/image" Target="../media/image63.jpeg"/><Relationship Id="rId8" Type="http://schemas.openxmlformats.org/officeDocument/2006/relationships/image" Target="../media/image64.jpeg"/><Relationship Id="rId9" Type="http://schemas.openxmlformats.org/officeDocument/2006/relationships/image" Target="../media/image65.jpeg"/><Relationship Id="rId10" Type="http://schemas.openxmlformats.org/officeDocument/2006/relationships/image" Target="../media/image66.jpeg"/><Relationship Id="rId11" Type="http://schemas.openxmlformats.org/officeDocument/2006/relationships/image" Target="../media/image67.jpeg"/><Relationship Id="rId12" Type="http://schemas.openxmlformats.org/officeDocument/2006/relationships/image" Target="../media/image68.png"/><Relationship Id="rId13" Type="http://schemas.openxmlformats.org/officeDocument/2006/relationships/slideLayout" Target="../slideLayouts/slideLayout13.xml"/><Relationship Id="rId1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69.png"/><Relationship Id="rId2"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image" Target="../media/image70.png"/><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image" Target="../media/image74.jpeg"/><Relationship Id="rId2" Type="http://schemas.openxmlformats.org/officeDocument/2006/relationships/image" Target="../media/image75.jpeg"/><Relationship Id="rId3" Type="http://schemas.openxmlformats.org/officeDocument/2006/relationships/image" Target="../media/image76.jpeg"/><Relationship Id="rId4" Type="http://schemas.openxmlformats.org/officeDocument/2006/relationships/image" Target="../media/image77.jpeg"/><Relationship Id="rId5" Type="http://schemas.openxmlformats.org/officeDocument/2006/relationships/image" Target="../media/image78.jpeg"/><Relationship Id="rId6" Type="http://schemas.openxmlformats.org/officeDocument/2006/relationships/image" Target="../media/image79.jpeg"/><Relationship Id="rId7" Type="http://schemas.openxmlformats.org/officeDocument/2006/relationships/image" Target="../media/image80.jpeg"/><Relationship Id="rId8" Type="http://schemas.openxmlformats.org/officeDocument/2006/relationships/image" Target="../media/image81.jpeg"/><Relationship Id="rId9" Type="http://schemas.openxmlformats.org/officeDocument/2006/relationships/image" Target="../media/image82.jpeg"/><Relationship Id="rId10" Type="http://schemas.openxmlformats.org/officeDocument/2006/relationships/image" Target="../media/image83.jpeg"/><Relationship Id="rId11" Type="http://schemas.openxmlformats.org/officeDocument/2006/relationships/image" Target="../media/image84.jpeg"/><Relationship Id="rId12" Type="http://schemas.openxmlformats.org/officeDocument/2006/relationships/image" Target="../media/image85.jpeg"/><Relationship Id="rId13" Type="http://schemas.openxmlformats.org/officeDocument/2006/relationships/image" Target="../media/image86.jpeg"/><Relationship Id="rId14" Type="http://schemas.openxmlformats.org/officeDocument/2006/relationships/image" Target="../media/image87.jpeg"/><Relationship Id="rId15" Type="http://schemas.openxmlformats.org/officeDocument/2006/relationships/image" Target="../media/image88.jpeg"/><Relationship Id="rId16" Type="http://schemas.openxmlformats.org/officeDocument/2006/relationships/image" Target="../media/image89.jpeg"/><Relationship Id="rId17" Type="http://schemas.openxmlformats.org/officeDocument/2006/relationships/image" Target="../media/image90.jpeg"/><Relationship Id="rId18" Type="http://schemas.openxmlformats.org/officeDocument/2006/relationships/image" Target="../media/image91.jpeg"/><Relationship Id="rId19" Type="http://schemas.openxmlformats.org/officeDocument/2006/relationships/image" Target="../media/image92.jpeg"/><Relationship Id="rId20" Type="http://schemas.openxmlformats.org/officeDocument/2006/relationships/slideLayout" Target="../slideLayouts/slideLayout13.xml"/><Relationship Id="rId21"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93.jpeg"/><Relationship Id="rId2" Type="http://schemas.openxmlformats.org/officeDocument/2006/relationships/image" Target="../media/image94.jpeg"/><Relationship Id="rId3" Type="http://schemas.openxmlformats.org/officeDocument/2006/relationships/image" Target="../media/image95.jpeg"/><Relationship Id="rId4" Type="http://schemas.openxmlformats.org/officeDocument/2006/relationships/slideLayout" Target="../slideLayouts/slideLayout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7.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8.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slideLayout" Target="../slideLayouts/slideLayout13.xml"/>
</Relationships>
</file>

<file path=ppt/slides/_rels/slide19.xml.rels><?xml version="1.0" encoding="UTF-8"?>
<Relationships xmlns="http://schemas.openxmlformats.org/package/2006/relationships"><Relationship Id="rId1" Type="http://schemas.openxmlformats.org/officeDocument/2006/relationships/image" Target="../media/image102.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Google Shape;92;p1"/>
          <p:cNvSpPr/>
          <p:nvPr/>
        </p:nvSpPr>
        <p:spPr>
          <a:xfrm>
            <a:off x="171360" y="169560"/>
            <a:ext cx="6514920" cy="8800200"/>
          </a:xfrm>
          <a:prstGeom prst="rect">
            <a:avLst/>
          </a:prstGeom>
          <a:noFill/>
          <a:ln w="0">
            <a:noFill/>
          </a:ln>
        </p:spPr>
        <p:style>
          <a:lnRef idx="0"/>
          <a:fillRef idx="0"/>
          <a:effectRef idx="0"/>
          <a:fontRef idx="minor"/>
        </p:style>
        <p:txBody>
          <a:bodyPr anchor="t">
            <a:normAutofit/>
          </a:bodyPr>
          <a:p>
            <a:pPr algn="just">
              <a:lnSpc>
                <a:spcPct val="100000"/>
              </a:lnSpc>
              <a:buNone/>
              <a:tabLst>
                <a:tab algn="l" pos="0"/>
              </a:tabLst>
            </a:pPr>
            <a:r>
              <a:rPr b="1" lang="en-US" sz="1400" spc="-1" strike="noStrike">
                <a:solidFill>
                  <a:srgbClr val="000000"/>
                </a:solidFill>
                <a:latin typeface="Arial"/>
                <a:ea typeface="Arial"/>
              </a:rPr>
              <a:t>Research Paper Title: </a:t>
            </a:r>
            <a:endParaRPr b="0" lang="en-US" sz="1400" spc="-1" strike="noStrike">
              <a:latin typeface="Arial"/>
            </a:endParaRPr>
          </a:p>
          <a:p>
            <a:pPr algn="just">
              <a:lnSpc>
                <a:spcPct val="100000"/>
              </a:lnSpc>
              <a:spcBef>
                <a:spcPts val="281"/>
              </a:spcBef>
              <a:buNone/>
              <a:tabLst>
                <a:tab algn="l" pos="0"/>
              </a:tabLst>
            </a:pPr>
            <a:r>
              <a:rPr b="1" lang="en-US" sz="1400" spc="-1" strike="noStrike">
                <a:solidFill>
                  <a:srgbClr val="000000"/>
                </a:solidFill>
                <a:latin typeface="Arial"/>
                <a:ea typeface="Arial"/>
              </a:rPr>
              <a:t>PT-AML: Machine learning framework to identified personalized treatments for acute myeloid leukemia</a:t>
            </a:r>
            <a:endParaRPr b="0" lang="en-US" sz="1400" spc="-1" strike="noStrike">
              <a:latin typeface="Arial"/>
            </a:endParaRPr>
          </a:p>
          <a:p>
            <a:pPr algn="just">
              <a:lnSpc>
                <a:spcPct val="100000"/>
              </a:lnSpc>
              <a:spcBef>
                <a:spcPts val="281"/>
              </a:spcBef>
              <a:buNone/>
              <a:tabLst>
                <a:tab algn="l" pos="0"/>
              </a:tabLst>
            </a:pPr>
            <a:r>
              <a:rPr b="1" lang="en-US" sz="1400" spc="-1" strike="noStrike">
                <a:solidFill>
                  <a:srgbClr val="000000"/>
                </a:solidFill>
                <a:latin typeface="Arial"/>
                <a:ea typeface="Arial"/>
              </a:rPr>
              <a:t>Journal: </a:t>
            </a:r>
            <a:r>
              <a:rPr b="1" i="1" lang="en-US" sz="1400" spc="-1" strike="noStrike">
                <a:solidFill>
                  <a:srgbClr val="000000"/>
                </a:solidFill>
                <a:latin typeface="Arial"/>
                <a:ea typeface="Arial"/>
              </a:rPr>
              <a:t>TBD</a:t>
            </a:r>
            <a:endParaRPr b="0" lang="en-US" sz="1400" spc="-1" strike="noStrike">
              <a:latin typeface="Arial"/>
            </a:endParaRPr>
          </a:p>
          <a:p>
            <a:pPr algn="just">
              <a:lnSpc>
                <a:spcPct val="100000"/>
              </a:lnSpc>
              <a:spcBef>
                <a:spcPts val="281"/>
              </a:spcBef>
              <a:buNone/>
              <a:tabLst>
                <a:tab algn="l" pos="0"/>
              </a:tabLst>
            </a:pPr>
            <a:r>
              <a:rPr b="1" lang="en-US" sz="1400" spc="-1" strike="noStrike">
                <a:solidFill>
                  <a:srgbClr val="000000"/>
                </a:solidFill>
                <a:latin typeface="Arial"/>
                <a:ea typeface="Arial"/>
              </a:rPr>
              <a:t>Authors:</a:t>
            </a:r>
            <a:r>
              <a:rPr b="1" lang="en-US" sz="1100" spc="-1" strike="noStrike">
                <a:solidFill>
                  <a:srgbClr val="000000"/>
                </a:solidFill>
                <a:latin typeface="Arial"/>
                <a:ea typeface="Arial"/>
              </a:rPr>
              <a:t> </a:t>
            </a:r>
            <a:r>
              <a:rPr b="0" lang="en-US" sz="1100" spc="-1" strike="noStrike">
                <a:solidFill>
                  <a:srgbClr val="000000"/>
                </a:solidFill>
                <a:latin typeface="Arial"/>
                <a:ea typeface="Arial"/>
              </a:rPr>
              <a:t>Raghvendra Mall</a:t>
            </a:r>
            <a:r>
              <a:rPr b="0" lang="en-US" sz="1100" spc="-1" strike="noStrike" baseline="30000">
                <a:solidFill>
                  <a:srgbClr val="000000"/>
                </a:solidFill>
                <a:latin typeface="Arial"/>
                <a:ea typeface="Arial"/>
              </a:rPr>
              <a:t>1#</a:t>
            </a:r>
            <a:r>
              <a:rPr b="0" lang="en-US" sz="1100" spc="-1" strike="noStrike">
                <a:solidFill>
                  <a:srgbClr val="000000"/>
                </a:solidFill>
                <a:latin typeface="Arial"/>
                <a:ea typeface="Arial"/>
              </a:rPr>
              <a:t>, Siddhi Jani</a:t>
            </a:r>
            <a:r>
              <a:rPr b="0" lang="en-US" sz="1100" spc="-1" strike="noStrike" baseline="30000">
                <a:solidFill>
                  <a:srgbClr val="000000"/>
                </a:solidFill>
                <a:latin typeface="Arial"/>
                <a:ea typeface="Arial"/>
              </a:rPr>
              <a:t>2</a:t>
            </a:r>
            <a:r>
              <a:rPr b="0" lang="en-US" sz="1100" spc="-1" strike="noStrike">
                <a:solidFill>
                  <a:srgbClr val="000000"/>
                </a:solidFill>
                <a:latin typeface="Arial"/>
                <a:ea typeface="Arial"/>
              </a:rPr>
              <a:t>, ...</a:t>
            </a:r>
            <a:endParaRPr b="0" lang="en-US" sz="1100" spc="-1" strike="noStrike">
              <a:latin typeface="Arial"/>
            </a:endParaRPr>
          </a:p>
          <a:p>
            <a:pPr algn="just">
              <a:lnSpc>
                <a:spcPct val="100000"/>
              </a:lnSpc>
              <a:spcBef>
                <a:spcPts val="281"/>
              </a:spcBef>
              <a:buNone/>
              <a:tabLst>
                <a:tab algn="l" pos="0"/>
              </a:tabLst>
            </a:pPr>
            <a:r>
              <a:rPr b="1" lang="en-US" sz="1400" spc="-1" strike="noStrike">
                <a:solidFill>
                  <a:srgbClr val="000000"/>
                </a:solidFill>
                <a:latin typeface="Arial"/>
                <a:ea typeface="Arial"/>
              </a:rPr>
              <a:t>Keywords: </a:t>
            </a:r>
            <a:r>
              <a:rPr b="1" lang="en-US" sz="1100" spc="-1" strike="noStrike">
                <a:solidFill>
                  <a:srgbClr val="000000"/>
                </a:solidFill>
                <a:highlight>
                  <a:srgbClr val="ffff00"/>
                </a:highlight>
                <a:latin typeface="Arial"/>
                <a:ea typeface="Arial"/>
              </a:rPr>
              <a:t>[]</a:t>
            </a:r>
            <a:endParaRPr b="0" lang="en-US" sz="1100" spc="-1" strike="noStrike">
              <a:latin typeface="Arial"/>
            </a:endParaRPr>
          </a:p>
          <a:p>
            <a:pPr algn="just">
              <a:lnSpc>
                <a:spcPct val="100000"/>
              </a:lnSpc>
              <a:spcBef>
                <a:spcPts val="221"/>
              </a:spcBef>
              <a:buNone/>
              <a:tabLst>
                <a:tab algn="l" pos="0"/>
              </a:tabLst>
            </a:pPr>
            <a:r>
              <a:rPr b="1" lang="en-US" sz="1100" spc="-1" strike="noStrike">
                <a:solidFill>
                  <a:srgbClr val="000000"/>
                </a:solidFill>
                <a:latin typeface="Arial"/>
                <a:ea typeface="Arial"/>
              </a:rPr>
              <a:t>SC: </a:t>
            </a:r>
            <a:r>
              <a:rPr b="0" lang="en-US" sz="1100" spc="-1" strike="noStrike">
                <a:solidFill>
                  <a:srgbClr val="000000"/>
                </a:solidFill>
                <a:latin typeface="Arial"/>
                <a:ea typeface="Arial"/>
              </a:rPr>
              <a:t>Deep Learning; Machine Learning; AML; Drug Sensitivity; Precision Medicine; Mutations; Cell State; Mechanism of Action</a:t>
            </a:r>
            <a:endParaRPr b="0" lang="en-US" sz="1100" spc="-1" strike="noStrike">
              <a:latin typeface="Arial"/>
            </a:endParaRPr>
          </a:p>
          <a:p>
            <a:pPr algn="just">
              <a:lnSpc>
                <a:spcPct val="100000"/>
              </a:lnSpc>
              <a:spcBef>
                <a:spcPts val="281"/>
              </a:spcBef>
              <a:buNone/>
              <a:tabLst>
                <a:tab algn="l" pos="0"/>
              </a:tabLst>
            </a:pPr>
            <a:r>
              <a:rPr b="1" lang="en-US" sz="1400" spc="-1" strike="noStrike">
                <a:solidFill>
                  <a:srgbClr val="000000"/>
                </a:solidFill>
                <a:latin typeface="Arial"/>
                <a:ea typeface="Arial"/>
              </a:rPr>
              <a:t>Abstract: </a:t>
            </a:r>
            <a:r>
              <a:rPr b="1" lang="en-US" sz="1100" spc="-1" strike="noStrike">
                <a:solidFill>
                  <a:srgbClr val="000000"/>
                </a:solidFill>
                <a:highlight>
                  <a:srgbClr val="ffff00"/>
                </a:highlight>
                <a:latin typeface="Arial"/>
                <a:ea typeface="Arial"/>
              </a:rPr>
              <a:t>[Checklist: </a:t>
            </a:r>
            <a:r>
              <a:rPr b="0" lang="en-US" sz="1100" spc="-1" strike="noStrike">
                <a:solidFill>
                  <a:srgbClr val="000000"/>
                </a:solidFill>
                <a:highlight>
                  <a:srgbClr val="ffff00"/>
                </a:highlight>
                <a:latin typeface="Arial"/>
                <a:ea typeface="Arial"/>
              </a:rPr>
              <a:t>Statements are factually accurate; provides a concise summary that is interesting and attracts attention; provides key background, purpose of article, and key findings from the study</a:t>
            </a:r>
            <a:r>
              <a:rPr b="1" lang="en-US" sz="1100" spc="-1" strike="noStrike">
                <a:solidFill>
                  <a:srgbClr val="000000"/>
                </a:solidFill>
                <a:highlight>
                  <a:srgbClr val="ffff00"/>
                </a:highlight>
                <a:latin typeface="Arial"/>
                <a:ea typeface="Arial"/>
              </a:rPr>
              <a:t>]</a:t>
            </a:r>
            <a:endParaRPr b="0" lang="en-US" sz="1100" spc="-1" strike="noStrike">
              <a:latin typeface="Arial"/>
            </a:endParaRPr>
          </a:p>
          <a:p>
            <a:pPr algn="just">
              <a:lnSpc>
                <a:spcPct val="100000"/>
              </a:lnSpc>
              <a:spcBef>
                <a:spcPts val="221"/>
              </a:spcBef>
              <a:buNone/>
              <a:tabLst>
                <a:tab algn="l" pos="0"/>
              </a:tabLst>
            </a:pPr>
            <a:r>
              <a:rPr b="0" lang="en-US" sz="1100" spc="-1" strike="noStrike">
                <a:solidFill>
                  <a:srgbClr val="000000"/>
                </a:solidFill>
                <a:latin typeface="Arial"/>
                <a:ea typeface="Arial"/>
              </a:rPr>
              <a:t>ABSTRACT EXAMPLE: </a:t>
            </a:r>
            <a:endParaRPr b="0" lang="en-US" sz="1100" spc="-1" strike="noStrike">
              <a:latin typeface="Arial"/>
            </a:endParaRPr>
          </a:p>
          <a:p>
            <a:pPr algn="just">
              <a:lnSpc>
                <a:spcPct val="100000"/>
              </a:lnSpc>
              <a:spcBef>
                <a:spcPts val="261"/>
              </a:spcBef>
              <a:buNone/>
              <a:tabLst>
                <a:tab algn="l" pos="0"/>
              </a:tabLst>
            </a:pPr>
            <a:r>
              <a:rPr b="0" lang="en-US" sz="1300" spc="-1" strike="noStrike" u="sng">
                <a:solidFill>
                  <a:srgbClr val="000000"/>
                </a:solidFill>
                <a:uFillTx/>
                <a:latin typeface="Arial"/>
                <a:ea typeface="Arial"/>
              </a:rPr>
              <a:t>First line: State the topic; should be related to the title</a:t>
            </a:r>
            <a:endParaRPr b="0" lang="en-US" sz="1300" spc="-1" strike="noStrike">
              <a:latin typeface="Arial"/>
            </a:endParaRPr>
          </a:p>
          <a:p>
            <a:pPr>
              <a:lnSpc>
                <a:spcPct val="100000"/>
              </a:lnSpc>
              <a:buNone/>
              <a:tabLst>
                <a:tab algn="l" pos="0"/>
              </a:tabLst>
            </a:pPr>
            <a:r>
              <a:rPr b="0" lang="en-US" sz="1300" spc="-1" strike="noStrike">
                <a:solidFill>
                  <a:srgbClr val="1a1a1a"/>
                </a:solidFill>
                <a:latin typeface="Arial"/>
                <a:ea typeface="Arial"/>
              </a:rPr>
              <a:t>Resistance to cell death is a leading hallmark of cancer. Therapies aimed at activating cell death are therefore of high interest to improve treatment and understanding the induction of cell death during cancers is a key strategy to identify therapies. </a:t>
            </a:r>
            <a:r>
              <a:rPr b="0" lang="en-US" sz="1300" spc="-1" strike="noStrike">
                <a:solidFill>
                  <a:srgbClr val="000000"/>
                </a:solidFill>
                <a:latin typeface="Arial"/>
                <a:ea typeface="Arial"/>
              </a:rPr>
              <a:t> </a:t>
            </a:r>
            <a:r>
              <a:rPr b="0" lang="en-US" sz="1300" spc="-1" strike="noStrike">
                <a:solidFill>
                  <a:srgbClr val="1a1a1a"/>
                </a:solidFill>
                <a:latin typeface="Arial"/>
                <a:ea typeface="Arial"/>
              </a:rPr>
              <a:t> </a:t>
            </a:r>
            <a:endParaRPr b="0" lang="en-US" sz="1300" spc="-1" strike="noStrike">
              <a:latin typeface="Arial"/>
            </a:endParaRPr>
          </a:p>
          <a:p>
            <a:pPr>
              <a:lnSpc>
                <a:spcPct val="100000"/>
              </a:lnSpc>
              <a:buNone/>
              <a:tabLst>
                <a:tab algn="l" pos="0"/>
              </a:tabLst>
            </a:pPr>
            <a:endParaRPr b="0" lang="en-US" sz="1300" spc="-1" strike="noStrike">
              <a:latin typeface="Arial"/>
            </a:endParaRPr>
          </a:p>
          <a:p>
            <a:pPr>
              <a:lnSpc>
                <a:spcPct val="100000"/>
              </a:lnSpc>
              <a:buNone/>
              <a:tabLst>
                <a:tab algn="l" pos="0"/>
              </a:tabLst>
            </a:pPr>
            <a:r>
              <a:rPr b="0" lang="en-US" sz="1300" spc="-1" strike="noStrike" u="sng">
                <a:solidFill>
                  <a:srgbClr val="000000"/>
                </a:solidFill>
                <a:uFillTx/>
                <a:latin typeface="Arial"/>
                <a:ea typeface="Arial"/>
              </a:rPr>
              <a:t>Second and third sentences: Expand on the critical background information relating to the topic, including why it is a relevant </a:t>
            </a:r>
            <a:endParaRPr b="0" lang="en-US" sz="1300" spc="-1" strike="noStrike">
              <a:latin typeface="Arial"/>
            </a:endParaRPr>
          </a:p>
          <a:p>
            <a:pPr algn="just">
              <a:lnSpc>
                <a:spcPct val="100000"/>
              </a:lnSpc>
              <a:spcBef>
                <a:spcPts val="261"/>
              </a:spcBef>
              <a:buNone/>
              <a:tabLst>
                <a:tab algn="l" pos="0"/>
              </a:tabLst>
            </a:pPr>
            <a:endParaRPr b="0" lang="en-US" sz="1300" spc="-1" strike="noStrike">
              <a:latin typeface="Arial"/>
            </a:endParaRPr>
          </a:p>
          <a:p>
            <a:pPr algn="just">
              <a:lnSpc>
                <a:spcPct val="100000"/>
              </a:lnSpc>
              <a:spcBef>
                <a:spcPts val="261"/>
              </a:spcBef>
              <a:buNone/>
              <a:tabLst>
                <a:tab algn="l" pos="0"/>
              </a:tabLst>
            </a:pPr>
            <a:r>
              <a:rPr b="0" lang="en-US" sz="1300" spc="-1" strike="noStrike" u="sng">
                <a:solidFill>
                  <a:srgbClr val="000000"/>
                </a:solidFill>
                <a:uFillTx/>
                <a:latin typeface="Arial"/>
                <a:ea typeface="Arial"/>
              </a:rPr>
              <a:t>Fourth sentence and beyond: These sentences should mirror the subsections from your results outline</a:t>
            </a:r>
            <a:endParaRPr b="0" lang="en-US" sz="1300" spc="-1" strike="noStrike">
              <a:latin typeface="Arial"/>
            </a:endParaRPr>
          </a:p>
          <a:p>
            <a:pPr algn="just">
              <a:lnSpc>
                <a:spcPct val="100000"/>
              </a:lnSpc>
              <a:spcBef>
                <a:spcPts val="261"/>
              </a:spcBef>
              <a:buNone/>
              <a:tabLst>
                <a:tab algn="l" pos="0"/>
              </a:tabLst>
            </a:pPr>
            <a:r>
              <a:rPr b="0" lang="en-US" sz="1300" spc="-1" strike="noStrike">
                <a:solidFill>
                  <a:srgbClr val="000000"/>
                </a:solidFill>
                <a:latin typeface="Arial"/>
                <a:ea typeface="Arial"/>
              </a:rPr>
              <a:t>. </a:t>
            </a:r>
            <a:endParaRPr b="0" lang="en-US" sz="1300" spc="-1" strike="noStrike">
              <a:latin typeface="Arial"/>
            </a:endParaRPr>
          </a:p>
          <a:p>
            <a:pPr algn="just">
              <a:lnSpc>
                <a:spcPct val="100000"/>
              </a:lnSpc>
              <a:spcBef>
                <a:spcPts val="261"/>
              </a:spcBef>
              <a:buNone/>
              <a:tabLst>
                <a:tab algn="l" pos="0"/>
              </a:tabLst>
            </a:pPr>
            <a:r>
              <a:rPr b="0" lang="en-US" sz="1300" spc="-1" strike="noStrike" u="sng">
                <a:solidFill>
                  <a:srgbClr val="000000"/>
                </a:solidFill>
                <a:uFillTx/>
                <a:latin typeface="Arial"/>
                <a:ea typeface="Arial"/>
              </a:rPr>
              <a:t>Last sentence: These results demonstrate…</a:t>
            </a:r>
            <a:endParaRPr b="0" lang="en-US" sz="1300" spc="-1" strike="noStrike">
              <a:latin typeface="Arial"/>
            </a:endParaRPr>
          </a:p>
          <a:p>
            <a:pPr algn="just">
              <a:lnSpc>
                <a:spcPct val="100000"/>
              </a:lnSpc>
              <a:spcBef>
                <a:spcPts val="261"/>
              </a:spcBef>
              <a:buNone/>
              <a:tabLst>
                <a:tab algn="l" pos="0"/>
              </a:tabLst>
            </a:pPr>
            <a:endParaRPr b="0" lang="en-US" sz="1300" spc="-1" strike="noStrike">
              <a:latin typeface="Arial"/>
            </a:endParaRPr>
          </a:p>
          <a:p>
            <a:pPr algn="just">
              <a:lnSpc>
                <a:spcPct val="100000"/>
              </a:lnSpc>
              <a:buNone/>
              <a:tabLst>
                <a:tab algn="l" pos="0"/>
              </a:tabLst>
            </a:pPr>
            <a:r>
              <a:rPr b="1" lang="en-US" sz="1400" spc="-1" strike="noStrike">
                <a:solidFill>
                  <a:srgbClr val="000000"/>
                </a:solidFill>
                <a:latin typeface="Arial"/>
                <a:ea typeface="Arial"/>
              </a:rPr>
              <a:t>SC:</a:t>
            </a:r>
            <a:endParaRPr b="0" lang="en-US" sz="1400" spc="-1" strike="noStrike">
              <a:latin typeface="Arial"/>
            </a:endParaRPr>
          </a:p>
          <a:p>
            <a:pPr algn="just">
              <a:lnSpc>
                <a:spcPct val="100000"/>
              </a:lnSpc>
              <a:buNone/>
              <a:tabLst>
                <a:tab algn="l" pos="0"/>
              </a:tabLst>
            </a:pPr>
            <a:br>
              <a:rPr sz="1100"/>
            </a:br>
            <a:endParaRPr b="0" lang="en-US" sz="1100" spc="-1" strike="noStrike">
              <a:latin typeface="Arial"/>
            </a:endParaRPr>
          </a:p>
          <a:p>
            <a:pPr algn="just">
              <a:lnSpc>
                <a:spcPct val="100000"/>
              </a:lnSpc>
              <a:spcBef>
                <a:spcPts val="221"/>
              </a:spcBef>
              <a:buNone/>
              <a:tabLst>
                <a:tab algn="l" pos="0"/>
              </a:tabLst>
            </a:pPr>
            <a:endParaRPr b="0" lang="en-US" sz="1100" spc="-1" strike="noStrike">
              <a:latin typeface="Arial"/>
            </a:endParaRPr>
          </a:p>
          <a:p>
            <a:pPr algn="just">
              <a:lnSpc>
                <a:spcPct val="100000"/>
              </a:lnSpc>
              <a:spcBef>
                <a:spcPts val="221"/>
              </a:spcBef>
              <a:buNone/>
              <a:tabLst>
                <a:tab algn="l" pos="0"/>
              </a:tabLst>
            </a:pP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Google Shape;98;p2"/>
          <p:cNvSpPr/>
          <p:nvPr/>
        </p:nvSpPr>
        <p:spPr>
          <a:xfrm>
            <a:off x="95400" y="83880"/>
            <a:ext cx="6667200" cy="9059760"/>
          </a:xfrm>
          <a:prstGeom prst="rect">
            <a:avLst/>
          </a:prstGeom>
          <a:noFill/>
          <a:ln w="0">
            <a:noFill/>
          </a:ln>
        </p:spPr>
        <p:style>
          <a:lnRef idx="0"/>
          <a:fillRef idx="0"/>
          <a:effectRef idx="0"/>
          <a:fontRef idx="minor"/>
        </p:style>
        <p:txBody>
          <a:bodyPr anchor="t">
            <a:noAutofit/>
          </a:bodyPr>
          <a:p>
            <a:pPr algn="just">
              <a:lnSpc>
                <a:spcPct val="100000"/>
              </a:lnSpc>
              <a:buNone/>
              <a:tabLst>
                <a:tab algn="l" pos="0"/>
              </a:tabLst>
            </a:pPr>
            <a:r>
              <a:rPr b="1" lang="en-US" sz="1400" spc="-1" strike="noStrike">
                <a:solidFill>
                  <a:srgbClr val="000000"/>
                </a:solidFill>
                <a:latin typeface="Arial"/>
                <a:ea typeface="Arial"/>
              </a:rPr>
              <a:t>Research Article Outline: </a:t>
            </a:r>
            <a:endParaRPr b="0" lang="en-US" sz="1400" spc="-1" strike="noStrike">
              <a:latin typeface="Arial"/>
            </a:endParaRPr>
          </a:p>
          <a:p>
            <a:pPr marL="343080" indent="-343080" algn="just">
              <a:lnSpc>
                <a:spcPct val="100000"/>
              </a:lnSpc>
              <a:spcBef>
                <a:spcPts val="281"/>
              </a:spcBef>
              <a:buNone/>
              <a:tabLst>
                <a:tab algn="l" pos="0"/>
              </a:tabLst>
            </a:pPr>
            <a:r>
              <a:rPr b="1" lang="en-US" sz="1400" spc="-1" strike="noStrike">
                <a:solidFill>
                  <a:srgbClr val="000000"/>
                </a:solidFill>
                <a:latin typeface="Arial"/>
                <a:ea typeface="Arial"/>
              </a:rPr>
              <a:t>PT-AML: Machine learning framework to identified personalize treatments for acute myeloid leukemia</a:t>
            </a:r>
            <a:endParaRPr b="0" lang="en-US" sz="1400" spc="-1" strike="noStrike">
              <a:latin typeface="Arial"/>
            </a:endParaRPr>
          </a:p>
          <a:p>
            <a:pPr algn="just">
              <a:lnSpc>
                <a:spcPct val="100000"/>
              </a:lnSpc>
              <a:spcBef>
                <a:spcPts val="221"/>
              </a:spcBef>
              <a:buNone/>
              <a:tabLst>
                <a:tab algn="l" pos="0"/>
              </a:tabLst>
            </a:pPr>
            <a:r>
              <a:rPr b="1" lang="en-US" sz="1100" spc="-1" strike="noStrike">
                <a:solidFill>
                  <a:srgbClr val="000000"/>
                </a:solidFill>
                <a:highlight>
                  <a:srgbClr val="ffff00"/>
                </a:highlight>
                <a:latin typeface="Arial"/>
                <a:ea typeface="Arial"/>
              </a:rPr>
              <a:t>[Checklist: </a:t>
            </a:r>
            <a:r>
              <a:rPr b="0" lang="en-US" sz="1100" spc="-1" strike="noStrike">
                <a:solidFill>
                  <a:srgbClr val="000000"/>
                </a:solidFill>
                <a:highlight>
                  <a:srgbClr val="ffff00"/>
                </a:highlight>
                <a:latin typeface="Arial"/>
                <a:ea typeface="Arial"/>
              </a:rPr>
              <a:t>Statements are factually accurate, key references from Kanneganti lab and Others ref lists are included</a:t>
            </a:r>
            <a:r>
              <a:rPr b="1" lang="en-US" sz="1100" spc="-1" strike="noStrike">
                <a:solidFill>
                  <a:srgbClr val="000000"/>
                </a:solidFill>
                <a:highlight>
                  <a:srgbClr val="ffff00"/>
                </a:highlight>
                <a:latin typeface="Arial"/>
                <a:ea typeface="Arial"/>
              </a:rPr>
              <a:t>]</a:t>
            </a:r>
            <a:endParaRPr b="0" lang="en-US" sz="1100" spc="-1" strike="noStrike">
              <a:latin typeface="Arial"/>
            </a:endParaRPr>
          </a:p>
          <a:p>
            <a:pPr marL="228600" indent="-228600" algn="just">
              <a:lnSpc>
                <a:spcPct val="100000"/>
              </a:lnSpc>
              <a:spcBef>
                <a:spcPts val="221"/>
              </a:spcBef>
              <a:buClr>
                <a:srgbClr val="000000"/>
              </a:buClr>
              <a:buFont typeface="Arial"/>
              <a:buAutoNum type="arabicPeriod"/>
              <a:tabLst>
                <a:tab algn="l" pos="0"/>
              </a:tabLst>
            </a:pPr>
            <a:r>
              <a:rPr b="1" lang="en-US" sz="1100" spc="-1" strike="noStrike">
                <a:solidFill>
                  <a:srgbClr val="000000"/>
                </a:solidFill>
                <a:latin typeface="Arial"/>
                <a:ea typeface="Arial"/>
              </a:rPr>
              <a:t>Introduction </a:t>
            </a:r>
            <a:r>
              <a:rPr b="1" lang="en-US" sz="1100" spc="-1" strike="noStrike">
                <a:solidFill>
                  <a:srgbClr val="000000"/>
                </a:solidFill>
                <a:highlight>
                  <a:srgbClr val="ffff00"/>
                </a:highlight>
                <a:latin typeface="Arial"/>
                <a:ea typeface="Arial"/>
              </a:rPr>
              <a:t>[Checklist: </a:t>
            </a:r>
            <a:r>
              <a:rPr b="0" lang="en-US" sz="1100" spc="-1" strike="noStrike">
                <a:solidFill>
                  <a:srgbClr val="000000"/>
                </a:solidFill>
                <a:highlight>
                  <a:srgbClr val="ffff00"/>
                </a:highlight>
                <a:latin typeface="Arial"/>
                <a:ea typeface="Arial"/>
              </a:rPr>
              <a:t>limit to 3 paragraphs; describe the key concepts; provide relevant background information in the context of our lab’s interests; attract the readers attention and inform about the purpose of the article and what you aim to achieve</a:t>
            </a:r>
            <a:r>
              <a:rPr b="1" lang="en-US" sz="1100" spc="-1" strike="noStrike">
                <a:solidFill>
                  <a:srgbClr val="000000"/>
                </a:solidFill>
                <a:highlight>
                  <a:srgbClr val="ffff00"/>
                </a:highlight>
                <a:latin typeface="Arial"/>
                <a:ea typeface="Arial"/>
              </a:rPr>
              <a:t>]</a:t>
            </a:r>
            <a:endParaRPr b="0" lang="en-US" sz="1100" spc="-1" strike="noStrike">
              <a:latin typeface="Arial"/>
            </a:endParaRPr>
          </a:p>
          <a:p>
            <a:pPr algn="just">
              <a:lnSpc>
                <a:spcPct val="100000"/>
              </a:lnSpc>
              <a:spcBef>
                <a:spcPts val="221"/>
              </a:spcBef>
              <a:buNone/>
              <a:tabLst>
                <a:tab algn="l" pos="0"/>
              </a:tabLst>
            </a:pPr>
            <a:r>
              <a:rPr b="1" lang="en-US" sz="1100" spc="-1" strike="noStrike">
                <a:solidFill>
                  <a:srgbClr val="000000"/>
                </a:solidFill>
                <a:latin typeface="Arial"/>
                <a:ea typeface="Arial"/>
              </a:rPr>
              <a:t>SC:</a:t>
            </a:r>
            <a:r>
              <a:rPr b="0" lang="en-US" sz="1100" spc="-1" strike="noStrike">
                <a:solidFill>
                  <a:srgbClr val="000000"/>
                </a:solidFill>
                <a:latin typeface="Arial"/>
                <a:ea typeface="Arial"/>
              </a:rPr>
              <a:t>  </a:t>
            </a:r>
            <a:endParaRPr b="0" lang="en-US" sz="1100" spc="-1" strike="noStrike">
              <a:latin typeface="Arial"/>
            </a:endParaRPr>
          </a:p>
          <a:p>
            <a:pPr>
              <a:lnSpc>
                <a:spcPct val="100000"/>
              </a:lnSpc>
              <a:buNone/>
              <a:tabLst>
                <a:tab algn="l" pos="0"/>
              </a:tabLst>
            </a:pPr>
            <a:r>
              <a:rPr b="1" lang="en-US" sz="1100" spc="-1" strike="noStrike">
                <a:solidFill>
                  <a:srgbClr val="000000"/>
                </a:solidFill>
                <a:latin typeface="Arial"/>
                <a:ea typeface="Arial"/>
              </a:rPr>
              <a:t>2. </a:t>
            </a:r>
            <a:endParaRPr b="0" lang="en-US" sz="1100" spc="-1" strike="noStrike">
              <a:latin typeface="Arial"/>
            </a:endParaRPr>
          </a:p>
          <a:p>
            <a:pPr>
              <a:lnSpc>
                <a:spcPct val="100000"/>
              </a:lnSpc>
              <a:buNone/>
              <a:tabLst>
                <a:tab algn="l" pos="0"/>
              </a:tabLst>
            </a:pPr>
            <a:r>
              <a:rPr b="1" lang="en-US" sz="1100" spc="-1" strike="noStrike">
                <a:solidFill>
                  <a:srgbClr val="000000"/>
                </a:solidFill>
                <a:latin typeface="Arial"/>
                <a:ea typeface="Arial"/>
              </a:rPr>
              <a:t>3. </a:t>
            </a:r>
            <a:endParaRPr b="0" lang="en-US" sz="1100" spc="-1" strike="noStrike">
              <a:latin typeface="Arial"/>
            </a:endParaRPr>
          </a:p>
          <a:p>
            <a:pPr>
              <a:lnSpc>
                <a:spcPct val="100000"/>
              </a:lnSpc>
              <a:buNone/>
              <a:tabLst>
                <a:tab algn="l" pos="0"/>
              </a:tabLst>
            </a:pPr>
            <a:r>
              <a:rPr b="1" lang="en-US" sz="1100" spc="-1" strike="noStrike">
                <a:solidFill>
                  <a:srgbClr val="000000"/>
                </a:solidFill>
                <a:latin typeface="Arial"/>
                <a:ea typeface="Arial"/>
              </a:rPr>
              <a:t>4. </a:t>
            </a:r>
            <a:endParaRPr b="0" lang="en-US" sz="1100" spc="-1" strike="noStrike">
              <a:latin typeface="Arial"/>
            </a:endParaRPr>
          </a:p>
          <a:p>
            <a:pPr>
              <a:lnSpc>
                <a:spcPct val="100000"/>
              </a:lnSpc>
              <a:buNone/>
              <a:tabLst>
                <a:tab algn="l" pos="0"/>
              </a:tabLst>
            </a:pPr>
            <a:r>
              <a:rPr b="1" lang="en-US" sz="1100" spc="-1" strike="noStrike">
                <a:solidFill>
                  <a:srgbClr val="000000"/>
                </a:solidFill>
                <a:latin typeface="Arial"/>
                <a:ea typeface="Arial"/>
              </a:rPr>
              <a:t>5.</a:t>
            </a:r>
            <a:endParaRPr b="0" lang="en-US" sz="1100" spc="-1" strike="noStrike">
              <a:latin typeface="Arial"/>
            </a:endParaRPr>
          </a:p>
          <a:p>
            <a:pPr>
              <a:lnSpc>
                <a:spcPct val="100000"/>
              </a:lnSpc>
              <a:buNone/>
              <a:tabLst>
                <a:tab algn="l" pos="0"/>
              </a:tabLst>
            </a:pPr>
            <a:r>
              <a:rPr b="1" lang="en-US" sz="1100" spc="-1" strike="noStrike">
                <a:solidFill>
                  <a:srgbClr val="000000"/>
                </a:solidFill>
                <a:latin typeface="Arial"/>
                <a:ea typeface="Arial"/>
              </a:rPr>
              <a:t>6. Discussion</a:t>
            </a:r>
            <a:endParaRPr b="0" lang="en-US" sz="1100" spc="-1" strike="noStrike">
              <a:latin typeface="Arial"/>
            </a:endParaRPr>
          </a:p>
          <a:p>
            <a:pPr>
              <a:lnSpc>
                <a:spcPct val="100000"/>
              </a:lnSpc>
              <a:spcBef>
                <a:spcPts val="139"/>
              </a:spcBef>
              <a:buNone/>
              <a:tabLst>
                <a:tab algn="l" pos="0"/>
              </a:tabLst>
            </a:pPr>
            <a:r>
              <a:rPr b="0" lang="en-US" sz="700" spc="-1" strike="noStrike">
                <a:solidFill>
                  <a:srgbClr val="000000"/>
                </a:solidFill>
                <a:latin typeface="Arial"/>
                <a:ea typeface="Arial"/>
              </a:rPr>
              <a:t>----------------------------------------------------------------------------------------------------------------------------------------------------------------------------------------------------------------------</a:t>
            </a:r>
            <a:endParaRPr b="0" lang="en-US" sz="700" spc="-1" strike="noStrike">
              <a:latin typeface="Arial"/>
            </a:endParaRPr>
          </a:p>
          <a:p>
            <a:pPr>
              <a:lnSpc>
                <a:spcPct val="100000"/>
              </a:lnSpc>
              <a:spcBef>
                <a:spcPts val="60"/>
              </a:spcBef>
              <a:buNone/>
              <a:tabLst>
                <a:tab algn="l" pos="0"/>
              </a:tabLst>
            </a:pPr>
            <a:endParaRPr b="0" lang="en-US" sz="300" spc="-1" strike="noStrike">
              <a:latin typeface="Arial"/>
            </a:endParaRPr>
          </a:p>
          <a:p>
            <a:pPr algn="just">
              <a:lnSpc>
                <a:spcPct val="100000"/>
              </a:lnSpc>
              <a:spcBef>
                <a:spcPts val="221"/>
              </a:spcBef>
              <a:buNone/>
              <a:tabLst>
                <a:tab algn="l" pos="0"/>
              </a:tabLst>
            </a:pP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Google Shape;103;p3"/>
          <p:cNvSpPr/>
          <p:nvPr/>
        </p:nvSpPr>
        <p:spPr>
          <a:xfrm>
            <a:off x="171360" y="190800"/>
            <a:ext cx="6514920" cy="8800200"/>
          </a:xfrm>
          <a:prstGeom prst="rect">
            <a:avLst/>
          </a:prstGeom>
          <a:noFill/>
          <a:ln w="0">
            <a:noFill/>
          </a:ln>
        </p:spPr>
        <p:style>
          <a:lnRef idx="0"/>
          <a:fillRef idx="0"/>
          <a:effectRef idx="0"/>
          <a:fontRef idx="minor"/>
        </p:style>
        <p:txBody>
          <a:bodyPr anchor="t">
            <a:normAutofit/>
          </a:bodyPr>
          <a:p>
            <a:pPr algn="just">
              <a:lnSpc>
                <a:spcPct val="100000"/>
              </a:lnSpc>
              <a:buNone/>
              <a:tabLst>
                <a:tab algn="l" pos="0"/>
              </a:tabLst>
            </a:pPr>
            <a:r>
              <a:rPr b="1" lang="en-US" sz="1400" spc="-1" strike="noStrike">
                <a:solidFill>
                  <a:srgbClr val="000000"/>
                </a:solidFill>
                <a:latin typeface="Arial"/>
                <a:ea typeface="Arial"/>
              </a:rPr>
              <a:t>Figures</a:t>
            </a:r>
            <a:endParaRPr b="0" lang="en-US" sz="1400" spc="-1" strike="noStrike">
              <a:latin typeface="Arial"/>
            </a:endParaRPr>
          </a:p>
          <a:p>
            <a:pPr algn="just">
              <a:lnSpc>
                <a:spcPct val="100000"/>
              </a:lnSpc>
              <a:buNone/>
              <a:tabLst>
                <a:tab algn="l" pos="0"/>
              </a:tabLst>
            </a:pPr>
            <a:r>
              <a:rPr b="1" lang="en-US" sz="1100" spc="-1" strike="noStrike">
                <a:solidFill>
                  <a:srgbClr val="000000"/>
                </a:solidFill>
                <a:highlight>
                  <a:srgbClr val="ffff00"/>
                </a:highlight>
                <a:latin typeface="Arial"/>
                <a:ea typeface="Arial"/>
              </a:rPr>
              <a:t>[Checklist: </a:t>
            </a:r>
            <a:r>
              <a:rPr b="0" lang="en-US" sz="1100" spc="-1" strike="noStrike">
                <a:solidFill>
                  <a:srgbClr val="000000"/>
                </a:solidFill>
                <a:highlight>
                  <a:srgbClr val="ffff00"/>
                </a:highlight>
                <a:latin typeface="Arial"/>
                <a:ea typeface="Arial"/>
              </a:rPr>
              <a:t>concise title and legend; include labels and enough detail to be understood without the text; fonts and colors follow lab template, and the formatting is correct; no image duplications</a:t>
            </a:r>
            <a:r>
              <a:rPr b="1" lang="en-US" sz="1100" spc="-1" strike="noStrike">
                <a:solidFill>
                  <a:srgbClr val="000000"/>
                </a:solidFill>
                <a:highlight>
                  <a:srgbClr val="ffff00"/>
                </a:highlight>
                <a:latin typeface="Arial"/>
                <a:ea typeface="Arial"/>
              </a:rPr>
              <a:t>]</a:t>
            </a:r>
            <a:endParaRPr b="0" lang="en-US" sz="1100" spc="-1" strike="noStrike">
              <a:latin typeface="Arial"/>
            </a:endParaRPr>
          </a:p>
        </p:txBody>
      </p:sp>
      <p:pic>
        <p:nvPicPr>
          <p:cNvPr id="129" name="Google Shape;104;p3" descr=""/>
          <p:cNvPicPr/>
          <p:nvPr/>
        </p:nvPicPr>
        <p:blipFill>
          <a:blip r:embed="rId1"/>
          <a:stretch/>
        </p:blipFill>
        <p:spPr>
          <a:xfrm>
            <a:off x="0" y="134640"/>
            <a:ext cx="6857640" cy="887472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Google Shape;109;p4"/>
          <p:cNvSpPr/>
          <p:nvPr/>
        </p:nvSpPr>
        <p:spPr>
          <a:xfrm>
            <a:off x="4197240" y="4416120"/>
            <a:ext cx="1392840" cy="1978560"/>
          </a:xfrm>
          <a:prstGeom prst="rect">
            <a:avLst/>
          </a:prstGeom>
          <a:solidFill>
            <a:schemeClr val="lt1"/>
          </a:solidFill>
          <a:ln w="25400">
            <a:solidFill>
              <a:srgbClr val="f79646"/>
            </a:solidFill>
            <a:round/>
          </a:ln>
        </p:spPr>
        <p:style>
          <a:lnRef idx="0"/>
          <a:fillRef idx="0"/>
          <a:effectRef idx="0"/>
          <a:fontRef idx="minor"/>
        </p:style>
      </p:sp>
      <p:sp>
        <p:nvSpPr>
          <p:cNvPr id="131" name="Google Shape;110;p4"/>
          <p:cNvSpPr/>
          <p:nvPr/>
        </p:nvSpPr>
        <p:spPr>
          <a:xfrm>
            <a:off x="2461320" y="487080"/>
            <a:ext cx="193536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Graphical Abstract</a:t>
            </a:r>
            <a:endParaRPr b="0" lang="en-US" sz="1400" spc="-1" strike="noStrike">
              <a:latin typeface="Arial"/>
            </a:endParaRPr>
          </a:p>
        </p:txBody>
      </p:sp>
      <p:sp>
        <p:nvSpPr>
          <p:cNvPr id="132" name="Google Shape;111;p4"/>
          <p:cNvSpPr/>
          <p:nvPr/>
        </p:nvSpPr>
        <p:spPr>
          <a:xfrm>
            <a:off x="0" y="0"/>
            <a:ext cx="6857640" cy="517320"/>
          </a:xfrm>
          <a:prstGeom prst="rect">
            <a:avLst/>
          </a:prstGeom>
          <a:noFill/>
          <a:ln w="0">
            <a:noFill/>
          </a:ln>
        </p:spPr>
        <p:style>
          <a:lnRef idx="0"/>
          <a:fillRef idx="0"/>
          <a:effectRef idx="0"/>
          <a:fontRef idx="minor"/>
        </p:style>
        <p:txBody>
          <a:bodyPr anchor="t">
            <a:spAutoFit/>
          </a:bodyPr>
          <a:p>
            <a:pPr algn="just">
              <a:lnSpc>
                <a:spcPct val="100000"/>
              </a:lnSpc>
              <a:buNone/>
              <a:tabLst>
                <a:tab algn="l" pos="0"/>
              </a:tabLst>
            </a:pPr>
            <a:r>
              <a:rPr b="1" lang="en-US" sz="1400" spc="-1" strike="noStrike">
                <a:solidFill>
                  <a:srgbClr val="ff0000"/>
                </a:solidFill>
                <a:latin typeface="Arial"/>
                <a:ea typeface="Arial"/>
              </a:rPr>
              <a:t>PT-AML: Machine learning framework to identified personalized treatments for acute myeloid leukemia</a:t>
            </a:r>
            <a:endParaRPr b="0" lang="en-US" sz="1400" spc="-1" strike="noStrike">
              <a:latin typeface="Arial"/>
            </a:endParaRPr>
          </a:p>
        </p:txBody>
      </p:sp>
      <p:grpSp>
        <p:nvGrpSpPr>
          <p:cNvPr id="133" name="Google Shape;112;p4"/>
          <p:cNvGrpSpPr/>
          <p:nvPr/>
        </p:nvGrpSpPr>
        <p:grpSpPr>
          <a:xfrm>
            <a:off x="10800" y="3821040"/>
            <a:ext cx="1505160" cy="1436400"/>
            <a:chOff x="10800" y="3821040"/>
            <a:chExt cx="1505160" cy="1436400"/>
          </a:xfrm>
        </p:grpSpPr>
        <p:sp>
          <p:nvSpPr>
            <p:cNvPr id="134" name="Google Shape;113;p4"/>
            <p:cNvSpPr/>
            <p:nvPr/>
          </p:nvSpPr>
          <p:spPr>
            <a:xfrm>
              <a:off x="10800" y="3821040"/>
              <a:ext cx="1505160" cy="1436400"/>
            </a:xfrm>
            <a:prstGeom prst="ellipse">
              <a:avLst/>
            </a:prstGeom>
            <a:solidFill>
              <a:schemeClr val="lt1"/>
            </a:solidFill>
            <a:ln w="25400">
              <a:solidFill>
                <a:srgbClr val="f79646"/>
              </a:solidFill>
              <a:round/>
            </a:ln>
          </p:spPr>
          <p:style>
            <a:lnRef idx="0"/>
            <a:fillRef idx="0"/>
            <a:effectRef idx="0"/>
            <a:fontRef idx="minor"/>
          </p:style>
        </p:sp>
        <p:pic>
          <p:nvPicPr>
            <p:cNvPr id="135" name="Google Shape;114;p4" descr=""/>
            <p:cNvPicPr/>
            <p:nvPr/>
          </p:nvPicPr>
          <p:blipFill>
            <a:blip r:embed="rId1"/>
            <a:stretch/>
          </p:blipFill>
          <p:spPr>
            <a:xfrm rot="12956400">
              <a:off x="167760" y="4075200"/>
              <a:ext cx="419760" cy="188280"/>
            </a:xfrm>
            <a:prstGeom prst="rect">
              <a:avLst/>
            </a:prstGeom>
            <a:ln w="0">
              <a:noFill/>
            </a:ln>
          </p:spPr>
        </p:pic>
        <p:pic>
          <p:nvPicPr>
            <p:cNvPr id="136" name="Google Shape;115;p4" descr=""/>
            <p:cNvPicPr/>
            <p:nvPr/>
          </p:nvPicPr>
          <p:blipFill>
            <a:blip r:embed="rId2"/>
            <a:stretch/>
          </p:blipFill>
          <p:spPr>
            <a:xfrm rot="12956400">
              <a:off x="399600" y="3973680"/>
              <a:ext cx="419760" cy="188280"/>
            </a:xfrm>
            <a:prstGeom prst="rect">
              <a:avLst/>
            </a:prstGeom>
            <a:ln w="0">
              <a:noFill/>
            </a:ln>
          </p:spPr>
        </p:pic>
        <p:pic>
          <p:nvPicPr>
            <p:cNvPr id="137" name="Google Shape;116;p4" descr=""/>
            <p:cNvPicPr/>
            <p:nvPr/>
          </p:nvPicPr>
          <p:blipFill>
            <a:blip r:embed="rId3"/>
            <a:stretch/>
          </p:blipFill>
          <p:spPr>
            <a:xfrm rot="12956400">
              <a:off x="783720" y="3980520"/>
              <a:ext cx="419760" cy="188280"/>
            </a:xfrm>
            <a:prstGeom prst="rect">
              <a:avLst/>
            </a:prstGeom>
            <a:ln w="0">
              <a:noFill/>
            </a:ln>
          </p:spPr>
        </p:pic>
        <p:pic>
          <p:nvPicPr>
            <p:cNvPr id="138" name="Google Shape;117;p4" descr=""/>
            <p:cNvPicPr/>
            <p:nvPr/>
          </p:nvPicPr>
          <p:blipFill>
            <a:blip r:embed="rId4"/>
            <a:stretch/>
          </p:blipFill>
          <p:spPr>
            <a:xfrm rot="12956400">
              <a:off x="708120" y="4209120"/>
              <a:ext cx="419760" cy="188280"/>
            </a:xfrm>
            <a:prstGeom prst="rect">
              <a:avLst/>
            </a:prstGeom>
            <a:ln w="0">
              <a:noFill/>
            </a:ln>
          </p:spPr>
        </p:pic>
        <p:pic>
          <p:nvPicPr>
            <p:cNvPr id="139" name="Google Shape;118;p4" descr=""/>
            <p:cNvPicPr/>
            <p:nvPr/>
          </p:nvPicPr>
          <p:blipFill>
            <a:blip r:embed="rId5"/>
            <a:stretch/>
          </p:blipFill>
          <p:spPr>
            <a:xfrm rot="12956400">
              <a:off x="1069920" y="4314600"/>
              <a:ext cx="419760" cy="188280"/>
            </a:xfrm>
            <a:prstGeom prst="rect">
              <a:avLst/>
            </a:prstGeom>
            <a:ln w="0">
              <a:noFill/>
            </a:ln>
          </p:spPr>
        </p:pic>
        <p:pic>
          <p:nvPicPr>
            <p:cNvPr id="140" name="Google Shape;119;p4" descr=""/>
            <p:cNvPicPr/>
            <p:nvPr/>
          </p:nvPicPr>
          <p:blipFill>
            <a:blip r:embed="rId6"/>
            <a:stretch/>
          </p:blipFill>
          <p:spPr>
            <a:xfrm rot="12956400">
              <a:off x="113400" y="4303800"/>
              <a:ext cx="419760" cy="188280"/>
            </a:xfrm>
            <a:prstGeom prst="rect">
              <a:avLst/>
            </a:prstGeom>
            <a:ln w="0">
              <a:noFill/>
            </a:ln>
          </p:spPr>
        </p:pic>
        <p:pic>
          <p:nvPicPr>
            <p:cNvPr id="141" name="Google Shape;120;p4" descr=""/>
            <p:cNvPicPr/>
            <p:nvPr/>
          </p:nvPicPr>
          <p:blipFill>
            <a:blip r:embed="rId7"/>
            <a:stretch/>
          </p:blipFill>
          <p:spPr>
            <a:xfrm rot="12956400">
              <a:off x="59040" y="4474440"/>
              <a:ext cx="419760" cy="188280"/>
            </a:xfrm>
            <a:prstGeom prst="rect">
              <a:avLst/>
            </a:prstGeom>
            <a:ln w="0">
              <a:noFill/>
            </a:ln>
          </p:spPr>
        </p:pic>
        <p:pic>
          <p:nvPicPr>
            <p:cNvPr id="142" name="Google Shape;121;p4" descr=""/>
            <p:cNvPicPr/>
            <p:nvPr/>
          </p:nvPicPr>
          <p:blipFill>
            <a:blip r:embed="rId8"/>
            <a:stretch/>
          </p:blipFill>
          <p:spPr>
            <a:xfrm rot="12956400">
              <a:off x="113400" y="4782600"/>
              <a:ext cx="419760" cy="188280"/>
            </a:xfrm>
            <a:prstGeom prst="rect">
              <a:avLst/>
            </a:prstGeom>
            <a:ln w="0">
              <a:noFill/>
            </a:ln>
          </p:spPr>
        </p:pic>
        <p:pic>
          <p:nvPicPr>
            <p:cNvPr id="143" name="Google Shape;122;p4" descr=""/>
            <p:cNvPicPr/>
            <p:nvPr/>
          </p:nvPicPr>
          <p:blipFill>
            <a:blip r:embed="rId9"/>
            <a:stretch/>
          </p:blipFill>
          <p:spPr>
            <a:xfrm rot="12956400">
              <a:off x="382320" y="4771800"/>
              <a:ext cx="419760" cy="188280"/>
            </a:xfrm>
            <a:prstGeom prst="rect">
              <a:avLst/>
            </a:prstGeom>
            <a:ln w="0">
              <a:noFill/>
            </a:ln>
          </p:spPr>
        </p:pic>
        <p:pic>
          <p:nvPicPr>
            <p:cNvPr id="144" name="Google Shape;123;p4" descr=""/>
            <p:cNvPicPr/>
            <p:nvPr/>
          </p:nvPicPr>
          <p:blipFill>
            <a:blip r:embed="rId10"/>
            <a:stretch/>
          </p:blipFill>
          <p:spPr>
            <a:xfrm rot="12956400">
              <a:off x="440280" y="4608360"/>
              <a:ext cx="419760" cy="188280"/>
            </a:xfrm>
            <a:prstGeom prst="rect">
              <a:avLst/>
            </a:prstGeom>
            <a:ln w="0">
              <a:noFill/>
            </a:ln>
          </p:spPr>
        </p:pic>
        <p:pic>
          <p:nvPicPr>
            <p:cNvPr id="145" name="Google Shape;124;p4" descr=""/>
            <p:cNvPicPr/>
            <p:nvPr/>
          </p:nvPicPr>
          <p:blipFill>
            <a:blip r:embed="rId11"/>
            <a:stretch/>
          </p:blipFill>
          <p:spPr>
            <a:xfrm rot="12956400">
              <a:off x="589320" y="4339800"/>
              <a:ext cx="419760" cy="188280"/>
            </a:xfrm>
            <a:prstGeom prst="rect">
              <a:avLst/>
            </a:prstGeom>
            <a:ln w="0">
              <a:noFill/>
            </a:ln>
          </p:spPr>
        </p:pic>
        <p:pic>
          <p:nvPicPr>
            <p:cNvPr id="146" name="Google Shape;125;p4" descr=""/>
            <p:cNvPicPr/>
            <p:nvPr/>
          </p:nvPicPr>
          <p:blipFill>
            <a:blip r:embed="rId12"/>
            <a:stretch/>
          </p:blipFill>
          <p:spPr>
            <a:xfrm rot="12956400">
              <a:off x="519840" y="4481280"/>
              <a:ext cx="419760" cy="188280"/>
            </a:xfrm>
            <a:prstGeom prst="rect">
              <a:avLst/>
            </a:prstGeom>
            <a:ln w="0">
              <a:noFill/>
            </a:ln>
          </p:spPr>
        </p:pic>
        <p:pic>
          <p:nvPicPr>
            <p:cNvPr id="147" name="Google Shape;126;p4" descr=""/>
            <p:cNvPicPr/>
            <p:nvPr/>
          </p:nvPicPr>
          <p:blipFill>
            <a:blip r:embed="rId13"/>
            <a:stretch/>
          </p:blipFill>
          <p:spPr>
            <a:xfrm rot="12956400">
              <a:off x="1001520" y="4514040"/>
              <a:ext cx="419760" cy="188280"/>
            </a:xfrm>
            <a:prstGeom prst="rect">
              <a:avLst/>
            </a:prstGeom>
            <a:ln w="0">
              <a:noFill/>
            </a:ln>
          </p:spPr>
        </p:pic>
        <p:pic>
          <p:nvPicPr>
            <p:cNvPr id="148" name="Google Shape;127;p4" descr=""/>
            <p:cNvPicPr/>
            <p:nvPr/>
          </p:nvPicPr>
          <p:blipFill>
            <a:blip r:embed="rId14"/>
            <a:stretch/>
          </p:blipFill>
          <p:spPr>
            <a:xfrm rot="12956400">
              <a:off x="925200" y="4648320"/>
              <a:ext cx="419760" cy="188280"/>
            </a:xfrm>
            <a:prstGeom prst="rect">
              <a:avLst/>
            </a:prstGeom>
            <a:ln w="0">
              <a:noFill/>
            </a:ln>
          </p:spPr>
        </p:pic>
        <p:pic>
          <p:nvPicPr>
            <p:cNvPr id="149" name="Google Shape;128;p4" descr=""/>
            <p:cNvPicPr/>
            <p:nvPr/>
          </p:nvPicPr>
          <p:blipFill>
            <a:blip r:embed="rId15"/>
            <a:stretch/>
          </p:blipFill>
          <p:spPr>
            <a:xfrm rot="12956400">
              <a:off x="817920" y="4797000"/>
              <a:ext cx="419760" cy="188280"/>
            </a:xfrm>
            <a:prstGeom prst="rect">
              <a:avLst/>
            </a:prstGeom>
            <a:ln w="0">
              <a:noFill/>
            </a:ln>
          </p:spPr>
        </p:pic>
        <p:pic>
          <p:nvPicPr>
            <p:cNvPr id="150" name="Google Shape;129;p4" descr=""/>
            <p:cNvPicPr/>
            <p:nvPr/>
          </p:nvPicPr>
          <p:blipFill>
            <a:blip r:embed="rId16"/>
            <a:stretch/>
          </p:blipFill>
          <p:spPr>
            <a:xfrm rot="12956400">
              <a:off x="707400" y="4912920"/>
              <a:ext cx="419760" cy="225360"/>
            </a:xfrm>
            <a:prstGeom prst="rect">
              <a:avLst/>
            </a:prstGeom>
            <a:ln w="0">
              <a:noFill/>
            </a:ln>
          </p:spPr>
        </p:pic>
      </p:grpSp>
      <p:sp>
        <p:nvSpPr>
          <p:cNvPr id="151" name="Google Shape;130;p4"/>
          <p:cNvSpPr/>
          <p:nvPr/>
        </p:nvSpPr>
        <p:spPr>
          <a:xfrm>
            <a:off x="32760" y="1621800"/>
            <a:ext cx="1392840" cy="1817640"/>
          </a:xfrm>
          <a:prstGeom prst="rect">
            <a:avLst/>
          </a:prstGeom>
          <a:solidFill>
            <a:schemeClr val="lt1"/>
          </a:solidFill>
          <a:ln w="25400">
            <a:solidFill>
              <a:srgbClr val="f79646"/>
            </a:solidFill>
            <a:round/>
          </a:ln>
        </p:spPr>
        <p:style>
          <a:lnRef idx="0"/>
          <a:fillRef idx="0"/>
          <a:effectRef idx="0"/>
          <a:fontRef idx="minor"/>
        </p:style>
      </p:sp>
      <p:grpSp>
        <p:nvGrpSpPr>
          <p:cNvPr id="152" name="Google Shape;131;p4"/>
          <p:cNvGrpSpPr/>
          <p:nvPr/>
        </p:nvGrpSpPr>
        <p:grpSpPr>
          <a:xfrm>
            <a:off x="32760" y="5405760"/>
            <a:ext cx="1411560" cy="1288440"/>
            <a:chOff x="32760" y="5405760"/>
            <a:chExt cx="1411560" cy="1288440"/>
          </a:xfrm>
        </p:grpSpPr>
        <p:sp>
          <p:nvSpPr>
            <p:cNvPr id="153" name="Google Shape;132;p4"/>
            <p:cNvSpPr/>
            <p:nvPr/>
          </p:nvSpPr>
          <p:spPr>
            <a:xfrm>
              <a:off x="32760" y="5421240"/>
              <a:ext cx="1411560" cy="1272960"/>
            </a:xfrm>
            <a:prstGeom prst="rect">
              <a:avLst/>
            </a:prstGeom>
            <a:solidFill>
              <a:schemeClr val="lt1"/>
            </a:solidFill>
            <a:ln w="25400">
              <a:solidFill>
                <a:srgbClr val="f79646"/>
              </a:solidFill>
              <a:round/>
            </a:ln>
          </p:spPr>
          <p:style>
            <a:lnRef idx="0"/>
            <a:fillRef idx="0"/>
            <a:effectRef idx="0"/>
            <a:fontRef idx="minor"/>
          </p:style>
        </p:sp>
        <p:pic>
          <p:nvPicPr>
            <p:cNvPr id="154" name="Google Shape;133;p4" descr="Icon&#10;&#10;Description automatically generated"/>
            <p:cNvPicPr/>
            <p:nvPr/>
          </p:nvPicPr>
          <p:blipFill>
            <a:blip r:embed="rId17"/>
            <a:srcRect l="18399" t="8546" r="16041" b="13934"/>
            <a:stretch/>
          </p:blipFill>
          <p:spPr>
            <a:xfrm>
              <a:off x="55440" y="5405760"/>
              <a:ext cx="533160" cy="649080"/>
            </a:xfrm>
            <a:prstGeom prst="rect">
              <a:avLst/>
            </a:prstGeom>
            <a:ln w="0">
              <a:noFill/>
            </a:ln>
          </p:spPr>
        </p:pic>
        <p:pic>
          <p:nvPicPr>
            <p:cNvPr id="155" name="Google Shape;134;p4" descr="Storytelling with solid fill"/>
            <p:cNvPicPr/>
            <p:nvPr/>
          </p:nvPicPr>
          <p:blipFill>
            <a:blip r:embed="rId18"/>
            <a:stretch/>
          </p:blipFill>
          <p:spPr>
            <a:xfrm>
              <a:off x="102600" y="6121440"/>
              <a:ext cx="533160" cy="533160"/>
            </a:xfrm>
            <a:prstGeom prst="rect">
              <a:avLst/>
            </a:prstGeom>
            <a:ln w="0">
              <a:noFill/>
            </a:ln>
          </p:spPr>
        </p:pic>
        <p:sp>
          <p:nvSpPr>
            <p:cNvPr id="156" name="Google Shape;135;p4"/>
            <p:cNvSpPr/>
            <p:nvPr/>
          </p:nvSpPr>
          <p:spPr>
            <a:xfrm>
              <a:off x="844560" y="6120360"/>
              <a:ext cx="68760" cy="82080"/>
            </a:xfrm>
            <a:custGeom>
              <a:avLst/>
              <a:gdLst/>
              <a:ahLst/>
              <a:rect l="l" t="t" r="r" b="b"/>
              <a:pathLst>
                <a:path w="321468" h="321468">
                  <a:moveTo>
                    <a:pt x="321469" y="160734"/>
                  </a:moveTo>
                  <a:cubicBezTo>
                    <a:pt x="321469" y="249506"/>
                    <a:pt x="249505" y="321469"/>
                    <a:pt x="160734" y="321469"/>
                  </a:cubicBezTo>
                  <a:cubicBezTo>
                    <a:pt x="71963" y="321469"/>
                    <a:pt x="0" y="249506"/>
                    <a:pt x="0" y="160734"/>
                  </a:cubicBezTo>
                  <a:cubicBezTo>
                    <a:pt x="0" y="71963"/>
                    <a:pt x="71963" y="0"/>
                    <a:pt x="160734" y="0"/>
                  </a:cubicBezTo>
                  <a:cubicBezTo>
                    <a:pt x="249505" y="0"/>
                    <a:pt x="321469" y="71963"/>
                    <a:pt x="321469" y="160734"/>
                  </a:cubicBezTo>
                  <a:close/>
                </a:path>
              </a:pathLst>
            </a:custGeom>
            <a:solidFill>
              <a:srgbClr val="e6e6e6"/>
            </a:solidFill>
            <a:ln w="9525">
              <a:solidFill>
                <a:srgbClr val="000000"/>
              </a:solidFill>
              <a:miter/>
            </a:ln>
          </p:spPr>
          <p:style>
            <a:lnRef idx="0"/>
            <a:fillRef idx="0"/>
            <a:effectRef idx="0"/>
            <a:fontRef idx="minor"/>
          </p:style>
        </p:sp>
        <p:sp>
          <p:nvSpPr>
            <p:cNvPr id="157" name="Google Shape;136;p4"/>
            <p:cNvSpPr/>
            <p:nvPr/>
          </p:nvSpPr>
          <p:spPr>
            <a:xfrm>
              <a:off x="927360" y="6125040"/>
              <a:ext cx="42480" cy="51120"/>
            </a:xfrm>
            <a:custGeom>
              <a:avLst/>
              <a:gdLst/>
              <a:ahLst/>
              <a:rect l="l" t="t" r="r" b="b"/>
              <a:pathLst>
                <a:path w="200025" h="200025">
                  <a:moveTo>
                    <a:pt x="200025" y="100012"/>
                  </a:moveTo>
                  <a:cubicBezTo>
                    <a:pt x="200025" y="155248"/>
                    <a:pt x="155248" y="200025"/>
                    <a:pt x="100013" y="200025"/>
                  </a:cubicBezTo>
                  <a:cubicBezTo>
                    <a:pt x="44777" y="200025"/>
                    <a:pt x="0" y="155248"/>
                    <a:pt x="0" y="100013"/>
                  </a:cubicBezTo>
                  <a:cubicBezTo>
                    <a:pt x="0" y="44777"/>
                    <a:pt x="44777" y="0"/>
                    <a:pt x="100013" y="0"/>
                  </a:cubicBezTo>
                  <a:cubicBezTo>
                    <a:pt x="155248" y="0"/>
                    <a:pt x="200025" y="44777"/>
                    <a:pt x="200025" y="100012"/>
                  </a:cubicBezTo>
                  <a:close/>
                </a:path>
              </a:pathLst>
            </a:custGeom>
            <a:solidFill>
              <a:srgbClr val="e6e6e6"/>
            </a:solidFill>
            <a:ln w="9525">
              <a:solidFill>
                <a:srgbClr val="000000"/>
              </a:solidFill>
              <a:miter/>
            </a:ln>
          </p:spPr>
          <p:style>
            <a:lnRef idx="0"/>
            <a:fillRef idx="0"/>
            <a:effectRef idx="0"/>
            <a:fontRef idx="minor"/>
          </p:style>
        </p:sp>
        <p:grpSp>
          <p:nvGrpSpPr>
            <p:cNvPr id="158" name="Google Shape;137;p4"/>
            <p:cNvGrpSpPr/>
            <p:nvPr/>
          </p:nvGrpSpPr>
          <p:grpSpPr>
            <a:xfrm>
              <a:off x="794520" y="6222960"/>
              <a:ext cx="212760" cy="431280"/>
              <a:chOff x="794520" y="6222960"/>
              <a:chExt cx="212760" cy="431280"/>
            </a:xfrm>
          </p:grpSpPr>
          <p:sp>
            <p:nvSpPr>
              <p:cNvPr id="159" name="Google Shape;138;p4"/>
              <p:cNvSpPr/>
              <p:nvPr/>
            </p:nvSpPr>
            <p:spPr>
              <a:xfrm>
                <a:off x="794520" y="6500880"/>
                <a:ext cx="212760" cy="153360"/>
              </a:xfrm>
              <a:custGeom>
                <a:avLst/>
                <a:gdLst/>
                <a:ahLst/>
                <a:rect l="l" t="t" r="r" b="b"/>
                <a:pathLst>
                  <a:path w="991480" h="599117">
                    <a:moveTo>
                      <a:pt x="987143" y="421589"/>
                    </a:moveTo>
                    <a:lnTo>
                      <a:pt x="859256" y="56100"/>
                    </a:lnTo>
                    <a:cubicBezTo>
                      <a:pt x="859256" y="56100"/>
                      <a:pt x="691478" y="0"/>
                      <a:pt x="495739" y="0"/>
                    </a:cubicBezTo>
                    <a:cubicBezTo>
                      <a:pt x="300000" y="0"/>
                      <a:pt x="132222" y="56100"/>
                      <a:pt x="132222" y="56100"/>
                    </a:cubicBezTo>
                    <a:lnTo>
                      <a:pt x="4335" y="421589"/>
                    </a:lnTo>
                    <a:cubicBezTo>
                      <a:pt x="-18204" y="511764"/>
                      <a:pt x="49997" y="599118"/>
                      <a:pt x="142952" y="599118"/>
                    </a:cubicBezTo>
                    <a:lnTo>
                      <a:pt x="848540" y="599118"/>
                    </a:lnTo>
                    <a:cubicBezTo>
                      <a:pt x="941488" y="599118"/>
                      <a:pt x="1009689" y="511764"/>
                      <a:pt x="987143" y="421589"/>
                    </a:cubicBezTo>
                    <a:close/>
                  </a:path>
                </a:pathLst>
              </a:custGeom>
              <a:solidFill>
                <a:schemeClr val="dk1"/>
              </a:solidFill>
              <a:ln w="9525">
                <a:solidFill>
                  <a:srgbClr val="000000"/>
                </a:solidFill>
                <a:miter/>
              </a:ln>
            </p:spPr>
            <p:style>
              <a:lnRef idx="0"/>
              <a:fillRef idx="0"/>
              <a:effectRef idx="0"/>
              <a:fontRef idx="minor"/>
            </p:style>
          </p:sp>
          <p:sp>
            <p:nvSpPr>
              <p:cNvPr id="160" name="Google Shape;139;p4"/>
              <p:cNvSpPr/>
              <p:nvPr/>
            </p:nvSpPr>
            <p:spPr>
              <a:xfrm>
                <a:off x="822960" y="6246720"/>
                <a:ext cx="155880" cy="268200"/>
              </a:xfrm>
              <a:custGeom>
                <a:avLst/>
                <a:gdLst/>
                <a:ahLst/>
                <a:rect l="l" t="t" r="r" b="b"/>
                <a:pathLst>
                  <a:path w="727040" h="1047009">
                    <a:moveTo>
                      <a:pt x="542118" y="518465"/>
                    </a:moveTo>
                    <a:lnTo>
                      <a:pt x="542118" y="0"/>
                    </a:lnTo>
                    <a:lnTo>
                      <a:pt x="184930" y="0"/>
                    </a:lnTo>
                    <a:lnTo>
                      <a:pt x="184930" y="518465"/>
                    </a:lnTo>
                    <a:lnTo>
                      <a:pt x="0" y="1047009"/>
                    </a:lnTo>
                    <a:lnTo>
                      <a:pt x="727041" y="1047009"/>
                    </a:lnTo>
                    <a:close/>
                  </a:path>
                </a:pathLst>
              </a:custGeom>
              <a:solidFill>
                <a:srgbClr val="e4e4e4"/>
              </a:solidFill>
              <a:ln w="9525">
                <a:solidFill>
                  <a:srgbClr val="000000"/>
                </a:solidFill>
                <a:miter/>
              </a:ln>
            </p:spPr>
            <p:style>
              <a:lnRef idx="0"/>
              <a:fillRef idx="0"/>
              <a:effectRef idx="0"/>
              <a:fontRef idx="minor"/>
            </p:style>
          </p:sp>
          <p:sp>
            <p:nvSpPr>
              <p:cNvPr id="161" name="Google Shape;140;p4"/>
              <p:cNvSpPr/>
              <p:nvPr/>
            </p:nvSpPr>
            <p:spPr>
              <a:xfrm>
                <a:off x="955080" y="6547320"/>
                <a:ext cx="15120" cy="18000"/>
              </a:xfrm>
              <a:custGeom>
                <a:avLst/>
                <a:gdLst/>
                <a:ahLst/>
                <a:rect l="l" t="t" r="r" b="b"/>
                <a:pathLst>
                  <a:path w="71437" h="71437">
                    <a:moveTo>
                      <a:pt x="71437" y="35719"/>
                    </a:moveTo>
                    <a:cubicBezTo>
                      <a:pt x="71437" y="55446"/>
                      <a:pt x="55445" y="71438"/>
                      <a:pt x="35719" y="71438"/>
                    </a:cubicBezTo>
                    <a:cubicBezTo>
                      <a:pt x="15992" y="71438"/>
                      <a:pt x="0" y="55446"/>
                      <a:pt x="0" y="35719"/>
                    </a:cubicBezTo>
                    <a:cubicBezTo>
                      <a:pt x="0" y="15992"/>
                      <a:pt x="15992" y="0"/>
                      <a:pt x="35719" y="0"/>
                    </a:cubicBezTo>
                    <a:cubicBezTo>
                      <a:pt x="55445" y="0"/>
                      <a:pt x="71437" y="15992"/>
                      <a:pt x="71437" y="35719"/>
                    </a:cubicBezTo>
                    <a:close/>
                  </a:path>
                </a:pathLst>
              </a:custGeom>
              <a:solidFill>
                <a:srgbClr val="ffffff"/>
              </a:solidFill>
              <a:ln w="9525">
                <a:solidFill>
                  <a:srgbClr val="000000"/>
                </a:solidFill>
                <a:miter/>
              </a:ln>
            </p:spPr>
            <p:style>
              <a:lnRef idx="0"/>
              <a:fillRef idx="0"/>
              <a:effectRef idx="0"/>
              <a:fontRef idx="minor"/>
            </p:style>
          </p:sp>
          <p:sp>
            <p:nvSpPr>
              <p:cNvPr id="162" name="Google Shape;141;p4"/>
              <p:cNvSpPr/>
              <p:nvPr/>
            </p:nvSpPr>
            <p:spPr>
              <a:xfrm>
                <a:off x="932040" y="6575040"/>
                <a:ext cx="22680" cy="27000"/>
              </a:xfrm>
              <a:custGeom>
                <a:avLst/>
                <a:gdLst/>
                <a:ahLst/>
                <a:rect l="l" t="t" r="r" b="b"/>
                <a:pathLst>
                  <a:path w="107156" h="107156">
                    <a:moveTo>
                      <a:pt x="107156" y="53578"/>
                    </a:moveTo>
                    <a:cubicBezTo>
                      <a:pt x="107156" y="83169"/>
                      <a:pt x="83168" y="107156"/>
                      <a:pt x="53578" y="107156"/>
                    </a:cubicBezTo>
                    <a:cubicBezTo>
                      <a:pt x="23987" y="107156"/>
                      <a:pt x="0" y="83169"/>
                      <a:pt x="0" y="53578"/>
                    </a:cubicBezTo>
                    <a:cubicBezTo>
                      <a:pt x="0" y="23988"/>
                      <a:pt x="23987" y="0"/>
                      <a:pt x="53578" y="0"/>
                    </a:cubicBezTo>
                    <a:cubicBezTo>
                      <a:pt x="83168" y="0"/>
                      <a:pt x="107156" y="23988"/>
                      <a:pt x="107156" y="53578"/>
                    </a:cubicBezTo>
                    <a:close/>
                  </a:path>
                </a:pathLst>
              </a:custGeom>
              <a:solidFill>
                <a:srgbClr val="ffffff"/>
              </a:solidFill>
              <a:ln w="9525">
                <a:solidFill>
                  <a:srgbClr val="000000"/>
                </a:solidFill>
                <a:miter/>
              </a:ln>
            </p:spPr>
            <p:style>
              <a:lnRef idx="0"/>
              <a:fillRef idx="0"/>
              <a:effectRef idx="0"/>
              <a:fontRef idx="minor"/>
            </p:style>
          </p:sp>
          <p:sp>
            <p:nvSpPr>
              <p:cNvPr id="163" name="Google Shape;142;p4"/>
              <p:cNvSpPr/>
              <p:nvPr/>
            </p:nvSpPr>
            <p:spPr>
              <a:xfrm>
                <a:off x="879840" y="6222960"/>
                <a:ext cx="41760" cy="114120"/>
              </a:xfrm>
              <a:custGeom>
                <a:avLst/>
                <a:gdLst/>
                <a:ahLst/>
                <a:rect l="l" t="t" r="r" b="b"/>
                <a:pathLst>
                  <a:path w="196453" h="446527">
                    <a:moveTo>
                      <a:pt x="0" y="0"/>
                    </a:moveTo>
                    <a:lnTo>
                      <a:pt x="196453" y="0"/>
                    </a:lnTo>
                    <a:lnTo>
                      <a:pt x="196453" y="446527"/>
                    </a:lnTo>
                    <a:lnTo>
                      <a:pt x="0" y="446527"/>
                    </a:lnTo>
                    <a:close/>
                  </a:path>
                </a:pathLst>
              </a:custGeom>
              <a:solidFill>
                <a:srgbClr val="c4c4c4"/>
              </a:solidFill>
              <a:ln w="9525">
                <a:solidFill>
                  <a:srgbClr val="000000"/>
                </a:solidFill>
                <a:miter/>
              </a:ln>
            </p:spPr>
            <p:style>
              <a:lnRef idx="0"/>
              <a:fillRef idx="0"/>
              <a:effectRef idx="0"/>
              <a:fontRef idx="minor"/>
            </p:style>
          </p:sp>
          <p:sp>
            <p:nvSpPr>
              <p:cNvPr id="164" name="Google Shape;143;p4"/>
              <p:cNvSpPr/>
              <p:nvPr/>
            </p:nvSpPr>
            <p:spPr>
              <a:xfrm>
                <a:off x="853200" y="6240240"/>
                <a:ext cx="95760" cy="18000"/>
              </a:xfrm>
              <a:custGeom>
                <a:avLst/>
                <a:gdLst/>
                <a:ahLst/>
                <a:rect l="l" t="t" r="r" b="b"/>
                <a:pathLst>
                  <a:path w="446484" h="71437">
                    <a:moveTo>
                      <a:pt x="417909" y="71438"/>
                    </a:moveTo>
                    <a:lnTo>
                      <a:pt x="28575" y="71438"/>
                    </a:lnTo>
                    <a:cubicBezTo>
                      <a:pt x="12794" y="71438"/>
                      <a:pt x="0" y="58643"/>
                      <a:pt x="0" y="42863"/>
                    </a:cubicBezTo>
                    <a:lnTo>
                      <a:pt x="0" y="28575"/>
                    </a:lnTo>
                    <a:cubicBezTo>
                      <a:pt x="0" y="12795"/>
                      <a:pt x="12794" y="0"/>
                      <a:pt x="28575" y="0"/>
                    </a:cubicBezTo>
                    <a:lnTo>
                      <a:pt x="417909" y="0"/>
                    </a:lnTo>
                    <a:cubicBezTo>
                      <a:pt x="433690" y="0"/>
                      <a:pt x="446484" y="12795"/>
                      <a:pt x="446484" y="28575"/>
                    </a:cubicBezTo>
                    <a:lnTo>
                      <a:pt x="446484" y="42863"/>
                    </a:lnTo>
                    <a:cubicBezTo>
                      <a:pt x="446484" y="58643"/>
                      <a:pt x="433690" y="71438"/>
                      <a:pt x="417909" y="71438"/>
                    </a:cubicBezTo>
                    <a:close/>
                  </a:path>
                </a:pathLst>
              </a:custGeom>
              <a:solidFill>
                <a:srgbClr val="e4e4e4"/>
              </a:solidFill>
              <a:ln w="9525">
                <a:solidFill>
                  <a:srgbClr val="000000"/>
                </a:solidFill>
                <a:miter/>
              </a:ln>
            </p:spPr>
            <p:style>
              <a:lnRef idx="0"/>
              <a:fillRef idx="0"/>
              <a:effectRef idx="0"/>
              <a:fontRef idx="minor"/>
            </p:style>
          </p:sp>
        </p:grpSp>
        <p:grpSp>
          <p:nvGrpSpPr>
            <p:cNvPr id="165" name="Google Shape;144;p4"/>
            <p:cNvGrpSpPr/>
            <p:nvPr/>
          </p:nvGrpSpPr>
          <p:grpSpPr>
            <a:xfrm>
              <a:off x="748080" y="5543640"/>
              <a:ext cx="419760" cy="476640"/>
              <a:chOff x="748080" y="5543640"/>
              <a:chExt cx="419760" cy="476640"/>
            </a:xfrm>
          </p:grpSpPr>
          <p:sp>
            <p:nvSpPr>
              <p:cNvPr id="166" name="Google Shape;145;p4"/>
              <p:cNvSpPr/>
              <p:nvPr/>
            </p:nvSpPr>
            <p:spPr>
              <a:xfrm>
                <a:off x="748080" y="5852520"/>
                <a:ext cx="337680" cy="167760"/>
              </a:xfrm>
              <a:custGeom>
                <a:avLst/>
                <a:gdLst/>
                <a:ahLst/>
                <a:rect l="l" t="t" r="r" b="b"/>
                <a:pathLst>
                  <a:path w="1071562" h="591981">
                    <a:moveTo>
                      <a:pt x="64" y="53992"/>
                    </a:moveTo>
                    <a:cubicBezTo>
                      <a:pt x="50" y="54735"/>
                      <a:pt x="0" y="55457"/>
                      <a:pt x="0" y="56200"/>
                    </a:cubicBezTo>
                    <a:lnTo>
                      <a:pt x="0" y="56200"/>
                    </a:lnTo>
                    <a:cubicBezTo>
                      <a:pt x="0" y="352101"/>
                      <a:pt x="239880" y="591981"/>
                      <a:pt x="535781" y="591981"/>
                    </a:cubicBezTo>
                    <a:lnTo>
                      <a:pt x="535781" y="591981"/>
                    </a:lnTo>
                    <a:cubicBezTo>
                      <a:pt x="831690" y="591981"/>
                      <a:pt x="1071563" y="352101"/>
                      <a:pt x="1071563" y="56200"/>
                    </a:cubicBezTo>
                    <a:lnTo>
                      <a:pt x="1071563" y="56200"/>
                    </a:lnTo>
                    <a:cubicBezTo>
                      <a:pt x="1071563" y="55457"/>
                      <a:pt x="1071512" y="54735"/>
                      <a:pt x="1071512" y="53992"/>
                    </a:cubicBezTo>
                    <a:cubicBezTo>
                      <a:pt x="1071512" y="53992"/>
                      <a:pt x="767717" y="0"/>
                      <a:pt x="535781" y="0"/>
                    </a:cubicBezTo>
                    <a:cubicBezTo>
                      <a:pt x="303845" y="0"/>
                      <a:pt x="64" y="53992"/>
                      <a:pt x="64" y="53992"/>
                    </a:cubicBezTo>
                    <a:close/>
                  </a:path>
                </a:pathLst>
              </a:custGeom>
              <a:solidFill>
                <a:srgbClr val="c4c4c4"/>
              </a:solidFill>
              <a:ln w="9525">
                <a:solidFill>
                  <a:srgbClr val="000000"/>
                </a:solidFill>
                <a:miter/>
              </a:ln>
            </p:spPr>
            <p:style>
              <a:lnRef idx="0"/>
              <a:fillRef idx="0"/>
              <a:effectRef idx="0"/>
              <a:fontRef idx="minor"/>
            </p:style>
          </p:sp>
          <p:sp>
            <p:nvSpPr>
              <p:cNvPr id="167" name="Google Shape;146;p4"/>
              <p:cNvSpPr/>
              <p:nvPr/>
            </p:nvSpPr>
            <p:spPr>
              <a:xfrm>
                <a:off x="748080" y="5568840"/>
                <a:ext cx="396720" cy="298440"/>
              </a:xfrm>
              <a:custGeom>
                <a:avLst/>
                <a:gdLst/>
                <a:ahLst/>
                <a:rect l="l" t="t" r="r" b="b"/>
                <a:pathLst>
                  <a:path w="1258077" h="1052038">
                    <a:moveTo>
                      <a:pt x="1224489" y="443705"/>
                    </a:moveTo>
                    <a:lnTo>
                      <a:pt x="1197243" y="416459"/>
                    </a:lnTo>
                    <a:cubicBezTo>
                      <a:pt x="1152459" y="371675"/>
                      <a:pt x="1079850" y="371675"/>
                      <a:pt x="1035065" y="416459"/>
                    </a:cubicBezTo>
                    <a:lnTo>
                      <a:pt x="838898" y="612619"/>
                    </a:lnTo>
                    <a:cubicBezTo>
                      <a:pt x="800650" y="586316"/>
                      <a:pt x="758845" y="564821"/>
                      <a:pt x="714311" y="549069"/>
                    </a:cubicBezTo>
                    <a:lnTo>
                      <a:pt x="714311" y="0"/>
                    </a:lnTo>
                    <a:lnTo>
                      <a:pt x="357123" y="0"/>
                    </a:lnTo>
                    <a:lnTo>
                      <a:pt x="357123" y="549069"/>
                    </a:lnTo>
                    <a:cubicBezTo>
                      <a:pt x="149733" y="622406"/>
                      <a:pt x="936" y="819738"/>
                      <a:pt x="0" y="1052038"/>
                    </a:cubicBezTo>
                    <a:lnTo>
                      <a:pt x="1071448" y="1052038"/>
                    </a:lnTo>
                    <a:cubicBezTo>
                      <a:pt x="1071106" y="966921"/>
                      <a:pt x="1050839" y="886539"/>
                      <a:pt x="1015184" y="815188"/>
                    </a:cubicBezTo>
                    <a:lnTo>
                      <a:pt x="1224489" y="605883"/>
                    </a:lnTo>
                    <a:cubicBezTo>
                      <a:pt x="1269273" y="561099"/>
                      <a:pt x="1269273" y="488490"/>
                      <a:pt x="1224489" y="443705"/>
                    </a:cubicBezTo>
                    <a:close/>
                  </a:path>
                </a:pathLst>
              </a:custGeom>
              <a:solidFill>
                <a:srgbClr val="e4e4e4"/>
              </a:solidFill>
              <a:ln w="9525">
                <a:solidFill>
                  <a:srgbClr val="000000"/>
                </a:solidFill>
                <a:miter/>
              </a:ln>
            </p:spPr>
            <p:style>
              <a:lnRef idx="0"/>
              <a:fillRef idx="0"/>
              <a:effectRef idx="0"/>
              <a:fontRef idx="minor"/>
            </p:style>
          </p:sp>
          <p:sp>
            <p:nvSpPr>
              <p:cNvPr id="168" name="Google Shape;147;p4"/>
              <p:cNvSpPr/>
              <p:nvPr/>
            </p:nvSpPr>
            <p:spPr>
              <a:xfrm rot="2700000">
                <a:off x="1090800" y="5648760"/>
                <a:ext cx="41400" cy="116280"/>
              </a:xfrm>
              <a:custGeom>
                <a:avLst/>
                <a:gdLst/>
                <a:ahLst/>
                <a:rect l="l" t="t" r="r" b="b"/>
                <a:pathLst>
                  <a:path w="147338" h="369678">
                    <a:moveTo>
                      <a:pt x="0" y="0"/>
                    </a:moveTo>
                    <a:lnTo>
                      <a:pt x="147338" y="0"/>
                    </a:lnTo>
                    <a:lnTo>
                      <a:pt x="147338" y="369678"/>
                    </a:lnTo>
                    <a:lnTo>
                      <a:pt x="0" y="369678"/>
                    </a:lnTo>
                    <a:close/>
                  </a:path>
                </a:pathLst>
              </a:custGeom>
              <a:solidFill>
                <a:srgbClr val="c4c4c4"/>
              </a:solidFill>
              <a:ln w="9525">
                <a:solidFill>
                  <a:srgbClr val="000000"/>
                </a:solidFill>
                <a:miter/>
              </a:ln>
            </p:spPr>
            <p:style>
              <a:lnRef idx="0"/>
              <a:fillRef idx="0"/>
              <a:effectRef idx="0"/>
              <a:fontRef idx="minor"/>
            </p:style>
          </p:sp>
          <p:sp>
            <p:nvSpPr>
              <p:cNvPr id="169" name="Google Shape;148;p4"/>
              <p:cNvSpPr/>
              <p:nvPr/>
            </p:nvSpPr>
            <p:spPr>
              <a:xfrm>
                <a:off x="1087200" y="5657040"/>
                <a:ext cx="80640" cy="72720"/>
              </a:xfrm>
              <a:custGeom>
                <a:avLst/>
                <a:gdLst/>
                <a:ahLst/>
                <a:rect l="l" t="t" r="r" b="b"/>
                <a:pathLst>
                  <a:path w="256925" h="256919">
                    <a:moveTo>
                      <a:pt x="212755" y="250645"/>
                    </a:moveTo>
                    <a:lnTo>
                      <a:pt x="6279" y="44170"/>
                    </a:lnTo>
                    <a:cubicBezTo>
                      <a:pt x="-2093" y="35797"/>
                      <a:pt x="-2093" y="22231"/>
                      <a:pt x="6279" y="13859"/>
                    </a:cubicBezTo>
                    <a:lnTo>
                      <a:pt x="13859" y="6279"/>
                    </a:lnTo>
                    <a:cubicBezTo>
                      <a:pt x="22232" y="-2093"/>
                      <a:pt x="35797" y="-2093"/>
                      <a:pt x="44170" y="6279"/>
                    </a:cubicBezTo>
                    <a:lnTo>
                      <a:pt x="250646" y="212755"/>
                    </a:lnTo>
                    <a:cubicBezTo>
                      <a:pt x="259018" y="221128"/>
                      <a:pt x="259018" y="234694"/>
                      <a:pt x="250646" y="243066"/>
                    </a:cubicBezTo>
                    <a:lnTo>
                      <a:pt x="243066" y="250645"/>
                    </a:lnTo>
                    <a:cubicBezTo>
                      <a:pt x="234694" y="259011"/>
                      <a:pt x="221121" y="259011"/>
                      <a:pt x="212755" y="250645"/>
                    </a:cubicBezTo>
                    <a:close/>
                  </a:path>
                </a:pathLst>
              </a:custGeom>
              <a:solidFill>
                <a:srgbClr val="e4e4e4"/>
              </a:solidFill>
              <a:ln w="9525">
                <a:solidFill>
                  <a:srgbClr val="000000"/>
                </a:solidFill>
                <a:miter/>
              </a:ln>
            </p:spPr>
            <p:style>
              <a:lnRef idx="0"/>
              <a:fillRef idx="0"/>
              <a:effectRef idx="0"/>
              <a:fontRef idx="minor"/>
            </p:style>
          </p:sp>
          <p:sp>
            <p:nvSpPr>
              <p:cNvPr id="170" name="Google Shape;149;p4"/>
              <p:cNvSpPr/>
              <p:nvPr/>
            </p:nvSpPr>
            <p:spPr>
              <a:xfrm>
                <a:off x="867600" y="5887800"/>
                <a:ext cx="22320" cy="19800"/>
              </a:xfrm>
              <a:custGeom>
                <a:avLst/>
                <a:gdLst/>
                <a:ahLst/>
                <a:rect l="l" t="t" r="r" b="b"/>
                <a:pathLst>
                  <a:path w="71437" h="71437">
                    <a:moveTo>
                      <a:pt x="71438" y="35719"/>
                    </a:moveTo>
                    <a:cubicBezTo>
                      <a:pt x="71438" y="55446"/>
                      <a:pt x="55446" y="71438"/>
                      <a:pt x="35719" y="71438"/>
                    </a:cubicBezTo>
                    <a:cubicBezTo>
                      <a:pt x="15992" y="71438"/>
                      <a:pt x="0" y="55446"/>
                      <a:pt x="0" y="35719"/>
                    </a:cubicBezTo>
                    <a:cubicBezTo>
                      <a:pt x="0" y="15992"/>
                      <a:pt x="15992" y="0"/>
                      <a:pt x="35719" y="0"/>
                    </a:cubicBezTo>
                    <a:cubicBezTo>
                      <a:pt x="55446" y="0"/>
                      <a:pt x="71438" y="15992"/>
                      <a:pt x="71438" y="35719"/>
                    </a:cubicBezTo>
                    <a:close/>
                  </a:path>
                </a:pathLst>
              </a:custGeom>
              <a:solidFill>
                <a:srgbClr val="ffffff"/>
              </a:solidFill>
              <a:ln w="9525">
                <a:solidFill>
                  <a:srgbClr val="000000"/>
                </a:solidFill>
                <a:miter/>
              </a:ln>
            </p:spPr>
            <p:style>
              <a:lnRef idx="0"/>
              <a:fillRef idx="0"/>
              <a:effectRef idx="0"/>
              <a:fontRef idx="minor"/>
            </p:style>
          </p:sp>
          <p:sp>
            <p:nvSpPr>
              <p:cNvPr id="171" name="Google Shape;150;p4"/>
              <p:cNvSpPr/>
              <p:nvPr/>
            </p:nvSpPr>
            <p:spPr>
              <a:xfrm>
                <a:off x="841680" y="5939280"/>
                <a:ext cx="27720" cy="24840"/>
              </a:xfrm>
              <a:custGeom>
                <a:avLst/>
                <a:gdLst/>
                <a:ahLst/>
                <a:rect l="l" t="t" r="r" b="b"/>
                <a:pathLst>
                  <a:path w="89296" h="89296">
                    <a:moveTo>
                      <a:pt x="89297" y="44648"/>
                    </a:moveTo>
                    <a:cubicBezTo>
                      <a:pt x="89297" y="69307"/>
                      <a:pt x="69307" y="89297"/>
                      <a:pt x="44648" y="89297"/>
                    </a:cubicBezTo>
                    <a:cubicBezTo>
                      <a:pt x="19990" y="89297"/>
                      <a:pt x="0" y="69307"/>
                      <a:pt x="0" y="44648"/>
                    </a:cubicBezTo>
                    <a:cubicBezTo>
                      <a:pt x="0" y="19990"/>
                      <a:pt x="19990" y="0"/>
                      <a:pt x="44648" y="0"/>
                    </a:cubicBezTo>
                    <a:cubicBezTo>
                      <a:pt x="69307" y="0"/>
                      <a:pt x="89297" y="19990"/>
                      <a:pt x="89297" y="44648"/>
                    </a:cubicBezTo>
                    <a:close/>
                  </a:path>
                </a:pathLst>
              </a:custGeom>
              <a:solidFill>
                <a:srgbClr val="ffffff"/>
              </a:solidFill>
              <a:ln w="9525">
                <a:solidFill>
                  <a:srgbClr val="000000"/>
                </a:solidFill>
                <a:miter/>
              </a:ln>
            </p:spPr>
            <p:style>
              <a:lnRef idx="0"/>
              <a:fillRef idx="0"/>
              <a:effectRef idx="0"/>
              <a:fontRef idx="minor"/>
            </p:style>
          </p:sp>
          <p:sp>
            <p:nvSpPr>
              <p:cNvPr id="172" name="Google Shape;151;p4"/>
              <p:cNvSpPr/>
              <p:nvPr/>
            </p:nvSpPr>
            <p:spPr>
              <a:xfrm>
                <a:off x="955440" y="5891760"/>
                <a:ext cx="33480" cy="30240"/>
              </a:xfrm>
              <a:custGeom>
                <a:avLst/>
                <a:gdLst/>
                <a:ahLst/>
                <a:rect l="l" t="t" r="r" b="b"/>
                <a:pathLst>
                  <a:path w="107156" h="107156">
                    <a:moveTo>
                      <a:pt x="107156" y="53578"/>
                    </a:moveTo>
                    <a:cubicBezTo>
                      <a:pt x="107156" y="83169"/>
                      <a:pt x="83169" y="107156"/>
                      <a:pt x="53578" y="107156"/>
                    </a:cubicBezTo>
                    <a:cubicBezTo>
                      <a:pt x="23988" y="107156"/>
                      <a:pt x="0" y="83169"/>
                      <a:pt x="0" y="53578"/>
                    </a:cubicBezTo>
                    <a:cubicBezTo>
                      <a:pt x="0" y="23988"/>
                      <a:pt x="23988" y="0"/>
                      <a:pt x="53578" y="0"/>
                    </a:cubicBezTo>
                    <a:cubicBezTo>
                      <a:pt x="83169" y="0"/>
                      <a:pt x="107156" y="23988"/>
                      <a:pt x="107156" y="53578"/>
                    </a:cubicBezTo>
                    <a:close/>
                  </a:path>
                </a:pathLst>
              </a:custGeom>
              <a:solidFill>
                <a:srgbClr val="ffffff"/>
              </a:solidFill>
              <a:ln w="9525">
                <a:solidFill>
                  <a:srgbClr val="000000"/>
                </a:solidFill>
                <a:miter/>
              </a:ln>
            </p:spPr>
            <p:style>
              <a:lnRef idx="0"/>
              <a:fillRef idx="0"/>
              <a:effectRef idx="0"/>
              <a:fontRef idx="minor"/>
            </p:style>
          </p:sp>
          <p:sp>
            <p:nvSpPr>
              <p:cNvPr id="173" name="Google Shape;152;p4"/>
              <p:cNvSpPr/>
              <p:nvPr/>
            </p:nvSpPr>
            <p:spPr>
              <a:xfrm>
                <a:off x="885600" y="5543640"/>
                <a:ext cx="61560" cy="126360"/>
              </a:xfrm>
              <a:custGeom>
                <a:avLst/>
                <a:gdLst/>
                <a:ahLst/>
                <a:rect l="l" t="t" r="r" b="b"/>
                <a:pathLst>
                  <a:path w="196453" h="446527">
                    <a:moveTo>
                      <a:pt x="0" y="0"/>
                    </a:moveTo>
                    <a:lnTo>
                      <a:pt x="196453" y="0"/>
                    </a:lnTo>
                    <a:lnTo>
                      <a:pt x="196453" y="446527"/>
                    </a:lnTo>
                    <a:lnTo>
                      <a:pt x="0" y="446527"/>
                    </a:lnTo>
                    <a:close/>
                  </a:path>
                </a:pathLst>
              </a:custGeom>
              <a:solidFill>
                <a:srgbClr val="c4c4c4"/>
              </a:solidFill>
              <a:ln w="9525">
                <a:solidFill>
                  <a:srgbClr val="000000"/>
                </a:solidFill>
                <a:miter/>
              </a:ln>
            </p:spPr>
            <p:style>
              <a:lnRef idx="0"/>
              <a:fillRef idx="0"/>
              <a:effectRef idx="0"/>
              <a:fontRef idx="minor"/>
            </p:style>
          </p:sp>
        </p:grpSp>
      </p:grpSp>
      <p:pic>
        <p:nvPicPr>
          <p:cNvPr id="174" name="Google Shape;153;p4" descr="Computer with solid fill"/>
          <p:cNvPicPr/>
          <p:nvPr/>
        </p:nvPicPr>
        <p:blipFill>
          <a:blip r:embed="rId19"/>
          <a:stretch/>
        </p:blipFill>
        <p:spPr>
          <a:xfrm>
            <a:off x="2138400" y="3110040"/>
            <a:ext cx="1404000" cy="1404000"/>
          </a:xfrm>
          <a:prstGeom prst="rect">
            <a:avLst/>
          </a:prstGeom>
          <a:ln w="0">
            <a:noFill/>
          </a:ln>
        </p:spPr>
      </p:pic>
      <p:sp>
        <p:nvSpPr>
          <p:cNvPr id="175" name="Google Shape;154;p4"/>
          <p:cNvSpPr/>
          <p:nvPr/>
        </p:nvSpPr>
        <p:spPr>
          <a:xfrm>
            <a:off x="43200" y="1267920"/>
            <a:ext cx="2228400" cy="273600"/>
          </a:xfrm>
          <a:prstGeom prst="rect">
            <a:avLst/>
          </a:prstGeom>
          <a:solidFill>
            <a:schemeClr val="lt1"/>
          </a:solidFill>
          <a:ln w="25400">
            <a:solidFill>
              <a:srgbClr val="ffffff"/>
            </a:solidFill>
            <a:round/>
          </a:ln>
        </p:spPr>
        <p:style>
          <a:lnRef idx="0"/>
          <a:fillRef idx="0"/>
          <a:effectRef idx="0"/>
          <a:fontRef idx="minor"/>
        </p:style>
        <p:txBody>
          <a:bodyPr anchor="t">
            <a:spAutoFit/>
          </a:bodyPr>
          <a:p>
            <a:pPr>
              <a:lnSpc>
                <a:spcPct val="100000"/>
              </a:lnSpc>
              <a:buNone/>
              <a:tabLst>
                <a:tab algn="l" pos="0"/>
              </a:tabLst>
            </a:pPr>
            <a:r>
              <a:rPr b="1" lang="en-US" sz="1200" spc="-1" strike="noStrike">
                <a:solidFill>
                  <a:srgbClr val="000000"/>
                </a:solidFill>
                <a:latin typeface="Arial"/>
                <a:ea typeface="Arial"/>
              </a:rPr>
              <a:t>AML Multi-Omic Profiles</a:t>
            </a:r>
            <a:endParaRPr b="0" lang="en-US" sz="1200" spc="-1" strike="noStrike">
              <a:latin typeface="Arial"/>
            </a:endParaRPr>
          </a:p>
        </p:txBody>
      </p:sp>
      <p:sp>
        <p:nvSpPr>
          <p:cNvPr id="176" name="Google Shape;155;p4"/>
          <p:cNvSpPr/>
          <p:nvPr/>
        </p:nvSpPr>
        <p:spPr>
          <a:xfrm>
            <a:off x="331200" y="3537720"/>
            <a:ext cx="931320" cy="273600"/>
          </a:xfrm>
          <a:prstGeom prst="rect">
            <a:avLst/>
          </a:prstGeom>
          <a:solidFill>
            <a:schemeClr val="lt1"/>
          </a:solidFill>
          <a:ln w="25400">
            <a:solidFill>
              <a:srgbClr val="ffffff"/>
            </a:solidFill>
            <a:round/>
          </a:ln>
        </p:spPr>
        <p:style>
          <a:lnRef idx="0"/>
          <a:fillRef idx="0"/>
          <a:effectRef idx="0"/>
          <a:fontRef idx="minor"/>
        </p:style>
        <p:txBody>
          <a:bodyPr anchor="t">
            <a:spAutoFit/>
          </a:bodyPr>
          <a:p>
            <a:pPr>
              <a:lnSpc>
                <a:spcPct val="100000"/>
              </a:lnSpc>
              <a:buNone/>
              <a:tabLst>
                <a:tab algn="l" pos="0"/>
              </a:tabLst>
            </a:pPr>
            <a:r>
              <a:rPr b="1" lang="en-US" sz="1200" spc="-1" strike="noStrike">
                <a:solidFill>
                  <a:srgbClr val="000000"/>
                </a:solidFill>
                <a:latin typeface="Arial"/>
                <a:ea typeface="Arial"/>
              </a:rPr>
              <a:t>Drug Info</a:t>
            </a:r>
            <a:endParaRPr b="0" lang="en-US" sz="1200" spc="-1" strike="noStrike">
              <a:latin typeface="Arial"/>
            </a:endParaRPr>
          </a:p>
        </p:txBody>
      </p:sp>
      <p:sp>
        <p:nvSpPr>
          <p:cNvPr id="177" name="Google Shape;156;p4"/>
          <p:cNvSpPr/>
          <p:nvPr/>
        </p:nvSpPr>
        <p:spPr>
          <a:xfrm>
            <a:off x="99360" y="6716880"/>
            <a:ext cx="1411920" cy="273600"/>
          </a:xfrm>
          <a:prstGeom prst="rect">
            <a:avLst/>
          </a:prstGeom>
          <a:solidFill>
            <a:schemeClr val="lt1"/>
          </a:solidFill>
          <a:ln w="25400">
            <a:solidFill>
              <a:srgbClr val="ffffff"/>
            </a:solidFill>
            <a:round/>
          </a:ln>
        </p:spPr>
        <p:style>
          <a:lnRef idx="0"/>
          <a:fillRef idx="0"/>
          <a:effectRef idx="0"/>
          <a:fontRef idx="minor"/>
        </p:style>
        <p:txBody>
          <a:bodyPr anchor="t">
            <a:spAutoFit/>
          </a:bodyPr>
          <a:p>
            <a:pPr>
              <a:lnSpc>
                <a:spcPct val="100000"/>
              </a:lnSpc>
              <a:buNone/>
              <a:tabLst>
                <a:tab algn="l" pos="0"/>
              </a:tabLst>
            </a:pPr>
            <a:r>
              <a:rPr b="1" lang="en-US" sz="1200" spc="-1" strike="noStrike">
                <a:solidFill>
                  <a:srgbClr val="000000"/>
                </a:solidFill>
                <a:latin typeface="Arial"/>
                <a:ea typeface="Arial"/>
              </a:rPr>
              <a:t>Prior Knowledge</a:t>
            </a:r>
            <a:endParaRPr b="0" lang="en-US" sz="1200" spc="-1" strike="noStrike">
              <a:latin typeface="Arial"/>
            </a:endParaRPr>
          </a:p>
        </p:txBody>
      </p:sp>
      <p:sp>
        <p:nvSpPr>
          <p:cNvPr id="178" name="Google Shape;157;p4"/>
          <p:cNvSpPr/>
          <p:nvPr/>
        </p:nvSpPr>
        <p:spPr>
          <a:xfrm>
            <a:off x="1434240" y="2920680"/>
            <a:ext cx="759240" cy="576000"/>
          </a:xfrm>
          <a:prstGeom prst="curvedConnector3">
            <a:avLst>
              <a:gd name="adj1" fmla="val 50000"/>
            </a:avLst>
          </a:prstGeom>
          <a:noFill/>
          <a:ln w="28575">
            <a:solidFill>
              <a:srgbClr val="000000"/>
            </a:solidFill>
            <a:round/>
            <a:tailEnd len="med" type="stealth" w="med"/>
          </a:ln>
        </p:spPr>
        <p:style>
          <a:lnRef idx="0"/>
          <a:fillRef idx="0"/>
          <a:effectRef idx="0"/>
          <a:fontRef idx="minor"/>
        </p:style>
      </p:sp>
      <p:sp>
        <p:nvSpPr>
          <p:cNvPr id="179" name="Google Shape;158;p4"/>
          <p:cNvSpPr/>
          <p:nvPr/>
        </p:nvSpPr>
        <p:spPr>
          <a:xfrm flipH="1" rot="10800000">
            <a:off x="1444320" y="4170960"/>
            <a:ext cx="1146960" cy="1886760"/>
          </a:xfrm>
          <a:prstGeom prst="curvedConnector2">
            <a:avLst/>
          </a:prstGeom>
          <a:noFill/>
          <a:ln w="28575">
            <a:solidFill>
              <a:srgbClr val="000000"/>
            </a:solidFill>
            <a:round/>
            <a:tailEnd len="med" type="stealth" w="med"/>
          </a:ln>
        </p:spPr>
        <p:style>
          <a:lnRef idx="0"/>
          <a:fillRef idx="0"/>
          <a:effectRef idx="0"/>
          <a:fontRef idx="minor"/>
        </p:style>
      </p:sp>
      <p:sp>
        <p:nvSpPr>
          <p:cNvPr id="180" name="Google Shape;159;p4"/>
          <p:cNvSpPr/>
          <p:nvPr/>
        </p:nvSpPr>
        <p:spPr>
          <a:xfrm flipH="1" rot="10800000">
            <a:off x="1515960" y="4105080"/>
            <a:ext cx="654120" cy="434160"/>
          </a:xfrm>
          <a:custGeom>
            <a:avLst/>
            <a:gdLst/>
            <a:ahLst/>
            <a:rect l="l" t="t" r="r" b="b"/>
            <a:pathLst>
              <a:path w="21600" h="21600">
                <a:moveTo>
                  <a:pt x="0" y="0"/>
                </a:moveTo>
                <a:lnTo>
                  <a:pt x="21600" y="21600"/>
                </a:lnTo>
              </a:path>
            </a:pathLst>
          </a:custGeom>
          <a:noFill/>
          <a:ln w="28575">
            <a:solidFill>
              <a:srgbClr val="000000"/>
            </a:solidFill>
            <a:round/>
            <a:tailEnd len="med" type="stealth" w="med"/>
          </a:ln>
        </p:spPr>
        <p:style>
          <a:lnRef idx="0"/>
          <a:fillRef idx="0"/>
          <a:effectRef idx="0"/>
          <a:fontRef idx="minor"/>
        </p:style>
      </p:sp>
      <p:sp>
        <p:nvSpPr>
          <p:cNvPr id="181" name="Google Shape;160;p4"/>
          <p:cNvSpPr/>
          <p:nvPr/>
        </p:nvSpPr>
        <p:spPr>
          <a:xfrm>
            <a:off x="2068560" y="2921400"/>
            <a:ext cx="1673280" cy="456120"/>
          </a:xfrm>
          <a:prstGeom prst="rect">
            <a:avLst/>
          </a:prstGeom>
          <a:solidFill>
            <a:schemeClr val="lt1"/>
          </a:solidFill>
          <a:ln w="25400">
            <a:solidFill>
              <a:srgbClr val="ffffff"/>
            </a:solidFill>
            <a:round/>
          </a:ln>
        </p:spPr>
        <p:style>
          <a:lnRef idx="0"/>
          <a:fillRef idx="0"/>
          <a:effectRef idx="0"/>
          <a:fontRef idx="minor"/>
        </p:style>
        <p:txBody>
          <a:bodyPr anchor="t">
            <a:spAutoFit/>
          </a:bodyPr>
          <a:p>
            <a:pPr>
              <a:lnSpc>
                <a:spcPct val="100000"/>
              </a:lnSpc>
              <a:buNone/>
              <a:tabLst>
                <a:tab algn="l" pos="0"/>
              </a:tabLst>
            </a:pPr>
            <a:r>
              <a:rPr b="1" lang="en-US" sz="1200" spc="-1" strike="noStrike">
                <a:solidFill>
                  <a:srgbClr val="000000"/>
                </a:solidFill>
                <a:latin typeface="Arial"/>
                <a:ea typeface="Arial"/>
              </a:rPr>
              <a:t>Predictive Artificial Intelligence Oracle </a:t>
            </a:r>
            <a:endParaRPr b="0" lang="en-US" sz="1200" spc="-1" strike="noStrike">
              <a:latin typeface="Arial"/>
            </a:endParaRPr>
          </a:p>
        </p:txBody>
      </p:sp>
      <p:sp>
        <p:nvSpPr>
          <p:cNvPr id="182" name="Google Shape;161;p4"/>
          <p:cNvSpPr/>
          <p:nvPr/>
        </p:nvSpPr>
        <p:spPr>
          <a:xfrm>
            <a:off x="4100760" y="1385640"/>
            <a:ext cx="1673280" cy="273600"/>
          </a:xfrm>
          <a:prstGeom prst="rect">
            <a:avLst/>
          </a:prstGeom>
          <a:solidFill>
            <a:schemeClr val="lt1"/>
          </a:solidFill>
          <a:ln w="25400">
            <a:solidFill>
              <a:srgbClr val="ffffff"/>
            </a:solidFill>
            <a:round/>
          </a:ln>
        </p:spPr>
        <p:style>
          <a:lnRef idx="0"/>
          <a:fillRef idx="0"/>
          <a:effectRef idx="0"/>
          <a:fontRef idx="minor"/>
        </p:style>
        <p:txBody>
          <a:bodyPr anchor="t">
            <a:spAutoFit/>
          </a:bodyPr>
          <a:p>
            <a:pPr>
              <a:lnSpc>
                <a:spcPct val="100000"/>
              </a:lnSpc>
              <a:buNone/>
              <a:tabLst>
                <a:tab algn="l" pos="0"/>
              </a:tabLst>
            </a:pPr>
            <a:r>
              <a:rPr b="1" lang="en-US" sz="1200" spc="-1" strike="noStrike">
                <a:solidFill>
                  <a:srgbClr val="000000"/>
                </a:solidFill>
                <a:latin typeface="Arial"/>
                <a:ea typeface="Arial"/>
              </a:rPr>
              <a:t>Screening + Report</a:t>
            </a:r>
            <a:endParaRPr b="0" lang="en-US" sz="1200" spc="-1" strike="noStrike">
              <a:latin typeface="Arial"/>
            </a:endParaRPr>
          </a:p>
        </p:txBody>
      </p:sp>
      <p:grpSp>
        <p:nvGrpSpPr>
          <p:cNvPr id="183" name="Google Shape;162;p4"/>
          <p:cNvGrpSpPr/>
          <p:nvPr/>
        </p:nvGrpSpPr>
        <p:grpSpPr>
          <a:xfrm>
            <a:off x="4232880" y="1668960"/>
            <a:ext cx="1392840" cy="1766880"/>
            <a:chOff x="4232880" y="1668960"/>
            <a:chExt cx="1392840" cy="1766880"/>
          </a:xfrm>
        </p:grpSpPr>
        <p:sp>
          <p:nvSpPr>
            <p:cNvPr id="184" name="Google Shape;163;p4"/>
            <p:cNvSpPr/>
            <p:nvPr/>
          </p:nvSpPr>
          <p:spPr>
            <a:xfrm>
              <a:off x="4232880" y="1668960"/>
              <a:ext cx="1392840" cy="1739160"/>
            </a:xfrm>
            <a:prstGeom prst="rect">
              <a:avLst/>
            </a:prstGeom>
            <a:solidFill>
              <a:schemeClr val="lt1"/>
            </a:solidFill>
            <a:ln w="25400">
              <a:solidFill>
                <a:srgbClr val="f79646"/>
              </a:solidFill>
              <a:round/>
            </a:ln>
          </p:spPr>
          <p:style>
            <a:lnRef idx="0"/>
            <a:fillRef idx="0"/>
            <a:effectRef idx="0"/>
            <a:fontRef idx="minor"/>
          </p:style>
        </p:sp>
        <p:grpSp>
          <p:nvGrpSpPr>
            <p:cNvPr id="185" name="Google Shape;164;p4"/>
            <p:cNvGrpSpPr/>
            <p:nvPr/>
          </p:nvGrpSpPr>
          <p:grpSpPr>
            <a:xfrm>
              <a:off x="5339160" y="1771920"/>
              <a:ext cx="283320" cy="834480"/>
              <a:chOff x="5339160" y="1771920"/>
              <a:chExt cx="283320" cy="834480"/>
            </a:xfrm>
          </p:grpSpPr>
          <p:pic>
            <p:nvPicPr>
              <p:cNvPr id="186" name="Google Shape;165;p4" descr=""/>
              <p:cNvPicPr/>
              <p:nvPr/>
            </p:nvPicPr>
            <p:blipFill>
              <a:blip r:embed="rId20"/>
              <a:stretch/>
            </p:blipFill>
            <p:spPr>
              <a:xfrm>
                <a:off x="5339160" y="1771920"/>
                <a:ext cx="283320" cy="834480"/>
              </a:xfrm>
              <a:prstGeom prst="rect">
                <a:avLst/>
              </a:prstGeom>
              <a:ln w="0">
                <a:noFill/>
              </a:ln>
            </p:spPr>
          </p:pic>
          <p:sp>
            <p:nvSpPr>
              <p:cNvPr id="187" name="Google Shape;166;p4"/>
              <p:cNvSpPr/>
              <p:nvPr/>
            </p:nvSpPr>
            <p:spPr>
              <a:xfrm rot="10800000">
                <a:off x="5472000" y="2072520"/>
                <a:ext cx="45360" cy="53640"/>
              </a:xfrm>
              <a:prstGeom prst="ellipse">
                <a:avLst/>
              </a:prstGeom>
              <a:solidFill>
                <a:srgbClr val="ff0000"/>
              </a:solidFill>
              <a:ln w="25400">
                <a:solidFill>
                  <a:srgbClr val="c0504d"/>
                </a:solidFill>
                <a:round/>
              </a:ln>
            </p:spPr>
            <p:style>
              <a:lnRef idx="0"/>
              <a:fillRef idx="0"/>
              <a:effectRef idx="0"/>
              <a:fontRef idx="minor"/>
            </p:style>
          </p:sp>
        </p:grpSp>
        <p:pic>
          <p:nvPicPr>
            <p:cNvPr id="188" name="Google Shape;167;p4" descr=""/>
            <p:cNvPicPr/>
            <p:nvPr/>
          </p:nvPicPr>
          <p:blipFill>
            <a:blip r:embed="rId21"/>
            <a:stretch/>
          </p:blipFill>
          <p:spPr>
            <a:xfrm rot="10521600">
              <a:off x="4243320" y="1984320"/>
              <a:ext cx="419760" cy="188280"/>
            </a:xfrm>
            <a:prstGeom prst="rect">
              <a:avLst/>
            </a:prstGeom>
            <a:ln w="0">
              <a:noFill/>
            </a:ln>
          </p:spPr>
        </p:pic>
        <p:pic>
          <p:nvPicPr>
            <p:cNvPr id="189" name="Google Shape;168;p4" descr=""/>
            <p:cNvPicPr/>
            <p:nvPr/>
          </p:nvPicPr>
          <p:blipFill>
            <a:blip r:embed="rId22"/>
            <a:stretch/>
          </p:blipFill>
          <p:spPr>
            <a:xfrm rot="10521600">
              <a:off x="4250520" y="1789920"/>
              <a:ext cx="419760" cy="188280"/>
            </a:xfrm>
            <a:prstGeom prst="rect">
              <a:avLst/>
            </a:prstGeom>
            <a:ln w="0">
              <a:noFill/>
            </a:ln>
          </p:spPr>
        </p:pic>
        <p:pic>
          <p:nvPicPr>
            <p:cNvPr id="190" name="Google Shape;169;p4" descr=""/>
            <p:cNvPicPr/>
            <p:nvPr/>
          </p:nvPicPr>
          <p:blipFill>
            <a:blip r:embed="rId23"/>
            <a:stretch/>
          </p:blipFill>
          <p:spPr>
            <a:xfrm rot="10521600">
              <a:off x="4269240" y="2535120"/>
              <a:ext cx="419760" cy="188280"/>
            </a:xfrm>
            <a:prstGeom prst="rect">
              <a:avLst/>
            </a:prstGeom>
            <a:ln w="0">
              <a:noFill/>
            </a:ln>
          </p:spPr>
        </p:pic>
        <p:sp>
          <p:nvSpPr>
            <p:cNvPr id="191" name="Google Shape;170;p4"/>
            <p:cNvSpPr/>
            <p:nvPr/>
          </p:nvSpPr>
          <p:spPr>
            <a:xfrm>
              <a:off x="4419000" y="2243880"/>
              <a:ext cx="45360" cy="49680"/>
            </a:xfrm>
            <a:prstGeom prst="ellipse">
              <a:avLst/>
            </a:prstGeom>
            <a:solidFill>
              <a:schemeClr val="lt1"/>
            </a:solidFill>
            <a:ln w="25400">
              <a:solidFill>
                <a:srgbClr val="000000"/>
              </a:solidFill>
              <a:round/>
            </a:ln>
          </p:spPr>
          <p:style>
            <a:lnRef idx="0"/>
            <a:fillRef idx="0"/>
            <a:effectRef idx="0"/>
            <a:fontRef idx="minor"/>
          </p:style>
        </p:sp>
        <p:sp>
          <p:nvSpPr>
            <p:cNvPr id="192" name="Google Shape;171;p4"/>
            <p:cNvSpPr/>
            <p:nvPr/>
          </p:nvSpPr>
          <p:spPr>
            <a:xfrm>
              <a:off x="4420800" y="2363760"/>
              <a:ext cx="41040" cy="49680"/>
            </a:xfrm>
            <a:prstGeom prst="ellipse">
              <a:avLst/>
            </a:prstGeom>
            <a:solidFill>
              <a:schemeClr val="lt1"/>
            </a:solidFill>
            <a:ln w="25400">
              <a:solidFill>
                <a:srgbClr val="000000"/>
              </a:solidFill>
              <a:round/>
            </a:ln>
          </p:spPr>
          <p:style>
            <a:lnRef idx="0"/>
            <a:fillRef idx="0"/>
            <a:effectRef idx="0"/>
            <a:fontRef idx="minor"/>
          </p:style>
        </p:sp>
        <p:sp>
          <p:nvSpPr>
            <p:cNvPr id="193" name="Google Shape;172;p4"/>
            <p:cNvSpPr/>
            <p:nvPr/>
          </p:nvSpPr>
          <p:spPr>
            <a:xfrm>
              <a:off x="4419000" y="2483280"/>
              <a:ext cx="45360" cy="49680"/>
            </a:xfrm>
            <a:prstGeom prst="ellipse">
              <a:avLst/>
            </a:prstGeom>
            <a:solidFill>
              <a:schemeClr val="lt1"/>
            </a:solidFill>
            <a:ln w="25400">
              <a:solidFill>
                <a:srgbClr val="000000"/>
              </a:solidFill>
              <a:round/>
            </a:ln>
          </p:spPr>
          <p:style>
            <a:lnRef idx="0"/>
            <a:fillRef idx="0"/>
            <a:effectRef idx="0"/>
            <a:fontRef idx="minor"/>
          </p:style>
        </p:sp>
        <p:pic>
          <p:nvPicPr>
            <p:cNvPr id="194" name="Google Shape;173;p4" descr=""/>
            <p:cNvPicPr/>
            <p:nvPr/>
          </p:nvPicPr>
          <p:blipFill>
            <a:blip r:embed="rId24"/>
            <a:stretch/>
          </p:blipFill>
          <p:spPr>
            <a:xfrm rot="10521600">
              <a:off x="4835880" y="2147400"/>
              <a:ext cx="419760" cy="188280"/>
            </a:xfrm>
            <a:prstGeom prst="rect">
              <a:avLst/>
            </a:prstGeom>
            <a:ln w="0">
              <a:noFill/>
            </a:ln>
          </p:spPr>
        </p:pic>
        <p:sp>
          <p:nvSpPr>
            <p:cNvPr id="195" name="Google Shape;174;p4"/>
            <p:cNvSpPr/>
            <p:nvPr/>
          </p:nvSpPr>
          <p:spPr>
            <a:xfrm>
              <a:off x="4670280" y="1841040"/>
              <a:ext cx="159480" cy="765000"/>
            </a:xfrm>
            <a:prstGeom prst="rightBrace">
              <a:avLst>
                <a:gd name="adj1" fmla="val 8333"/>
                <a:gd name="adj2" fmla="val 50000"/>
              </a:avLst>
            </a:prstGeom>
            <a:noFill/>
            <a:ln w="19050">
              <a:solidFill>
                <a:srgbClr val="000000"/>
              </a:solidFill>
              <a:round/>
            </a:ln>
          </p:spPr>
          <p:style>
            <a:lnRef idx="0"/>
            <a:fillRef idx="0"/>
            <a:effectRef idx="0"/>
            <a:fontRef idx="minor"/>
          </p:style>
        </p:sp>
        <p:sp>
          <p:nvSpPr>
            <p:cNvPr id="196" name="Google Shape;175;p4"/>
            <p:cNvSpPr/>
            <p:nvPr/>
          </p:nvSpPr>
          <p:spPr>
            <a:xfrm flipH="1" rot="10800000">
              <a:off x="4992840" y="2080440"/>
              <a:ext cx="484920" cy="66960"/>
            </a:xfrm>
            <a:prstGeom prst="curvedConnector4">
              <a:avLst>
                <a:gd name="adj1" fmla="val -71"/>
                <a:gd name="adj2" fmla="val 451857"/>
              </a:avLst>
            </a:prstGeom>
            <a:noFill/>
            <a:ln w="19050">
              <a:solidFill>
                <a:srgbClr val="0000ff"/>
              </a:solidFill>
              <a:round/>
              <a:headEnd len="med" type="stealth" w="med"/>
              <a:tailEnd len="med" type="stealth" w="med"/>
            </a:ln>
          </p:spPr>
          <p:style>
            <a:lnRef idx="0"/>
            <a:fillRef idx="0"/>
            <a:effectRef idx="0"/>
            <a:fontRef idx="minor"/>
          </p:style>
        </p:sp>
        <p:sp>
          <p:nvSpPr>
            <p:cNvPr id="197" name="Google Shape;176;p4"/>
            <p:cNvSpPr/>
            <p:nvPr/>
          </p:nvSpPr>
          <p:spPr>
            <a:xfrm flipH="1">
              <a:off x="5252760" y="2335680"/>
              <a:ext cx="7200" cy="404280"/>
            </a:xfrm>
            <a:custGeom>
              <a:avLst/>
              <a:gdLst/>
              <a:ahLst/>
              <a:rect l="l" t="t" r="r" b="b"/>
              <a:pathLst>
                <a:path w="21600" h="21600">
                  <a:moveTo>
                    <a:pt x="0" y="0"/>
                  </a:moveTo>
                  <a:lnTo>
                    <a:pt x="21600" y="21600"/>
                  </a:lnTo>
                </a:path>
              </a:pathLst>
            </a:custGeom>
            <a:noFill/>
            <a:ln w="19050">
              <a:solidFill>
                <a:srgbClr val="002060"/>
              </a:solidFill>
              <a:round/>
              <a:tailEnd len="med" type="stealth" w="med"/>
            </a:ln>
          </p:spPr>
          <p:style>
            <a:lnRef idx="0"/>
            <a:fillRef idx="0"/>
            <a:effectRef idx="0"/>
            <a:fontRef idx="minor"/>
          </p:style>
        </p:sp>
        <p:pic>
          <p:nvPicPr>
            <p:cNvPr id="198" name="Google Shape;177;p4" descr="Document with solid fill"/>
            <p:cNvPicPr/>
            <p:nvPr/>
          </p:nvPicPr>
          <p:blipFill>
            <a:blip r:embed="rId25"/>
            <a:stretch/>
          </p:blipFill>
          <p:spPr>
            <a:xfrm>
              <a:off x="4844160" y="2670840"/>
              <a:ext cx="765000" cy="765000"/>
            </a:xfrm>
            <a:prstGeom prst="rect">
              <a:avLst/>
            </a:prstGeom>
            <a:ln w="0">
              <a:noFill/>
            </a:ln>
          </p:spPr>
        </p:pic>
      </p:grpSp>
      <p:sp>
        <p:nvSpPr>
          <p:cNvPr id="199" name="Google Shape;178;p4"/>
          <p:cNvSpPr/>
          <p:nvPr/>
        </p:nvSpPr>
        <p:spPr>
          <a:xfrm flipH="1" rot="10800000">
            <a:off x="3542400" y="2646360"/>
            <a:ext cx="726840" cy="1165680"/>
          </a:xfrm>
          <a:prstGeom prst="curvedConnector3">
            <a:avLst>
              <a:gd name="adj1" fmla="val 49473"/>
            </a:avLst>
          </a:prstGeom>
          <a:noFill/>
          <a:ln w="28575">
            <a:solidFill>
              <a:srgbClr val="000000"/>
            </a:solidFill>
            <a:round/>
            <a:tailEnd len="med" type="stealth" w="med"/>
          </a:ln>
        </p:spPr>
        <p:style>
          <a:lnRef idx="0"/>
          <a:fillRef idx="0"/>
          <a:effectRef idx="0"/>
          <a:fontRef idx="minor"/>
        </p:style>
      </p:sp>
      <p:sp>
        <p:nvSpPr>
          <p:cNvPr id="200" name="Google Shape;179;p4"/>
          <p:cNvSpPr/>
          <p:nvPr/>
        </p:nvSpPr>
        <p:spPr>
          <a:xfrm>
            <a:off x="3542760" y="3812040"/>
            <a:ext cx="654120" cy="1593000"/>
          </a:xfrm>
          <a:prstGeom prst="curvedConnector3">
            <a:avLst>
              <a:gd name="adj1" fmla="val 50009"/>
            </a:avLst>
          </a:prstGeom>
          <a:noFill/>
          <a:ln w="28575">
            <a:solidFill>
              <a:srgbClr val="000000"/>
            </a:solidFill>
            <a:round/>
            <a:tailEnd len="med" type="stealth" w="med"/>
          </a:ln>
        </p:spPr>
        <p:style>
          <a:lnRef idx="0"/>
          <a:fillRef idx="0"/>
          <a:effectRef idx="0"/>
          <a:fontRef idx="minor"/>
        </p:style>
      </p:sp>
      <p:sp>
        <p:nvSpPr>
          <p:cNvPr id="201" name="Google Shape;180;p4"/>
          <p:cNvSpPr/>
          <p:nvPr/>
        </p:nvSpPr>
        <p:spPr>
          <a:xfrm>
            <a:off x="3929400" y="4122360"/>
            <a:ext cx="1844640" cy="273600"/>
          </a:xfrm>
          <a:prstGeom prst="rect">
            <a:avLst/>
          </a:prstGeom>
          <a:solidFill>
            <a:schemeClr val="lt1"/>
          </a:solidFill>
          <a:ln w="25400">
            <a:solidFill>
              <a:srgbClr val="ffffff"/>
            </a:solidFill>
            <a:round/>
          </a:ln>
        </p:spPr>
        <p:style>
          <a:lnRef idx="0"/>
          <a:fillRef idx="0"/>
          <a:effectRef idx="0"/>
          <a:fontRef idx="minor"/>
        </p:style>
        <p:txBody>
          <a:bodyPr anchor="t">
            <a:spAutoFit/>
          </a:bodyPr>
          <a:p>
            <a:pPr>
              <a:lnSpc>
                <a:spcPct val="100000"/>
              </a:lnSpc>
              <a:buNone/>
              <a:tabLst>
                <a:tab algn="l" pos="0"/>
              </a:tabLst>
            </a:pPr>
            <a:r>
              <a:rPr b="1" lang="en-US" sz="1200" spc="-1" strike="noStrike">
                <a:solidFill>
                  <a:srgbClr val="000000"/>
                </a:solidFill>
                <a:latin typeface="Arial"/>
                <a:ea typeface="Arial"/>
              </a:rPr>
              <a:t>Personalized Medicine</a:t>
            </a:r>
            <a:endParaRPr b="0" lang="en-US" sz="1200" spc="-1" strike="noStrike">
              <a:latin typeface="Arial"/>
            </a:endParaRPr>
          </a:p>
        </p:txBody>
      </p:sp>
      <p:grpSp>
        <p:nvGrpSpPr>
          <p:cNvPr id="202" name="Google Shape;181;p4"/>
          <p:cNvGrpSpPr/>
          <p:nvPr/>
        </p:nvGrpSpPr>
        <p:grpSpPr>
          <a:xfrm>
            <a:off x="5114520" y="4493160"/>
            <a:ext cx="283320" cy="834480"/>
            <a:chOff x="5114520" y="4493160"/>
            <a:chExt cx="283320" cy="834480"/>
          </a:xfrm>
        </p:grpSpPr>
        <p:pic>
          <p:nvPicPr>
            <p:cNvPr id="203" name="Google Shape;182;p4" descr=""/>
            <p:cNvPicPr/>
            <p:nvPr/>
          </p:nvPicPr>
          <p:blipFill>
            <a:blip r:embed="rId26"/>
            <a:stretch/>
          </p:blipFill>
          <p:spPr>
            <a:xfrm>
              <a:off x="5114520" y="4493160"/>
              <a:ext cx="283320" cy="834480"/>
            </a:xfrm>
            <a:prstGeom prst="rect">
              <a:avLst/>
            </a:prstGeom>
            <a:ln w="0">
              <a:noFill/>
            </a:ln>
          </p:spPr>
        </p:pic>
        <p:sp>
          <p:nvSpPr>
            <p:cNvPr id="204" name="Google Shape;183;p4"/>
            <p:cNvSpPr/>
            <p:nvPr/>
          </p:nvSpPr>
          <p:spPr>
            <a:xfrm rot="10800000">
              <a:off x="5226840" y="4826160"/>
              <a:ext cx="45360" cy="53640"/>
            </a:xfrm>
            <a:prstGeom prst="ellipse">
              <a:avLst/>
            </a:prstGeom>
            <a:solidFill>
              <a:srgbClr val="ff0000"/>
            </a:solidFill>
            <a:ln w="25400">
              <a:solidFill>
                <a:srgbClr val="c0504d"/>
              </a:solidFill>
              <a:round/>
            </a:ln>
          </p:spPr>
          <p:style>
            <a:lnRef idx="0"/>
            <a:fillRef idx="0"/>
            <a:effectRef idx="0"/>
            <a:fontRef idx="minor"/>
          </p:style>
        </p:sp>
      </p:grpSp>
      <p:sp>
        <p:nvSpPr>
          <p:cNvPr id="205" name="Google Shape;184;p4"/>
          <p:cNvSpPr/>
          <p:nvPr/>
        </p:nvSpPr>
        <p:spPr>
          <a:xfrm>
            <a:off x="5211720" y="5253840"/>
            <a:ext cx="45360" cy="49680"/>
          </a:xfrm>
          <a:prstGeom prst="ellipse">
            <a:avLst/>
          </a:prstGeom>
          <a:solidFill>
            <a:schemeClr val="lt1"/>
          </a:solidFill>
          <a:ln w="25400">
            <a:solidFill>
              <a:srgbClr val="000000"/>
            </a:solidFill>
            <a:round/>
          </a:ln>
        </p:spPr>
        <p:style>
          <a:lnRef idx="0"/>
          <a:fillRef idx="0"/>
          <a:effectRef idx="0"/>
          <a:fontRef idx="minor"/>
        </p:style>
      </p:sp>
      <p:sp>
        <p:nvSpPr>
          <p:cNvPr id="206" name="Google Shape;185;p4"/>
          <p:cNvSpPr/>
          <p:nvPr/>
        </p:nvSpPr>
        <p:spPr>
          <a:xfrm>
            <a:off x="5213520" y="5373360"/>
            <a:ext cx="41400" cy="49680"/>
          </a:xfrm>
          <a:prstGeom prst="ellipse">
            <a:avLst/>
          </a:prstGeom>
          <a:solidFill>
            <a:schemeClr val="lt1"/>
          </a:solidFill>
          <a:ln w="25400">
            <a:solidFill>
              <a:srgbClr val="000000"/>
            </a:solidFill>
            <a:round/>
          </a:ln>
        </p:spPr>
        <p:style>
          <a:lnRef idx="0"/>
          <a:fillRef idx="0"/>
          <a:effectRef idx="0"/>
          <a:fontRef idx="minor"/>
        </p:style>
      </p:sp>
      <p:sp>
        <p:nvSpPr>
          <p:cNvPr id="207" name="Google Shape;186;p4"/>
          <p:cNvSpPr/>
          <p:nvPr/>
        </p:nvSpPr>
        <p:spPr>
          <a:xfrm>
            <a:off x="5211720" y="5493240"/>
            <a:ext cx="45360" cy="49680"/>
          </a:xfrm>
          <a:prstGeom prst="ellipse">
            <a:avLst/>
          </a:prstGeom>
          <a:solidFill>
            <a:schemeClr val="lt1"/>
          </a:solidFill>
          <a:ln w="25400">
            <a:solidFill>
              <a:srgbClr val="000000"/>
            </a:solidFill>
            <a:round/>
          </a:ln>
        </p:spPr>
        <p:style>
          <a:lnRef idx="0"/>
          <a:fillRef idx="0"/>
          <a:effectRef idx="0"/>
          <a:fontRef idx="minor"/>
        </p:style>
      </p:sp>
      <p:pic>
        <p:nvPicPr>
          <p:cNvPr id="208" name="Google Shape;187;p4" descr=""/>
          <p:cNvPicPr/>
          <p:nvPr/>
        </p:nvPicPr>
        <p:blipFill>
          <a:blip r:embed="rId27"/>
          <a:stretch/>
        </p:blipFill>
        <p:spPr>
          <a:xfrm rot="10800000">
            <a:off x="4259880" y="4735440"/>
            <a:ext cx="419760" cy="188280"/>
          </a:xfrm>
          <a:prstGeom prst="rect">
            <a:avLst/>
          </a:prstGeom>
          <a:ln w="0">
            <a:noFill/>
          </a:ln>
        </p:spPr>
      </p:pic>
      <p:pic>
        <p:nvPicPr>
          <p:cNvPr id="209" name="Google Shape;188;p4" descr=""/>
          <p:cNvPicPr/>
          <p:nvPr/>
        </p:nvPicPr>
        <p:blipFill>
          <a:blip r:embed="rId28"/>
          <a:stretch/>
        </p:blipFill>
        <p:spPr>
          <a:xfrm rot="10800000">
            <a:off x="4270680" y="5290920"/>
            <a:ext cx="419760" cy="188280"/>
          </a:xfrm>
          <a:prstGeom prst="rect">
            <a:avLst/>
          </a:prstGeom>
          <a:ln w="0">
            <a:noFill/>
          </a:ln>
        </p:spPr>
      </p:pic>
      <p:pic>
        <p:nvPicPr>
          <p:cNvPr id="210" name="Google Shape;189;p4" descr=""/>
          <p:cNvPicPr/>
          <p:nvPr/>
        </p:nvPicPr>
        <p:blipFill>
          <a:blip r:embed="rId29"/>
          <a:stretch/>
        </p:blipFill>
        <p:spPr>
          <a:xfrm rot="10800000">
            <a:off x="4281480" y="5856840"/>
            <a:ext cx="419760" cy="188280"/>
          </a:xfrm>
          <a:prstGeom prst="rect">
            <a:avLst/>
          </a:prstGeom>
          <a:ln w="0">
            <a:noFill/>
          </a:ln>
        </p:spPr>
      </p:pic>
      <p:sp>
        <p:nvSpPr>
          <p:cNvPr id="211" name="Google Shape;190;p4"/>
          <p:cNvSpPr/>
          <p:nvPr/>
        </p:nvSpPr>
        <p:spPr>
          <a:xfrm>
            <a:off x="4449600" y="5514840"/>
            <a:ext cx="45360" cy="49680"/>
          </a:xfrm>
          <a:prstGeom prst="ellipse">
            <a:avLst/>
          </a:prstGeom>
          <a:solidFill>
            <a:schemeClr val="lt1"/>
          </a:solidFill>
          <a:ln w="25400">
            <a:solidFill>
              <a:srgbClr val="000000"/>
            </a:solidFill>
            <a:round/>
          </a:ln>
        </p:spPr>
        <p:style>
          <a:lnRef idx="0"/>
          <a:fillRef idx="0"/>
          <a:effectRef idx="0"/>
          <a:fontRef idx="minor"/>
        </p:style>
      </p:sp>
      <p:sp>
        <p:nvSpPr>
          <p:cNvPr id="212" name="Google Shape;191;p4"/>
          <p:cNvSpPr/>
          <p:nvPr/>
        </p:nvSpPr>
        <p:spPr>
          <a:xfrm>
            <a:off x="4451760" y="5634720"/>
            <a:ext cx="41400" cy="49680"/>
          </a:xfrm>
          <a:prstGeom prst="ellipse">
            <a:avLst/>
          </a:prstGeom>
          <a:solidFill>
            <a:schemeClr val="lt1"/>
          </a:solidFill>
          <a:ln w="25400">
            <a:solidFill>
              <a:srgbClr val="000000"/>
            </a:solidFill>
            <a:round/>
          </a:ln>
        </p:spPr>
        <p:style>
          <a:lnRef idx="0"/>
          <a:fillRef idx="0"/>
          <a:effectRef idx="0"/>
          <a:fontRef idx="minor"/>
        </p:style>
      </p:sp>
      <p:sp>
        <p:nvSpPr>
          <p:cNvPr id="213" name="Google Shape;192;p4"/>
          <p:cNvSpPr/>
          <p:nvPr/>
        </p:nvSpPr>
        <p:spPr>
          <a:xfrm>
            <a:off x="4449600" y="5754600"/>
            <a:ext cx="45360" cy="49680"/>
          </a:xfrm>
          <a:prstGeom prst="ellipse">
            <a:avLst/>
          </a:prstGeom>
          <a:solidFill>
            <a:schemeClr val="lt1"/>
          </a:solidFill>
          <a:ln w="25400">
            <a:solidFill>
              <a:srgbClr val="000000"/>
            </a:solidFill>
            <a:round/>
          </a:ln>
        </p:spPr>
        <p:style>
          <a:lnRef idx="0"/>
          <a:fillRef idx="0"/>
          <a:effectRef idx="0"/>
          <a:fontRef idx="minor"/>
        </p:style>
      </p:sp>
      <p:sp>
        <p:nvSpPr>
          <p:cNvPr id="214" name="Google Shape;193;p4"/>
          <p:cNvSpPr/>
          <p:nvPr/>
        </p:nvSpPr>
        <p:spPr>
          <a:xfrm>
            <a:off x="4449600" y="4948920"/>
            <a:ext cx="45360" cy="49680"/>
          </a:xfrm>
          <a:prstGeom prst="ellipse">
            <a:avLst/>
          </a:prstGeom>
          <a:solidFill>
            <a:schemeClr val="lt1"/>
          </a:solidFill>
          <a:ln w="25400">
            <a:solidFill>
              <a:srgbClr val="000000"/>
            </a:solidFill>
            <a:round/>
          </a:ln>
        </p:spPr>
        <p:style>
          <a:lnRef idx="0"/>
          <a:fillRef idx="0"/>
          <a:effectRef idx="0"/>
          <a:fontRef idx="minor"/>
        </p:style>
      </p:sp>
      <p:sp>
        <p:nvSpPr>
          <p:cNvPr id="215" name="Google Shape;194;p4"/>
          <p:cNvSpPr/>
          <p:nvPr/>
        </p:nvSpPr>
        <p:spPr>
          <a:xfrm>
            <a:off x="4451760" y="5068800"/>
            <a:ext cx="41400" cy="49680"/>
          </a:xfrm>
          <a:prstGeom prst="ellipse">
            <a:avLst/>
          </a:prstGeom>
          <a:solidFill>
            <a:schemeClr val="lt1"/>
          </a:solidFill>
          <a:ln w="25400">
            <a:solidFill>
              <a:srgbClr val="000000"/>
            </a:solidFill>
            <a:round/>
          </a:ln>
        </p:spPr>
        <p:style>
          <a:lnRef idx="0"/>
          <a:fillRef idx="0"/>
          <a:effectRef idx="0"/>
          <a:fontRef idx="minor"/>
        </p:style>
      </p:sp>
      <p:sp>
        <p:nvSpPr>
          <p:cNvPr id="216" name="Google Shape;195;p4"/>
          <p:cNvSpPr/>
          <p:nvPr/>
        </p:nvSpPr>
        <p:spPr>
          <a:xfrm>
            <a:off x="4449600" y="5188320"/>
            <a:ext cx="45360" cy="49680"/>
          </a:xfrm>
          <a:prstGeom prst="ellipse">
            <a:avLst/>
          </a:prstGeom>
          <a:solidFill>
            <a:schemeClr val="lt1"/>
          </a:solidFill>
          <a:ln w="25400">
            <a:solidFill>
              <a:srgbClr val="000000"/>
            </a:solidFill>
            <a:round/>
          </a:ln>
        </p:spPr>
        <p:style>
          <a:lnRef idx="0"/>
          <a:fillRef idx="0"/>
          <a:effectRef idx="0"/>
          <a:fontRef idx="minor"/>
        </p:style>
      </p:sp>
      <p:sp>
        <p:nvSpPr>
          <p:cNvPr id="217" name="Google Shape;196;p4"/>
          <p:cNvSpPr/>
          <p:nvPr/>
        </p:nvSpPr>
        <p:spPr>
          <a:xfrm>
            <a:off x="4701240" y="5384880"/>
            <a:ext cx="412920" cy="4320"/>
          </a:xfrm>
          <a:custGeom>
            <a:avLst/>
            <a:gdLst/>
            <a:ahLst/>
            <a:rect l="l" t="t" r="r" b="b"/>
            <a:pathLst>
              <a:path w="21600" h="21600">
                <a:moveTo>
                  <a:pt x="0" y="0"/>
                </a:moveTo>
                <a:lnTo>
                  <a:pt x="21600" y="21600"/>
                </a:lnTo>
              </a:path>
            </a:pathLst>
          </a:custGeom>
          <a:noFill/>
          <a:ln w="19050">
            <a:solidFill>
              <a:srgbClr val="000000"/>
            </a:solidFill>
            <a:round/>
            <a:headEnd len="med" type="stealth" w="med"/>
            <a:tailEnd len="med" type="stealth" w="med"/>
          </a:ln>
        </p:spPr>
        <p:style>
          <a:lnRef idx="0"/>
          <a:fillRef idx="0"/>
          <a:effectRef idx="0"/>
          <a:fontRef idx="minor"/>
        </p:style>
      </p:sp>
      <p:sp>
        <p:nvSpPr>
          <p:cNvPr id="218" name="Google Shape;197;p4"/>
          <p:cNvSpPr/>
          <p:nvPr/>
        </p:nvSpPr>
        <p:spPr>
          <a:xfrm>
            <a:off x="4701240" y="5940000"/>
            <a:ext cx="412920" cy="4320"/>
          </a:xfrm>
          <a:custGeom>
            <a:avLst/>
            <a:gdLst/>
            <a:ahLst/>
            <a:rect l="l" t="t" r="r" b="b"/>
            <a:pathLst>
              <a:path w="21600" h="21600">
                <a:moveTo>
                  <a:pt x="0" y="0"/>
                </a:moveTo>
                <a:lnTo>
                  <a:pt x="21600" y="21600"/>
                </a:lnTo>
              </a:path>
            </a:pathLst>
          </a:custGeom>
          <a:noFill/>
          <a:ln w="19050">
            <a:solidFill>
              <a:srgbClr val="000000"/>
            </a:solidFill>
            <a:round/>
            <a:headEnd len="med" type="stealth" w="med"/>
            <a:tailEnd len="med" type="stealth" w="med"/>
          </a:ln>
        </p:spPr>
        <p:style>
          <a:lnRef idx="0"/>
          <a:fillRef idx="0"/>
          <a:effectRef idx="0"/>
          <a:fontRef idx="minor"/>
        </p:style>
      </p:sp>
      <p:sp>
        <p:nvSpPr>
          <p:cNvPr id="219" name="Google Shape;198;p4"/>
          <p:cNvSpPr/>
          <p:nvPr/>
        </p:nvSpPr>
        <p:spPr>
          <a:xfrm>
            <a:off x="4701240" y="4829400"/>
            <a:ext cx="412920" cy="4320"/>
          </a:xfrm>
          <a:custGeom>
            <a:avLst/>
            <a:gdLst/>
            <a:ahLst/>
            <a:rect l="l" t="t" r="r" b="b"/>
            <a:pathLst>
              <a:path w="21600" h="21600">
                <a:moveTo>
                  <a:pt x="0" y="0"/>
                </a:moveTo>
                <a:lnTo>
                  <a:pt x="21600" y="21600"/>
                </a:lnTo>
              </a:path>
            </a:pathLst>
          </a:custGeom>
          <a:noFill/>
          <a:ln w="19050">
            <a:solidFill>
              <a:srgbClr val="000000"/>
            </a:solidFill>
            <a:round/>
            <a:headEnd len="med" type="stealth" w="med"/>
            <a:tailEnd len="med" type="stealth" w="med"/>
          </a:ln>
        </p:spPr>
        <p:style>
          <a:lnRef idx="0"/>
          <a:fillRef idx="0"/>
          <a:effectRef idx="0"/>
          <a:fontRef idx="minor"/>
        </p:style>
      </p:sp>
      <p:grpSp>
        <p:nvGrpSpPr>
          <p:cNvPr id="220" name="Google Shape;199;p4"/>
          <p:cNvGrpSpPr/>
          <p:nvPr/>
        </p:nvGrpSpPr>
        <p:grpSpPr>
          <a:xfrm>
            <a:off x="74160" y="1666080"/>
            <a:ext cx="257760" cy="680400"/>
            <a:chOff x="74160" y="1666080"/>
            <a:chExt cx="257760" cy="680400"/>
          </a:xfrm>
        </p:grpSpPr>
        <p:pic>
          <p:nvPicPr>
            <p:cNvPr id="221" name="Google Shape;200;p4" descr=""/>
            <p:cNvPicPr/>
            <p:nvPr/>
          </p:nvPicPr>
          <p:blipFill>
            <a:blip r:embed="rId30"/>
            <a:stretch/>
          </p:blipFill>
          <p:spPr>
            <a:xfrm>
              <a:off x="74160" y="1666080"/>
              <a:ext cx="257760" cy="680400"/>
            </a:xfrm>
            <a:prstGeom prst="rect">
              <a:avLst/>
            </a:prstGeom>
            <a:ln w="0">
              <a:noFill/>
            </a:ln>
          </p:spPr>
        </p:pic>
        <p:sp>
          <p:nvSpPr>
            <p:cNvPr id="222" name="Google Shape;201;p4"/>
            <p:cNvSpPr/>
            <p:nvPr/>
          </p:nvSpPr>
          <p:spPr>
            <a:xfrm rot="10800000">
              <a:off x="176400" y="1920600"/>
              <a:ext cx="41040" cy="43560"/>
            </a:xfrm>
            <a:prstGeom prst="ellipse">
              <a:avLst/>
            </a:prstGeom>
            <a:solidFill>
              <a:srgbClr val="ff0000"/>
            </a:solidFill>
            <a:ln w="25400">
              <a:solidFill>
                <a:srgbClr val="c0504d"/>
              </a:solidFill>
              <a:round/>
            </a:ln>
          </p:spPr>
          <p:style>
            <a:lnRef idx="0"/>
            <a:fillRef idx="0"/>
            <a:effectRef idx="0"/>
            <a:fontRef idx="minor"/>
          </p:style>
        </p:sp>
      </p:grpSp>
      <p:pic>
        <p:nvPicPr>
          <p:cNvPr id="223" name="Google Shape;202;p4" descr="Woman Shrugging outline"/>
          <p:cNvPicPr/>
          <p:nvPr/>
        </p:nvPicPr>
        <p:blipFill>
          <a:blip r:embed="rId31"/>
          <a:stretch/>
        </p:blipFill>
        <p:spPr>
          <a:xfrm>
            <a:off x="-59040" y="2856240"/>
            <a:ext cx="571680" cy="554400"/>
          </a:xfrm>
          <a:prstGeom prst="rect">
            <a:avLst/>
          </a:prstGeom>
          <a:ln w="0">
            <a:noFill/>
          </a:ln>
        </p:spPr>
      </p:pic>
      <p:pic>
        <p:nvPicPr>
          <p:cNvPr id="224" name="Google Shape;203;p4" descr="Woman with cane outline"/>
          <p:cNvPicPr/>
          <p:nvPr/>
        </p:nvPicPr>
        <p:blipFill>
          <a:blip r:embed="rId32"/>
          <a:stretch/>
        </p:blipFill>
        <p:spPr>
          <a:xfrm>
            <a:off x="563400" y="2853360"/>
            <a:ext cx="597240" cy="597240"/>
          </a:xfrm>
          <a:prstGeom prst="rect">
            <a:avLst/>
          </a:prstGeom>
          <a:ln w="0">
            <a:noFill/>
          </a:ln>
        </p:spPr>
      </p:pic>
      <p:pic>
        <p:nvPicPr>
          <p:cNvPr id="225" name="Google Shape;204;p4" descr="Woman with solid fill"/>
          <p:cNvPicPr/>
          <p:nvPr/>
        </p:nvPicPr>
        <p:blipFill>
          <a:blip r:embed="rId33"/>
          <a:stretch/>
        </p:blipFill>
        <p:spPr>
          <a:xfrm>
            <a:off x="241200" y="2839680"/>
            <a:ext cx="588600" cy="597240"/>
          </a:xfrm>
          <a:prstGeom prst="rect">
            <a:avLst/>
          </a:prstGeom>
          <a:ln w="0">
            <a:noFill/>
          </a:ln>
        </p:spPr>
      </p:pic>
      <p:sp>
        <p:nvSpPr>
          <p:cNvPr id="226" name="Google Shape;205;p4"/>
          <p:cNvSpPr/>
          <p:nvPr/>
        </p:nvSpPr>
        <p:spPr>
          <a:xfrm rot="10800000">
            <a:off x="201600" y="3076200"/>
            <a:ext cx="45360" cy="53640"/>
          </a:xfrm>
          <a:prstGeom prst="ellipse">
            <a:avLst/>
          </a:prstGeom>
          <a:solidFill>
            <a:srgbClr val="ff0000"/>
          </a:solidFill>
          <a:ln w="25400">
            <a:solidFill>
              <a:srgbClr val="c0504d"/>
            </a:solidFill>
            <a:round/>
          </a:ln>
        </p:spPr>
        <p:style>
          <a:lnRef idx="0"/>
          <a:fillRef idx="0"/>
          <a:effectRef idx="0"/>
          <a:fontRef idx="minor"/>
        </p:style>
      </p:sp>
      <p:sp>
        <p:nvSpPr>
          <p:cNvPr id="227" name="Google Shape;206;p4"/>
          <p:cNvSpPr/>
          <p:nvPr/>
        </p:nvSpPr>
        <p:spPr>
          <a:xfrm rot="10800000">
            <a:off x="518400" y="3076200"/>
            <a:ext cx="45360" cy="53640"/>
          </a:xfrm>
          <a:prstGeom prst="ellipse">
            <a:avLst/>
          </a:prstGeom>
          <a:solidFill>
            <a:srgbClr val="ff0000"/>
          </a:solidFill>
          <a:ln w="25400">
            <a:solidFill>
              <a:srgbClr val="c0504d"/>
            </a:solidFill>
            <a:round/>
          </a:ln>
        </p:spPr>
        <p:style>
          <a:lnRef idx="0"/>
          <a:fillRef idx="0"/>
          <a:effectRef idx="0"/>
          <a:fontRef idx="minor"/>
        </p:style>
      </p:sp>
      <p:sp>
        <p:nvSpPr>
          <p:cNvPr id="228" name="Google Shape;207;p4"/>
          <p:cNvSpPr/>
          <p:nvPr/>
        </p:nvSpPr>
        <p:spPr>
          <a:xfrm rot="10800000">
            <a:off x="792360" y="3110400"/>
            <a:ext cx="45360" cy="53640"/>
          </a:xfrm>
          <a:prstGeom prst="ellipse">
            <a:avLst/>
          </a:prstGeom>
          <a:solidFill>
            <a:srgbClr val="ff0000"/>
          </a:solidFill>
          <a:ln w="25400">
            <a:solidFill>
              <a:srgbClr val="c0504d"/>
            </a:solidFill>
            <a:round/>
          </a:ln>
        </p:spPr>
        <p:style>
          <a:lnRef idx="0"/>
          <a:fillRef idx="0"/>
          <a:effectRef idx="0"/>
          <a:fontRef idx="minor"/>
        </p:style>
      </p:sp>
      <p:pic>
        <p:nvPicPr>
          <p:cNvPr id="229" name="Google Shape;208;p4" descr="Children with solid fill"/>
          <p:cNvPicPr/>
          <p:nvPr/>
        </p:nvPicPr>
        <p:blipFill>
          <a:blip r:embed="rId34"/>
          <a:stretch/>
        </p:blipFill>
        <p:spPr>
          <a:xfrm>
            <a:off x="720" y="2136960"/>
            <a:ext cx="931320" cy="914040"/>
          </a:xfrm>
          <a:prstGeom prst="rect">
            <a:avLst/>
          </a:prstGeom>
          <a:ln w="0">
            <a:noFill/>
          </a:ln>
        </p:spPr>
      </p:pic>
      <p:sp>
        <p:nvSpPr>
          <p:cNvPr id="230" name="Google Shape;209;p4"/>
          <p:cNvSpPr/>
          <p:nvPr/>
        </p:nvSpPr>
        <p:spPr>
          <a:xfrm rot="10800000">
            <a:off x="741240" y="2545200"/>
            <a:ext cx="45360" cy="53640"/>
          </a:xfrm>
          <a:prstGeom prst="ellipse">
            <a:avLst/>
          </a:prstGeom>
          <a:solidFill>
            <a:srgbClr val="ff0000"/>
          </a:solidFill>
          <a:ln w="25400">
            <a:solidFill>
              <a:srgbClr val="c0504d"/>
            </a:solidFill>
            <a:round/>
          </a:ln>
        </p:spPr>
        <p:style>
          <a:lnRef idx="0"/>
          <a:fillRef idx="0"/>
          <a:effectRef idx="0"/>
          <a:fontRef idx="minor"/>
        </p:style>
      </p:sp>
      <p:sp>
        <p:nvSpPr>
          <p:cNvPr id="231" name="Google Shape;210;p4"/>
          <p:cNvSpPr/>
          <p:nvPr/>
        </p:nvSpPr>
        <p:spPr>
          <a:xfrm rot="10800000">
            <a:off x="544320" y="2553840"/>
            <a:ext cx="45360" cy="53640"/>
          </a:xfrm>
          <a:prstGeom prst="ellipse">
            <a:avLst/>
          </a:prstGeom>
          <a:solidFill>
            <a:srgbClr val="ff0000"/>
          </a:solidFill>
          <a:ln w="25400">
            <a:solidFill>
              <a:srgbClr val="c0504d"/>
            </a:solidFill>
            <a:round/>
          </a:ln>
        </p:spPr>
        <p:style>
          <a:lnRef idx="0"/>
          <a:fillRef idx="0"/>
          <a:effectRef idx="0"/>
          <a:fontRef idx="minor"/>
        </p:style>
      </p:sp>
      <p:sp>
        <p:nvSpPr>
          <p:cNvPr id="232" name="Google Shape;211;p4"/>
          <p:cNvSpPr/>
          <p:nvPr/>
        </p:nvSpPr>
        <p:spPr>
          <a:xfrm rot="10800000">
            <a:off x="355680" y="2562480"/>
            <a:ext cx="45360" cy="53640"/>
          </a:xfrm>
          <a:prstGeom prst="ellipse">
            <a:avLst/>
          </a:prstGeom>
          <a:solidFill>
            <a:srgbClr val="ff0000"/>
          </a:solidFill>
          <a:ln w="25400">
            <a:solidFill>
              <a:srgbClr val="c0504d"/>
            </a:solidFill>
            <a:round/>
          </a:ln>
        </p:spPr>
        <p:style>
          <a:lnRef idx="0"/>
          <a:fillRef idx="0"/>
          <a:effectRef idx="0"/>
          <a:fontRef idx="minor"/>
        </p:style>
      </p:sp>
      <p:sp>
        <p:nvSpPr>
          <p:cNvPr id="233" name="Google Shape;212;p4"/>
          <p:cNvSpPr/>
          <p:nvPr/>
        </p:nvSpPr>
        <p:spPr>
          <a:xfrm rot="10800000">
            <a:off x="167400" y="2571120"/>
            <a:ext cx="45360" cy="53640"/>
          </a:xfrm>
          <a:prstGeom prst="ellipse">
            <a:avLst/>
          </a:prstGeom>
          <a:solidFill>
            <a:srgbClr val="ff0000"/>
          </a:solidFill>
          <a:ln w="25400">
            <a:solidFill>
              <a:srgbClr val="c0504d"/>
            </a:solidFill>
            <a:round/>
          </a:ln>
        </p:spPr>
        <p:style>
          <a:lnRef idx="0"/>
          <a:fillRef idx="0"/>
          <a:effectRef idx="0"/>
          <a:fontRef idx="minor"/>
        </p:style>
      </p:sp>
      <p:pic>
        <p:nvPicPr>
          <p:cNvPr id="234" name="Google Shape;213;p4" descr="Woman outline"/>
          <p:cNvPicPr/>
          <p:nvPr/>
        </p:nvPicPr>
        <p:blipFill>
          <a:blip r:embed="rId35"/>
          <a:stretch/>
        </p:blipFill>
        <p:spPr>
          <a:xfrm>
            <a:off x="891360" y="2838960"/>
            <a:ext cx="631440" cy="605880"/>
          </a:xfrm>
          <a:prstGeom prst="rect">
            <a:avLst/>
          </a:prstGeom>
          <a:ln w="0">
            <a:noFill/>
          </a:ln>
        </p:spPr>
      </p:pic>
      <p:sp>
        <p:nvSpPr>
          <p:cNvPr id="235" name="Google Shape;214;p4"/>
          <p:cNvSpPr/>
          <p:nvPr/>
        </p:nvSpPr>
        <p:spPr>
          <a:xfrm rot="10800000">
            <a:off x="1186200" y="3093480"/>
            <a:ext cx="45360" cy="53640"/>
          </a:xfrm>
          <a:prstGeom prst="ellipse">
            <a:avLst/>
          </a:prstGeom>
          <a:solidFill>
            <a:srgbClr val="ff0000"/>
          </a:solidFill>
          <a:ln w="25400">
            <a:solidFill>
              <a:srgbClr val="c0504d"/>
            </a:solidFill>
            <a:round/>
          </a:ln>
        </p:spPr>
        <p:style>
          <a:lnRef idx="0"/>
          <a:fillRef idx="0"/>
          <a:effectRef idx="0"/>
          <a:fontRef idx="minor"/>
        </p:style>
      </p:sp>
      <p:pic>
        <p:nvPicPr>
          <p:cNvPr id="236" name="Google Shape;215;p4" descr="Woman with solid fill"/>
          <p:cNvPicPr/>
          <p:nvPr/>
        </p:nvPicPr>
        <p:blipFill>
          <a:blip r:embed="rId36"/>
          <a:stretch/>
        </p:blipFill>
        <p:spPr>
          <a:xfrm>
            <a:off x="4947840" y="5658840"/>
            <a:ext cx="597240" cy="648720"/>
          </a:xfrm>
          <a:prstGeom prst="rect">
            <a:avLst/>
          </a:prstGeom>
          <a:ln w="0">
            <a:noFill/>
          </a:ln>
        </p:spPr>
      </p:pic>
      <p:sp>
        <p:nvSpPr>
          <p:cNvPr id="237" name="Google Shape;216;p4"/>
          <p:cNvSpPr/>
          <p:nvPr/>
        </p:nvSpPr>
        <p:spPr>
          <a:xfrm rot="10800000">
            <a:off x="5225400" y="5955480"/>
            <a:ext cx="45360" cy="53640"/>
          </a:xfrm>
          <a:prstGeom prst="ellipse">
            <a:avLst/>
          </a:prstGeom>
          <a:solidFill>
            <a:srgbClr val="ff0000"/>
          </a:solidFill>
          <a:ln w="25400">
            <a:solidFill>
              <a:srgbClr val="c0504d"/>
            </a:solidFill>
            <a:round/>
          </a:ln>
        </p:spPr>
        <p:style>
          <a:lnRef idx="0"/>
          <a:fillRef idx="0"/>
          <a:effectRef idx="0"/>
          <a:fontRef idx="minor"/>
        </p:style>
      </p:sp>
      <p:pic>
        <p:nvPicPr>
          <p:cNvPr id="238" name="Google Shape;217;p4" descr="Man with solid fill"/>
          <p:cNvPicPr/>
          <p:nvPr/>
        </p:nvPicPr>
        <p:blipFill>
          <a:blip r:embed="rId37"/>
          <a:stretch/>
        </p:blipFill>
        <p:spPr>
          <a:xfrm>
            <a:off x="514440" y="1597680"/>
            <a:ext cx="682920" cy="665640"/>
          </a:xfrm>
          <a:prstGeom prst="rect">
            <a:avLst/>
          </a:prstGeom>
          <a:ln w="0">
            <a:noFill/>
          </a:ln>
        </p:spPr>
      </p:pic>
      <p:pic>
        <p:nvPicPr>
          <p:cNvPr id="239" name="Google Shape;218;p4" descr="Man outline"/>
          <p:cNvPicPr/>
          <p:nvPr/>
        </p:nvPicPr>
        <p:blipFill>
          <a:blip r:embed="rId38"/>
          <a:stretch/>
        </p:blipFill>
        <p:spPr>
          <a:xfrm>
            <a:off x="212400" y="1620720"/>
            <a:ext cx="554400" cy="631440"/>
          </a:xfrm>
          <a:prstGeom prst="rect">
            <a:avLst/>
          </a:prstGeom>
          <a:ln w="0">
            <a:noFill/>
          </a:ln>
        </p:spPr>
      </p:pic>
      <p:pic>
        <p:nvPicPr>
          <p:cNvPr id="240" name="Google Shape;219;p4" descr="Man with cane outline"/>
          <p:cNvPicPr/>
          <p:nvPr/>
        </p:nvPicPr>
        <p:blipFill>
          <a:blip r:embed="rId39"/>
          <a:stretch/>
        </p:blipFill>
        <p:spPr>
          <a:xfrm>
            <a:off x="877320" y="1617840"/>
            <a:ext cx="682920" cy="691560"/>
          </a:xfrm>
          <a:prstGeom prst="rect">
            <a:avLst/>
          </a:prstGeom>
          <a:ln w="0">
            <a:noFill/>
          </a:ln>
        </p:spPr>
      </p:pic>
      <p:sp>
        <p:nvSpPr>
          <p:cNvPr id="241" name="Google Shape;220;p4"/>
          <p:cNvSpPr/>
          <p:nvPr/>
        </p:nvSpPr>
        <p:spPr>
          <a:xfrm rot="10800000">
            <a:off x="826560" y="1869120"/>
            <a:ext cx="45360" cy="53640"/>
          </a:xfrm>
          <a:prstGeom prst="ellipse">
            <a:avLst/>
          </a:prstGeom>
          <a:solidFill>
            <a:srgbClr val="ff0000"/>
          </a:solidFill>
          <a:ln w="25400">
            <a:solidFill>
              <a:srgbClr val="c0504d"/>
            </a:solidFill>
            <a:round/>
          </a:ln>
        </p:spPr>
        <p:style>
          <a:lnRef idx="0"/>
          <a:fillRef idx="0"/>
          <a:effectRef idx="0"/>
          <a:fontRef idx="minor"/>
        </p:style>
      </p:sp>
      <p:sp>
        <p:nvSpPr>
          <p:cNvPr id="242" name="Google Shape;221;p4"/>
          <p:cNvSpPr/>
          <p:nvPr/>
        </p:nvSpPr>
        <p:spPr>
          <a:xfrm rot="10800000">
            <a:off x="1135080" y="1886040"/>
            <a:ext cx="45360" cy="53640"/>
          </a:xfrm>
          <a:prstGeom prst="ellipse">
            <a:avLst/>
          </a:prstGeom>
          <a:solidFill>
            <a:srgbClr val="ff0000"/>
          </a:solidFill>
          <a:ln w="25400">
            <a:solidFill>
              <a:srgbClr val="c0504d"/>
            </a:solidFill>
            <a:round/>
          </a:ln>
        </p:spPr>
        <p:style>
          <a:lnRef idx="0"/>
          <a:fillRef idx="0"/>
          <a:effectRef idx="0"/>
          <a:fontRef idx="minor"/>
        </p:style>
      </p:sp>
      <p:sp>
        <p:nvSpPr>
          <p:cNvPr id="243" name="Google Shape;222;p4"/>
          <p:cNvSpPr/>
          <p:nvPr/>
        </p:nvSpPr>
        <p:spPr>
          <a:xfrm rot="10800000">
            <a:off x="466920" y="1877400"/>
            <a:ext cx="45360" cy="53640"/>
          </a:xfrm>
          <a:prstGeom prst="ellipse">
            <a:avLst/>
          </a:prstGeom>
          <a:solidFill>
            <a:srgbClr val="ff0000"/>
          </a:solidFill>
          <a:ln w="25400">
            <a:solidFill>
              <a:srgbClr val="c0504d"/>
            </a:solidFill>
            <a:round/>
          </a:ln>
        </p:spPr>
        <p:style>
          <a:lnRef idx="0"/>
          <a:fillRef idx="0"/>
          <a:effectRef idx="0"/>
          <a:fontRef idx="minor"/>
        </p:style>
      </p:sp>
      <p:pic>
        <p:nvPicPr>
          <p:cNvPr id="244" name="Google Shape;223;p4" descr="Woman outline"/>
          <p:cNvPicPr/>
          <p:nvPr/>
        </p:nvPicPr>
        <p:blipFill>
          <a:blip r:embed="rId40"/>
          <a:stretch/>
        </p:blipFill>
        <p:spPr>
          <a:xfrm>
            <a:off x="754200" y="2308320"/>
            <a:ext cx="631440" cy="605880"/>
          </a:xfrm>
          <a:prstGeom prst="rect">
            <a:avLst/>
          </a:prstGeom>
          <a:ln w="0">
            <a:noFill/>
          </a:ln>
        </p:spPr>
      </p:pic>
      <p:sp>
        <p:nvSpPr>
          <p:cNvPr id="245" name="Google Shape;224;p4"/>
          <p:cNvSpPr/>
          <p:nvPr/>
        </p:nvSpPr>
        <p:spPr>
          <a:xfrm rot="10800000">
            <a:off x="1040760" y="2545200"/>
            <a:ext cx="45360" cy="53640"/>
          </a:xfrm>
          <a:prstGeom prst="ellipse">
            <a:avLst/>
          </a:prstGeom>
          <a:solidFill>
            <a:srgbClr val="ff0000"/>
          </a:solidFill>
          <a:ln w="25400">
            <a:solidFill>
              <a:srgbClr val="c0504d"/>
            </a:solidFill>
            <a:round/>
          </a:ln>
        </p:spPr>
        <p:style>
          <a:lnRef idx="0"/>
          <a:fillRef idx="0"/>
          <a:effectRef idx="0"/>
          <a:fontRef idx="minor"/>
        </p:style>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6" name="Google Shape;229;p5" descr=""/>
          <p:cNvPicPr/>
          <p:nvPr/>
        </p:nvPicPr>
        <p:blipFill>
          <a:blip r:embed="rId1"/>
          <a:stretch/>
        </p:blipFill>
        <p:spPr>
          <a:xfrm>
            <a:off x="2520" y="-1440"/>
            <a:ext cx="6450120" cy="8478720"/>
          </a:xfrm>
          <a:prstGeom prst="rect">
            <a:avLst/>
          </a:prstGeom>
          <a:ln w="0">
            <a:noFill/>
          </a:ln>
        </p:spPr>
      </p:pic>
      <p:sp>
        <p:nvSpPr>
          <p:cNvPr id="247" name="Google Shape;230;p5"/>
          <p:cNvSpPr/>
          <p:nvPr/>
        </p:nvSpPr>
        <p:spPr>
          <a:xfrm>
            <a:off x="5381280" y="705600"/>
            <a:ext cx="382680" cy="82620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48" name="Google Shape;231;p5"/>
          <p:cNvSpPr/>
          <p:nvPr/>
        </p:nvSpPr>
        <p:spPr>
          <a:xfrm rot="16200000">
            <a:off x="5750280" y="941040"/>
            <a:ext cx="57024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Clinical Traits</a:t>
            </a:r>
            <a:endParaRPr b="0" lang="en-US" sz="900" spc="-1" strike="noStrike">
              <a:latin typeface="Arial"/>
            </a:endParaRPr>
          </a:p>
        </p:txBody>
      </p:sp>
      <p:sp>
        <p:nvSpPr>
          <p:cNvPr id="249" name="Google Shape;232;p5"/>
          <p:cNvSpPr/>
          <p:nvPr/>
        </p:nvSpPr>
        <p:spPr>
          <a:xfrm>
            <a:off x="4550040" y="8767440"/>
            <a:ext cx="24166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Figure 1</a:t>
            </a:r>
            <a:endParaRPr b="0" lang="en-US" sz="1400" spc="-1" strike="noStrike">
              <a:latin typeface="Arial"/>
            </a:endParaRPr>
          </a:p>
        </p:txBody>
      </p:sp>
      <p:sp>
        <p:nvSpPr>
          <p:cNvPr id="250" name="Google Shape;233;p5"/>
          <p:cNvSpPr/>
          <p:nvPr/>
        </p:nvSpPr>
        <p:spPr>
          <a:xfrm>
            <a:off x="5321160" y="1613160"/>
            <a:ext cx="494280" cy="112572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51" name="Google Shape;234;p5"/>
          <p:cNvSpPr/>
          <p:nvPr/>
        </p:nvSpPr>
        <p:spPr>
          <a:xfrm rot="16200000">
            <a:off x="5656320" y="1981800"/>
            <a:ext cx="76716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Gene Expression</a:t>
            </a:r>
            <a:endParaRPr b="0" lang="en-US" sz="900" spc="-1" strike="noStrike">
              <a:latin typeface="Arial"/>
            </a:endParaRPr>
          </a:p>
        </p:txBody>
      </p:sp>
      <p:sp>
        <p:nvSpPr>
          <p:cNvPr id="252" name="Google Shape;235;p5"/>
          <p:cNvSpPr/>
          <p:nvPr/>
        </p:nvSpPr>
        <p:spPr>
          <a:xfrm>
            <a:off x="5381280" y="2811960"/>
            <a:ext cx="382680" cy="82620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53" name="Google Shape;236;p5"/>
          <p:cNvSpPr/>
          <p:nvPr/>
        </p:nvSpPr>
        <p:spPr>
          <a:xfrm rot="16200000">
            <a:off x="5656320" y="3043440"/>
            <a:ext cx="76716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Pathway Activities</a:t>
            </a:r>
            <a:endParaRPr b="0" lang="en-US" sz="900" spc="-1" strike="noStrike">
              <a:latin typeface="Arial"/>
            </a:endParaRPr>
          </a:p>
        </p:txBody>
      </p:sp>
      <p:sp>
        <p:nvSpPr>
          <p:cNvPr id="254" name="Google Shape;237;p5"/>
          <p:cNvSpPr/>
          <p:nvPr/>
        </p:nvSpPr>
        <p:spPr>
          <a:xfrm>
            <a:off x="5381280" y="3719520"/>
            <a:ext cx="382680" cy="82620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55" name="Google Shape;238;p5"/>
          <p:cNvSpPr/>
          <p:nvPr/>
        </p:nvSpPr>
        <p:spPr>
          <a:xfrm rot="16200000">
            <a:off x="5664960" y="3933720"/>
            <a:ext cx="76716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Mutated Genes</a:t>
            </a:r>
            <a:endParaRPr b="0" lang="en-US" sz="900" spc="-1" strike="noStrike">
              <a:latin typeface="Arial"/>
            </a:endParaRPr>
          </a:p>
        </p:txBody>
      </p:sp>
      <p:sp>
        <p:nvSpPr>
          <p:cNvPr id="256" name="Google Shape;239;p5"/>
          <p:cNvSpPr/>
          <p:nvPr/>
        </p:nvSpPr>
        <p:spPr>
          <a:xfrm>
            <a:off x="6228720" y="4618440"/>
            <a:ext cx="340200" cy="82620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57" name="Google Shape;240;p5"/>
          <p:cNvSpPr/>
          <p:nvPr/>
        </p:nvSpPr>
        <p:spPr>
          <a:xfrm rot="16200000">
            <a:off x="6213240" y="4888440"/>
            <a:ext cx="981360" cy="22824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Mutation Types</a:t>
            </a:r>
            <a:endParaRPr b="0" lang="en-US" sz="900" spc="-1" strike="noStrike">
              <a:latin typeface="Arial"/>
            </a:endParaRPr>
          </a:p>
        </p:txBody>
      </p:sp>
      <p:sp>
        <p:nvSpPr>
          <p:cNvPr id="258" name="Google Shape;241;p5"/>
          <p:cNvSpPr/>
          <p:nvPr/>
        </p:nvSpPr>
        <p:spPr>
          <a:xfrm>
            <a:off x="6040440" y="5542920"/>
            <a:ext cx="340200" cy="82620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59" name="Google Shape;242;p5"/>
          <p:cNvSpPr/>
          <p:nvPr/>
        </p:nvSpPr>
        <p:spPr>
          <a:xfrm rot="16200000">
            <a:off x="6225480" y="5808600"/>
            <a:ext cx="76716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Cell type Enrichment</a:t>
            </a:r>
            <a:endParaRPr b="0" lang="en-US" sz="900" spc="-1" strike="noStrike">
              <a:latin typeface="Arial"/>
            </a:endParaRPr>
          </a:p>
        </p:txBody>
      </p:sp>
      <p:sp>
        <p:nvSpPr>
          <p:cNvPr id="260" name="Google Shape;243;p5"/>
          <p:cNvSpPr/>
          <p:nvPr/>
        </p:nvSpPr>
        <p:spPr>
          <a:xfrm>
            <a:off x="5381280" y="6433560"/>
            <a:ext cx="382680" cy="85176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61" name="Google Shape;244;p5"/>
          <p:cNvSpPr/>
          <p:nvPr/>
        </p:nvSpPr>
        <p:spPr>
          <a:xfrm rot="16200000">
            <a:off x="5609160" y="6677640"/>
            <a:ext cx="84420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Module Enrichments</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2" name="" descr=""/>
          <p:cNvPicPr/>
          <p:nvPr/>
        </p:nvPicPr>
        <p:blipFill>
          <a:blip r:embed="rId1"/>
          <a:stretch/>
        </p:blipFill>
        <p:spPr>
          <a:xfrm>
            <a:off x="0" y="0"/>
            <a:ext cx="6648120" cy="8001000"/>
          </a:xfrm>
          <a:prstGeom prst="rect">
            <a:avLst/>
          </a:prstGeom>
          <a:ln w="0">
            <a:noFill/>
          </a:ln>
        </p:spPr>
      </p:pic>
      <p:sp>
        <p:nvSpPr>
          <p:cNvPr id="263" name="Google Shape;230;p 1"/>
          <p:cNvSpPr/>
          <p:nvPr/>
        </p:nvSpPr>
        <p:spPr>
          <a:xfrm>
            <a:off x="5565240" y="669600"/>
            <a:ext cx="378360" cy="82620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64" name="Google Shape;231;p 1"/>
          <p:cNvSpPr/>
          <p:nvPr/>
        </p:nvSpPr>
        <p:spPr>
          <a:xfrm rot="16200000">
            <a:off x="5898240" y="905040"/>
            <a:ext cx="57024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Clinical Traits</a:t>
            </a:r>
            <a:endParaRPr b="0" lang="en-US" sz="900" spc="-1" strike="noStrike">
              <a:latin typeface="Arial"/>
            </a:endParaRPr>
          </a:p>
        </p:txBody>
      </p:sp>
      <p:sp>
        <p:nvSpPr>
          <p:cNvPr id="265" name="Google Shape;233;p 1"/>
          <p:cNvSpPr/>
          <p:nvPr/>
        </p:nvSpPr>
        <p:spPr>
          <a:xfrm>
            <a:off x="5547960" y="3285000"/>
            <a:ext cx="395640" cy="105840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66" name="Google Shape;234;p 1"/>
          <p:cNvSpPr/>
          <p:nvPr/>
        </p:nvSpPr>
        <p:spPr>
          <a:xfrm rot="16200000">
            <a:off x="5811120" y="3653640"/>
            <a:ext cx="76716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Gene Expression</a:t>
            </a:r>
            <a:endParaRPr b="0" lang="en-US" sz="900" spc="-1" strike="noStrike">
              <a:latin typeface="Arial"/>
            </a:endParaRPr>
          </a:p>
        </p:txBody>
      </p:sp>
      <p:sp>
        <p:nvSpPr>
          <p:cNvPr id="267" name="Google Shape;237;p 1"/>
          <p:cNvSpPr/>
          <p:nvPr/>
        </p:nvSpPr>
        <p:spPr>
          <a:xfrm>
            <a:off x="5565240" y="1523520"/>
            <a:ext cx="382680" cy="82620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68" name="Google Shape;238;p 1"/>
          <p:cNvSpPr/>
          <p:nvPr/>
        </p:nvSpPr>
        <p:spPr>
          <a:xfrm rot="16200000">
            <a:off x="5812920" y="1773720"/>
            <a:ext cx="76716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Mutated Genes</a:t>
            </a:r>
            <a:endParaRPr b="0" lang="en-US" sz="900" spc="-1" strike="noStrike">
              <a:latin typeface="Arial"/>
            </a:endParaRPr>
          </a:p>
        </p:txBody>
      </p:sp>
      <p:sp>
        <p:nvSpPr>
          <p:cNvPr id="269" name="Google Shape;235;p 1"/>
          <p:cNvSpPr/>
          <p:nvPr/>
        </p:nvSpPr>
        <p:spPr>
          <a:xfrm>
            <a:off x="5565240" y="4431960"/>
            <a:ext cx="378360" cy="82584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70" name="Google Shape;236;p 1"/>
          <p:cNvSpPr/>
          <p:nvPr/>
        </p:nvSpPr>
        <p:spPr>
          <a:xfrm rot="16200000">
            <a:off x="5804280" y="4663440"/>
            <a:ext cx="76716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Pathway Activities</a:t>
            </a:r>
            <a:endParaRPr b="0" lang="en-US" sz="900" spc="-1" strike="noStrike">
              <a:latin typeface="Arial"/>
            </a:endParaRPr>
          </a:p>
        </p:txBody>
      </p:sp>
      <p:sp>
        <p:nvSpPr>
          <p:cNvPr id="271" name="Google Shape;243;p 1"/>
          <p:cNvSpPr/>
          <p:nvPr/>
        </p:nvSpPr>
        <p:spPr>
          <a:xfrm>
            <a:off x="5565240" y="6146640"/>
            <a:ext cx="382680" cy="85176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72" name="Google Shape;244;p 1"/>
          <p:cNvSpPr/>
          <p:nvPr/>
        </p:nvSpPr>
        <p:spPr>
          <a:xfrm rot="16200000">
            <a:off x="5757120" y="6390720"/>
            <a:ext cx="84420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Module Enrichments</a:t>
            </a:r>
            <a:endParaRPr b="0" lang="en-US" sz="900" spc="-1" strike="noStrike">
              <a:latin typeface="Arial"/>
            </a:endParaRPr>
          </a:p>
        </p:txBody>
      </p:sp>
      <p:sp>
        <p:nvSpPr>
          <p:cNvPr id="273" name="Google Shape;239;p 1"/>
          <p:cNvSpPr/>
          <p:nvPr/>
        </p:nvSpPr>
        <p:spPr>
          <a:xfrm>
            <a:off x="6377040" y="2422440"/>
            <a:ext cx="340200" cy="826200"/>
          </a:xfrm>
          <a:prstGeom prst="rightBrace">
            <a:avLst>
              <a:gd name="adj1" fmla="val 8333"/>
              <a:gd name="adj2" fmla="val 55313"/>
            </a:avLst>
          </a:prstGeom>
          <a:noFill/>
          <a:ln w="9525">
            <a:solidFill>
              <a:srgbClr val="000000"/>
            </a:solidFill>
            <a:prstDash val="dash"/>
            <a:round/>
          </a:ln>
        </p:spPr>
        <p:style>
          <a:lnRef idx="0"/>
          <a:fillRef idx="0"/>
          <a:effectRef idx="0"/>
          <a:fontRef idx="minor"/>
        </p:style>
      </p:sp>
      <p:sp>
        <p:nvSpPr>
          <p:cNvPr id="274" name="Google Shape;240;p 1"/>
          <p:cNvSpPr/>
          <p:nvPr/>
        </p:nvSpPr>
        <p:spPr>
          <a:xfrm rot="16200000">
            <a:off x="6217560" y="2728440"/>
            <a:ext cx="981360" cy="22824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Mutation Types</a:t>
            </a:r>
            <a:endParaRPr b="0" lang="en-US" sz="900" spc="-1" strike="noStrike">
              <a:latin typeface="Arial"/>
            </a:endParaRPr>
          </a:p>
        </p:txBody>
      </p:sp>
      <p:sp>
        <p:nvSpPr>
          <p:cNvPr id="275" name="Google Shape;241;p 1"/>
          <p:cNvSpPr/>
          <p:nvPr/>
        </p:nvSpPr>
        <p:spPr>
          <a:xfrm>
            <a:off x="6172200" y="5324040"/>
            <a:ext cx="228600" cy="761400"/>
          </a:xfrm>
          <a:prstGeom prst="rightBrace">
            <a:avLst>
              <a:gd name="adj1" fmla="val 8333"/>
              <a:gd name="adj2" fmla="val 50000"/>
            </a:avLst>
          </a:prstGeom>
          <a:noFill/>
          <a:ln w="9525">
            <a:solidFill>
              <a:srgbClr val="000000"/>
            </a:solidFill>
            <a:prstDash val="dash"/>
            <a:round/>
          </a:ln>
        </p:spPr>
        <p:style>
          <a:lnRef idx="0"/>
          <a:fillRef idx="0"/>
          <a:effectRef idx="0"/>
          <a:fontRef idx="minor"/>
        </p:style>
      </p:sp>
      <p:sp>
        <p:nvSpPr>
          <p:cNvPr id="276" name="Google Shape;242;p 1"/>
          <p:cNvSpPr/>
          <p:nvPr/>
        </p:nvSpPr>
        <p:spPr>
          <a:xfrm rot="16200000">
            <a:off x="6229440" y="5524920"/>
            <a:ext cx="767160" cy="365400"/>
          </a:xfrm>
          <a:prstGeom prst="rect">
            <a:avLst/>
          </a:prstGeom>
          <a:solidFill>
            <a:schemeClr val="lt1"/>
          </a:solidFill>
          <a:ln w="25400">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900" spc="-1" strike="noStrike">
                <a:solidFill>
                  <a:srgbClr val="000000"/>
                </a:solidFill>
                <a:latin typeface="Arial"/>
                <a:ea typeface="Arial"/>
              </a:rPr>
              <a:t>Cell type Enrichment</a:t>
            </a:r>
            <a:endParaRPr b="0" lang="en-US" sz="900" spc="-1" strike="noStrike">
              <a:latin typeface="Arial"/>
            </a:endParaRPr>
          </a:p>
        </p:txBody>
      </p:sp>
      <p:sp>
        <p:nvSpPr>
          <p:cNvPr id="277" name="Google Shape;232;p 1"/>
          <p:cNvSpPr/>
          <p:nvPr/>
        </p:nvSpPr>
        <p:spPr>
          <a:xfrm>
            <a:off x="4550040" y="8767440"/>
            <a:ext cx="24166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Figure 1</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278" name="Google Shape;250;p6"/>
          <p:cNvGrpSpPr/>
          <p:nvPr/>
        </p:nvGrpSpPr>
        <p:grpSpPr>
          <a:xfrm>
            <a:off x="136440" y="6287040"/>
            <a:ext cx="957240" cy="1165680"/>
            <a:chOff x="136440" y="6287040"/>
            <a:chExt cx="957240" cy="1165680"/>
          </a:xfrm>
        </p:grpSpPr>
        <p:pic>
          <p:nvPicPr>
            <p:cNvPr id="279" name="Google Shape;251;p6" descr=""/>
            <p:cNvPicPr/>
            <p:nvPr/>
          </p:nvPicPr>
          <p:blipFill>
            <a:blip r:embed="rId1"/>
            <a:srcRect l="82238" t="68451" r="8044" b="12278"/>
            <a:stretch/>
          </p:blipFill>
          <p:spPr>
            <a:xfrm flipH="1">
              <a:off x="197640" y="6287040"/>
              <a:ext cx="896040" cy="1139040"/>
            </a:xfrm>
            <a:prstGeom prst="rect">
              <a:avLst/>
            </a:prstGeom>
            <a:ln w="0">
              <a:noFill/>
            </a:ln>
          </p:spPr>
        </p:pic>
        <p:sp>
          <p:nvSpPr>
            <p:cNvPr id="280" name="Google Shape;252;p6"/>
            <p:cNvSpPr/>
            <p:nvPr/>
          </p:nvSpPr>
          <p:spPr>
            <a:xfrm>
              <a:off x="461160" y="6431760"/>
              <a:ext cx="529560" cy="67680"/>
            </a:xfrm>
            <a:prstGeom prst="rect">
              <a:avLst/>
            </a:prstGeom>
            <a:solidFill>
              <a:schemeClr val="lt1"/>
            </a:solidFill>
            <a:ln w="0">
              <a:noFill/>
            </a:ln>
          </p:spPr>
          <p:style>
            <a:lnRef idx="0"/>
            <a:fillRef idx="0"/>
            <a:effectRef idx="0"/>
            <a:fontRef idx="minor"/>
          </p:style>
        </p:sp>
        <p:sp>
          <p:nvSpPr>
            <p:cNvPr id="281" name="Google Shape;253;p6"/>
            <p:cNvSpPr/>
            <p:nvPr/>
          </p:nvSpPr>
          <p:spPr>
            <a:xfrm>
              <a:off x="478080" y="6815160"/>
              <a:ext cx="529560" cy="67680"/>
            </a:xfrm>
            <a:prstGeom prst="rect">
              <a:avLst/>
            </a:prstGeom>
            <a:solidFill>
              <a:schemeClr val="lt1"/>
            </a:solidFill>
            <a:ln w="0">
              <a:noFill/>
            </a:ln>
          </p:spPr>
          <p:style>
            <a:lnRef idx="0"/>
            <a:fillRef idx="0"/>
            <a:effectRef idx="0"/>
            <a:fontRef idx="minor"/>
          </p:style>
        </p:sp>
        <p:sp>
          <p:nvSpPr>
            <p:cNvPr id="282" name="Google Shape;254;p6"/>
            <p:cNvSpPr/>
            <p:nvPr/>
          </p:nvSpPr>
          <p:spPr>
            <a:xfrm>
              <a:off x="461160" y="7209000"/>
              <a:ext cx="529560" cy="67680"/>
            </a:xfrm>
            <a:prstGeom prst="rect">
              <a:avLst/>
            </a:prstGeom>
            <a:solidFill>
              <a:schemeClr val="lt1"/>
            </a:solidFill>
            <a:ln w="0">
              <a:noFill/>
            </a:ln>
          </p:spPr>
          <p:style>
            <a:lnRef idx="0"/>
            <a:fillRef idx="0"/>
            <a:effectRef idx="0"/>
            <a:fontRef idx="minor"/>
          </p:style>
        </p:sp>
        <p:sp>
          <p:nvSpPr>
            <p:cNvPr id="283" name="Google Shape;255;p6"/>
            <p:cNvSpPr/>
            <p:nvPr/>
          </p:nvSpPr>
          <p:spPr>
            <a:xfrm>
              <a:off x="136440" y="6560280"/>
              <a:ext cx="241200" cy="117720"/>
            </a:xfrm>
            <a:prstGeom prst="rect">
              <a:avLst/>
            </a:prstGeom>
            <a:solidFill>
              <a:schemeClr val="lt1"/>
            </a:solidFill>
            <a:ln w="0">
              <a:noFill/>
            </a:ln>
          </p:spPr>
          <p:style>
            <a:lnRef idx="0"/>
            <a:fillRef idx="0"/>
            <a:effectRef idx="0"/>
            <a:fontRef idx="minor"/>
          </p:style>
        </p:sp>
        <p:sp>
          <p:nvSpPr>
            <p:cNvPr id="284" name="Google Shape;256;p6"/>
            <p:cNvSpPr/>
            <p:nvPr/>
          </p:nvSpPr>
          <p:spPr>
            <a:xfrm>
              <a:off x="147600" y="6955560"/>
              <a:ext cx="241200" cy="117720"/>
            </a:xfrm>
            <a:prstGeom prst="rect">
              <a:avLst/>
            </a:prstGeom>
            <a:solidFill>
              <a:schemeClr val="lt1"/>
            </a:solidFill>
            <a:ln w="0">
              <a:noFill/>
            </a:ln>
          </p:spPr>
          <p:style>
            <a:lnRef idx="0"/>
            <a:fillRef idx="0"/>
            <a:effectRef idx="0"/>
            <a:fontRef idx="minor"/>
          </p:style>
        </p:sp>
        <p:sp>
          <p:nvSpPr>
            <p:cNvPr id="285" name="Google Shape;257;p6"/>
            <p:cNvSpPr/>
            <p:nvPr/>
          </p:nvSpPr>
          <p:spPr>
            <a:xfrm>
              <a:off x="142200" y="7335000"/>
              <a:ext cx="241200" cy="117720"/>
            </a:xfrm>
            <a:prstGeom prst="rect">
              <a:avLst/>
            </a:prstGeom>
            <a:solidFill>
              <a:schemeClr val="lt1"/>
            </a:solidFill>
            <a:ln w="0">
              <a:noFill/>
            </a:ln>
          </p:spPr>
          <p:style>
            <a:lnRef idx="0"/>
            <a:fillRef idx="0"/>
            <a:effectRef idx="0"/>
            <a:fontRef idx="minor"/>
          </p:style>
        </p:sp>
      </p:grpSp>
      <p:sp>
        <p:nvSpPr>
          <p:cNvPr id="286" name="Google Shape;258;p6"/>
          <p:cNvSpPr/>
          <p:nvPr/>
        </p:nvSpPr>
        <p:spPr>
          <a:xfrm>
            <a:off x="0" y="3644640"/>
            <a:ext cx="6860160" cy="797400"/>
          </a:xfrm>
          <a:prstGeom prst="rect">
            <a:avLst/>
          </a:prstGeom>
          <a:solidFill>
            <a:srgbClr val="f3f3f3"/>
          </a:solidFill>
          <a:ln w="0">
            <a:noFill/>
          </a:ln>
        </p:spPr>
        <p:style>
          <a:lnRef idx="0"/>
          <a:fillRef idx="0"/>
          <a:effectRef idx="0"/>
          <a:fontRef idx="minor"/>
        </p:style>
      </p:sp>
      <p:graphicFrame>
        <p:nvGraphicFramePr>
          <p:cNvPr id="287" name="Google Shape;259;p6"/>
          <p:cNvGraphicFramePr/>
          <p:nvPr/>
        </p:nvGraphicFramePr>
        <p:xfrm>
          <a:off x="2216160" y="347400"/>
          <a:ext cx="1117800" cy="101160"/>
        </p:xfrm>
        <a:graphic>
          <a:graphicData uri="http://schemas.openxmlformats.org/drawingml/2006/table">
            <a:tbl>
              <a:tblPr/>
              <a:tblGrid>
                <a:gridCol w="218880"/>
                <a:gridCol w="225000"/>
                <a:gridCol w="225000"/>
                <a:gridCol w="225000"/>
                <a:gridCol w="22392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bl>
          </a:graphicData>
        </a:graphic>
      </p:graphicFrame>
      <p:graphicFrame>
        <p:nvGraphicFramePr>
          <p:cNvPr id="288" name="Google Shape;260;p6"/>
          <p:cNvGraphicFramePr/>
          <p:nvPr/>
        </p:nvGraphicFramePr>
        <p:xfrm>
          <a:off x="2217240" y="685080"/>
          <a:ext cx="1116000" cy="101160"/>
        </p:xfrm>
        <a:graphic>
          <a:graphicData uri="http://schemas.openxmlformats.org/drawingml/2006/table">
            <a:tbl>
              <a:tblPr/>
              <a:tblGrid>
                <a:gridCol w="218880"/>
                <a:gridCol w="218880"/>
                <a:gridCol w="237600"/>
                <a:gridCol w="220680"/>
                <a:gridCol w="21996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7f7fff"/>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7f7fff"/>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7f7fff"/>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7f7fff"/>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7f7fff"/>
                    </a:solidFill>
                  </a:tcPr>
                </a:tc>
              </a:tr>
            </a:tbl>
          </a:graphicData>
        </a:graphic>
      </p:graphicFrame>
      <p:sp>
        <p:nvSpPr>
          <p:cNvPr id="289" name="Google Shape;261;p6"/>
          <p:cNvSpPr/>
          <p:nvPr/>
        </p:nvSpPr>
        <p:spPr>
          <a:xfrm>
            <a:off x="2285640" y="118080"/>
            <a:ext cx="14572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Expression</a:t>
            </a:r>
            <a:endParaRPr b="0" lang="en-US" sz="1000" spc="-1" strike="noStrike">
              <a:latin typeface="Arial"/>
            </a:endParaRPr>
          </a:p>
        </p:txBody>
      </p:sp>
      <p:sp>
        <p:nvSpPr>
          <p:cNvPr id="290" name="Google Shape;262;p6"/>
          <p:cNvSpPr/>
          <p:nvPr/>
        </p:nvSpPr>
        <p:spPr>
          <a:xfrm>
            <a:off x="2187720" y="464040"/>
            <a:ext cx="14572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Mutated Genes</a:t>
            </a:r>
            <a:endParaRPr b="0" lang="en-US" sz="1000" spc="-1" strike="noStrike">
              <a:latin typeface="Arial"/>
            </a:endParaRPr>
          </a:p>
        </p:txBody>
      </p:sp>
      <p:sp>
        <p:nvSpPr>
          <p:cNvPr id="291" name="Google Shape;263;p6"/>
          <p:cNvSpPr/>
          <p:nvPr/>
        </p:nvSpPr>
        <p:spPr>
          <a:xfrm>
            <a:off x="2949480" y="1361160"/>
            <a:ext cx="1580400" cy="24336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Molecular fingerprint</a:t>
            </a:r>
            <a:endParaRPr b="0" lang="en-US" sz="1000" spc="-1" strike="noStrike">
              <a:latin typeface="Arial"/>
            </a:endParaRPr>
          </a:p>
        </p:txBody>
      </p:sp>
      <p:sp>
        <p:nvSpPr>
          <p:cNvPr id="292" name="Google Shape;264;p6"/>
          <p:cNvSpPr/>
          <p:nvPr/>
        </p:nvSpPr>
        <p:spPr>
          <a:xfrm>
            <a:off x="2956680" y="1706040"/>
            <a:ext cx="1580400" cy="24336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Embedding vector</a:t>
            </a:r>
            <a:endParaRPr b="0" lang="en-US" sz="1000" spc="-1" strike="noStrike">
              <a:latin typeface="Arial"/>
            </a:endParaRPr>
          </a:p>
        </p:txBody>
      </p:sp>
      <p:sp>
        <p:nvSpPr>
          <p:cNvPr id="293" name="Google Shape;265;p6"/>
          <p:cNvSpPr/>
          <p:nvPr/>
        </p:nvSpPr>
        <p:spPr>
          <a:xfrm flipH="1" rot="10800000">
            <a:off x="2151360" y="1696320"/>
            <a:ext cx="847440" cy="213480"/>
          </a:xfrm>
          <a:custGeom>
            <a:avLst/>
            <a:gdLst/>
            <a:ahLst/>
            <a:rect l="l" t="t" r="r" b="b"/>
            <a:pathLst>
              <a:path w="21600" h="21600">
                <a:moveTo>
                  <a:pt x="0" y="0"/>
                </a:moveTo>
                <a:lnTo>
                  <a:pt x="21600" y="21600"/>
                </a:lnTo>
              </a:path>
            </a:pathLst>
          </a:custGeom>
          <a:noFill/>
          <a:ln w="12700">
            <a:solidFill>
              <a:srgbClr val="000000"/>
            </a:solidFill>
            <a:round/>
            <a:tailEnd len="med" type="triangle" w="med"/>
          </a:ln>
        </p:spPr>
        <p:style>
          <a:lnRef idx="0"/>
          <a:fillRef idx="0"/>
          <a:effectRef idx="0"/>
          <a:fontRef idx="minor"/>
        </p:style>
      </p:sp>
      <p:sp>
        <p:nvSpPr>
          <p:cNvPr id="294" name="Google Shape;266;p6"/>
          <p:cNvSpPr/>
          <p:nvPr/>
        </p:nvSpPr>
        <p:spPr>
          <a:xfrm>
            <a:off x="2149200" y="1906200"/>
            <a:ext cx="849240" cy="77760"/>
          </a:xfrm>
          <a:custGeom>
            <a:avLst/>
            <a:gdLst/>
            <a:ahLst/>
            <a:rect l="l" t="t" r="r" b="b"/>
            <a:pathLst>
              <a:path w="21600" h="21600">
                <a:moveTo>
                  <a:pt x="0" y="0"/>
                </a:moveTo>
                <a:lnTo>
                  <a:pt x="21600" y="21600"/>
                </a:lnTo>
              </a:path>
            </a:pathLst>
          </a:custGeom>
          <a:noFill/>
          <a:ln w="12700">
            <a:solidFill>
              <a:srgbClr val="000000"/>
            </a:solidFill>
            <a:round/>
            <a:tailEnd len="med" type="triangle" w="med"/>
          </a:ln>
        </p:spPr>
        <p:style>
          <a:lnRef idx="0"/>
          <a:fillRef idx="0"/>
          <a:effectRef idx="0"/>
          <a:fontRef idx="minor"/>
        </p:style>
      </p:sp>
      <p:sp>
        <p:nvSpPr>
          <p:cNvPr id="295" name="Google Shape;267;p6"/>
          <p:cNvSpPr/>
          <p:nvPr/>
        </p:nvSpPr>
        <p:spPr>
          <a:xfrm rot="20608200">
            <a:off x="2258280" y="1609200"/>
            <a:ext cx="55800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RDkit</a:t>
            </a:r>
            <a:endParaRPr b="0" lang="en-US" sz="1000" spc="-1" strike="noStrike">
              <a:latin typeface="Arial"/>
            </a:endParaRPr>
          </a:p>
        </p:txBody>
      </p:sp>
      <p:sp>
        <p:nvSpPr>
          <p:cNvPr id="296" name="Google Shape;268;p6"/>
          <p:cNvSpPr/>
          <p:nvPr/>
        </p:nvSpPr>
        <p:spPr>
          <a:xfrm rot="307800">
            <a:off x="2199960" y="1937880"/>
            <a:ext cx="879840" cy="39564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Transfer learning</a:t>
            </a:r>
            <a:endParaRPr b="0" lang="en-US" sz="1000" spc="-1" strike="noStrike">
              <a:latin typeface="Arial"/>
            </a:endParaRPr>
          </a:p>
        </p:txBody>
      </p:sp>
      <p:graphicFrame>
        <p:nvGraphicFramePr>
          <p:cNvPr id="297" name="Google Shape;269;p6"/>
          <p:cNvGraphicFramePr/>
          <p:nvPr/>
        </p:nvGraphicFramePr>
        <p:xfrm>
          <a:off x="2221920" y="3360960"/>
          <a:ext cx="1117800" cy="101160"/>
        </p:xfrm>
        <a:graphic>
          <a:graphicData uri="http://schemas.openxmlformats.org/drawingml/2006/table">
            <a:tbl>
              <a:tblPr/>
              <a:tblGrid>
                <a:gridCol w="218880"/>
                <a:gridCol w="220680"/>
                <a:gridCol w="220680"/>
                <a:gridCol w="218880"/>
                <a:gridCol w="23868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path path="circle">
                        <a:fillToRect l="50000" t="50000" r="50000" b="50000"/>
                      </a:path>
                    </a:gra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path path="circle">
                        <a:fillToRect l="50000" t="50000" r="50000" b="50000"/>
                      </a:path>
                    </a:gra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path path="circle">
                        <a:fillToRect l="50000" t="50000" r="50000" b="50000"/>
                      </a:path>
                    </a:gra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path path="circle">
                        <a:fillToRect l="50000" t="50000" r="50000" b="50000"/>
                      </a:path>
                    </a:gra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path path="circle">
                        <a:fillToRect l="50000" t="50000" r="50000" b="50000"/>
                      </a:path>
                    </a:gradFill>
                  </a:tcPr>
                </a:tc>
              </a:tr>
            </a:tbl>
          </a:graphicData>
        </a:graphic>
      </p:graphicFrame>
      <p:sp>
        <p:nvSpPr>
          <p:cNvPr id="298" name="Google Shape;270;p6"/>
          <p:cNvSpPr/>
          <p:nvPr/>
        </p:nvSpPr>
        <p:spPr>
          <a:xfrm>
            <a:off x="2180520" y="3142440"/>
            <a:ext cx="143136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PPI + drug targets</a:t>
            </a:r>
            <a:endParaRPr b="0" lang="en-US" sz="1000" spc="-1" strike="noStrike">
              <a:latin typeface="Arial"/>
            </a:endParaRPr>
          </a:p>
        </p:txBody>
      </p:sp>
      <p:graphicFrame>
        <p:nvGraphicFramePr>
          <p:cNvPr id="299" name="Google Shape;271;p6"/>
          <p:cNvGraphicFramePr/>
          <p:nvPr/>
        </p:nvGraphicFramePr>
        <p:xfrm>
          <a:off x="4974840" y="1530000"/>
          <a:ext cx="1117800" cy="101160"/>
        </p:xfrm>
        <a:graphic>
          <a:graphicData uri="http://schemas.openxmlformats.org/drawingml/2006/table">
            <a:tbl>
              <a:tblPr/>
              <a:tblGrid>
                <a:gridCol w="218880"/>
                <a:gridCol w="225000"/>
                <a:gridCol w="225000"/>
                <a:gridCol w="225000"/>
                <a:gridCol w="22392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dc6b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dc6b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dc6b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dc6b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dc6b0"/>
                    </a:solidFill>
                  </a:tcPr>
                </a:tc>
              </a:tr>
            </a:tbl>
          </a:graphicData>
        </a:graphic>
      </p:graphicFrame>
      <p:sp>
        <p:nvSpPr>
          <p:cNvPr id="300" name="Google Shape;272;p6"/>
          <p:cNvSpPr/>
          <p:nvPr/>
        </p:nvSpPr>
        <p:spPr>
          <a:xfrm>
            <a:off x="4869000" y="1283760"/>
            <a:ext cx="162756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Pathway enrichment</a:t>
            </a:r>
            <a:endParaRPr b="0" lang="en-US" sz="1000" spc="-1" strike="noStrike">
              <a:latin typeface="Arial"/>
            </a:endParaRPr>
          </a:p>
        </p:txBody>
      </p:sp>
      <p:sp>
        <p:nvSpPr>
          <p:cNvPr id="301" name="Google Shape;273;p6"/>
          <p:cNvSpPr/>
          <p:nvPr/>
        </p:nvSpPr>
        <p:spPr>
          <a:xfrm flipH="1" rot="10800000">
            <a:off x="3331080" y="2065680"/>
            <a:ext cx="3064680" cy="1337400"/>
          </a:xfrm>
          <a:prstGeom prst="bentConnector3">
            <a:avLst>
              <a:gd name="adj1" fmla="val 100067"/>
            </a:avLst>
          </a:prstGeom>
          <a:noFill/>
          <a:ln w="12700">
            <a:solidFill>
              <a:srgbClr val="000000"/>
            </a:solidFill>
            <a:round/>
            <a:tailEnd len="med" type="triangle" w="med"/>
          </a:ln>
        </p:spPr>
        <p:style>
          <a:lnRef idx="0"/>
          <a:fillRef idx="0"/>
          <a:effectRef idx="0"/>
          <a:fontRef idx="minor"/>
        </p:style>
      </p:sp>
      <p:graphicFrame>
        <p:nvGraphicFramePr>
          <p:cNvPr id="302" name="Google Shape;274;p6"/>
          <p:cNvGraphicFramePr/>
          <p:nvPr/>
        </p:nvGraphicFramePr>
        <p:xfrm>
          <a:off x="5708880" y="1899360"/>
          <a:ext cx="1117800" cy="101160"/>
        </p:xfrm>
        <a:graphic>
          <a:graphicData uri="http://schemas.openxmlformats.org/drawingml/2006/table">
            <a:tbl>
              <a:tblPr/>
              <a:tblGrid>
                <a:gridCol w="218880"/>
                <a:gridCol w="225000"/>
                <a:gridCol w="225000"/>
                <a:gridCol w="225000"/>
                <a:gridCol w="22392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1b584"/>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1b584"/>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1b584"/>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1b584"/>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1b584"/>
                    </a:solidFill>
                  </a:tcPr>
                </a:tc>
              </a:tr>
            </a:tbl>
          </a:graphicData>
        </a:graphic>
      </p:graphicFrame>
      <p:sp>
        <p:nvSpPr>
          <p:cNvPr id="303" name="Google Shape;275;p6"/>
          <p:cNvSpPr/>
          <p:nvPr/>
        </p:nvSpPr>
        <p:spPr>
          <a:xfrm>
            <a:off x="5793120" y="1656720"/>
            <a:ext cx="162756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Pathway AUC</a:t>
            </a:r>
            <a:endParaRPr b="0" lang="en-US" sz="1000" spc="-1" strike="noStrike">
              <a:latin typeface="Arial"/>
            </a:endParaRPr>
          </a:p>
        </p:txBody>
      </p:sp>
      <p:sp>
        <p:nvSpPr>
          <p:cNvPr id="304" name="Google Shape;276;p6"/>
          <p:cNvSpPr/>
          <p:nvPr/>
        </p:nvSpPr>
        <p:spPr>
          <a:xfrm flipH="1" rot="10800000">
            <a:off x="3348720" y="1671120"/>
            <a:ext cx="2158560" cy="1369440"/>
          </a:xfrm>
          <a:prstGeom prst="bentConnector2">
            <a:avLst/>
          </a:prstGeom>
          <a:noFill/>
          <a:ln w="12700">
            <a:solidFill>
              <a:srgbClr val="000000"/>
            </a:solidFill>
            <a:round/>
            <a:tailEnd len="med" type="triangle" w="med"/>
          </a:ln>
        </p:spPr>
        <p:style>
          <a:lnRef idx="0"/>
          <a:fillRef idx="0"/>
          <a:effectRef idx="0"/>
          <a:fontRef idx="minor"/>
        </p:style>
      </p:sp>
      <p:grpSp>
        <p:nvGrpSpPr>
          <p:cNvPr id="305" name="Google Shape;277;p6"/>
          <p:cNvGrpSpPr/>
          <p:nvPr/>
        </p:nvGrpSpPr>
        <p:grpSpPr>
          <a:xfrm>
            <a:off x="1152360" y="468360"/>
            <a:ext cx="994320" cy="471960"/>
            <a:chOff x="1152360" y="468360"/>
            <a:chExt cx="994320" cy="471960"/>
          </a:xfrm>
        </p:grpSpPr>
        <p:sp>
          <p:nvSpPr>
            <p:cNvPr id="306" name="Google Shape;278;p6"/>
            <p:cNvSpPr/>
            <p:nvPr/>
          </p:nvSpPr>
          <p:spPr>
            <a:xfrm>
              <a:off x="1208160" y="468360"/>
              <a:ext cx="903960" cy="461160"/>
            </a:xfrm>
            <a:prstGeom prst="rect">
              <a:avLst/>
            </a:prstGeom>
            <a:solidFill>
              <a:srgbClr val="baf1f2"/>
            </a:solidFill>
            <a:ln w="0">
              <a:noFill/>
            </a:ln>
          </p:spPr>
          <p:style>
            <a:lnRef idx="0"/>
            <a:fillRef idx="0"/>
            <a:effectRef idx="0"/>
            <a:fontRef idx="minor"/>
          </p:style>
        </p:sp>
        <p:sp>
          <p:nvSpPr>
            <p:cNvPr id="307" name="Google Shape;279;p6"/>
            <p:cNvSpPr/>
            <p:nvPr/>
          </p:nvSpPr>
          <p:spPr>
            <a:xfrm>
              <a:off x="1152360" y="484200"/>
              <a:ext cx="994320" cy="45612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1" lang="en-US" sz="1200" spc="-1" strike="noStrike">
                  <a:solidFill>
                    <a:srgbClr val="000000"/>
                  </a:solidFill>
                  <a:latin typeface="Arial"/>
                  <a:ea typeface="Arial"/>
                </a:rPr>
                <a:t>Cancer Samples</a:t>
              </a:r>
              <a:endParaRPr b="0" lang="en-US" sz="1200" spc="-1" strike="noStrike">
                <a:latin typeface="Arial"/>
              </a:endParaRPr>
            </a:p>
          </p:txBody>
        </p:sp>
      </p:grpSp>
      <p:sp>
        <p:nvSpPr>
          <p:cNvPr id="308" name="Google Shape;280;p6"/>
          <p:cNvSpPr/>
          <p:nvPr/>
        </p:nvSpPr>
        <p:spPr>
          <a:xfrm>
            <a:off x="1207800" y="1673640"/>
            <a:ext cx="905040" cy="465840"/>
          </a:xfrm>
          <a:prstGeom prst="rect">
            <a:avLst/>
          </a:prstGeom>
          <a:solidFill>
            <a:srgbClr val="baf1f2"/>
          </a:solidFill>
          <a:ln w="0">
            <a:noFill/>
          </a:ln>
        </p:spPr>
        <p:style>
          <a:lnRef idx="0"/>
          <a:fillRef idx="0"/>
          <a:effectRef idx="0"/>
          <a:fontRef idx="minor"/>
        </p:style>
      </p:sp>
      <p:sp>
        <p:nvSpPr>
          <p:cNvPr id="309" name="Google Shape;281;p6"/>
          <p:cNvSpPr/>
          <p:nvPr/>
        </p:nvSpPr>
        <p:spPr>
          <a:xfrm>
            <a:off x="1349640" y="1767240"/>
            <a:ext cx="758880" cy="2736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200" spc="-1" strike="noStrike">
                <a:solidFill>
                  <a:srgbClr val="000000"/>
                </a:solidFill>
                <a:latin typeface="Arial"/>
                <a:ea typeface="Arial"/>
              </a:rPr>
              <a:t>Drugs</a:t>
            </a:r>
            <a:endParaRPr b="0" lang="en-US" sz="1200" spc="-1" strike="noStrike">
              <a:latin typeface="Arial"/>
            </a:endParaRPr>
          </a:p>
        </p:txBody>
      </p:sp>
      <p:sp>
        <p:nvSpPr>
          <p:cNvPr id="310" name="Google Shape;282;p6"/>
          <p:cNvSpPr/>
          <p:nvPr/>
        </p:nvSpPr>
        <p:spPr>
          <a:xfrm>
            <a:off x="1207800" y="2901240"/>
            <a:ext cx="905040" cy="465840"/>
          </a:xfrm>
          <a:prstGeom prst="rect">
            <a:avLst/>
          </a:prstGeom>
          <a:solidFill>
            <a:srgbClr val="baf1f2"/>
          </a:solidFill>
          <a:ln w="0">
            <a:noFill/>
          </a:ln>
        </p:spPr>
        <p:style>
          <a:lnRef idx="0"/>
          <a:fillRef idx="0"/>
          <a:effectRef idx="0"/>
          <a:fontRef idx="minor"/>
        </p:style>
      </p:sp>
      <p:sp>
        <p:nvSpPr>
          <p:cNvPr id="311" name="Google Shape;283;p6"/>
          <p:cNvSpPr/>
          <p:nvPr/>
        </p:nvSpPr>
        <p:spPr>
          <a:xfrm>
            <a:off x="1197360" y="2917080"/>
            <a:ext cx="905040" cy="456120"/>
          </a:xfrm>
          <a:prstGeom prst="rect">
            <a:avLst/>
          </a:prstGeom>
          <a:solidFill>
            <a:srgbClr val="baf1f2"/>
          </a:solidFill>
          <a:ln w="0">
            <a:noFill/>
          </a:ln>
        </p:spPr>
        <p:style>
          <a:lnRef idx="0"/>
          <a:fillRef idx="0"/>
          <a:effectRef idx="0"/>
          <a:fontRef idx="minor"/>
        </p:style>
        <p:txBody>
          <a:bodyPr anchor="t">
            <a:spAutoFit/>
          </a:bodyPr>
          <a:p>
            <a:pPr algn="ctr">
              <a:lnSpc>
                <a:spcPct val="100000"/>
              </a:lnSpc>
              <a:buNone/>
              <a:tabLst>
                <a:tab algn="l" pos="0"/>
              </a:tabLst>
            </a:pPr>
            <a:r>
              <a:rPr b="1" lang="en-US" sz="1200" spc="-1" strike="noStrike">
                <a:solidFill>
                  <a:srgbClr val="000000"/>
                </a:solidFill>
                <a:latin typeface="Arial"/>
                <a:ea typeface="Arial"/>
              </a:rPr>
              <a:t>Existing data</a:t>
            </a:r>
            <a:endParaRPr b="0" lang="en-US" sz="1200" spc="-1" strike="noStrike">
              <a:latin typeface="Arial"/>
            </a:endParaRPr>
          </a:p>
        </p:txBody>
      </p:sp>
      <p:sp>
        <p:nvSpPr>
          <p:cNvPr id="312" name="Google Shape;284;p6"/>
          <p:cNvSpPr/>
          <p:nvPr/>
        </p:nvSpPr>
        <p:spPr>
          <a:xfrm>
            <a:off x="3483000" y="398520"/>
            <a:ext cx="2909520" cy="1266480"/>
          </a:xfrm>
          <a:prstGeom prst="bentConnector2">
            <a:avLst/>
          </a:prstGeom>
          <a:noFill/>
          <a:ln w="12700">
            <a:solidFill>
              <a:srgbClr val="000000"/>
            </a:solidFill>
            <a:round/>
            <a:tailEnd len="med" type="triangle" w="med"/>
          </a:ln>
        </p:spPr>
        <p:style>
          <a:lnRef idx="0"/>
          <a:fillRef idx="0"/>
          <a:effectRef idx="0"/>
          <a:fontRef idx="minor"/>
        </p:style>
      </p:sp>
      <p:sp>
        <p:nvSpPr>
          <p:cNvPr id="313" name="Google Shape;285;p6"/>
          <p:cNvSpPr/>
          <p:nvPr/>
        </p:nvSpPr>
        <p:spPr>
          <a:xfrm>
            <a:off x="3476880" y="750240"/>
            <a:ext cx="2048400" cy="500400"/>
          </a:xfrm>
          <a:prstGeom prst="bentConnector2">
            <a:avLst/>
          </a:prstGeom>
          <a:noFill/>
          <a:ln w="12700">
            <a:solidFill>
              <a:srgbClr val="000000"/>
            </a:solidFill>
            <a:round/>
            <a:tailEnd len="med" type="triangle" w="med"/>
          </a:ln>
        </p:spPr>
        <p:style>
          <a:lnRef idx="0"/>
          <a:fillRef idx="0"/>
          <a:effectRef idx="0"/>
          <a:fontRef idx="minor"/>
        </p:style>
      </p:sp>
      <p:sp>
        <p:nvSpPr>
          <p:cNvPr id="314" name="Google Shape;286;p6"/>
          <p:cNvSpPr/>
          <p:nvPr/>
        </p:nvSpPr>
        <p:spPr>
          <a:xfrm>
            <a:off x="3350520" y="399240"/>
            <a:ext cx="12168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15" name="Google Shape;287;p6"/>
          <p:cNvSpPr/>
          <p:nvPr/>
        </p:nvSpPr>
        <p:spPr>
          <a:xfrm flipH="1" rot="10800000">
            <a:off x="3477960" y="402120"/>
            <a:ext cx="5400" cy="35064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16" name="Google Shape;288;p6"/>
          <p:cNvSpPr/>
          <p:nvPr/>
        </p:nvSpPr>
        <p:spPr>
          <a:xfrm>
            <a:off x="-855360" y="366840"/>
            <a:ext cx="2047680" cy="852480"/>
          </a:xfrm>
          <a:prstGeom prst="rect">
            <a:avLst/>
          </a:prstGeom>
          <a:noFill/>
          <a:ln w="0">
            <a:noFill/>
          </a:ln>
        </p:spPr>
        <p:style>
          <a:lnRef idx="0"/>
          <a:fillRef idx="0"/>
          <a:effectRef idx="0"/>
          <a:fontRef idx="minor"/>
        </p:style>
        <p:txBody>
          <a:bodyPr anchor="t">
            <a:spAutoFit/>
          </a:bodyPr>
          <a:p>
            <a:pPr algn="r">
              <a:lnSpc>
                <a:spcPct val="100000"/>
              </a:lnSpc>
              <a:buNone/>
              <a:tabLst>
                <a:tab algn="l" pos="0"/>
              </a:tabLst>
            </a:pPr>
            <a:r>
              <a:rPr b="0" lang="en-US" sz="1000" spc="-1" strike="noStrike">
                <a:solidFill>
                  <a:srgbClr val="000000"/>
                </a:solidFill>
                <a:latin typeface="Arial"/>
                <a:ea typeface="Arial"/>
              </a:rPr>
              <a:t>Train - BeatAML</a:t>
            </a:r>
            <a:endParaRPr b="0" lang="en-US" sz="1000" spc="-1" strike="noStrike">
              <a:latin typeface="Arial"/>
            </a:endParaRPr>
          </a:p>
          <a:p>
            <a:pPr algn="r">
              <a:lnSpc>
                <a:spcPct val="100000"/>
              </a:lnSpc>
              <a:buNone/>
              <a:tabLst>
                <a:tab algn="l" pos="0"/>
              </a:tabLst>
            </a:pPr>
            <a:r>
              <a:rPr b="0" lang="en-US" sz="1000" spc="-1" strike="noStrike">
                <a:solidFill>
                  <a:srgbClr val="000000"/>
                </a:solidFill>
                <a:latin typeface="Arial"/>
                <a:ea typeface="Arial"/>
              </a:rPr>
              <a:t>(Wave 1+2)</a:t>
            </a:r>
            <a:endParaRPr b="0" lang="en-US" sz="1000" spc="-1" strike="noStrike">
              <a:latin typeface="Arial"/>
            </a:endParaRPr>
          </a:p>
          <a:p>
            <a:pPr algn="r">
              <a:lnSpc>
                <a:spcPct val="100000"/>
              </a:lnSpc>
              <a:buNone/>
              <a:tabLst>
                <a:tab algn="l" pos="0"/>
              </a:tabLst>
            </a:pPr>
            <a:r>
              <a:rPr b="0" lang="en-US" sz="1000" spc="-1" strike="noStrike">
                <a:solidFill>
                  <a:srgbClr val="000000"/>
                </a:solidFill>
                <a:latin typeface="Arial"/>
                <a:ea typeface="Arial"/>
              </a:rPr>
              <a:t>Test – BeatAML</a:t>
            </a:r>
            <a:endParaRPr b="0" lang="en-US" sz="1000" spc="-1" strike="noStrike">
              <a:latin typeface="Arial"/>
            </a:endParaRPr>
          </a:p>
          <a:p>
            <a:pPr algn="r">
              <a:lnSpc>
                <a:spcPct val="100000"/>
              </a:lnSpc>
              <a:buNone/>
              <a:tabLst>
                <a:tab algn="l" pos="0"/>
              </a:tabLst>
            </a:pPr>
            <a:r>
              <a:rPr b="0" lang="en-US" sz="1000" spc="-1" strike="noStrike">
                <a:solidFill>
                  <a:srgbClr val="000000"/>
                </a:solidFill>
                <a:latin typeface="Arial"/>
                <a:ea typeface="Arial"/>
              </a:rPr>
              <a:t>(Wave 3+4)</a:t>
            </a:r>
            <a:endParaRPr b="0" lang="en-US" sz="1000" spc="-1" strike="noStrike">
              <a:latin typeface="Arial"/>
            </a:endParaRPr>
          </a:p>
          <a:p>
            <a:pPr algn="r">
              <a:lnSpc>
                <a:spcPct val="100000"/>
              </a:lnSpc>
              <a:buNone/>
              <a:tabLst>
                <a:tab algn="l" pos="0"/>
              </a:tabLst>
            </a:pPr>
            <a:endParaRPr b="0" lang="en-US" sz="1000" spc="-1" strike="noStrike">
              <a:latin typeface="Arial"/>
            </a:endParaRPr>
          </a:p>
        </p:txBody>
      </p:sp>
      <p:sp>
        <p:nvSpPr>
          <p:cNvPr id="317" name="Google Shape;289;p6"/>
          <p:cNvSpPr/>
          <p:nvPr/>
        </p:nvSpPr>
        <p:spPr>
          <a:xfrm>
            <a:off x="-277920" y="1576080"/>
            <a:ext cx="1437840" cy="700200"/>
          </a:xfrm>
          <a:prstGeom prst="rect">
            <a:avLst/>
          </a:prstGeom>
          <a:noFill/>
          <a:ln w="0">
            <a:noFill/>
          </a:ln>
        </p:spPr>
        <p:style>
          <a:lnRef idx="0"/>
          <a:fillRef idx="0"/>
          <a:effectRef idx="0"/>
          <a:fontRef idx="minor"/>
        </p:style>
        <p:txBody>
          <a:bodyPr anchor="t">
            <a:spAutoFit/>
          </a:bodyPr>
          <a:p>
            <a:pPr algn="r">
              <a:lnSpc>
                <a:spcPct val="100000"/>
              </a:lnSpc>
              <a:buNone/>
              <a:tabLst>
                <a:tab algn="l" pos="0"/>
              </a:tabLst>
            </a:pPr>
            <a:r>
              <a:rPr b="0" lang="en-US" sz="1000" spc="-1" strike="noStrike">
                <a:solidFill>
                  <a:srgbClr val="000000"/>
                </a:solidFill>
                <a:latin typeface="Arial"/>
                <a:ea typeface="Arial"/>
              </a:rPr>
              <a:t>BeatAML Drugs </a:t>
            </a:r>
            <a:endParaRPr b="0" lang="en-US" sz="1000" spc="-1" strike="noStrike">
              <a:latin typeface="Arial"/>
            </a:endParaRPr>
          </a:p>
          <a:p>
            <a:pPr algn="r">
              <a:lnSpc>
                <a:spcPct val="100000"/>
              </a:lnSpc>
              <a:buNone/>
              <a:tabLst>
                <a:tab algn="l" pos="0"/>
              </a:tabLst>
            </a:pPr>
            <a:r>
              <a:rPr b="0" lang="en-US" sz="1000" spc="-1" strike="noStrike">
                <a:solidFill>
                  <a:srgbClr val="000000"/>
                </a:solidFill>
                <a:latin typeface="Arial"/>
                <a:ea typeface="Arial"/>
              </a:rPr>
              <a:t>DrugBank</a:t>
            </a:r>
            <a:endParaRPr b="0" lang="en-US" sz="1000" spc="-1" strike="noStrike">
              <a:latin typeface="Arial"/>
            </a:endParaRPr>
          </a:p>
          <a:p>
            <a:pPr algn="r">
              <a:lnSpc>
                <a:spcPct val="100000"/>
              </a:lnSpc>
              <a:buNone/>
              <a:tabLst>
                <a:tab algn="l" pos="0"/>
              </a:tabLst>
            </a:pPr>
            <a:r>
              <a:rPr b="0" lang="en-US" sz="1000" spc="-1" strike="noStrike">
                <a:solidFill>
                  <a:srgbClr val="000000"/>
                </a:solidFill>
                <a:latin typeface="Arial"/>
                <a:ea typeface="Arial"/>
              </a:rPr>
              <a:t>DeepRepurpose</a:t>
            </a:r>
            <a:endParaRPr b="0" lang="en-US" sz="1000" spc="-1" strike="noStrike">
              <a:latin typeface="Arial"/>
            </a:endParaRPr>
          </a:p>
          <a:p>
            <a:pPr algn="r">
              <a:lnSpc>
                <a:spcPct val="100000"/>
              </a:lnSpc>
              <a:buNone/>
              <a:tabLst>
                <a:tab algn="l" pos="0"/>
              </a:tabLst>
            </a:pPr>
            <a:r>
              <a:rPr b="0" lang="en-US" sz="1000" spc="-1" strike="noStrike">
                <a:solidFill>
                  <a:srgbClr val="000000"/>
                </a:solidFill>
                <a:latin typeface="Arial"/>
                <a:ea typeface="Arial"/>
              </a:rPr>
              <a:t>(SMILES)</a:t>
            </a:r>
            <a:endParaRPr b="0" lang="en-US" sz="1000" spc="-1" strike="noStrike">
              <a:latin typeface="Arial"/>
            </a:endParaRPr>
          </a:p>
        </p:txBody>
      </p:sp>
      <p:sp>
        <p:nvSpPr>
          <p:cNvPr id="318" name="Google Shape;290;p6"/>
          <p:cNvSpPr/>
          <p:nvPr/>
        </p:nvSpPr>
        <p:spPr>
          <a:xfrm>
            <a:off x="-424800" y="2744640"/>
            <a:ext cx="1604520" cy="700200"/>
          </a:xfrm>
          <a:prstGeom prst="rect">
            <a:avLst/>
          </a:prstGeom>
          <a:noFill/>
          <a:ln w="0">
            <a:noFill/>
          </a:ln>
        </p:spPr>
        <p:style>
          <a:lnRef idx="0"/>
          <a:fillRef idx="0"/>
          <a:effectRef idx="0"/>
          <a:fontRef idx="minor"/>
        </p:style>
        <p:txBody>
          <a:bodyPr anchor="t">
            <a:spAutoFit/>
          </a:bodyPr>
          <a:p>
            <a:pPr algn="r">
              <a:lnSpc>
                <a:spcPct val="100000"/>
              </a:lnSpc>
              <a:buNone/>
              <a:tabLst>
                <a:tab algn="l" pos="0"/>
              </a:tabLst>
            </a:pPr>
            <a:r>
              <a:rPr b="0" lang="en-US" sz="1000" spc="-1" strike="noStrike">
                <a:solidFill>
                  <a:srgbClr val="000000"/>
                </a:solidFill>
                <a:latin typeface="Arial"/>
                <a:ea typeface="Arial"/>
              </a:rPr>
              <a:t>BeatAML (Cell + </a:t>
            </a:r>
            <a:endParaRPr b="0" lang="en-US" sz="1000" spc="-1" strike="noStrike">
              <a:latin typeface="Arial"/>
            </a:endParaRPr>
          </a:p>
          <a:p>
            <a:pPr algn="r">
              <a:lnSpc>
                <a:spcPct val="100000"/>
              </a:lnSpc>
              <a:buNone/>
              <a:tabLst>
                <a:tab algn="l" pos="0"/>
              </a:tabLst>
            </a:pPr>
            <a:r>
              <a:rPr b="0" lang="en-US" sz="1000" spc="-1" strike="noStrike">
                <a:solidFill>
                  <a:srgbClr val="000000"/>
                </a:solidFill>
                <a:latin typeface="Arial"/>
                <a:ea typeface="Arial"/>
              </a:rPr>
              <a:t>Module States) </a:t>
            </a:r>
            <a:endParaRPr b="0" lang="en-US" sz="1000" spc="-1" strike="noStrike">
              <a:latin typeface="Arial"/>
            </a:endParaRPr>
          </a:p>
          <a:p>
            <a:pPr algn="r">
              <a:lnSpc>
                <a:spcPct val="100000"/>
              </a:lnSpc>
              <a:buNone/>
              <a:tabLst>
                <a:tab algn="l" pos="0"/>
              </a:tabLst>
            </a:pPr>
            <a:r>
              <a:rPr b="0" lang="en-US" sz="1000" spc="-1" strike="noStrike">
                <a:solidFill>
                  <a:srgbClr val="000000"/>
                </a:solidFill>
                <a:latin typeface="Arial"/>
                <a:ea typeface="Arial"/>
              </a:rPr>
              <a:t>Pathway Database</a:t>
            </a:r>
            <a:endParaRPr b="0" lang="en-US" sz="1000" spc="-1" strike="noStrike">
              <a:latin typeface="Arial"/>
            </a:endParaRPr>
          </a:p>
          <a:p>
            <a:pPr algn="r">
              <a:lnSpc>
                <a:spcPct val="100000"/>
              </a:lnSpc>
              <a:buNone/>
              <a:tabLst>
                <a:tab algn="l" pos="0"/>
              </a:tabLst>
            </a:pPr>
            <a:r>
              <a:rPr b="0" lang="en-US" sz="1000" spc="-1" strike="noStrike">
                <a:solidFill>
                  <a:srgbClr val="000000"/>
                </a:solidFill>
                <a:latin typeface="Arial"/>
                <a:ea typeface="Arial"/>
              </a:rPr>
              <a:t>STRING PPI</a:t>
            </a:r>
            <a:endParaRPr b="0" lang="en-US" sz="1000" spc="-1" strike="noStrike">
              <a:latin typeface="Arial"/>
            </a:endParaRPr>
          </a:p>
        </p:txBody>
      </p:sp>
      <p:grpSp>
        <p:nvGrpSpPr>
          <p:cNvPr id="319" name="Google Shape;291;p6"/>
          <p:cNvGrpSpPr/>
          <p:nvPr/>
        </p:nvGrpSpPr>
        <p:grpSpPr>
          <a:xfrm>
            <a:off x="996120" y="367920"/>
            <a:ext cx="207000" cy="655920"/>
            <a:chOff x="996120" y="367920"/>
            <a:chExt cx="207000" cy="655920"/>
          </a:xfrm>
        </p:grpSpPr>
        <p:grpSp>
          <p:nvGrpSpPr>
            <p:cNvPr id="320" name="Google Shape;292;p6"/>
            <p:cNvGrpSpPr/>
            <p:nvPr/>
          </p:nvGrpSpPr>
          <p:grpSpPr>
            <a:xfrm>
              <a:off x="996120" y="367920"/>
              <a:ext cx="122040" cy="655920"/>
              <a:chOff x="996120" y="367920"/>
              <a:chExt cx="122040" cy="655920"/>
            </a:xfrm>
          </p:grpSpPr>
          <p:sp>
            <p:nvSpPr>
              <p:cNvPr id="321" name="Google Shape;293;p6"/>
              <p:cNvSpPr/>
              <p:nvPr/>
            </p:nvSpPr>
            <p:spPr>
              <a:xfrm>
                <a:off x="996120" y="370080"/>
                <a:ext cx="12168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22" name="Google Shape;294;p6"/>
              <p:cNvSpPr/>
              <p:nvPr/>
            </p:nvSpPr>
            <p:spPr>
              <a:xfrm>
                <a:off x="996480" y="1020600"/>
                <a:ext cx="12168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23" name="Google Shape;295;p6"/>
              <p:cNvSpPr/>
              <p:nvPr/>
            </p:nvSpPr>
            <p:spPr>
              <a:xfrm>
                <a:off x="1113840" y="367920"/>
                <a:ext cx="360" cy="65592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grpSp>
        <p:sp>
          <p:nvSpPr>
            <p:cNvPr id="324" name="Google Shape;296;p6"/>
            <p:cNvSpPr/>
            <p:nvPr/>
          </p:nvSpPr>
          <p:spPr>
            <a:xfrm>
              <a:off x="1112040" y="696240"/>
              <a:ext cx="9108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grpSp>
      <p:grpSp>
        <p:nvGrpSpPr>
          <p:cNvPr id="325" name="Google Shape;297;p6"/>
          <p:cNvGrpSpPr/>
          <p:nvPr/>
        </p:nvGrpSpPr>
        <p:grpSpPr>
          <a:xfrm>
            <a:off x="998280" y="1518120"/>
            <a:ext cx="207360" cy="764640"/>
            <a:chOff x="998280" y="1518120"/>
            <a:chExt cx="207360" cy="764640"/>
          </a:xfrm>
        </p:grpSpPr>
        <p:grpSp>
          <p:nvGrpSpPr>
            <p:cNvPr id="326" name="Google Shape;298;p6"/>
            <p:cNvGrpSpPr/>
            <p:nvPr/>
          </p:nvGrpSpPr>
          <p:grpSpPr>
            <a:xfrm>
              <a:off x="998280" y="1518120"/>
              <a:ext cx="122040" cy="764640"/>
              <a:chOff x="998280" y="1518120"/>
              <a:chExt cx="122040" cy="764640"/>
            </a:xfrm>
          </p:grpSpPr>
          <p:sp>
            <p:nvSpPr>
              <p:cNvPr id="327" name="Google Shape;299;p6"/>
              <p:cNvSpPr/>
              <p:nvPr/>
            </p:nvSpPr>
            <p:spPr>
              <a:xfrm>
                <a:off x="998640" y="1521720"/>
                <a:ext cx="12168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28" name="Google Shape;300;p6"/>
              <p:cNvSpPr/>
              <p:nvPr/>
            </p:nvSpPr>
            <p:spPr>
              <a:xfrm>
                <a:off x="998280" y="2277720"/>
                <a:ext cx="12168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29" name="Google Shape;301;p6"/>
              <p:cNvSpPr/>
              <p:nvPr/>
            </p:nvSpPr>
            <p:spPr>
              <a:xfrm>
                <a:off x="1116000" y="1518120"/>
                <a:ext cx="360" cy="76464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grpSp>
        <p:sp>
          <p:nvSpPr>
            <p:cNvPr id="330" name="Google Shape;302;p6"/>
            <p:cNvSpPr/>
            <p:nvPr/>
          </p:nvSpPr>
          <p:spPr>
            <a:xfrm>
              <a:off x="1114560" y="1900440"/>
              <a:ext cx="9108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grpSp>
      <p:grpSp>
        <p:nvGrpSpPr>
          <p:cNvPr id="331" name="Google Shape;303;p6"/>
          <p:cNvGrpSpPr/>
          <p:nvPr/>
        </p:nvGrpSpPr>
        <p:grpSpPr>
          <a:xfrm>
            <a:off x="996120" y="2728080"/>
            <a:ext cx="213120" cy="722520"/>
            <a:chOff x="996120" y="2728080"/>
            <a:chExt cx="213120" cy="722520"/>
          </a:xfrm>
        </p:grpSpPr>
        <p:grpSp>
          <p:nvGrpSpPr>
            <p:cNvPr id="332" name="Google Shape;304;p6"/>
            <p:cNvGrpSpPr/>
            <p:nvPr/>
          </p:nvGrpSpPr>
          <p:grpSpPr>
            <a:xfrm>
              <a:off x="996120" y="2728080"/>
              <a:ext cx="126720" cy="722520"/>
              <a:chOff x="996120" y="2728080"/>
              <a:chExt cx="126720" cy="722520"/>
            </a:xfrm>
          </p:grpSpPr>
          <p:sp>
            <p:nvSpPr>
              <p:cNvPr id="333" name="Google Shape;305;p6"/>
              <p:cNvSpPr/>
              <p:nvPr/>
            </p:nvSpPr>
            <p:spPr>
              <a:xfrm>
                <a:off x="996120" y="2734200"/>
                <a:ext cx="12672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34" name="Google Shape;306;p6"/>
              <p:cNvSpPr/>
              <p:nvPr/>
            </p:nvSpPr>
            <p:spPr>
              <a:xfrm>
                <a:off x="996120" y="3447720"/>
                <a:ext cx="12672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35" name="Google Shape;307;p6"/>
              <p:cNvSpPr/>
              <p:nvPr/>
            </p:nvSpPr>
            <p:spPr>
              <a:xfrm>
                <a:off x="1120680" y="2728080"/>
                <a:ext cx="360" cy="72252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grpSp>
        <p:sp>
          <p:nvSpPr>
            <p:cNvPr id="336" name="Google Shape;308;p6"/>
            <p:cNvSpPr/>
            <p:nvPr/>
          </p:nvSpPr>
          <p:spPr>
            <a:xfrm>
              <a:off x="1114200" y="3089520"/>
              <a:ext cx="9504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grpSp>
      <p:graphicFrame>
        <p:nvGraphicFramePr>
          <p:cNvPr id="337" name="Google Shape;309;p6"/>
          <p:cNvGraphicFramePr/>
          <p:nvPr/>
        </p:nvGraphicFramePr>
        <p:xfrm>
          <a:off x="6357600" y="4568040"/>
          <a:ext cx="126720" cy="500040"/>
        </p:xfrm>
        <a:graphic>
          <a:graphicData uri="http://schemas.openxmlformats.org/drawingml/2006/table">
            <a:tbl>
              <a:tblPr/>
              <a:tblGrid>
                <a:gridCol w="126720"/>
              </a:tblGrid>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1b584">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1b584">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1b584">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1b584">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1b584">
                        <a:alpha val="50000"/>
                      </a:srgbClr>
                    </a:solidFill>
                  </a:tcPr>
                </a:tc>
              </a:tr>
              <a:tr h="842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1b584">
                        <a:alpha val="50000"/>
                      </a:srgbClr>
                    </a:solidFill>
                  </a:tcPr>
                </a:tc>
              </a:tr>
            </a:tbl>
          </a:graphicData>
        </a:graphic>
      </p:graphicFrame>
      <p:graphicFrame>
        <p:nvGraphicFramePr>
          <p:cNvPr id="338" name="Google Shape;310;p6"/>
          <p:cNvGraphicFramePr/>
          <p:nvPr/>
        </p:nvGraphicFramePr>
        <p:xfrm>
          <a:off x="6357600" y="5333040"/>
          <a:ext cx="126720" cy="500040"/>
        </p:xfrm>
        <a:graphic>
          <a:graphicData uri="http://schemas.openxmlformats.org/drawingml/2006/table">
            <a:tbl>
              <a:tblPr/>
              <a:tblGrid>
                <a:gridCol w="126720"/>
              </a:tblGrid>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r>
              <a:tr h="842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r>
            </a:tbl>
          </a:graphicData>
        </a:graphic>
      </p:graphicFrame>
      <p:graphicFrame>
        <p:nvGraphicFramePr>
          <p:cNvPr id="339" name="Google Shape;311;p6"/>
          <p:cNvGraphicFramePr/>
          <p:nvPr/>
        </p:nvGraphicFramePr>
        <p:xfrm>
          <a:off x="6357600" y="5978880"/>
          <a:ext cx="126720" cy="500040"/>
        </p:xfrm>
        <a:graphic>
          <a:graphicData uri="http://schemas.openxmlformats.org/drawingml/2006/table">
            <a:tbl>
              <a:tblPr/>
              <a:tblGrid>
                <a:gridCol w="126720"/>
              </a:tblGrid>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dc6b0">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dc6b0">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dc6b0">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dc6b0">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dc6b0">
                        <a:alpha val="50000"/>
                      </a:srgbClr>
                    </a:solidFill>
                  </a:tcPr>
                </a:tc>
              </a:tr>
              <a:tr h="842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dc6b0">
                        <a:alpha val="50000"/>
                      </a:srgbClr>
                    </a:solidFill>
                  </a:tcPr>
                </a:tc>
              </a:tr>
            </a:tbl>
          </a:graphicData>
        </a:graphic>
      </p:graphicFrame>
      <p:graphicFrame>
        <p:nvGraphicFramePr>
          <p:cNvPr id="340" name="Google Shape;312;p6"/>
          <p:cNvGraphicFramePr/>
          <p:nvPr/>
        </p:nvGraphicFramePr>
        <p:xfrm>
          <a:off x="6368760" y="7183080"/>
          <a:ext cx="126720" cy="500040"/>
        </p:xfrm>
        <a:graphic>
          <a:graphicData uri="http://schemas.openxmlformats.org/drawingml/2006/table">
            <a:tbl>
              <a:tblPr/>
              <a:tblGrid>
                <a:gridCol w="126720"/>
              </a:tblGrid>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3c4e1">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3c4e1">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3c4e1">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3c4e1">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3c4e1">
                        <a:alpha val="50000"/>
                      </a:srgbClr>
                    </a:solidFill>
                  </a:tcPr>
                </a:tc>
              </a:tr>
              <a:tr h="842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3c4e1">
                        <a:alpha val="50000"/>
                      </a:srgbClr>
                    </a:solidFill>
                  </a:tcPr>
                </a:tc>
              </a:tr>
            </a:tbl>
          </a:graphicData>
        </a:graphic>
      </p:graphicFrame>
      <p:graphicFrame>
        <p:nvGraphicFramePr>
          <p:cNvPr id="341" name="Google Shape;313;p6"/>
          <p:cNvGraphicFramePr/>
          <p:nvPr/>
        </p:nvGraphicFramePr>
        <p:xfrm>
          <a:off x="6363000" y="7777080"/>
          <a:ext cx="126720" cy="500040"/>
        </p:xfrm>
        <a:graphic>
          <a:graphicData uri="http://schemas.openxmlformats.org/drawingml/2006/table">
            <a:tbl>
              <a:tblPr/>
              <a:tblGrid>
                <a:gridCol w="126720"/>
              </a:tblGrid>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7f7fff">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7f7fff">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7f7fff">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7f7fff">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7f7fff">
                        <a:alpha val="50000"/>
                      </a:srgbClr>
                    </a:solidFill>
                  </a:tcPr>
                </a:tc>
              </a:tr>
              <a:tr h="842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7f7fff">
                        <a:alpha val="50000"/>
                      </a:srgbClr>
                    </a:solidFill>
                  </a:tcPr>
                </a:tc>
              </a:tr>
            </a:tbl>
          </a:graphicData>
        </a:graphic>
      </p:graphicFrame>
      <p:graphicFrame>
        <p:nvGraphicFramePr>
          <p:cNvPr id="342" name="Google Shape;314;p6"/>
          <p:cNvGraphicFramePr/>
          <p:nvPr/>
        </p:nvGraphicFramePr>
        <p:xfrm>
          <a:off x="6363000" y="8420040"/>
          <a:ext cx="126720" cy="500040"/>
        </p:xfrm>
        <a:graphic>
          <a:graphicData uri="http://schemas.openxmlformats.org/drawingml/2006/table">
            <a:tbl>
              <a:tblPr/>
              <a:tblGrid>
                <a:gridCol w="126720"/>
              </a:tblGrid>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842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bl>
          </a:graphicData>
        </a:graphic>
      </p:graphicFrame>
      <p:sp>
        <p:nvSpPr>
          <p:cNvPr id="343" name="Google Shape;315;p6"/>
          <p:cNvSpPr/>
          <p:nvPr/>
        </p:nvSpPr>
        <p:spPr>
          <a:xfrm rot="16200000">
            <a:off x="6377400" y="8683200"/>
            <a:ext cx="447120" cy="24336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Expr</a:t>
            </a:r>
            <a:endParaRPr b="0" lang="en-US" sz="1000" spc="-1" strike="noStrike">
              <a:latin typeface="Arial"/>
            </a:endParaRPr>
          </a:p>
        </p:txBody>
      </p:sp>
      <p:sp>
        <p:nvSpPr>
          <p:cNvPr id="344" name="Google Shape;316;p6"/>
          <p:cNvSpPr/>
          <p:nvPr/>
        </p:nvSpPr>
        <p:spPr>
          <a:xfrm rot="16200000">
            <a:off x="6293880" y="7863840"/>
            <a:ext cx="748080" cy="39564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Mut Genes</a:t>
            </a:r>
            <a:endParaRPr b="0" lang="en-US" sz="1000" spc="-1" strike="noStrike">
              <a:latin typeface="Arial"/>
            </a:endParaRPr>
          </a:p>
        </p:txBody>
      </p:sp>
      <p:sp>
        <p:nvSpPr>
          <p:cNvPr id="345" name="Google Shape;317;p6"/>
          <p:cNvSpPr/>
          <p:nvPr/>
        </p:nvSpPr>
        <p:spPr>
          <a:xfrm rot="16200000">
            <a:off x="6368040" y="7240680"/>
            <a:ext cx="583560" cy="39564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Mut Types</a:t>
            </a:r>
            <a:endParaRPr b="0" lang="en-US" sz="1000" spc="-1" strike="noStrike">
              <a:latin typeface="Arial"/>
            </a:endParaRPr>
          </a:p>
        </p:txBody>
      </p:sp>
      <p:sp>
        <p:nvSpPr>
          <p:cNvPr id="346" name="Google Shape;318;p6"/>
          <p:cNvSpPr/>
          <p:nvPr/>
        </p:nvSpPr>
        <p:spPr>
          <a:xfrm rot="16200000">
            <a:off x="6191280" y="5985000"/>
            <a:ext cx="932760" cy="39564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Pathway Enrich</a:t>
            </a:r>
            <a:endParaRPr b="0" lang="en-US" sz="1000" spc="-1" strike="noStrike">
              <a:latin typeface="Arial"/>
            </a:endParaRPr>
          </a:p>
        </p:txBody>
      </p:sp>
      <p:sp>
        <p:nvSpPr>
          <p:cNvPr id="347" name="Google Shape;319;p6"/>
          <p:cNvSpPr/>
          <p:nvPr/>
        </p:nvSpPr>
        <p:spPr>
          <a:xfrm rot="16200000">
            <a:off x="6270480" y="5342040"/>
            <a:ext cx="844560" cy="39564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MFP /</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SMILES</a:t>
            </a:r>
            <a:endParaRPr b="0" lang="en-US" sz="1000" spc="-1" strike="noStrike">
              <a:latin typeface="Arial"/>
            </a:endParaRPr>
          </a:p>
        </p:txBody>
      </p:sp>
      <p:sp>
        <p:nvSpPr>
          <p:cNvPr id="348" name="Google Shape;320;p6"/>
          <p:cNvSpPr/>
          <p:nvPr/>
        </p:nvSpPr>
        <p:spPr>
          <a:xfrm rot="16200000">
            <a:off x="6316560" y="4629240"/>
            <a:ext cx="736920" cy="39564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Pathway AUC</a:t>
            </a:r>
            <a:endParaRPr b="0" lang="en-US" sz="1000" spc="-1" strike="noStrike">
              <a:latin typeface="Arial"/>
            </a:endParaRPr>
          </a:p>
        </p:txBody>
      </p:sp>
      <p:graphicFrame>
        <p:nvGraphicFramePr>
          <p:cNvPr id="349" name="Google Shape;321;p6"/>
          <p:cNvGraphicFramePr/>
          <p:nvPr/>
        </p:nvGraphicFramePr>
        <p:xfrm>
          <a:off x="5792400" y="4854240"/>
          <a:ext cx="208080" cy="3716640"/>
        </p:xfrm>
        <a:graphic>
          <a:graphicData uri="http://schemas.openxmlformats.org/drawingml/2006/table">
            <a:tbl>
              <a:tblPr/>
              <a:tblGrid>
                <a:gridCol w="218880"/>
              </a:tblGrid>
              <a:tr h="532800">
                <a:tc>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f1b584"/>
                    </a:solidFill>
                  </a:tcPr>
                </a:tc>
              </a:tr>
              <a:tr h="532800">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eece1"/>
                    </a:solidFill>
                  </a:tcPr>
                </a:tc>
              </a:tr>
              <a:tr h="532800">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fdc6b0"/>
                    </a:solidFill>
                  </a:tcPr>
                </a:tc>
              </a:tr>
              <a:tr h="532800">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ffff00"/>
                    </a:solidFill>
                  </a:tcPr>
                </a:tc>
              </a:tr>
              <a:tr h="532800">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f3c4e1"/>
                    </a:solidFill>
                  </a:tcPr>
                </a:tc>
              </a:tr>
              <a:tr h="525600">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7f7fff"/>
                    </a:solidFill>
                  </a:tcPr>
                </a:tc>
              </a:tr>
              <a:tr h="527040">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ff7f7f"/>
                    </a:solidFill>
                  </a:tcPr>
                </a:tc>
              </a:tr>
            </a:tbl>
          </a:graphicData>
        </a:graphic>
      </p:graphicFrame>
      <p:sp>
        <p:nvSpPr>
          <p:cNvPr id="350" name="Google Shape;322;p6"/>
          <p:cNvSpPr/>
          <p:nvPr/>
        </p:nvSpPr>
        <p:spPr>
          <a:xfrm rot="10800000">
            <a:off x="6031080" y="8400240"/>
            <a:ext cx="323640" cy="244440"/>
          </a:xfrm>
          <a:custGeom>
            <a:avLst/>
            <a:gdLst/>
            <a:ahLst/>
            <a:rect l="l" t="t" r="r" b="b"/>
            <a:pathLst>
              <a:path w="21600" h="21600">
                <a:moveTo>
                  <a:pt x="0" y="0"/>
                </a:moveTo>
                <a:lnTo>
                  <a:pt x="21600" y="21600"/>
                </a:lnTo>
              </a:path>
            </a:pathLst>
          </a:custGeom>
          <a:noFill/>
          <a:ln w="19050">
            <a:solidFill>
              <a:srgbClr val="ff7f7f"/>
            </a:solidFill>
            <a:round/>
            <a:tailEnd len="med" type="stealth" w="med"/>
          </a:ln>
        </p:spPr>
        <p:style>
          <a:lnRef idx="0"/>
          <a:fillRef idx="0"/>
          <a:effectRef idx="0"/>
          <a:fontRef idx="minor"/>
        </p:style>
      </p:sp>
      <p:sp>
        <p:nvSpPr>
          <p:cNvPr id="351" name="Google Shape;323;p6"/>
          <p:cNvSpPr/>
          <p:nvPr/>
        </p:nvSpPr>
        <p:spPr>
          <a:xfrm rot="10800000">
            <a:off x="6030360" y="7831800"/>
            <a:ext cx="297360" cy="205920"/>
          </a:xfrm>
          <a:custGeom>
            <a:avLst/>
            <a:gdLst/>
            <a:ahLst/>
            <a:rect l="l" t="t" r="r" b="b"/>
            <a:pathLst>
              <a:path w="21600" h="21600">
                <a:moveTo>
                  <a:pt x="0" y="0"/>
                </a:moveTo>
                <a:lnTo>
                  <a:pt x="21600" y="21600"/>
                </a:lnTo>
              </a:path>
            </a:pathLst>
          </a:custGeom>
          <a:noFill/>
          <a:ln w="19050">
            <a:solidFill>
              <a:srgbClr val="7f7fff"/>
            </a:solidFill>
            <a:round/>
            <a:tailEnd len="med" type="stealth" w="med"/>
          </a:ln>
        </p:spPr>
        <p:style>
          <a:lnRef idx="0"/>
          <a:fillRef idx="0"/>
          <a:effectRef idx="0"/>
          <a:fontRef idx="minor"/>
        </p:style>
      </p:sp>
      <p:sp>
        <p:nvSpPr>
          <p:cNvPr id="352" name="Google Shape;324;p6"/>
          <p:cNvSpPr/>
          <p:nvPr/>
        </p:nvSpPr>
        <p:spPr>
          <a:xfrm rot="10800000">
            <a:off x="5995080" y="7137000"/>
            <a:ext cx="347040" cy="287640"/>
          </a:xfrm>
          <a:custGeom>
            <a:avLst/>
            <a:gdLst/>
            <a:ahLst/>
            <a:rect l="l" t="t" r="r" b="b"/>
            <a:pathLst>
              <a:path w="21600" h="21600">
                <a:moveTo>
                  <a:pt x="0" y="0"/>
                </a:moveTo>
                <a:lnTo>
                  <a:pt x="21600" y="21600"/>
                </a:lnTo>
              </a:path>
            </a:pathLst>
          </a:custGeom>
          <a:noFill/>
          <a:ln w="19050">
            <a:solidFill>
              <a:srgbClr val="f3c4e1"/>
            </a:solidFill>
            <a:round/>
            <a:tailEnd len="med" type="stealth" w="med"/>
          </a:ln>
        </p:spPr>
        <p:style>
          <a:lnRef idx="0"/>
          <a:fillRef idx="0"/>
          <a:effectRef idx="0"/>
          <a:fontRef idx="minor"/>
        </p:style>
      </p:sp>
      <p:sp>
        <p:nvSpPr>
          <p:cNvPr id="353" name="Google Shape;325;p6"/>
          <p:cNvSpPr/>
          <p:nvPr/>
        </p:nvSpPr>
        <p:spPr>
          <a:xfrm rot="10800000">
            <a:off x="6028920" y="6215760"/>
            <a:ext cx="328680" cy="21960"/>
          </a:xfrm>
          <a:custGeom>
            <a:avLst/>
            <a:gdLst/>
            <a:ahLst/>
            <a:rect l="l" t="t" r="r" b="b"/>
            <a:pathLst>
              <a:path w="21600" h="21600">
                <a:moveTo>
                  <a:pt x="0" y="0"/>
                </a:moveTo>
                <a:lnTo>
                  <a:pt x="21600" y="21600"/>
                </a:lnTo>
              </a:path>
            </a:pathLst>
          </a:custGeom>
          <a:noFill/>
          <a:ln w="19050">
            <a:solidFill>
              <a:srgbClr val="fdc6b0"/>
            </a:solidFill>
            <a:round/>
            <a:tailEnd len="med" type="stealth" w="med"/>
          </a:ln>
        </p:spPr>
        <p:style>
          <a:lnRef idx="0"/>
          <a:fillRef idx="0"/>
          <a:effectRef idx="0"/>
          <a:fontRef idx="minor"/>
        </p:style>
      </p:sp>
      <p:sp>
        <p:nvSpPr>
          <p:cNvPr id="354" name="Google Shape;326;p6"/>
          <p:cNvSpPr/>
          <p:nvPr/>
        </p:nvSpPr>
        <p:spPr>
          <a:xfrm flipH="1">
            <a:off x="6027840" y="5574600"/>
            <a:ext cx="289080" cy="178560"/>
          </a:xfrm>
          <a:custGeom>
            <a:avLst/>
            <a:gdLst/>
            <a:ahLst/>
            <a:rect l="l" t="t" r="r" b="b"/>
            <a:pathLst>
              <a:path w="21600" h="21600">
                <a:moveTo>
                  <a:pt x="0" y="0"/>
                </a:moveTo>
                <a:lnTo>
                  <a:pt x="21600" y="21600"/>
                </a:lnTo>
              </a:path>
            </a:pathLst>
          </a:custGeom>
          <a:noFill/>
          <a:ln w="19050">
            <a:solidFill>
              <a:srgbClr val="c4bd97"/>
            </a:solidFill>
            <a:round/>
            <a:tailEnd len="med" type="stealth" w="med"/>
          </a:ln>
        </p:spPr>
        <p:style>
          <a:lnRef idx="0"/>
          <a:fillRef idx="0"/>
          <a:effectRef idx="0"/>
          <a:fontRef idx="minor"/>
        </p:style>
      </p:sp>
      <p:sp>
        <p:nvSpPr>
          <p:cNvPr id="355" name="Google Shape;327;p6"/>
          <p:cNvSpPr/>
          <p:nvPr/>
        </p:nvSpPr>
        <p:spPr>
          <a:xfrm flipH="1">
            <a:off x="6019560" y="4866120"/>
            <a:ext cx="315000" cy="302040"/>
          </a:xfrm>
          <a:custGeom>
            <a:avLst/>
            <a:gdLst/>
            <a:ahLst/>
            <a:rect l="l" t="t" r="r" b="b"/>
            <a:pathLst>
              <a:path w="21600" h="21600">
                <a:moveTo>
                  <a:pt x="0" y="0"/>
                </a:moveTo>
                <a:lnTo>
                  <a:pt x="21600" y="21600"/>
                </a:lnTo>
              </a:path>
            </a:pathLst>
          </a:custGeom>
          <a:noFill/>
          <a:ln w="19050">
            <a:solidFill>
              <a:srgbClr val="f1b584"/>
            </a:solidFill>
            <a:round/>
            <a:tailEnd len="med" type="stealth" w="med"/>
          </a:ln>
        </p:spPr>
        <p:style>
          <a:lnRef idx="0"/>
          <a:fillRef idx="0"/>
          <a:effectRef idx="0"/>
          <a:fontRef idx="minor"/>
        </p:style>
      </p:sp>
      <p:sp>
        <p:nvSpPr>
          <p:cNvPr id="356" name="Google Shape;328;p6"/>
          <p:cNvSpPr/>
          <p:nvPr/>
        </p:nvSpPr>
        <p:spPr>
          <a:xfrm flipH="1">
            <a:off x="5524920" y="5021640"/>
            <a:ext cx="282240" cy="3296520"/>
          </a:xfrm>
          <a:prstGeom prst="rightBrace">
            <a:avLst>
              <a:gd name="adj1" fmla="val 0"/>
              <a:gd name="adj2" fmla="val 50000"/>
            </a:avLst>
          </a:prstGeom>
          <a:noFill/>
          <a:ln w="12700">
            <a:solidFill>
              <a:srgbClr val="000000"/>
            </a:solidFill>
            <a:round/>
          </a:ln>
        </p:spPr>
        <p:style>
          <a:lnRef idx="0"/>
          <a:fillRef idx="0"/>
          <a:effectRef idx="0"/>
          <a:fontRef idx="minor"/>
        </p:style>
      </p:sp>
      <p:sp>
        <p:nvSpPr>
          <p:cNvPr id="357" name="Google Shape;329;p6"/>
          <p:cNvSpPr/>
          <p:nvPr/>
        </p:nvSpPr>
        <p:spPr>
          <a:xfrm>
            <a:off x="3756600" y="6221520"/>
            <a:ext cx="1755360" cy="867600"/>
          </a:xfrm>
          <a:prstGeom prst="rect">
            <a:avLst/>
          </a:prstGeom>
          <a:solidFill>
            <a:schemeClr val="lt1"/>
          </a:solidFill>
          <a:ln w="12700">
            <a:solidFill>
              <a:srgbClr val="000000"/>
            </a:solidFill>
            <a:round/>
          </a:ln>
        </p:spPr>
        <p:style>
          <a:lnRef idx="0"/>
          <a:fillRef idx="0"/>
          <a:effectRef idx="0"/>
          <a:fontRef idx="minor"/>
        </p:style>
        <p:txBody>
          <a:bodyPr anchor="t">
            <a:spAutoFit/>
          </a:bodyPr>
          <a:p>
            <a:pPr>
              <a:lnSpc>
                <a:spcPct val="100000"/>
              </a:lnSpc>
              <a:buNone/>
              <a:tabLst>
                <a:tab algn="l" pos="0"/>
              </a:tabLst>
            </a:pPr>
            <a:r>
              <a:rPr b="1" lang="en-US" sz="1100" spc="-1" strike="noStrike">
                <a:solidFill>
                  <a:srgbClr val="000000"/>
                </a:solidFill>
                <a:latin typeface="Arial"/>
                <a:ea typeface="Arial"/>
              </a:rPr>
              <a:t>Tree Models:</a:t>
            </a:r>
            <a:endParaRPr b="0" lang="en-US" sz="1100" spc="-1" strike="noStrike">
              <a:latin typeface="Arial"/>
            </a:endParaRPr>
          </a:p>
          <a:p>
            <a:pPr>
              <a:lnSpc>
                <a:spcPct val="100000"/>
              </a:lnSpc>
              <a:buNone/>
              <a:tabLst>
                <a:tab algn="l" pos="0"/>
              </a:tabLst>
            </a:pPr>
            <a:r>
              <a:rPr b="0" lang="en-US" sz="1000" spc="-1" strike="noStrike">
                <a:solidFill>
                  <a:srgbClr val="000000"/>
                </a:solidFill>
                <a:latin typeface="Arial"/>
                <a:ea typeface="Arial"/>
              </a:rPr>
              <a:t>Random Forests</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XGBoost</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LightGBM</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Catboost</a:t>
            </a:r>
            <a:endParaRPr b="0" lang="en-US" sz="1000" spc="-1" strike="noStrike">
              <a:latin typeface="Arial"/>
            </a:endParaRPr>
          </a:p>
        </p:txBody>
      </p:sp>
      <p:sp>
        <p:nvSpPr>
          <p:cNvPr id="358" name="Google Shape;330;p6"/>
          <p:cNvSpPr/>
          <p:nvPr/>
        </p:nvSpPr>
        <p:spPr>
          <a:xfrm>
            <a:off x="3771720" y="7427160"/>
            <a:ext cx="1785600" cy="1019880"/>
          </a:xfrm>
          <a:prstGeom prst="rect">
            <a:avLst/>
          </a:prstGeom>
          <a:solidFill>
            <a:schemeClr val="lt1"/>
          </a:solidFill>
          <a:ln w="12700">
            <a:solidFill>
              <a:srgbClr val="000000"/>
            </a:solidFill>
            <a:round/>
          </a:ln>
        </p:spPr>
        <p:style>
          <a:lnRef idx="0"/>
          <a:fillRef idx="0"/>
          <a:effectRef idx="0"/>
          <a:fontRef idx="minor"/>
        </p:style>
        <p:txBody>
          <a:bodyPr anchor="t">
            <a:spAutoFit/>
          </a:bodyPr>
          <a:p>
            <a:pPr>
              <a:lnSpc>
                <a:spcPct val="100000"/>
              </a:lnSpc>
              <a:buNone/>
              <a:tabLst>
                <a:tab algn="l" pos="0"/>
              </a:tabLst>
            </a:pPr>
            <a:r>
              <a:rPr b="1" lang="en-US" sz="1100" spc="-1" strike="noStrike">
                <a:solidFill>
                  <a:srgbClr val="000000"/>
                </a:solidFill>
                <a:latin typeface="Arial"/>
                <a:ea typeface="Arial"/>
              </a:rPr>
              <a:t>Deep Learning Models: </a:t>
            </a:r>
            <a:endParaRPr b="0" lang="en-US" sz="1100" spc="-1" strike="noStrike">
              <a:latin typeface="Arial"/>
            </a:endParaRPr>
          </a:p>
          <a:p>
            <a:pPr>
              <a:lnSpc>
                <a:spcPct val="100000"/>
              </a:lnSpc>
              <a:buNone/>
              <a:tabLst>
                <a:tab algn="l" pos="0"/>
              </a:tabLst>
            </a:pP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Deep Neural Networks (DNN)</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CNN + DNN</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LSTM + DNN</a:t>
            </a:r>
            <a:endParaRPr b="0" lang="en-US" sz="1000" spc="-1" strike="noStrike">
              <a:latin typeface="Arial"/>
            </a:endParaRPr>
          </a:p>
        </p:txBody>
      </p:sp>
      <p:sp>
        <p:nvSpPr>
          <p:cNvPr id="359" name="Google Shape;331;p6"/>
          <p:cNvSpPr/>
          <p:nvPr/>
        </p:nvSpPr>
        <p:spPr>
          <a:xfrm flipH="1">
            <a:off x="3449520" y="5022000"/>
            <a:ext cx="323280" cy="116460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60" name="Google Shape;332;p6"/>
          <p:cNvSpPr/>
          <p:nvPr/>
        </p:nvSpPr>
        <p:spPr>
          <a:xfrm rot="10800000">
            <a:off x="3449880" y="7151400"/>
            <a:ext cx="329400" cy="116100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grpSp>
        <p:nvGrpSpPr>
          <p:cNvPr id="361" name="Google Shape;333;p6"/>
          <p:cNvGrpSpPr/>
          <p:nvPr/>
        </p:nvGrpSpPr>
        <p:grpSpPr>
          <a:xfrm>
            <a:off x="2364840" y="6181920"/>
            <a:ext cx="1134720" cy="973800"/>
            <a:chOff x="2364840" y="6181920"/>
            <a:chExt cx="1134720" cy="973800"/>
          </a:xfrm>
        </p:grpSpPr>
        <p:grpSp>
          <p:nvGrpSpPr>
            <p:cNvPr id="362" name="Google Shape;334;p6"/>
            <p:cNvGrpSpPr/>
            <p:nvPr/>
          </p:nvGrpSpPr>
          <p:grpSpPr>
            <a:xfrm>
              <a:off x="2364840" y="6201360"/>
              <a:ext cx="1134720" cy="941400"/>
              <a:chOff x="2364840" y="6201360"/>
              <a:chExt cx="1134720" cy="941400"/>
            </a:xfrm>
          </p:grpSpPr>
          <p:grpSp>
            <p:nvGrpSpPr>
              <p:cNvPr id="363" name="Google Shape;335;p6"/>
              <p:cNvGrpSpPr/>
              <p:nvPr/>
            </p:nvGrpSpPr>
            <p:grpSpPr>
              <a:xfrm>
                <a:off x="2470320" y="6373440"/>
                <a:ext cx="831600" cy="561600"/>
                <a:chOff x="2470320" y="6373440"/>
                <a:chExt cx="831600" cy="561600"/>
              </a:xfrm>
            </p:grpSpPr>
            <p:sp>
              <p:nvSpPr>
                <p:cNvPr id="364" name="Google Shape;336;p6"/>
                <p:cNvSpPr/>
                <p:nvPr/>
              </p:nvSpPr>
              <p:spPr>
                <a:xfrm>
                  <a:off x="3296880" y="6373440"/>
                  <a:ext cx="360" cy="559800"/>
                </a:xfrm>
                <a:custGeom>
                  <a:avLst/>
                  <a:gdLst/>
                  <a:ahLst/>
                  <a:rect l="l" t="t" r="r" b="b"/>
                  <a:pathLst>
                    <a:path w="21600" h="21600">
                      <a:moveTo>
                        <a:pt x="0" y="0"/>
                      </a:moveTo>
                      <a:lnTo>
                        <a:pt x="21600" y="21600"/>
                      </a:lnTo>
                    </a:path>
                  </a:pathLst>
                </a:custGeom>
                <a:noFill/>
                <a:ln w="19050">
                  <a:solidFill>
                    <a:srgbClr val="000000"/>
                  </a:solidFill>
                  <a:round/>
                </a:ln>
              </p:spPr>
              <p:style>
                <a:lnRef idx="0"/>
                <a:fillRef idx="0"/>
                <a:effectRef idx="0"/>
                <a:fontRef idx="minor"/>
              </p:style>
            </p:sp>
            <p:sp>
              <p:nvSpPr>
                <p:cNvPr id="365" name="Google Shape;337;p6"/>
                <p:cNvSpPr/>
                <p:nvPr/>
              </p:nvSpPr>
              <p:spPr>
                <a:xfrm>
                  <a:off x="2470320" y="6932160"/>
                  <a:ext cx="831600" cy="2880"/>
                </a:xfrm>
                <a:custGeom>
                  <a:avLst/>
                  <a:gdLst/>
                  <a:ahLst/>
                  <a:rect l="l" t="t" r="r" b="b"/>
                  <a:pathLst>
                    <a:path w="21600" h="21600">
                      <a:moveTo>
                        <a:pt x="0" y="0"/>
                      </a:moveTo>
                      <a:lnTo>
                        <a:pt x="21600" y="21600"/>
                      </a:lnTo>
                    </a:path>
                  </a:pathLst>
                </a:custGeom>
                <a:noFill/>
                <a:ln w="19050">
                  <a:solidFill>
                    <a:srgbClr val="000000"/>
                  </a:solidFill>
                  <a:round/>
                </a:ln>
              </p:spPr>
              <p:style>
                <a:lnRef idx="0"/>
                <a:fillRef idx="0"/>
                <a:effectRef idx="0"/>
                <a:fontRef idx="minor"/>
              </p:style>
            </p:sp>
          </p:grpSp>
          <p:sp>
            <p:nvSpPr>
              <p:cNvPr id="366" name="Google Shape;338;p6"/>
              <p:cNvSpPr/>
              <p:nvPr/>
            </p:nvSpPr>
            <p:spPr>
              <a:xfrm>
                <a:off x="2461320" y="6462360"/>
                <a:ext cx="807480" cy="380880"/>
              </a:xfrm>
              <a:custGeom>
                <a:avLst/>
                <a:gdLst/>
                <a:ahLst/>
                <a:rect l="l" t="t" r="r" b="b"/>
                <a:pathLst>
                  <a:path w="903514" h="458983">
                    <a:moveTo>
                      <a:pt x="0" y="446314"/>
                    </a:moveTo>
                    <a:cubicBezTo>
                      <a:pt x="135164" y="460828"/>
                      <a:pt x="270329" y="475343"/>
                      <a:pt x="359229" y="413657"/>
                    </a:cubicBezTo>
                    <a:cubicBezTo>
                      <a:pt x="448129" y="351971"/>
                      <a:pt x="442686" y="145143"/>
                      <a:pt x="533400" y="76200"/>
                    </a:cubicBezTo>
                    <a:cubicBezTo>
                      <a:pt x="624114" y="7257"/>
                      <a:pt x="763814" y="3628"/>
                      <a:pt x="903514" y="0"/>
                    </a:cubicBezTo>
                  </a:path>
                </a:pathLst>
              </a:custGeom>
              <a:noFill/>
              <a:ln w="19050">
                <a:solidFill>
                  <a:srgbClr val="ff0000"/>
                </a:solidFill>
                <a:round/>
              </a:ln>
            </p:spPr>
            <p:style>
              <a:lnRef idx="0"/>
              <a:fillRef idx="0"/>
              <a:effectRef idx="0"/>
              <a:fontRef idx="minor"/>
            </p:style>
          </p:sp>
          <p:sp>
            <p:nvSpPr>
              <p:cNvPr id="367" name="Google Shape;339;p6"/>
              <p:cNvSpPr/>
              <p:nvPr/>
            </p:nvSpPr>
            <p:spPr>
              <a:xfrm>
                <a:off x="2864880" y="6676920"/>
                <a:ext cx="360" cy="254520"/>
              </a:xfrm>
              <a:custGeom>
                <a:avLst/>
                <a:gdLst/>
                <a:ahLst/>
                <a:rect l="l" t="t" r="r" b="b"/>
                <a:pathLst>
                  <a:path w="21600" h="21600">
                    <a:moveTo>
                      <a:pt x="0" y="0"/>
                    </a:moveTo>
                    <a:lnTo>
                      <a:pt x="21600" y="21600"/>
                    </a:lnTo>
                  </a:path>
                </a:pathLst>
              </a:custGeom>
              <a:noFill/>
              <a:ln w="12700">
                <a:solidFill>
                  <a:srgbClr val="000000"/>
                </a:solidFill>
                <a:prstDash val="dash"/>
                <a:round/>
              </a:ln>
            </p:spPr>
            <p:style>
              <a:lnRef idx="0"/>
              <a:fillRef idx="0"/>
              <a:effectRef idx="0"/>
              <a:fontRef idx="minor"/>
            </p:style>
          </p:sp>
          <p:sp>
            <p:nvSpPr>
              <p:cNvPr id="368" name="Google Shape;340;p6"/>
              <p:cNvSpPr/>
              <p:nvPr/>
            </p:nvSpPr>
            <p:spPr>
              <a:xfrm>
                <a:off x="2864880" y="6659280"/>
                <a:ext cx="433800" cy="360"/>
              </a:xfrm>
              <a:custGeom>
                <a:avLst/>
                <a:gdLst/>
                <a:ahLst/>
                <a:rect l="l" t="t" r="r" b="b"/>
                <a:pathLst>
                  <a:path w="21600" h="21600">
                    <a:moveTo>
                      <a:pt x="0" y="0"/>
                    </a:moveTo>
                    <a:lnTo>
                      <a:pt x="21600" y="21600"/>
                    </a:lnTo>
                  </a:path>
                </a:pathLst>
              </a:custGeom>
              <a:noFill/>
              <a:ln w="12700">
                <a:solidFill>
                  <a:srgbClr val="000000"/>
                </a:solidFill>
                <a:prstDash val="dash"/>
                <a:round/>
              </a:ln>
            </p:spPr>
            <p:style>
              <a:lnRef idx="0"/>
              <a:fillRef idx="0"/>
              <a:effectRef idx="0"/>
              <a:fontRef idx="minor"/>
            </p:style>
          </p:sp>
          <p:sp>
            <p:nvSpPr>
              <p:cNvPr id="369" name="Google Shape;341;p6"/>
              <p:cNvSpPr/>
              <p:nvPr/>
            </p:nvSpPr>
            <p:spPr>
              <a:xfrm>
                <a:off x="2513160" y="6899400"/>
                <a:ext cx="92736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Drug Conc.</a:t>
                </a:r>
                <a:endParaRPr b="0" lang="en-US" sz="1000" spc="-1" strike="noStrike">
                  <a:latin typeface="Arial"/>
                </a:endParaRPr>
              </a:p>
            </p:txBody>
          </p:sp>
          <p:sp>
            <p:nvSpPr>
              <p:cNvPr id="370" name="Google Shape;342;p6"/>
              <p:cNvSpPr/>
              <p:nvPr/>
            </p:nvSpPr>
            <p:spPr>
              <a:xfrm>
                <a:off x="2364840" y="6201360"/>
                <a:ext cx="998640" cy="243360"/>
              </a:xfrm>
              <a:prstGeom prst="rect">
                <a:avLst/>
              </a:prstGeom>
              <a:solidFill>
                <a:schemeClr val="lt1"/>
              </a:solid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AUC ~ f(c,d,p)</a:t>
                </a:r>
                <a:endParaRPr b="0" lang="en-US" sz="1000" spc="-1" strike="noStrike">
                  <a:latin typeface="Arial"/>
                </a:endParaRPr>
              </a:p>
            </p:txBody>
          </p:sp>
          <p:sp>
            <p:nvSpPr>
              <p:cNvPr id="371" name="Google Shape;343;p6"/>
              <p:cNvSpPr/>
              <p:nvPr/>
            </p:nvSpPr>
            <p:spPr>
              <a:xfrm rot="16200000">
                <a:off x="3004200" y="6582600"/>
                <a:ext cx="74700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Inhibition</a:t>
                </a:r>
                <a:endParaRPr b="0" lang="en-US" sz="1000" spc="-1" strike="noStrike">
                  <a:latin typeface="Arial"/>
                </a:endParaRPr>
              </a:p>
            </p:txBody>
          </p:sp>
        </p:grpSp>
        <p:sp>
          <p:nvSpPr>
            <p:cNvPr id="372" name="Google Shape;344;p6"/>
            <p:cNvSpPr/>
            <p:nvPr/>
          </p:nvSpPr>
          <p:spPr>
            <a:xfrm>
              <a:off x="2381400" y="6181920"/>
              <a:ext cx="1078200" cy="973800"/>
            </a:xfrm>
            <a:prstGeom prst="rect">
              <a:avLst/>
            </a:prstGeom>
            <a:noFill/>
            <a:ln w="12700">
              <a:solidFill>
                <a:srgbClr val="000000"/>
              </a:solidFill>
              <a:round/>
            </a:ln>
          </p:spPr>
          <p:style>
            <a:lnRef idx="0"/>
            <a:fillRef idx="0"/>
            <a:effectRef idx="0"/>
            <a:fontRef idx="minor"/>
          </p:style>
        </p:sp>
      </p:grpSp>
      <p:sp>
        <p:nvSpPr>
          <p:cNvPr id="373" name="Google Shape;345;p6"/>
          <p:cNvSpPr/>
          <p:nvPr/>
        </p:nvSpPr>
        <p:spPr>
          <a:xfrm rot="10800000">
            <a:off x="3469320" y="6650640"/>
            <a:ext cx="28296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74" name="Google Shape;346;p6"/>
          <p:cNvSpPr/>
          <p:nvPr/>
        </p:nvSpPr>
        <p:spPr>
          <a:xfrm>
            <a:off x="3778920" y="5025240"/>
            <a:ext cx="1746720" cy="715320"/>
          </a:xfrm>
          <a:prstGeom prst="rect">
            <a:avLst/>
          </a:prstGeom>
          <a:solidFill>
            <a:schemeClr val="lt1"/>
          </a:solidFill>
          <a:ln w="12700">
            <a:solidFill>
              <a:srgbClr val="000000"/>
            </a:solidFill>
            <a:round/>
          </a:ln>
        </p:spPr>
        <p:style>
          <a:lnRef idx="0"/>
          <a:fillRef idx="0"/>
          <a:effectRef idx="0"/>
          <a:fontRef idx="minor"/>
        </p:style>
        <p:txBody>
          <a:bodyPr anchor="t">
            <a:spAutoFit/>
          </a:bodyPr>
          <a:p>
            <a:pPr>
              <a:lnSpc>
                <a:spcPct val="100000"/>
              </a:lnSpc>
              <a:buNone/>
              <a:tabLst>
                <a:tab algn="l" pos="0"/>
              </a:tabLst>
            </a:pPr>
            <a:r>
              <a:rPr b="1" lang="en-US" sz="1100" spc="-1" strike="noStrike">
                <a:solidFill>
                  <a:srgbClr val="000000"/>
                </a:solidFill>
                <a:latin typeface="Arial"/>
                <a:ea typeface="Arial"/>
              </a:rPr>
              <a:t>Linear Models:</a:t>
            </a:r>
            <a:endParaRPr b="0" lang="en-US" sz="1100" spc="-1" strike="noStrike">
              <a:latin typeface="Arial"/>
            </a:endParaRPr>
          </a:p>
          <a:p>
            <a:pPr>
              <a:lnSpc>
                <a:spcPct val="100000"/>
              </a:lnSpc>
              <a:buNone/>
              <a:tabLst>
                <a:tab algn="l" pos="0"/>
              </a:tabLst>
            </a:pP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Ridge Regression</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Linear SVM</a:t>
            </a:r>
            <a:endParaRPr b="0" lang="en-US" sz="1000" spc="-1" strike="noStrike">
              <a:latin typeface="Arial"/>
            </a:endParaRPr>
          </a:p>
        </p:txBody>
      </p:sp>
      <p:sp>
        <p:nvSpPr>
          <p:cNvPr id="375" name="Google Shape;347;p6"/>
          <p:cNvSpPr/>
          <p:nvPr/>
        </p:nvSpPr>
        <p:spPr>
          <a:xfrm>
            <a:off x="1513080" y="6434280"/>
            <a:ext cx="687960" cy="425880"/>
          </a:xfrm>
          <a:prstGeom prst="rect">
            <a:avLst/>
          </a:prstGeom>
          <a:solidFill>
            <a:srgbClr val="fbd4b4"/>
          </a:solidFill>
          <a:ln w="9525">
            <a:solidFill>
              <a:srgbClr val="f79646"/>
            </a:solidFill>
            <a:round/>
          </a:ln>
        </p:spPr>
        <p:style>
          <a:lnRef idx="0"/>
          <a:fillRef idx="0"/>
          <a:effectRef idx="0"/>
          <a:fontRef idx="minor"/>
        </p:style>
        <p:txBody>
          <a:bodyPr anchor="t">
            <a:spAutoFit/>
          </a:bodyPr>
          <a:p>
            <a:pPr algn="ctr">
              <a:lnSpc>
                <a:spcPct val="100000"/>
              </a:lnSpc>
              <a:buNone/>
              <a:tabLst>
                <a:tab algn="l" pos="0"/>
              </a:tabLst>
            </a:pPr>
            <a:r>
              <a:rPr b="0" lang="en-US" sz="1100" spc="-1" strike="noStrike">
                <a:solidFill>
                  <a:srgbClr val="000000"/>
                </a:solidFill>
                <a:latin typeface="Arial"/>
                <a:ea typeface="Arial"/>
              </a:rPr>
              <a:t>TOP MODEL</a:t>
            </a:r>
            <a:endParaRPr b="0" lang="en-US" sz="1100" spc="-1" strike="noStrike">
              <a:latin typeface="Arial"/>
            </a:endParaRPr>
          </a:p>
        </p:txBody>
      </p:sp>
      <p:sp>
        <p:nvSpPr>
          <p:cNvPr id="376" name="Google Shape;348;p6"/>
          <p:cNvSpPr/>
          <p:nvPr/>
        </p:nvSpPr>
        <p:spPr>
          <a:xfrm rot="10800000">
            <a:off x="2206440" y="6649200"/>
            <a:ext cx="173160" cy="360"/>
          </a:xfrm>
          <a:custGeom>
            <a:avLst/>
            <a:gdLst/>
            <a:ahLst/>
            <a:rect l="l" t="t" r="r" b="b"/>
            <a:pathLst>
              <a:path w="21600" h="21600">
                <a:moveTo>
                  <a:pt x="0" y="0"/>
                </a:moveTo>
                <a:lnTo>
                  <a:pt x="21600" y="21600"/>
                </a:lnTo>
              </a:path>
            </a:pathLst>
          </a:custGeom>
          <a:noFill/>
          <a:ln w="12700">
            <a:solidFill>
              <a:srgbClr val="000000"/>
            </a:solidFill>
            <a:round/>
            <a:tailEnd len="med" type="triangle" w="med"/>
          </a:ln>
        </p:spPr>
        <p:style>
          <a:lnRef idx="0"/>
          <a:fillRef idx="0"/>
          <a:effectRef idx="0"/>
          <a:fontRef idx="minor"/>
        </p:style>
      </p:sp>
      <p:pic>
        <p:nvPicPr>
          <p:cNvPr id="377" name="Google Shape;349;p6" descr=""/>
          <p:cNvPicPr/>
          <p:nvPr/>
        </p:nvPicPr>
        <p:blipFill>
          <a:blip r:embed="rId2"/>
          <a:srcRect l="7281" t="28878" r="77714" b="56628"/>
          <a:stretch/>
        </p:blipFill>
        <p:spPr>
          <a:xfrm>
            <a:off x="93960" y="7471440"/>
            <a:ext cx="1035720" cy="700200"/>
          </a:xfrm>
          <a:prstGeom prst="rect">
            <a:avLst/>
          </a:prstGeom>
          <a:ln w="0">
            <a:noFill/>
          </a:ln>
        </p:spPr>
      </p:pic>
      <p:sp>
        <p:nvSpPr>
          <p:cNvPr id="378" name="Google Shape;350;p6"/>
          <p:cNvSpPr/>
          <p:nvPr/>
        </p:nvSpPr>
        <p:spPr>
          <a:xfrm>
            <a:off x="1254240" y="4937040"/>
            <a:ext cx="251280" cy="3425040"/>
          </a:xfrm>
          <a:prstGeom prst="rightBrace">
            <a:avLst>
              <a:gd name="adj1" fmla="val 0"/>
              <a:gd name="adj2" fmla="val 50000"/>
            </a:avLst>
          </a:prstGeom>
          <a:noFill/>
          <a:ln w="12700">
            <a:solidFill>
              <a:srgbClr val="000000"/>
            </a:solidFill>
            <a:round/>
          </a:ln>
        </p:spPr>
        <p:style>
          <a:lnRef idx="0"/>
          <a:fillRef idx="0"/>
          <a:effectRef idx="0"/>
          <a:fontRef idx="minor"/>
        </p:style>
      </p:sp>
      <p:grpSp>
        <p:nvGrpSpPr>
          <p:cNvPr id="379" name="Google Shape;351;p6"/>
          <p:cNvGrpSpPr/>
          <p:nvPr/>
        </p:nvGrpSpPr>
        <p:grpSpPr>
          <a:xfrm>
            <a:off x="8280" y="4903200"/>
            <a:ext cx="1361160" cy="1159200"/>
            <a:chOff x="8280" y="4903200"/>
            <a:chExt cx="1361160" cy="1159200"/>
          </a:xfrm>
        </p:grpSpPr>
        <p:grpSp>
          <p:nvGrpSpPr>
            <p:cNvPr id="380" name="Google Shape;352;p6"/>
            <p:cNvGrpSpPr/>
            <p:nvPr/>
          </p:nvGrpSpPr>
          <p:grpSpPr>
            <a:xfrm>
              <a:off x="8280" y="4903200"/>
              <a:ext cx="1361160" cy="1159200"/>
              <a:chOff x="8280" y="4903200"/>
              <a:chExt cx="1361160" cy="1159200"/>
            </a:xfrm>
          </p:grpSpPr>
          <p:grpSp>
            <p:nvGrpSpPr>
              <p:cNvPr id="381" name="Google Shape;353;p6"/>
              <p:cNvGrpSpPr/>
              <p:nvPr/>
            </p:nvGrpSpPr>
            <p:grpSpPr>
              <a:xfrm>
                <a:off x="8280" y="5531040"/>
                <a:ext cx="614160" cy="509760"/>
                <a:chOff x="8280" y="5531040"/>
                <a:chExt cx="614160" cy="509760"/>
              </a:xfrm>
            </p:grpSpPr>
            <p:sp>
              <p:nvSpPr>
                <p:cNvPr id="382" name="Google Shape;354;p6"/>
                <p:cNvSpPr/>
                <p:nvPr/>
              </p:nvSpPr>
              <p:spPr>
                <a:xfrm rot="10800000">
                  <a:off x="449640" y="5764320"/>
                  <a:ext cx="172800" cy="360"/>
                </a:xfrm>
                <a:custGeom>
                  <a:avLst/>
                  <a:gdLst/>
                  <a:ahLst/>
                  <a:rect l="l" t="t" r="r" b="b"/>
                  <a:pathLst>
                    <a:path w="21600" h="21600">
                      <a:moveTo>
                        <a:pt x="0" y="0"/>
                      </a:moveTo>
                      <a:lnTo>
                        <a:pt x="21600" y="21600"/>
                      </a:lnTo>
                    </a:path>
                  </a:pathLst>
                </a:custGeom>
                <a:noFill/>
                <a:ln w="9525">
                  <a:solidFill>
                    <a:srgbClr val="000000"/>
                  </a:solidFill>
                  <a:round/>
                  <a:tailEnd len="med" type="triangle" w="med"/>
                </a:ln>
              </p:spPr>
              <p:style>
                <a:lnRef idx="0"/>
                <a:fillRef idx="0"/>
                <a:effectRef idx="0"/>
                <a:fontRef idx="minor"/>
              </p:style>
            </p:sp>
            <p:pic>
              <p:nvPicPr>
                <p:cNvPr id="383" name="Google Shape;355;p6" descr=""/>
                <p:cNvPicPr/>
                <p:nvPr/>
              </p:nvPicPr>
              <p:blipFill>
                <a:blip r:embed="rId3"/>
                <a:srcRect l="18988" t="4322" r="66132" b="71420"/>
                <a:stretch/>
              </p:blipFill>
              <p:spPr>
                <a:xfrm>
                  <a:off x="8280" y="5531040"/>
                  <a:ext cx="397800" cy="509760"/>
                </a:xfrm>
                <a:prstGeom prst="rect">
                  <a:avLst/>
                </a:prstGeom>
                <a:ln w="0">
                  <a:noFill/>
                </a:ln>
              </p:spPr>
            </p:pic>
          </p:grpSp>
          <p:pic>
            <p:nvPicPr>
              <p:cNvPr id="384" name="Google Shape;356;p6" descr=""/>
              <p:cNvPicPr/>
              <p:nvPr/>
            </p:nvPicPr>
            <p:blipFill>
              <a:blip r:embed="rId4"/>
              <a:srcRect l="73747" t="0" r="9201" b="66338"/>
              <a:stretch/>
            </p:blipFill>
            <p:spPr>
              <a:xfrm flipH="1">
                <a:off x="622440" y="4903200"/>
                <a:ext cx="747000" cy="1159200"/>
              </a:xfrm>
              <a:prstGeom prst="rect">
                <a:avLst/>
              </a:prstGeom>
              <a:ln w="0">
                <a:noFill/>
              </a:ln>
            </p:spPr>
          </p:pic>
        </p:grpSp>
        <p:pic>
          <p:nvPicPr>
            <p:cNvPr id="385" name="Google Shape;357;p6" descr=""/>
            <p:cNvPicPr/>
            <p:nvPr/>
          </p:nvPicPr>
          <p:blipFill>
            <a:blip r:embed="rId5"/>
            <a:srcRect l="20057" t="4732" r="66894" b="71414"/>
            <a:stretch/>
          </p:blipFill>
          <p:spPr>
            <a:xfrm>
              <a:off x="26280" y="5531040"/>
              <a:ext cx="388440" cy="509760"/>
            </a:xfrm>
            <a:prstGeom prst="rect">
              <a:avLst/>
            </a:prstGeom>
            <a:ln w="0">
              <a:noFill/>
            </a:ln>
          </p:spPr>
        </p:pic>
      </p:grpSp>
      <p:grpSp>
        <p:nvGrpSpPr>
          <p:cNvPr id="386" name="Google Shape;358;p6"/>
          <p:cNvGrpSpPr/>
          <p:nvPr/>
        </p:nvGrpSpPr>
        <p:grpSpPr>
          <a:xfrm>
            <a:off x="2457720" y="7675200"/>
            <a:ext cx="497160" cy="451080"/>
            <a:chOff x="2457720" y="7675200"/>
            <a:chExt cx="497160" cy="451080"/>
          </a:xfrm>
        </p:grpSpPr>
        <p:pic>
          <p:nvPicPr>
            <p:cNvPr id="387" name="Google Shape;359;p6" descr=""/>
            <p:cNvPicPr/>
            <p:nvPr/>
          </p:nvPicPr>
          <p:blipFill>
            <a:blip r:embed="rId6"/>
            <a:srcRect l="74396" t="36322" r="16223" b="52831"/>
            <a:stretch/>
          </p:blipFill>
          <p:spPr>
            <a:xfrm rot="21282600">
              <a:off x="2470680" y="7691760"/>
              <a:ext cx="375120" cy="303480"/>
            </a:xfrm>
            <a:prstGeom prst="rect">
              <a:avLst/>
            </a:prstGeom>
            <a:ln w="0">
              <a:noFill/>
            </a:ln>
          </p:spPr>
        </p:pic>
        <p:sp>
          <p:nvSpPr>
            <p:cNvPr id="388" name="Google Shape;360;p6"/>
            <p:cNvSpPr/>
            <p:nvPr/>
          </p:nvSpPr>
          <p:spPr>
            <a:xfrm rot="19921800">
              <a:off x="2637360" y="7955640"/>
              <a:ext cx="311400" cy="103680"/>
            </a:xfrm>
            <a:prstGeom prst="rect">
              <a:avLst/>
            </a:prstGeom>
            <a:solidFill>
              <a:schemeClr val="lt1"/>
            </a:solidFill>
            <a:ln w="0">
              <a:noFill/>
            </a:ln>
          </p:spPr>
          <p:style>
            <a:lnRef idx="0"/>
            <a:fillRef idx="0"/>
            <a:effectRef idx="0"/>
            <a:fontRef idx="minor"/>
          </p:style>
        </p:sp>
      </p:grpSp>
      <p:pic>
        <p:nvPicPr>
          <p:cNvPr id="389" name="Google Shape;361;p6" descr=""/>
          <p:cNvPicPr/>
          <p:nvPr/>
        </p:nvPicPr>
        <p:blipFill>
          <a:blip r:embed="rId7"/>
          <a:srcRect l="45537" t="63226" r="39103" b="15922"/>
          <a:stretch/>
        </p:blipFill>
        <p:spPr>
          <a:xfrm rot="16836600">
            <a:off x="1620360" y="6953040"/>
            <a:ext cx="1052280" cy="1000080"/>
          </a:xfrm>
          <a:prstGeom prst="rect">
            <a:avLst/>
          </a:prstGeom>
          <a:ln w="0">
            <a:noFill/>
          </a:ln>
        </p:spPr>
      </p:pic>
      <p:sp>
        <p:nvSpPr>
          <p:cNvPr id="390" name="Google Shape;362;p6"/>
          <p:cNvSpPr/>
          <p:nvPr/>
        </p:nvSpPr>
        <p:spPr>
          <a:xfrm>
            <a:off x="2303280" y="7928280"/>
            <a:ext cx="9374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New drug</a:t>
            </a:r>
            <a:endParaRPr b="0" lang="en-US" sz="1000" spc="-1" strike="noStrike">
              <a:latin typeface="Arial"/>
            </a:endParaRPr>
          </a:p>
        </p:txBody>
      </p:sp>
      <p:sp>
        <p:nvSpPr>
          <p:cNvPr id="391" name="Google Shape;363;p6"/>
          <p:cNvSpPr/>
          <p:nvPr/>
        </p:nvSpPr>
        <p:spPr>
          <a:xfrm>
            <a:off x="247320" y="7238520"/>
            <a:ext cx="9374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Stratification</a:t>
            </a:r>
            <a:endParaRPr b="0" lang="en-US" sz="1000" spc="-1" strike="noStrike">
              <a:latin typeface="Arial"/>
            </a:endParaRPr>
          </a:p>
        </p:txBody>
      </p:sp>
      <p:sp>
        <p:nvSpPr>
          <p:cNvPr id="392" name="Google Shape;364;p6"/>
          <p:cNvSpPr/>
          <p:nvPr/>
        </p:nvSpPr>
        <p:spPr>
          <a:xfrm>
            <a:off x="-68040" y="8112240"/>
            <a:ext cx="162540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Experimental validation</a:t>
            </a:r>
            <a:endParaRPr b="0" lang="en-US" sz="1000" spc="-1" strike="noStrike">
              <a:latin typeface="Arial"/>
            </a:endParaRPr>
          </a:p>
        </p:txBody>
      </p:sp>
      <p:sp>
        <p:nvSpPr>
          <p:cNvPr id="393" name="Google Shape;365;p6"/>
          <p:cNvSpPr/>
          <p:nvPr/>
        </p:nvSpPr>
        <p:spPr>
          <a:xfrm>
            <a:off x="392040" y="5976360"/>
            <a:ext cx="9374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Output</a:t>
            </a:r>
            <a:endParaRPr b="0" lang="en-US" sz="1000" spc="-1" strike="noStrike">
              <a:latin typeface="Arial"/>
            </a:endParaRPr>
          </a:p>
        </p:txBody>
      </p:sp>
      <p:pic>
        <p:nvPicPr>
          <p:cNvPr id="394" name="Google Shape;366;p6" descr=""/>
          <p:cNvPicPr/>
          <p:nvPr/>
        </p:nvPicPr>
        <p:blipFill>
          <a:blip r:embed="rId8"/>
          <a:srcRect l="5189" t="8175" r="76083" b="65919"/>
          <a:stretch/>
        </p:blipFill>
        <p:spPr>
          <a:xfrm>
            <a:off x="4919400" y="5122800"/>
            <a:ext cx="583560" cy="565200"/>
          </a:xfrm>
          <a:prstGeom prst="rect">
            <a:avLst/>
          </a:prstGeom>
          <a:ln w="0">
            <a:noFill/>
          </a:ln>
        </p:spPr>
      </p:pic>
      <p:grpSp>
        <p:nvGrpSpPr>
          <p:cNvPr id="395" name="Google Shape;367;p6"/>
          <p:cNvGrpSpPr/>
          <p:nvPr/>
        </p:nvGrpSpPr>
        <p:grpSpPr>
          <a:xfrm>
            <a:off x="4922280" y="6507720"/>
            <a:ext cx="515520" cy="334080"/>
            <a:chOff x="4922280" y="6507720"/>
            <a:chExt cx="515520" cy="334080"/>
          </a:xfrm>
        </p:grpSpPr>
        <p:sp>
          <p:nvSpPr>
            <p:cNvPr id="396" name="Google Shape;368;p6"/>
            <p:cNvSpPr/>
            <p:nvPr/>
          </p:nvSpPr>
          <p:spPr>
            <a:xfrm>
              <a:off x="5180760" y="6509520"/>
              <a:ext cx="360" cy="18864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97" name="Google Shape;369;p6"/>
            <p:cNvSpPr/>
            <p:nvPr/>
          </p:nvSpPr>
          <p:spPr>
            <a:xfrm>
              <a:off x="4992120" y="6656400"/>
              <a:ext cx="37980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98" name="Google Shape;370;p6"/>
            <p:cNvSpPr/>
            <p:nvPr/>
          </p:nvSpPr>
          <p:spPr>
            <a:xfrm>
              <a:off x="4997160" y="6653160"/>
              <a:ext cx="360" cy="18864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399" name="Google Shape;371;p6"/>
            <p:cNvSpPr/>
            <p:nvPr/>
          </p:nvSpPr>
          <p:spPr>
            <a:xfrm>
              <a:off x="5180760" y="6653160"/>
              <a:ext cx="360" cy="18864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400" name="Google Shape;372;p6"/>
            <p:cNvSpPr/>
            <p:nvPr/>
          </p:nvSpPr>
          <p:spPr>
            <a:xfrm>
              <a:off x="5369040" y="6653160"/>
              <a:ext cx="360" cy="18864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401" name="Google Shape;373;p6"/>
            <p:cNvSpPr/>
            <p:nvPr/>
          </p:nvSpPr>
          <p:spPr>
            <a:xfrm>
              <a:off x="5106960" y="6507720"/>
              <a:ext cx="147240" cy="95400"/>
            </a:xfrm>
            <a:prstGeom prst="rect">
              <a:avLst/>
            </a:prstGeom>
            <a:solidFill>
              <a:srgbClr val="a5a5a5"/>
            </a:solidFill>
            <a:ln w="9525">
              <a:solidFill>
                <a:srgbClr val="000000"/>
              </a:solidFill>
              <a:round/>
            </a:ln>
          </p:spPr>
          <p:style>
            <a:lnRef idx="0"/>
            <a:fillRef idx="0"/>
            <a:effectRef idx="0"/>
            <a:fontRef idx="minor"/>
          </p:style>
        </p:sp>
        <p:sp>
          <p:nvSpPr>
            <p:cNvPr id="402" name="Google Shape;374;p6"/>
            <p:cNvSpPr/>
            <p:nvPr/>
          </p:nvSpPr>
          <p:spPr>
            <a:xfrm>
              <a:off x="4922280" y="6746400"/>
              <a:ext cx="147240" cy="95400"/>
            </a:xfrm>
            <a:prstGeom prst="rect">
              <a:avLst/>
            </a:prstGeom>
            <a:solidFill>
              <a:srgbClr val="bfbfbf"/>
            </a:solidFill>
            <a:ln w="9525">
              <a:solidFill>
                <a:srgbClr val="000000"/>
              </a:solidFill>
              <a:round/>
            </a:ln>
          </p:spPr>
          <p:style>
            <a:lnRef idx="0"/>
            <a:fillRef idx="0"/>
            <a:effectRef idx="0"/>
            <a:fontRef idx="minor"/>
          </p:style>
        </p:sp>
        <p:sp>
          <p:nvSpPr>
            <p:cNvPr id="403" name="Google Shape;375;p6"/>
            <p:cNvSpPr/>
            <p:nvPr/>
          </p:nvSpPr>
          <p:spPr>
            <a:xfrm>
              <a:off x="5106960" y="6746400"/>
              <a:ext cx="147240" cy="95400"/>
            </a:xfrm>
            <a:prstGeom prst="rect">
              <a:avLst/>
            </a:prstGeom>
            <a:solidFill>
              <a:srgbClr val="bfbfbf"/>
            </a:solidFill>
            <a:ln w="9525">
              <a:solidFill>
                <a:srgbClr val="000000"/>
              </a:solidFill>
              <a:round/>
            </a:ln>
          </p:spPr>
          <p:style>
            <a:lnRef idx="0"/>
            <a:fillRef idx="0"/>
            <a:effectRef idx="0"/>
            <a:fontRef idx="minor"/>
          </p:style>
        </p:sp>
        <p:sp>
          <p:nvSpPr>
            <p:cNvPr id="404" name="Google Shape;376;p6"/>
            <p:cNvSpPr/>
            <p:nvPr/>
          </p:nvSpPr>
          <p:spPr>
            <a:xfrm>
              <a:off x="5290560" y="6746400"/>
              <a:ext cx="147240" cy="95400"/>
            </a:xfrm>
            <a:prstGeom prst="rect">
              <a:avLst/>
            </a:prstGeom>
            <a:solidFill>
              <a:srgbClr val="bfbfbf"/>
            </a:solidFill>
            <a:ln w="9525">
              <a:solidFill>
                <a:srgbClr val="000000"/>
              </a:solidFill>
              <a:round/>
            </a:ln>
          </p:spPr>
          <p:style>
            <a:lnRef idx="0"/>
            <a:fillRef idx="0"/>
            <a:effectRef idx="0"/>
            <a:fontRef idx="minor"/>
          </p:style>
        </p:sp>
      </p:grpSp>
      <p:grpSp>
        <p:nvGrpSpPr>
          <p:cNvPr id="405" name="Google Shape;377;p6"/>
          <p:cNvGrpSpPr/>
          <p:nvPr/>
        </p:nvGrpSpPr>
        <p:grpSpPr>
          <a:xfrm>
            <a:off x="4857480" y="7682040"/>
            <a:ext cx="635400" cy="756720"/>
            <a:chOff x="4857480" y="7682040"/>
            <a:chExt cx="635400" cy="756720"/>
          </a:xfrm>
        </p:grpSpPr>
        <p:sp>
          <p:nvSpPr>
            <p:cNvPr id="406" name="Google Shape;378;p6"/>
            <p:cNvSpPr/>
            <p:nvPr/>
          </p:nvSpPr>
          <p:spPr>
            <a:xfrm flipH="1" rot="10800000">
              <a:off x="5000400" y="7941600"/>
              <a:ext cx="235800" cy="132120"/>
            </a:xfrm>
            <a:custGeom>
              <a:avLst/>
              <a:gdLst/>
              <a:ahLst/>
              <a:rect l="l" t="t" r="r" b="b"/>
              <a:pathLst>
                <a:path w="21600" h="21600">
                  <a:moveTo>
                    <a:pt x="0" y="0"/>
                  </a:moveTo>
                  <a:lnTo>
                    <a:pt x="21600" y="21600"/>
                  </a:lnTo>
                </a:path>
              </a:pathLst>
            </a:custGeom>
            <a:noFill/>
            <a:ln w="9525">
              <a:solidFill>
                <a:srgbClr val="000000"/>
              </a:solidFill>
              <a:prstDash val="dot"/>
              <a:round/>
            </a:ln>
          </p:spPr>
          <p:style>
            <a:lnRef idx="0"/>
            <a:fillRef idx="0"/>
            <a:effectRef idx="0"/>
            <a:fontRef idx="minor"/>
          </p:style>
        </p:sp>
        <p:sp>
          <p:nvSpPr>
            <p:cNvPr id="407" name="Google Shape;380;p6"/>
            <p:cNvSpPr/>
            <p:nvPr/>
          </p:nvSpPr>
          <p:spPr>
            <a:xfrm>
              <a:off x="4993200" y="8076960"/>
              <a:ext cx="105840" cy="80280"/>
            </a:xfrm>
            <a:custGeom>
              <a:avLst/>
              <a:gdLst/>
              <a:ahLst/>
              <a:rect l="l" t="t" r="r" b="b"/>
              <a:pathLst>
                <a:path w="21600" h="21600">
                  <a:moveTo>
                    <a:pt x="0" y="0"/>
                  </a:moveTo>
                  <a:lnTo>
                    <a:pt x="21600" y="21600"/>
                  </a:lnTo>
                </a:path>
              </a:pathLst>
            </a:custGeom>
            <a:noFill/>
            <a:ln w="9525">
              <a:solidFill>
                <a:srgbClr val="000000"/>
              </a:solidFill>
              <a:prstDash val="dot"/>
              <a:round/>
            </a:ln>
          </p:spPr>
          <p:style>
            <a:lnRef idx="0"/>
            <a:fillRef idx="0"/>
            <a:effectRef idx="0"/>
            <a:fontRef idx="minor"/>
          </p:style>
        </p:sp>
        <p:sp>
          <p:nvSpPr>
            <p:cNvPr id="408" name="Google Shape;382;p6"/>
            <p:cNvSpPr/>
            <p:nvPr/>
          </p:nvSpPr>
          <p:spPr>
            <a:xfrm>
              <a:off x="5257080" y="7965720"/>
              <a:ext cx="92880" cy="188280"/>
            </a:xfrm>
            <a:custGeom>
              <a:avLst/>
              <a:gdLst/>
              <a:ahLst/>
              <a:rect l="l" t="t" r="r" b="b"/>
              <a:pathLst>
                <a:path w="21600" h="21600">
                  <a:moveTo>
                    <a:pt x="0" y="0"/>
                  </a:moveTo>
                  <a:lnTo>
                    <a:pt x="21600" y="21600"/>
                  </a:lnTo>
                </a:path>
              </a:pathLst>
            </a:custGeom>
            <a:noFill/>
            <a:ln w="9525">
              <a:solidFill>
                <a:srgbClr val="000000"/>
              </a:solidFill>
              <a:prstDash val="dot"/>
              <a:round/>
            </a:ln>
          </p:spPr>
          <p:style>
            <a:lnRef idx="0"/>
            <a:fillRef idx="0"/>
            <a:effectRef idx="0"/>
            <a:fontRef idx="minor"/>
          </p:style>
        </p:sp>
        <p:sp>
          <p:nvSpPr>
            <p:cNvPr id="409" name="Google Shape;385;p6"/>
            <p:cNvSpPr/>
            <p:nvPr/>
          </p:nvSpPr>
          <p:spPr>
            <a:xfrm flipH="1" rot="10800000">
              <a:off x="5256720" y="7777440"/>
              <a:ext cx="92520" cy="188280"/>
            </a:xfrm>
            <a:custGeom>
              <a:avLst/>
              <a:gdLst/>
              <a:ahLst/>
              <a:rect l="l" t="t" r="r" b="b"/>
              <a:pathLst>
                <a:path w="21600" h="21600">
                  <a:moveTo>
                    <a:pt x="0" y="0"/>
                  </a:moveTo>
                  <a:lnTo>
                    <a:pt x="21600" y="21600"/>
                  </a:lnTo>
                </a:path>
              </a:pathLst>
            </a:custGeom>
            <a:noFill/>
            <a:ln w="9525">
              <a:solidFill>
                <a:srgbClr val="000000"/>
              </a:solidFill>
              <a:prstDash val="dot"/>
              <a:round/>
            </a:ln>
          </p:spPr>
          <p:style>
            <a:lnRef idx="0"/>
            <a:fillRef idx="0"/>
            <a:effectRef idx="0"/>
            <a:fontRef idx="minor"/>
          </p:style>
        </p:sp>
        <p:sp>
          <p:nvSpPr>
            <p:cNvPr id="410" name="Google Shape;387;p6"/>
            <p:cNvSpPr/>
            <p:nvPr/>
          </p:nvSpPr>
          <p:spPr>
            <a:xfrm rot="16200000">
              <a:off x="5332680" y="7901280"/>
              <a:ext cx="190440" cy="128880"/>
            </a:xfrm>
            <a:prstGeom prst="rect">
              <a:avLst/>
            </a:prstGeom>
            <a:solidFill>
              <a:srgbClr val="bfbfbf"/>
            </a:solidFill>
            <a:ln w="9525">
              <a:solidFill>
                <a:srgbClr val="000000"/>
              </a:solidFill>
              <a:round/>
            </a:ln>
          </p:spPr>
          <p:style>
            <a:lnRef idx="0"/>
            <a:fillRef idx="0"/>
            <a:effectRef idx="0"/>
            <a:fontRef idx="minor"/>
          </p:style>
        </p:sp>
        <p:sp>
          <p:nvSpPr>
            <p:cNvPr id="411" name="Google Shape;386;p6"/>
            <p:cNvSpPr/>
            <p:nvPr/>
          </p:nvSpPr>
          <p:spPr>
            <a:xfrm rot="16200000">
              <a:off x="5332680" y="7712640"/>
              <a:ext cx="190440" cy="128880"/>
            </a:xfrm>
            <a:prstGeom prst="rect">
              <a:avLst/>
            </a:prstGeom>
            <a:solidFill>
              <a:srgbClr val="bfbfbf"/>
            </a:solidFill>
            <a:ln w="9525">
              <a:solidFill>
                <a:srgbClr val="000000"/>
              </a:solidFill>
              <a:round/>
            </a:ln>
          </p:spPr>
          <p:style>
            <a:lnRef idx="0"/>
            <a:fillRef idx="0"/>
            <a:effectRef idx="0"/>
            <a:fontRef idx="minor"/>
          </p:style>
        </p:sp>
        <p:sp>
          <p:nvSpPr>
            <p:cNvPr id="412" name="Google Shape;384;p6"/>
            <p:cNvSpPr/>
            <p:nvPr/>
          </p:nvSpPr>
          <p:spPr>
            <a:xfrm rot="16200000">
              <a:off x="5333040" y="8090280"/>
              <a:ext cx="190440" cy="128880"/>
            </a:xfrm>
            <a:prstGeom prst="rect">
              <a:avLst/>
            </a:prstGeom>
            <a:solidFill>
              <a:srgbClr val="bfbfbf"/>
            </a:solidFill>
            <a:ln w="9525">
              <a:solidFill>
                <a:srgbClr val="000000"/>
              </a:solidFill>
              <a:round/>
            </a:ln>
          </p:spPr>
          <p:style>
            <a:lnRef idx="0"/>
            <a:fillRef idx="0"/>
            <a:effectRef idx="0"/>
            <a:fontRef idx="minor"/>
          </p:style>
        </p:sp>
        <p:sp>
          <p:nvSpPr>
            <p:cNvPr id="413" name="Google Shape;388;p6"/>
            <p:cNvSpPr/>
            <p:nvPr/>
          </p:nvSpPr>
          <p:spPr>
            <a:xfrm flipH="1" rot="10800000">
              <a:off x="5254920" y="8153640"/>
              <a:ext cx="93600" cy="2520"/>
            </a:xfrm>
            <a:custGeom>
              <a:avLst/>
              <a:gdLst/>
              <a:ahLst/>
              <a:rect l="l" t="t" r="r" b="b"/>
              <a:pathLst>
                <a:path w="21600" h="21600">
                  <a:moveTo>
                    <a:pt x="0" y="0"/>
                  </a:moveTo>
                  <a:lnTo>
                    <a:pt x="21600" y="21600"/>
                  </a:lnTo>
                </a:path>
              </a:pathLst>
            </a:custGeom>
            <a:noFill/>
            <a:ln w="9525">
              <a:solidFill>
                <a:srgbClr val="000000"/>
              </a:solidFill>
              <a:prstDash val="dot"/>
              <a:round/>
            </a:ln>
          </p:spPr>
          <p:style>
            <a:lnRef idx="0"/>
            <a:fillRef idx="0"/>
            <a:effectRef idx="0"/>
            <a:fontRef idx="minor"/>
          </p:style>
        </p:sp>
        <p:sp>
          <p:nvSpPr>
            <p:cNvPr id="414" name="Google Shape;389;p6"/>
            <p:cNvSpPr/>
            <p:nvPr/>
          </p:nvSpPr>
          <p:spPr>
            <a:xfrm>
              <a:off x="5257080" y="7965720"/>
              <a:ext cx="92520" cy="3960"/>
            </a:xfrm>
            <a:custGeom>
              <a:avLst/>
              <a:gdLst/>
              <a:ahLst/>
              <a:rect l="l" t="t" r="r" b="b"/>
              <a:pathLst>
                <a:path w="21600" h="21600">
                  <a:moveTo>
                    <a:pt x="0" y="0"/>
                  </a:moveTo>
                  <a:lnTo>
                    <a:pt x="21600" y="21600"/>
                  </a:lnTo>
                </a:path>
              </a:pathLst>
            </a:custGeom>
            <a:noFill/>
            <a:ln w="9525">
              <a:solidFill>
                <a:srgbClr val="000000"/>
              </a:solidFill>
              <a:prstDash val="dot"/>
              <a:round/>
            </a:ln>
          </p:spPr>
          <p:style>
            <a:lnRef idx="0"/>
            <a:fillRef idx="0"/>
            <a:effectRef idx="0"/>
            <a:fontRef idx="minor"/>
          </p:style>
        </p:sp>
        <p:sp>
          <p:nvSpPr>
            <p:cNvPr id="415" name="Google Shape;379;p6"/>
            <p:cNvSpPr/>
            <p:nvPr/>
          </p:nvSpPr>
          <p:spPr>
            <a:xfrm rot="16200000">
              <a:off x="4826520" y="8009280"/>
              <a:ext cx="190440" cy="128880"/>
            </a:xfrm>
            <a:prstGeom prst="rect">
              <a:avLst/>
            </a:prstGeom>
            <a:solidFill>
              <a:srgbClr val="a5a5a5"/>
            </a:solidFill>
            <a:ln w="9525">
              <a:solidFill>
                <a:srgbClr val="000000"/>
              </a:solidFill>
              <a:round/>
            </a:ln>
          </p:spPr>
          <p:style>
            <a:lnRef idx="0"/>
            <a:fillRef idx="0"/>
            <a:effectRef idx="0"/>
            <a:fontRef idx="minor"/>
          </p:style>
        </p:sp>
        <p:sp>
          <p:nvSpPr>
            <p:cNvPr id="416" name="Google Shape;383;p6"/>
            <p:cNvSpPr/>
            <p:nvPr/>
          </p:nvSpPr>
          <p:spPr>
            <a:xfrm rot="16200000">
              <a:off x="5083200" y="7901280"/>
              <a:ext cx="190440" cy="128880"/>
            </a:xfrm>
            <a:prstGeom prst="rect">
              <a:avLst/>
            </a:prstGeom>
            <a:solidFill>
              <a:srgbClr val="bfbfbf"/>
            </a:solidFill>
            <a:ln w="9525">
              <a:solidFill>
                <a:srgbClr val="000000"/>
              </a:solidFill>
              <a:round/>
            </a:ln>
          </p:spPr>
          <p:style>
            <a:lnRef idx="0"/>
            <a:fillRef idx="0"/>
            <a:effectRef idx="0"/>
            <a:fontRef idx="minor"/>
          </p:style>
        </p:sp>
        <p:sp>
          <p:nvSpPr>
            <p:cNvPr id="417" name="Google Shape;390;p6"/>
            <p:cNvSpPr/>
            <p:nvPr/>
          </p:nvSpPr>
          <p:spPr>
            <a:xfrm flipH="1" rot="10800000">
              <a:off x="5255640" y="7966080"/>
              <a:ext cx="94320" cy="191880"/>
            </a:xfrm>
            <a:custGeom>
              <a:avLst/>
              <a:gdLst/>
              <a:ahLst/>
              <a:rect l="l" t="t" r="r" b="b"/>
              <a:pathLst>
                <a:path w="21600" h="21600">
                  <a:moveTo>
                    <a:pt x="0" y="0"/>
                  </a:moveTo>
                  <a:lnTo>
                    <a:pt x="21600" y="21600"/>
                  </a:lnTo>
                </a:path>
              </a:pathLst>
            </a:custGeom>
            <a:noFill/>
            <a:ln w="9525">
              <a:solidFill>
                <a:srgbClr val="000000"/>
              </a:solidFill>
              <a:prstDash val="dot"/>
              <a:round/>
            </a:ln>
          </p:spPr>
          <p:style>
            <a:lnRef idx="0"/>
            <a:fillRef idx="0"/>
            <a:effectRef idx="0"/>
            <a:fontRef idx="minor"/>
          </p:style>
        </p:sp>
        <p:sp>
          <p:nvSpPr>
            <p:cNvPr id="418" name="Google Shape;391;p6"/>
            <p:cNvSpPr/>
            <p:nvPr/>
          </p:nvSpPr>
          <p:spPr>
            <a:xfrm flipH="1" rot="10800000">
              <a:off x="5251680" y="7777440"/>
              <a:ext cx="97560" cy="396000"/>
            </a:xfrm>
            <a:custGeom>
              <a:avLst/>
              <a:gdLst/>
              <a:ahLst/>
              <a:rect l="l" t="t" r="r" b="b"/>
              <a:pathLst>
                <a:path w="21600" h="21600">
                  <a:moveTo>
                    <a:pt x="0" y="0"/>
                  </a:moveTo>
                  <a:lnTo>
                    <a:pt x="21600" y="21600"/>
                  </a:lnTo>
                </a:path>
              </a:pathLst>
            </a:custGeom>
            <a:noFill/>
            <a:ln w="9525">
              <a:solidFill>
                <a:srgbClr val="000000"/>
              </a:solidFill>
              <a:prstDash val="dot"/>
              <a:round/>
            </a:ln>
          </p:spPr>
          <p:style>
            <a:lnRef idx="0"/>
            <a:fillRef idx="0"/>
            <a:effectRef idx="0"/>
            <a:fontRef idx="minor"/>
          </p:style>
        </p:sp>
        <p:sp>
          <p:nvSpPr>
            <p:cNvPr id="419" name="Google Shape;392;p6"/>
            <p:cNvSpPr/>
            <p:nvPr/>
          </p:nvSpPr>
          <p:spPr>
            <a:xfrm rot="10800000">
              <a:off x="5260680" y="7966080"/>
              <a:ext cx="92520" cy="377280"/>
            </a:xfrm>
            <a:custGeom>
              <a:avLst/>
              <a:gdLst/>
              <a:ahLst/>
              <a:rect l="l" t="t" r="r" b="b"/>
              <a:pathLst>
                <a:path w="21600" h="21600">
                  <a:moveTo>
                    <a:pt x="0" y="0"/>
                  </a:moveTo>
                  <a:lnTo>
                    <a:pt x="21600" y="21600"/>
                  </a:lnTo>
                </a:path>
              </a:pathLst>
            </a:custGeom>
            <a:noFill/>
            <a:ln w="9525">
              <a:solidFill>
                <a:srgbClr val="000000"/>
              </a:solidFill>
              <a:prstDash val="dot"/>
              <a:round/>
            </a:ln>
          </p:spPr>
          <p:style>
            <a:lnRef idx="0"/>
            <a:fillRef idx="0"/>
            <a:effectRef idx="0"/>
            <a:fontRef idx="minor"/>
          </p:style>
        </p:sp>
        <p:sp>
          <p:nvSpPr>
            <p:cNvPr id="420" name="Google Shape;393;p6"/>
            <p:cNvSpPr/>
            <p:nvPr/>
          </p:nvSpPr>
          <p:spPr>
            <a:xfrm rot="16200000">
              <a:off x="5332680" y="8278920"/>
              <a:ext cx="190440" cy="128880"/>
            </a:xfrm>
            <a:prstGeom prst="rect">
              <a:avLst/>
            </a:prstGeom>
            <a:solidFill>
              <a:srgbClr val="bfbfbf"/>
            </a:solidFill>
            <a:ln w="9525">
              <a:solidFill>
                <a:srgbClr val="000000"/>
              </a:solidFill>
              <a:round/>
            </a:ln>
          </p:spPr>
          <p:style>
            <a:lnRef idx="0"/>
            <a:fillRef idx="0"/>
            <a:effectRef idx="0"/>
            <a:fontRef idx="minor"/>
          </p:style>
        </p:sp>
        <p:sp>
          <p:nvSpPr>
            <p:cNvPr id="421" name="Google Shape;381;p6"/>
            <p:cNvSpPr/>
            <p:nvPr/>
          </p:nvSpPr>
          <p:spPr>
            <a:xfrm rot="16200000">
              <a:off x="5082120" y="8093160"/>
              <a:ext cx="190440" cy="128880"/>
            </a:xfrm>
            <a:prstGeom prst="rect">
              <a:avLst/>
            </a:prstGeom>
            <a:solidFill>
              <a:srgbClr val="bfbfbf"/>
            </a:solidFill>
            <a:ln w="9525">
              <a:solidFill>
                <a:srgbClr val="000000"/>
              </a:solidFill>
              <a:round/>
            </a:ln>
          </p:spPr>
          <p:style>
            <a:lnRef idx="0"/>
            <a:fillRef idx="0"/>
            <a:effectRef idx="0"/>
            <a:fontRef idx="minor"/>
          </p:style>
        </p:sp>
        <p:sp>
          <p:nvSpPr>
            <p:cNvPr id="422" name="Google Shape;394;p6"/>
            <p:cNvSpPr/>
            <p:nvPr/>
          </p:nvSpPr>
          <p:spPr>
            <a:xfrm>
              <a:off x="5256000" y="8158680"/>
              <a:ext cx="93240" cy="184320"/>
            </a:xfrm>
            <a:custGeom>
              <a:avLst/>
              <a:gdLst/>
              <a:ahLst/>
              <a:rect l="l" t="t" r="r" b="b"/>
              <a:pathLst>
                <a:path w="21600" h="21600">
                  <a:moveTo>
                    <a:pt x="0" y="0"/>
                  </a:moveTo>
                  <a:lnTo>
                    <a:pt x="21600" y="21600"/>
                  </a:lnTo>
                </a:path>
              </a:pathLst>
            </a:custGeom>
            <a:noFill/>
            <a:ln w="9525">
              <a:solidFill>
                <a:srgbClr val="000000"/>
              </a:solidFill>
              <a:prstDash val="dot"/>
              <a:round/>
            </a:ln>
          </p:spPr>
          <p:style>
            <a:lnRef idx="0"/>
            <a:fillRef idx="0"/>
            <a:effectRef idx="0"/>
            <a:fontRef idx="minor"/>
          </p:style>
        </p:sp>
      </p:grpSp>
      <p:graphicFrame>
        <p:nvGraphicFramePr>
          <p:cNvPr id="423" name="Google Shape;395;p6"/>
          <p:cNvGraphicFramePr/>
          <p:nvPr/>
        </p:nvGraphicFramePr>
        <p:xfrm>
          <a:off x="3182760" y="1604160"/>
          <a:ext cx="1136880" cy="101160"/>
        </p:xfrm>
        <a:graphic>
          <a:graphicData uri="http://schemas.openxmlformats.org/drawingml/2006/table">
            <a:tbl>
              <a:tblPr/>
              <a:tblGrid>
                <a:gridCol w="227160"/>
                <a:gridCol w="227160"/>
                <a:gridCol w="227160"/>
                <a:gridCol w="227160"/>
                <a:gridCol w="22824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r>
            </a:tbl>
          </a:graphicData>
        </a:graphic>
      </p:graphicFrame>
      <p:graphicFrame>
        <p:nvGraphicFramePr>
          <p:cNvPr id="424" name="Google Shape;396;p6"/>
          <p:cNvGraphicFramePr/>
          <p:nvPr/>
        </p:nvGraphicFramePr>
        <p:xfrm>
          <a:off x="3182760" y="1949760"/>
          <a:ext cx="1136880" cy="101160"/>
        </p:xfrm>
        <a:graphic>
          <a:graphicData uri="http://schemas.openxmlformats.org/drawingml/2006/table">
            <a:tbl>
              <a:tblPr/>
              <a:tblGrid>
                <a:gridCol w="227160"/>
                <a:gridCol w="227160"/>
                <a:gridCol w="227160"/>
                <a:gridCol w="227160"/>
                <a:gridCol w="22824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r>
            </a:tbl>
          </a:graphicData>
        </a:graphic>
      </p:graphicFrame>
      <p:sp>
        <p:nvSpPr>
          <p:cNvPr id="425" name="Google Shape;397;p6"/>
          <p:cNvSpPr/>
          <p:nvPr/>
        </p:nvSpPr>
        <p:spPr>
          <a:xfrm>
            <a:off x="1352880" y="3671640"/>
            <a:ext cx="1865160" cy="258480"/>
          </a:xfrm>
          <a:prstGeom prst="rect">
            <a:avLst/>
          </a:prstGeom>
          <a:noFill/>
          <a:ln w="9525">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1100" spc="-1" strike="noStrike">
                <a:solidFill>
                  <a:srgbClr val="000000"/>
                </a:solidFill>
                <a:latin typeface="Arial"/>
                <a:ea typeface="Arial"/>
              </a:rPr>
              <a:t>Data</a:t>
            </a:r>
            <a:endParaRPr b="0" lang="en-US" sz="1100" spc="-1" strike="noStrike">
              <a:latin typeface="Arial"/>
            </a:endParaRPr>
          </a:p>
        </p:txBody>
      </p:sp>
      <p:sp>
        <p:nvSpPr>
          <p:cNvPr id="426" name="Google Shape;398;p6"/>
          <p:cNvSpPr/>
          <p:nvPr/>
        </p:nvSpPr>
        <p:spPr>
          <a:xfrm>
            <a:off x="3475080" y="3677040"/>
            <a:ext cx="1864800" cy="258480"/>
          </a:xfrm>
          <a:prstGeom prst="rect">
            <a:avLst/>
          </a:prstGeom>
          <a:noFill/>
          <a:ln w="9525">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1100" spc="-1" strike="noStrike">
                <a:solidFill>
                  <a:srgbClr val="000000"/>
                </a:solidFill>
                <a:latin typeface="Arial"/>
                <a:ea typeface="Arial"/>
              </a:rPr>
              <a:t>Feature Engineering</a:t>
            </a:r>
            <a:endParaRPr b="0" lang="en-US" sz="1100" spc="-1" strike="noStrike">
              <a:latin typeface="Arial"/>
            </a:endParaRPr>
          </a:p>
        </p:txBody>
      </p:sp>
      <p:sp>
        <p:nvSpPr>
          <p:cNvPr id="427" name="Google Shape;399;p6"/>
          <p:cNvSpPr/>
          <p:nvPr/>
        </p:nvSpPr>
        <p:spPr>
          <a:xfrm>
            <a:off x="3475080" y="4151880"/>
            <a:ext cx="1864800" cy="258480"/>
          </a:xfrm>
          <a:prstGeom prst="rect">
            <a:avLst/>
          </a:prstGeom>
          <a:noFill/>
          <a:ln w="9525">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1100" spc="-1" strike="noStrike">
                <a:solidFill>
                  <a:srgbClr val="000000"/>
                </a:solidFill>
                <a:latin typeface="Arial"/>
                <a:ea typeface="Arial"/>
              </a:rPr>
              <a:t>Modeling</a:t>
            </a:r>
            <a:endParaRPr b="0" lang="en-US" sz="1100" spc="-1" strike="noStrike">
              <a:latin typeface="Arial"/>
            </a:endParaRPr>
          </a:p>
        </p:txBody>
      </p:sp>
      <p:sp>
        <p:nvSpPr>
          <p:cNvPr id="428" name="Google Shape;400;p6"/>
          <p:cNvSpPr/>
          <p:nvPr/>
        </p:nvSpPr>
        <p:spPr>
          <a:xfrm>
            <a:off x="1349640" y="4152600"/>
            <a:ext cx="1864800" cy="258480"/>
          </a:xfrm>
          <a:prstGeom prst="rect">
            <a:avLst/>
          </a:prstGeom>
          <a:noFill/>
          <a:ln w="9525">
            <a:solidFill>
              <a:srgbClr val="000000"/>
            </a:solidFill>
            <a:round/>
          </a:ln>
        </p:spPr>
        <p:style>
          <a:lnRef idx="0"/>
          <a:fillRef idx="0"/>
          <a:effectRef idx="0"/>
          <a:fontRef idx="minor"/>
        </p:style>
        <p:txBody>
          <a:bodyPr anchor="t">
            <a:spAutoFit/>
          </a:bodyPr>
          <a:p>
            <a:pPr algn="ctr">
              <a:lnSpc>
                <a:spcPct val="100000"/>
              </a:lnSpc>
              <a:buNone/>
              <a:tabLst>
                <a:tab algn="l" pos="0"/>
              </a:tabLst>
            </a:pPr>
            <a:r>
              <a:rPr b="0" lang="en-US" sz="1100" spc="-1" strike="noStrike">
                <a:solidFill>
                  <a:srgbClr val="000000"/>
                </a:solidFill>
                <a:latin typeface="Arial"/>
                <a:ea typeface="Arial"/>
              </a:rPr>
              <a:t>Analysis</a:t>
            </a:r>
            <a:endParaRPr b="0" lang="en-US" sz="1100" spc="-1" strike="noStrike">
              <a:latin typeface="Arial"/>
            </a:endParaRPr>
          </a:p>
        </p:txBody>
      </p:sp>
      <p:sp>
        <p:nvSpPr>
          <p:cNvPr id="429" name="Google Shape;401;p6"/>
          <p:cNvSpPr/>
          <p:nvPr/>
        </p:nvSpPr>
        <p:spPr>
          <a:xfrm flipH="1" rot="10800000">
            <a:off x="3255120" y="3844440"/>
            <a:ext cx="182520" cy="360"/>
          </a:xfrm>
          <a:custGeom>
            <a:avLst/>
            <a:gdLst/>
            <a:ahLst/>
            <a:rect l="l" t="t" r="r" b="b"/>
            <a:pathLst>
              <a:path w="21600" h="21600">
                <a:moveTo>
                  <a:pt x="0" y="0"/>
                </a:moveTo>
                <a:lnTo>
                  <a:pt x="21600" y="21600"/>
                </a:lnTo>
              </a:path>
            </a:pathLst>
          </a:custGeom>
          <a:noFill/>
          <a:ln w="12700">
            <a:solidFill>
              <a:srgbClr val="000000"/>
            </a:solidFill>
            <a:round/>
            <a:tailEnd len="med" type="triangle" w="med"/>
          </a:ln>
        </p:spPr>
        <p:style>
          <a:lnRef idx="0"/>
          <a:fillRef idx="0"/>
          <a:effectRef idx="0"/>
          <a:fontRef idx="minor"/>
        </p:style>
      </p:sp>
      <p:sp>
        <p:nvSpPr>
          <p:cNvPr id="430" name="Google Shape;402;p6"/>
          <p:cNvSpPr/>
          <p:nvPr/>
        </p:nvSpPr>
        <p:spPr>
          <a:xfrm rot="10800000">
            <a:off x="3238200" y="4277520"/>
            <a:ext cx="182520" cy="360"/>
          </a:xfrm>
          <a:custGeom>
            <a:avLst/>
            <a:gdLst/>
            <a:ahLst/>
            <a:rect l="l" t="t" r="r" b="b"/>
            <a:pathLst>
              <a:path w="21600" h="21600">
                <a:moveTo>
                  <a:pt x="0" y="0"/>
                </a:moveTo>
                <a:lnTo>
                  <a:pt x="21600" y="21600"/>
                </a:lnTo>
              </a:path>
            </a:pathLst>
          </a:custGeom>
          <a:noFill/>
          <a:ln w="12700">
            <a:solidFill>
              <a:srgbClr val="000000"/>
            </a:solidFill>
            <a:round/>
            <a:tailEnd len="med" type="triangle" w="med"/>
          </a:ln>
        </p:spPr>
        <p:style>
          <a:lnRef idx="0"/>
          <a:fillRef idx="0"/>
          <a:effectRef idx="0"/>
          <a:fontRef idx="minor"/>
        </p:style>
      </p:sp>
      <p:sp>
        <p:nvSpPr>
          <p:cNvPr id="431" name="Google Shape;403;p6"/>
          <p:cNvSpPr/>
          <p:nvPr/>
        </p:nvSpPr>
        <p:spPr>
          <a:xfrm>
            <a:off x="4407840" y="3951360"/>
            <a:ext cx="360" cy="182520"/>
          </a:xfrm>
          <a:custGeom>
            <a:avLst/>
            <a:gdLst/>
            <a:ahLst/>
            <a:rect l="l" t="t" r="r" b="b"/>
            <a:pathLst>
              <a:path w="21600" h="21600">
                <a:moveTo>
                  <a:pt x="0" y="0"/>
                </a:moveTo>
                <a:lnTo>
                  <a:pt x="21600" y="21600"/>
                </a:lnTo>
              </a:path>
            </a:pathLst>
          </a:custGeom>
          <a:noFill/>
          <a:ln w="12700">
            <a:solidFill>
              <a:srgbClr val="000000"/>
            </a:solidFill>
            <a:round/>
            <a:tailEnd len="med" type="triangle" w="med"/>
          </a:ln>
        </p:spPr>
        <p:style>
          <a:lnRef idx="0"/>
          <a:fillRef idx="0"/>
          <a:effectRef idx="0"/>
          <a:fontRef idx="minor"/>
        </p:style>
      </p:sp>
      <p:graphicFrame>
        <p:nvGraphicFramePr>
          <p:cNvPr id="432" name="Google Shape;404;p6"/>
          <p:cNvGraphicFramePr/>
          <p:nvPr/>
        </p:nvGraphicFramePr>
        <p:xfrm>
          <a:off x="2231280" y="3002040"/>
          <a:ext cx="1117800" cy="101160"/>
        </p:xfrm>
        <a:graphic>
          <a:graphicData uri="http://schemas.openxmlformats.org/drawingml/2006/table">
            <a:tbl>
              <a:tblPr/>
              <a:tblGrid>
                <a:gridCol w="218880"/>
                <a:gridCol w="220680"/>
                <a:gridCol w="220680"/>
                <a:gridCol w="218880"/>
                <a:gridCol w="23868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path path="circle">
                        <a:fillToRect l="50000" t="50000" r="50000" b="50000"/>
                      </a:path>
                    </a:gra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path path="circle">
                        <a:fillToRect l="50000" t="50000" r="50000" b="50000"/>
                      </a:path>
                    </a:gra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path path="circle">
                        <a:fillToRect l="50000" t="50000" r="50000" b="50000"/>
                      </a:path>
                    </a:gra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path path="circle">
                        <a:fillToRect l="50000" t="50000" r="50000" b="50000"/>
                      </a:path>
                    </a:gra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path path="circle">
                        <a:fillToRect l="50000" t="50000" r="50000" b="50000"/>
                      </a:path>
                    </a:gradFill>
                  </a:tcPr>
                </a:tc>
              </a:tr>
            </a:tbl>
          </a:graphicData>
        </a:graphic>
      </p:graphicFrame>
      <p:sp>
        <p:nvSpPr>
          <p:cNvPr id="433" name="Google Shape;405;p6"/>
          <p:cNvSpPr/>
          <p:nvPr/>
        </p:nvSpPr>
        <p:spPr>
          <a:xfrm>
            <a:off x="2086200" y="2781000"/>
            <a:ext cx="154080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Pathway Genesets</a:t>
            </a:r>
            <a:endParaRPr b="0" lang="en-US" sz="1000" spc="-1" strike="noStrike">
              <a:latin typeface="Arial"/>
            </a:endParaRPr>
          </a:p>
        </p:txBody>
      </p:sp>
      <p:sp>
        <p:nvSpPr>
          <p:cNvPr id="434" name="Google Shape;406;p6"/>
          <p:cNvSpPr/>
          <p:nvPr/>
        </p:nvSpPr>
        <p:spPr>
          <a:xfrm>
            <a:off x="4530240" y="8849160"/>
            <a:ext cx="87984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Figure 2</a:t>
            </a:r>
            <a:endParaRPr b="0" lang="en-US" sz="1400" spc="-1" strike="noStrike">
              <a:latin typeface="Arial"/>
            </a:endParaRPr>
          </a:p>
        </p:txBody>
      </p:sp>
      <p:sp>
        <p:nvSpPr>
          <p:cNvPr id="435" name="Google Shape;407;p6"/>
          <p:cNvSpPr/>
          <p:nvPr/>
        </p:nvSpPr>
        <p:spPr>
          <a:xfrm>
            <a:off x="524520" y="6272280"/>
            <a:ext cx="376920" cy="191880"/>
          </a:xfrm>
          <a:prstGeom prst="rect">
            <a:avLst/>
          </a:prstGeom>
          <a:solidFill>
            <a:schemeClr val="lt1"/>
          </a:solidFill>
          <a:ln w="0">
            <a:noFill/>
          </a:ln>
        </p:spPr>
        <p:style>
          <a:lnRef idx="0"/>
          <a:fillRef idx="0"/>
          <a:effectRef idx="0"/>
          <a:fontRef idx="minor"/>
        </p:style>
      </p:sp>
      <p:sp>
        <p:nvSpPr>
          <p:cNvPr id="436" name="Google Shape;408;p6"/>
          <p:cNvSpPr/>
          <p:nvPr/>
        </p:nvSpPr>
        <p:spPr>
          <a:xfrm>
            <a:off x="522000" y="6636600"/>
            <a:ext cx="376920" cy="191880"/>
          </a:xfrm>
          <a:prstGeom prst="rect">
            <a:avLst/>
          </a:prstGeom>
          <a:solidFill>
            <a:schemeClr val="lt1"/>
          </a:solidFill>
          <a:ln w="0">
            <a:noFill/>
          </a:ln>
        </p:spPr>
        <p:style>
          <a:lnRef idx="0"/>
          <a:fillRef idx="0"/>
          <a:effectRef idx="0"/>
          <a:fontRef idx="minor"/>
        </p:style>
      </p:sp>
      <p:sp>
        <p:nvSpPr>
          <p:cNvPr id="437" name="Google Shape;409;p6"/>
          <p:cNvSpPr/>
          <p:nvPr/>
        </p:nvSpPr>
        <p:spPr>
          <a:xfrm flipH="1" rot="10800000">
            <a:off x="564480" y="7074000"/>
            <a:ext cx="376920" cy="117720"/>
          </a:xfrm>
          <a:prstGeom prst="rect">
            <a:avLst/>
          </a:prstGeom>
          <a:solidFill>
            <a:schemeClr val="lt1"/>
          </a:solidFill>
          <a:ln w="0">
            <a:noFill/>
          </a:ln>
        </p:spPr>
        <p:style>
          <a:lnRef idx="0"/>
          <a:fillRef idx="0"/>
          <a:effectRef idx="0"/>
          <a:fontRef idx="minor"/>
        </p:style>
      </p:sp>
      <p:sp>
        <p:nvSpPr>
          <p:cNvPr id="438" name="Google Shape;410;p6"/>
          <p:cNvSpPr/>
          <p:nvPr/>
        </p:nvSpPr>
        <p:spPr>
          <a:xfrm flipH="1" rot="10800000">
            <a:off x="1069920" y="6503400"/>
            <a:ext cx="281880" cy="781200"/>
          </a:xfrm>
          <a:prstGeom prst="triangle">
            <a:avLst>
              <a:gd name="adj" fmla="val 0"/>
            </a:avLst>
          </a:prstGeom>
          <a:gradFill rotWithShape="0">
            <a:gsLst>
              <a:gs pos="0">
                <a:srgbClr val="e5b8b7"/>
              </a:gs>
              <a:gs pos="100000">
                <a:srgbClr val="0000ff"/>
              </a:gs>
            </a:gsLst>
            <a:path path="circle">
              <a:fillToRect l="50000" t="50000" r="50000" b="50000"/>
            </a:path>
          </a:gradFill>
          <a:ln w="25400">
            <a:solidFill>
              <a:srgbClr val="000000"/>
            </a:solidFill>
            <a:round/>
          </a:ln>
        </p:spPr>
        <p:style>
          <a:lnRef idx="0"/>
          <a:fillRef idx="0"/>
          <a:effectRef idx="0"/>
          <a:fontRef idx="minor"/>
        </p:style>
      </p:sp>
      <p:sp>
        <p:nvSpPr>
          <p:cNvPr id="439" name="Google Shape;411;p6"/>
          <p:cNvSpPr/>
          <p:nvPr/>
        </p:nvSpPr>
        <p:spPr>
          <a:xfrm>
            <a:off x="346680" y="6800760"/>
            <a:ext cx="666360" cy="134280"/>
          </a:xfrm>
          <a:prstGeom prst="rect">
            <a:avLst/>
          </a:prstGeom>
          <a:solidFill>
            <a:schemeClr val="lt1"/>
          </a:solidFill>
          <a:ln w="25400">
            <a:solidFill>
              <a:srgbClr val="ffffff"/>
            </a:solidFill>
            <a:round/>
          </a:ln>
        </p:spPr>
        <p:style>
          <a:lnRef idx="0"/>
          <a:fillRef idx="0"/>
          <a:effectRef idx="0"/>
          <a:fontRef idx="minor"/>
        </p:style>
      </p:sp>
      <p:sp>
        <p:nvSpPr>
          <p:cNvPr id="440" name="Google Shape;412;p6"/>
          <p:cNvSpPr/>
          <p:nvPr/>
        </p:nvSpPr>
        <p:spPr>
          <a:xfrm rot="5400000">
            <a:off x="341640" y="6716880"/>
            <a:ext cx="924840" cy="39564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Sensitivity vs</a:t>
            </a:r>
            <a:endParaRPr b="0" lang="en-US" sz="1000" spc="-1" strike="noStrike">
              <a:latin typeface="Arial"/>
            </a:endParaRPr>
          </a:p>
          <a:p>
            <a:pPr algn="ctr">
              <a:lnSpc>
                <a:spcPct val="100000"/>
              </a:lnSpc>
              <a:buNone/>
              <a:tabLst>
                <a:tab algn="l" pos="0"/>
              </a:tabLst>
            </a:pPr>
            <a:r>
              <a:rPr b="0" lang="en-US" sz="1000" spc="-1" strike="noStrike">
                <a:solidFill>
                  <a:srgbClr val="000000"/>
                </a:solidFill>
                <a:latin typeface="Arial"/>
                <a:ea typeface="Arial"/>
              </a:rPr>
              <a:t> </a:t>
            </a:r>
            <a:r>
              <a:rPr b="0" lang="en-US" sz="1000" spc="-1" strike="noStrike">
                <a:solidFill>
                  <a:srgbClr val="000000"/>
                </a:solidFill>
                <a:latin typeface="Arial"/>
                <a:ea typeface="Arial"/>
              </a:rPr>
              <a:t>Resistance</a:t>
            </a:r>
            <a:endParaRPr b="0" lang="en-US" sz="1000" spc="-1" strike="noStrike">
              <a:latin typeface="Arial"/>
            </a:endParaRPr>
          </a:p>
        </p:txBody>
      </p:sp>
      <p:graphicFrame>
        <p:nvGraphicFramePr>
          <p:cNvPr id="441" name="Google Shape;413;p6"/>
          <p:cNvGraphicFramePr/>
          <p:nvPr/>
        </p:nvGraphicFramePr>
        <p:xfrm>
          <a:off x="2242800" y="1019160"/>
          <a:ext cx="1116000" cy="101160"/>
        </p:xfrm>
        <a:graphic>
          <a:graphicData uri="http://schemas.openxmlformats.org/drawingml/2006/table">
            <a:tbl>
              <a:tblPr/>
              <a:tblGrid>
                <a:gridCol w="218880"/>
                <a:gridCol w="218880"/>
                <a:gridCol w="237600"/>
                <a:gridCol w="220680"/>
                <a:gridCol w="21996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3c4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3c4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3c4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3c4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3c4e1"/>
                    </a:solidFill>
                  </a:tcPr>
                </a:tc>
              </a:tr>
            </a:tbl>
          </a:graphicData>
        </a:graphic>
      </p:graphicFrame>
      <p:sp>
        <p:nvSpPr>
          <p:cNvPr id="442" name="Google Shape;414;p6"/>
          <p:cNvSpPr/>
          <p:nvPr/>
        </p:nvSpPr>
        <p:spPr>
          <a:xfrm>
            <a:off x="2179080" y="797760"/>
            <a:ext cx="13114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Mutation Types</a:t>
            </a:r>
            <a:endParaRPr b="0" lang="en-US" sz="1000" spc="-1" strike="noStrike">
              <a:latin typeface="Arial"/>
            </a:endParaRPr>
          </a:p>
        </p:txBody>
      </p:sp>
      <p:graphicFrame>
        <p:nvGraphicFramePr>
          <p:cNvPr id="443" name="Google Shape;415;p6"/>
          <p:cNvGraphicFramePr/>
          <p:nvPr/>
        </p:nvGraphicFramePr>
        <p:xfrm>
          <a:off x="2204640" y="2684520"/>
          <a:ext cx="1117800" cy="101160"/>
        </p:xfrm>
        <a:graphic>
          <a:graphicData uri="http://schemas.openxmlformats.org/drawingml/2006/table">
            <a:tbl>
              <a:tblPr/>
              <a:tblGrid>
                <a:gridCol w="218880"/>
                <a:gridCol w="220680"/>
                <a:gridCol w="220680"/>
                <a:gridCol w="218880"/>
                <a:gridCol w="23868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0070c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0070c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0070c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0070c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0070c0"/>
                    </a:solidFill>
                  </a:tcPr>
                </a:tc>
              </a:tr>
            </a:tbl>
          </a:graphicData>
        </a:graphic>
      </p:graphicFrame>
      <p:sp>
        <p:nvSpPr>
          <p:cNvPr id="444" name="Google Shape;416;p6"/>
          <p:cNvSpPr/>
          <p:nvPr/>
        </p:nvSpPr>
        <p:spPr>
          <a:xfrm>
            <a:off x="2009160" y="2481120"/>
            <a:ext cx="19004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Cell + Module Genesets</a:t>
            </a:r>
            <a:endParaRPr b="0" lang="en-US" sz="1000" spc="-1" strike="noStrike">
              <a:latin typeface="Arial"/>
            </a:endParaRPr>
          </a:p>
        </p:txBody>
      </p:sp>
      <p:sp>
        <p:nvSpPr>
          <p:cNvPr id="445" name="Google Shape;417;p6"/>
          <p:cNvSpPr/>
          <p:nvPr/>
        </p:nvSpPr>
        <p:spPr>
          <a:xfrm rot="16200000">
            <a:off x="3241800" y="1152360"/>
            <a:ext cx="1677600" cy="1482120"/>
          </a:xfrm>
          <a:prstGeom prst="bentConnector2">
            <a:avLst/>
          </a:prstGeom>
          <a:noFill/>
          <a:ln w="12700">
            <a:solidFill>
              <a:srgbClr val="000000"/>
            </a:solidFill>
            <a:round/>
            <a:tailEnd len="med" type="triangle" w="med"/>
          </a:ln>
        </p:spPr>
        <p:style>
          <a:lnRef idx="0"/>
          <a:fillRef idx="0"/>
          <a:effectRef idx="0"/>
          <a:fontRef idx="minor"/>
        </p:style>
      </p:sp>
      <p:graphicFrame>
        <p:nvGraphicFramePr>
          <p:cNvPr id="446" name="Google Shape;418;p6"/>
          <p:cNvGraphicFramePr/>
          <p:nvPr/>
        </p:nvGraphicFramePr>
        <p:xfrm>
          <a:off x="4211280" y="920880"/>
          <a:ext cx="1117800" cy="101160"/>
        </p:xfrm>
        <a:graphic>
          <a:graphicData uri="http://schemas.openxmlformats.org/drawingml/2006/table">
            <a:tbl>
              <a:tblPr/>
              <a:tblGrid>
                <a:gridCol w="218880"/>
                <a:gridCol w="225000"/>
                <a:gridCol w="225000"/>
                <a:gridCol w="225000"/>
                <a:gridCol w="22392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r>
            </a:tbl>
          </a:graphicData>
        </a:graphic>
      </p:graphicFrame>
      <p:graphicFrame>
        <p:nvGraphicFramePr>
          <p:cNvPr id="447" name="Google Shape;419;p6"/>
          <p:cNvGraphicFramePr/>
          <p:nvPr/>
        </p:nvGraphicFramePr>
        <p:xfrm>
          <a:off x="6360480" y="6583680"/>
          <a:ext cx="126720" cy="500040"/>
        </p:xfrm>
        <a:graphic>
          <a:graphicData uri="http://schemas.openxmlformats.org/drawingml/2006/table">
            <a:tbl>
              <a:tblPr/>
              <a:tblGrid>
                <a:gridCol w="126720"/>
              </a:tblGrid>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r>
              <a:tr h="83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r>
              <a:tr h="842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ff00"/>
                    </a:solidFill>
                  </a:tcPr>
                </a:tc>
              </a:tr>
            </a:tbl>
          </a:graphicData>
        </a:graphic>
      </p:graphicFrame>
      <p:sp>
        <p:nvSpPr>
          <p:cNvPr id="448" name="Google Shape;420;p6"/>
          <p:cNvSpPr/>
          <p:nvPr/>
        </p:nvSpPr>
        <p:spPr>
          <a:xfrm rot="16200000">
            <a:off x="6234120" y="6644160"/>
            <a:ext cx="932760" cy="39564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Cell / Module Enrich</a:t>
            </a:r>
            <a:endParaRPr b="0" lang="en-US" sz="1000" spc="-1" strike="noStrike">
              <a:latin typeface="Arial"/>
            </a:endParaRPr>
          </a:p>
        </p:txBody>
      </p:sp>
      <p:sp>
        <p:nvSpPr>
          <p:cNvPr id="449" name="Google Shape;421;p6"/>
          <p:cNvSpPr/>
          <p:nvPr/>
        </p:nvSpPr>
        <p:spPr>
          <a:xfrm>
            <a:off x="3909960" y="709920"/>
            <a:ext cx="187596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Cell + Module Enrichment</a:t>
            </a:r>
            <a:endParaRPr b="0" lang="en-US" sz="1000" spc="-1" strike="noStrike">
              <a:latin typeface="Arial"/>
            </a:endParaRPr>
          </a:p>
        </p:txBody>
      </p:sp>
      <p:sp>
        <p:nvSpPr>
          <p:cNvPr id="450" name="Google Shape;422;p6"/>
          <p:cNvSpPr/>
          <p:nvPr/>
        </p:nvSpPr>
        <p:spPr>
          <a:xfrm>
            <a:off x="3442680" y="398880"/>
            <a:ext cx="665640" cy="563040"/>
          </a:xfrm>
          <a:prstGeom prst="bentConnector3">
            <a:avLst>
              <a:gd name="adj1" fmla="val 50000"/>
            </a:avLst>
          </a:prstGeom>
          <a:noFill/>
          <a:ln w="9525">
            <a:solidFill>
              <a:srgbClr val="000000"/>
            </a:solidFill>
            <a:round/>
            <a:tailEnd len="med" type="triangle" w="med"/>
          </a:ln>
        </p:spPr>
        <p:style>
          <a:lnRef idx="0"/>
          <a:fillRef idx="0"/>
          <a:effectRef idx="0"/>
          <a:fontRef idx="minor"/>
        </p:style>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Google Shape;427;p7"/>
          <p:cNvSpPr/>
          <p:nvPr/>
        </p:nvSpPr>
        <p:spPr>
          <a:xfrm>
            <a:off x="2776680" y="3587760"/>
            <a:ext cx="706320" cy="680040"/>
          </a:xfrm>
          <a:prstGeom prst="ellipse">
            <a:avLst/>
          </a:prstGeom>
          <a:gradFill rotWithShape="0">
            <a:gsLst>
              <a:gs pos="0">
                <a:srgbClr val="81d2ff"/>
              </a:gs>
              <a:gs pos="100000">
                <a:srgbClr val="b3e1ff"/>
              </a:gs>
            </a:gsLst>
            <a:lin ang="2700000"/>
          </a:gradFill>
          <a:ln w="9525">
            <a:solidFill>
              <a:srgbClr val="4a7dba"/>
            </a:solidFill>
            <a:round/>
          </a:ln>
          <a:effectLst>
            <a:outerShdw blurRad="39960" dir="5400000" dist="23040" rotWithShape="0">
              <a:srgbClr val="000000">
                <a:alpha val="35000"/>
              </a:srgbClr>
            </a:outerShdw>
          </a:effectLst>
        </p:spPr>
        <p:style>
          <a:lnRef idx="0"/>
          <a:fillRef idx="0"/>
          <a:effectRef idx="0"/>
          <a:fontRef idx="minor"/>
        </p:style>
      </p:sp>
      <p:grpSp>
        <p:nvGrpSpPr>
          <p:cNvPr id="452" name="Google Shape;428;p7"/>
          <p:cNvGrpSpPr/>
          <p:nvPr/>
        </p:nvGrpSpPr>
        <p:grpSpPr>
          <a:xfrm>
            <a:off x="66960" y="4957920"/>
            <a:ext cx="496800" cy="451080"/>
            <a:chOff x="66960" y="4957920"/>
            <a:chExt cx="496800" cy="451080"/>
          </a:xfrm>
        </p:grpSpPr>
        <p:pic>
          <p:nvPicPr>
            <p:cNvPr id="453" name="Google Shape;429;p7" descr=""/>
            <p:cNvPicPr/>
            <p:nvPr/>
          </p:nvPicPr>
          <p:blipFill>
            <a:blip r:embed="rId1"/>
            <a:srcRect l="74396" t="36322" r="16223" b="52831"/>
            <a:stretch/>
          </p:blipFill>
          <p:spPr>
            <a:xfrm rot="21282600">
              <a:off x="79920" y="4974480"/>
              <a:ext cx="375120" cy="303480"/>
            </a:xfrm>
            <a:prstGeom prst="rect">
              <a:avLst/>
            </a:prstGeom>
            <a:ln w="0">
              <a:noFill/>
            </a:ln>
          </p:spPr>
        </p:pic>
        <p:sp>
          <p:nvSpPr>
            <p:cNvPr id="454" name="Google Shape;430;p7"/>
            <p:cNvSpPr/>
            <p:nvPr/>
          </p:nvSpPr>
          <p:spPr>
            <a:xfrm rot="19921800">
              <a:off x="246240" y="5238360"/>
              <a:ext cx="311400" cy="103680"/>
            </a:xfrm>
            <a:prstGeom prst="rect">
              <a:avLst/>
            </a:prstGeom>
            <a:solidFill>
              <a:schemeClr val="lt1"/>
            </a:solidFill>
            <a:ln w="0">
              <a:noFill/>
            </a:ln>
          </p:spPr>
          <p:style>
            <a:lnRef idx="0"/>
            <a:fillRef idx="0"/>
            <a:effectRef idx="0"/>
            <a:fontRef idx="minor"/>
          </p:style>
        </p:sp>
      </p:grpSp>
      <p:sp>
        <p:nvSpPr>
          <p:cNvPr id="455" name="Google Shape;431;p7"/>
          <p:cNvSpPr/>
          <p:nvPr/>
        </p:nvSpPr>
        <p:spPr>
          <a:xfrm>
            <a:off x="5991840" y="8804520"/>
            <a:ext cx="87984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Figure 3</a:t>
            </a:r>
            <a:endParaRPr b="0" lang="en-US" sz="1400" spc="-1" strike="noStrike">
              <a:latin typeface="Arial"/>
            </a:endParaRPr>
          </a:p>
        </p:txBody>
      </p:sp>
      <p:sp>
        <p:nvSpPr>
          <p:cNvPr id="456" name="Google Shape;432;p7"/>
          <p:cNvSpPr/>
          <p:nvPr/>
        </p:nvSpPr>
        <p:spPr>
          <a:xfrm>
            <a:off x="2341800" y="0"/>
            <a:ext cx="1293120" cy="243360"/>
          </a:xfrm>
          <a:prstGeom prst="rect">
            <a:avLst/>
          </a:prstGeom>
          <a:solidFill>
            <a:schemeClr val="lt1"/>
          </a:solidFill>
          <a:ln w="0">
            <a:noFill/>
          </a:ln>
        </p:spPr>
        <p:style>
          <a:lnRef idx="0"/>
          <a:fillRef idx="0"/>
          <a:effectRef idx="0"/>
          <a:fontRef idx="minor"/>
        </p:style>
        <p:txBody>
          <a:bodyPr anchor="t">
            <a:spAutoFit/>
          </a:bodyPr>
          <a:p>
            <a:pPr>
              <a:lnSpc>
                <a:spcPct val="100000"/>
              </a:lnSpc>
              <a:buNone/>
              <a:tabLst>
                <a:tab algn="l" pos="0"/>
              </a:tabLst>
            </a:pPr>
            <a:r>
              <a:rPr b="1" lang="en-US" sz="1000" spc="-1" strike="noStrike">
                <a:solidFill>
                  <a:srgbClr val="000000"/>
                </a:solidFill>
                <a:latin typeface="Arial"/>
                <a:ea typeface="Arial"/>
              </a:rPr>
              <a:t>Transfer Learning</a:t>
            </a:r>
            <a:endParaRPr b="0" lang="en-US" sz="1000" spc="-1" strike="noStrike">
              <a:latin typeface="Arial"/>
            </a:endParaRPr>
          </a:p>
        </p:txBody>
      </p:sp>
      <p:pic>
        <p:nvPicPr>
          <p:cNvPr id="457" name="Google Shape;433;p7" descr="A screenshot of a computer&#10;&#10;Description automatically generated with low confidence"/>
          <p:cNvPicPr/>
          <p:nvPr/>
        </p:nvPicPr>
        <p:blipFill>
          <a:blip r:embed="rId2"/>
          <a:stretch/>
        </p:blipFill>
        <p:spPr>
          <a:xfrm>
            <a:off x="1665000" y="32040"/>
            <a:ext cx="5073120" cy="2432160"/>
          </a:xfrm>
          <a:prstGeom prst="rect">
            <a:avLst/>
          </a:prstGeom>
          <a:ln w="0">
            <a:noFill/>
          </a:ln>
        </p:spPr>
      </p:pic>
      <p:sp>
        <p:nvSpPr>
          <p:cNvPr id="458" name="Google Shape;434;p7"/>
          <p:cNvSpPr/>
          <p:nvPr/>
        </p:nvSpPr>
        <p:spPr>
          <a:xfrm flipH="1">
            <a:off x="4734720" y="1615320"/>
            <a:ext cx="250200" cy="902880"/>
          </a:xfrm>
          <a:custGeom>
            <a:avLst/>
            <a:gdLst/>
            <a:ahLst/>
            <a:rect l="l" t="t" r="r" b="b"/>
            <a:pathLst>
              <a:path w="21600" h="21600">
                <a:moveTo>
                  <a:pt x="0" y="0"/>
                </a:moveTo>
                <a:lnTo>
                  <a:pt x="21600" y="21600"/>
                </a:lnTo>
              </a:path>
            </a:pathLst>
          </a:custGeom>
          <a:noFill/>
          <a:ln w="12700">
            <a:solidFill>
              <a:srgbClr val="000000"/>
            </a:solidFill>
            <a:round/>
            <a:tailEnd len="med" type="triangle" w="med"/>
          </a:ln>
        </p:spPr>
        <p:style>
          <a:lnRef idx="0"/>
          <a:fillRef idx="0"/>
          <a:effectRef idx="0"/>
          <a:fontRef idx="minor"/>
        </p:style>
      </p:sp>
      <p:graphicFrame>
        <p:nvGraphicFramePr>
          <p:cNvPr id="459" name="Google Shape;435;p7"/>
          <p:cNvGraphicFramePr/>
          <p:nvPr/>
        </p:nvGraphicFramePr>
        <p:xfrm>
          <a:off x="3849120" y="2574720"/>
          <a:ext cx="1136880" cy="101160"/>
        </p:xfrm>
        <a:graphic>
          <a:graphicData uri="http://schemas.openxmlformats.org/drawingml/2006/table">
            <a:tbl>
              <a:tblPr/>
              <a:tblGrid>
                <a:gridCol w="227160"/>
                <a:gridCol w="227160"/>
                <a:gridCol w="227160"/>
                <a:gridCol w="227160"/>
                <a:gridCol w="22824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r>
            </a:tbl>
          </a:graphicData>
        </a:graphic>
      </p:graphicFrame>
      <p:sp>
        <p:nvSpPr>
          <p:cNvPr id="460" name="Google Shape;436;p7"/>
          <p:cNvSpPr/>
          <p:nvPr/>
        </p:nvSpPr>
        <p:spPr>
          <a:xfrm>
            <a:off x="3783600" y="2634120"/>
            <a:ext cx="12326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Embedding Vector</a:t>
            </a:r>
            <a:endParaRPr b="0" lang="en-US" sz="1000" spc="-1" strike="noStrike">
              <a:latin typeface="Arial"/>
            </a:endParaRPr>
          </a:p>
        </p:txBody>
      </p:sp>
      <p:sp>
        <p:nvSpPr>
          <p:cNvPr id="461" name="Google Shape;437;p7"/>
          <p:cNvSpPr/>
          <p:nvPr/>
        </p:nvSpPr>
        <p:spPr>
          <a:xfrm>
            <a:off x="2939760" y="2412720"/>
            <a:ext cx="61272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Input</a:t>
            </a:r>
            <a:endParaRPr b="0" lang="en-US" sz="1000" spc="-1" strike="noStrike">
              <a:latin typeface="Arial"/>
            </a:endParaRPr>
          </a:p>
        </p:txBody>
      </p:sp>
      <p:sp>
        <p:nvSpPr>
          <p:cNvPr id="462" name="Google Shape;438;p7"/>
          <p:cNvSpPr/>
          <p:nvPr/>
        </p:nvSpPr>
        <p:spPr>
          <a:xfrm>
            <a:off x="5598720" y="2451960"/>
            <a:ext cx="12326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TF– LSTM Model</a:t>
            </a:r>
            <a:endParaRPr b="0" lang="en-US" sz="1000" spc="-1" strike="noStrike">
              <a:latin typeface="Arial"/>
            </a:endParaRPr>
          </a:p>
        </p:txBody>
      </p:sp>
      <p:sp>
        <p:nvSpPr>
          <p:cNvPr id="463" name="Google Shape;439;p7"/>
          <p:cNvSpPr/>
          <p:nvPr/>
        </p:nvSpPr>
        <p:spPr>
          <a:xfrm>
            <a:off x="4903560" y="-48600"/>
            <a:ext cx="6836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Output</a:t>
            </a:r>
            <a:endParaRPr b="0" lang="en-US" sz="1000" spc="-1" strike="noStrike">
              <a:latin typeface="Arial"/>
            </a:endParaRPr>
          </a:p>
        </p:txBody>
      </p:sp>
      <p:sp>
        <p:nvSpPr>
          <p:cNvPr id="464" name="Google Shape;440;p7"/>
          <p:cNvSpPr/>
          <p:nvPr/>
        </p:nvSpPr>
        <p:spPr>
          <a:xfrm>
            <a:off x="0" y="241920"/>
            <a:ext cx="1984680" cy="117792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u="sng">
                <a:solidFill>
                  <a:srgbClr val="000000"/>
                </a:solidFill>
                <a:uFillTx/>
                <a:latin typeface="Arial"/>
                <a:ea typeface="Arial"/>
              </a:rPr>
              <a:t>DeepRepurpose:</a:t>
            </a:r>
            <a:endParaRPr b="0" lang="en-US" sz="1000" spc="-1" strike="noStrike">
              <a:latin typeface="Arial"/>
            </a:endParaRPr>
          </a:p>
          <a:p>
            <a:pPr marL="171360" indent="-171360">
              <a:lnSpc>
                <a:spcPct val="100000"/>
              </a:lnSpc>
              <a:buClr>
                <a:srgbClr val="000000"/>
              </a:buClr>
              <a:buFont typeface="Arial"/>
              <a:buChar char="•"/>
              <a:tabLst>
                <a:tab algn="l" pos="0"/>
              </a:tabLst>
            </a:pPr>
            <a:r>
              <a:rPr b="0" lang="en-US" sz="1000" spc="-1" strike="noStrike">
                <a:solidFill>
                  <a:srgbClr val="000000"/>
                </a:solidFill>
                <a:latin typeface="Arial"/>
                <a:ea typeface="Arial"/>
              </a:rPr>
              <a:t>TF-LSTM model trained on 2.5 million compounds from PubChem + MOSES.</a:t>
            </a:r>
            <a:endParaRPr b="0" lang="en-US" sz="1000" spc="-1" strike="noStrike">
              <a:latin typeface="Arial"/>
            </a:endParaRPr>
          </a:p>
          <a:p>
            <a:pPr marL="171360" indent="-171360">
              <a:lnSpc>
                <a:spcPct val="100000"/>
              </a:lnSpc>
              <a:buClr>
                <a:srgbClr val="000000"/>
              </a:buClr>
              <a:buFont typeface="Arial"/>
              <a:buChar char="•"/>
              <a:tabLst>
                <a:tab algn="l" pos="0"/>
              </a:tabLst>
            </a:pPr>
            <a:r>
              <a:rPr b="0" lang="en-US" sz="1000" spc="-1" strike="noStrike">
                <a:solidFill>
                  <a:srgbClr val="000000"/>
                </a:solidFill>
                <a:latin typeface="Arial"/>
                <a:ea typeface="Arial"/>
              </a:rPr>
              <a:t>96.7% reconstructed compounds are valid.</a:t>
            </a:r>
            <a:endParaRPr b="0" lang="en-US" sz="1000" spc="-1" strike="noStrike">
              <a:latin typeface="Arial"/>
            </a:endParaRPr>
          </a:p>
          <a:p>
            <a:pPr marL="171360" indent="-171360">
              <a:lnSpc>
                <a:spcPct val="100000"/>
              </a:lnSpc>
              <a:buClr>
                <a:srgbClr val="000000"/>
              </a:buClr>
              <a:buFont typeface="Arial"/>
              <a:buChar char="•"/>
              <a:tabLst>
                <a:tab algn="l" pos="0"/>
              </a:tabLst>
            </a:pPr>
            <a:r>
              <a:rPr b="0" lang="en-US" sz="1000" spc="-1" strike="noStrike">
                <a:solidFill>
                  <a:srgbClr val="000000"/>
                </a:solidFill>
                <a:latin typeface="Arial Narrow"/>
                <a:ea typeface="Arial Narrow"/>
              </a:rPr>
              <a:t>μ</a:t>
            </a:r>
            <a:r>
              <a:rPr b="0" lang="en-US" sz="1000" spc="-1" strike="noStrike" baseline="-25000">
                <a:solidFill>
                  <a:srgbClr val="000000"/>
                </a:solidFill>
                <a:latin typeface="Arial"/>
                <a:ea typeface="Arial"/>
              </a:rPr>
              <a:t>error</a:t>
            </a:r>
            <a:r>
              <a:rPr b="0" lang="en-US" sz="1000" spc="-1" strike="noStrike">
                <a:solidFill>
                  <a:srgbClr val="000000"/>
                </a:solidFill>
                <a:latin typeface="Arial"/>
                <a:ea typeface="Arial"/>
              </a:rPr>
              <a:t> per sample is 0.001</a:t>
            </a:r>
            <a:endParaRPr b="0" lang="en-US" sz="1000" spc="-1" strike="noStrike">
              <a:latin typeface="Arial"/>
            </a:endParaRPr>
          </a:p>
        </p:txBody>
      </p:sp>
      <p:sp>
        <p:nvSpPr>
          <p:cNvPr id="465" name="Google Shape;441;p7"/>
          <p:cNvSpPr/>
          <p:nvPr/>
        </p:nvSpPr>
        <p:spPr>
          <a:xfrm>
            <a:off x="0" y="-3060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A</a:t>
            </a:r>
            <a:endParaRPr b="0" lang="en-US" sz="1400" spc="-1" strike="noStrike">
              <a:latin typeface="Arial"/>
            </a:endParaRPr>
          </a:p>
        </p:txBody>
      </p:sp>
      <p:sp>
        <p:nvSpPr>
          <p:cNvPr id="466" name="Google Shape;442;p7"/>
          <p:cNvSpPr/>
          <p:nvPr/>
        </p:nvSpPr>
        <p:spPr>
          <a:xfrm>
            <a:off x="0" y="2888280"/>
            <a:ext cx="6857640" cy="360"/>
          </a:xfrm>
          <a:custGeom>
            <a:avLst/>
            <a:gdLst/>
            <a:ahLst/>
            <a:rect l="l" t="t" r="r" b="b"/>
            <a:pathLst>
              <a:path w="21600" h="21600">
                <a:moveTo>
                  <a:pt x="0" y="0"/>
                </a:moveTo>
                <a:lnTo>
                  <a:pt x="21600" y="21600"/>
                </a:lnTo>
              </a:path>
            </a:pathLst>
          </a:custGeom>
          <a:noFill/>
          <a:ln w="9525">
            <a:solidFill>
              <a:srgbClr val="000000"/>
            </a:solidFill>
            <a:round/>
          </a:ln>
        </p:spPr>
        <p:style>
          <a:lnRef idx="0"/>
          <a:fillRef idx="0"/>
          <a:effectRef idx="0"/>
          <a:fontRef idx="minor"/>
        </p:style>
      </p:sp>
      <p:sp>
        <p:nvSpPr>
          <p:cNvPr id="467" name="Google Shape;443;p7"/>
          <p:cNvSpPr/>
          <p:nvPr/>
        </p:nvSpPr>
        <p:spPr>
          <a:xfrm>
            <a:off x="0" y="5537880"/>
            <a:ext cx="6857640" cy="360"/>
          </a:xfrm>
          <a:custGeom>
            <a:avLst/>
            <a:gdLst/>
            <a:ahLst/>
            <a:rect l="l" t="t" r="r" b="b"/>
            <a:pathLst>
              <a:path w="21600" h="21600">
                <a:moveTo>
                  <a:pt x="0" y="0"/>
                </a:moveTo>
                <a:lnTo>
                  <a:pt x="21600" y="21600"/>
                </a:lnTo>
              </a:path>
            </a:pathLst>
          </a:custGeom>
          <a:noFill/>
          <a:ln w="9525">
            <a:solidFill>
              <a:srgbClr val="000000"/>
            </a:solidFill>
            <a:round/>
          </a:ln>
        </p:spPr>
        <p:style>
          <a:lnRef idx="0"/>
          <a:fillRef idx="0"/>
          <a:effectRef idx="0"/>
          <a:fontRef idx="minor"/>
        </p:style>
      </p:sp>
      <p:sp>
        <p:nvSpPr>
          <p:cNvPr id="468" name="Google Shape;444;p7"/>
          <p:cNvSpPr/>
          <p:nvPr/>
        </p:nvSpPr>
        <p:spPr>
          <a:xfrm>
            <a:off x="0" y="295452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B</a:t>
            </a:r>
            <a:endParaRPr b="0" lang="en-US" sz="1400" spc="-1" strike="noStrike">
              <a:latin typeface="Arial"/>
            </a:endParaRPr>
          </a:p>
        </p:txBody>
      </p:sp>
      <p:pic>
        <p:nvPicPr>
          <p:cNvPr id="469" name="Google Shape;445;p7" descr=""/>
          <p:cNvPicPr/>
          <p:nvPr/>
        </p:nvPicPr>
        <p:blipFill>
          <a:blip r:embed="rId3"/>
          <a:stretch/>
        </p:blipFill>
        <p:spPr>
          <a:xfrm>
            <a:off x="-178200" y="3174480"/>
            <a:ext cx="3730680" cy="2154600"/>
          </a:xfrm>
          <a:prstGeom prst="rect">
            <a:avLst/>
          </a:prstGeom>
          <a:ln w="0">
            <a:noFill/>
          </a:ln>
        </p:spPr>
      </p:pic>
      <p:sp>
        <p:nvSpPr>
          <p:cNvPr id="470" name="Google Shape;446;p7"/>
          <p:cNvSpPr/>
          <p:nvPr/>
        </p:nvSpPr>
        <p:spPr>
          <a:xfrm>
            <a:off x="-62640" y="5272920"/>
            <a:ext cx="9298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Drug Targets</a:t>
            </a:r>
            <a:endParaRPr b="0" lang="en-US" sz="1000" spc="-1" strike="noStrike">
              <a:latin typeface="Arial"/>
            </a:endParaRPr>
          </a:p>
        </p:txBody>
      </p:sp>
      <p:sp>
        <p:nvSpPr>
          <p:cNvPr id="471" name="Google Shape;447;p7"/>
          <p:cNvSpPr/>
          <p:nvPr/>
        </p:nvSpPr>
        <p:spPr>
          <a:xfrm rot="10800000">
            <a:off x="314280" y="4728600"/>
            <a:ext cx="360" cy="311760"/>
          </a:xfrm>
          <a:custGeom>
            <a:avLst/>
            <a:gdLst/>
            <a:ahLst/>
            <a:rect l="l" t="t" r="r" b="b"/>
            <a:pathLst>
              <a:path w="21600" h="21600">
                <a:moveTo>
                  <a:pt x="0" y="0"/>
                </a:moveTo>
                <a:lnTo>
                  <a:pt x="21600" y="21600"/>
                </a:lnTo>
              </a:path>
            </a:pathLst>
          </a:custGeom>
          <a:noFill/>
          <a:ln w="9525">
            <a:solidFill>
              <a:srgbClr val="000000"/>
            </a:solidFill>
            <a:round/>
            <a:tailEnd len="med" type="triangle" w="med"/>
          </a:ln>
        </p:spPr>
        <p:style>
          <a:lnRef idx="0"/>
          <a:fillRef idx="0"/>
          <a:effectRef idx="0"/>
          <a:fontRef idx="minor"/>
        </p:style>
      </p:sp>
      <p:sp>
        <p:nvSpPr>
          <p:cNvPr id="472" name="Google Shape;448;p7"/>
          <p:cNvSpPr/>
          <p:nvPr/>
        </p:nvSpPr>
        <p:spPr>
          <a:xfrm>
            <a:off x="1451880" y="5039640"/>
            <a:ext cx="1779120" cy="39564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Random Walk with Restart </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on the STRING PPI network</a:t>
            </a:r>
            <a:endParaRPr b="0" lang="en-US" sz="1000" spc="-1" strike="noStrike">
              <a:latin typeface="Arial"/>
            </a:endParaRPr>
          </a:p>
        </p:txBody>
      </p:sp>
      <p:sp>
        <p:nvSpPr>
          <p:cNvPr id="473" name="Google Shape;449;p7"/>
          <p:cNvSpPr/>
          <p:nvPr/>
        </p:nvSpPr>
        <p:spPr>
          <a:xfrm>
            <a:off x="2270520" y="2876040"/>
            <a:ext cx="195876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000" spc="-1" strike="noStrike">
                <a:solidFill>
                  <a:srgbClr val="000000"/>
                </a:solidFill>
                <a:latin typeface="Arial"/>
                <a:ea typeface="Arial"/>
              </a:rPr>
              <a:t>Pathway Distance Estimation</a:t>
            </a:r>
            <a:endParaRPr b="0" lang="en-US" sz="1000" spc="-1" strike="noStrike">
              <a:latin typeface="Arial"/>
            </a:endParaRPr>
          </a:p>
        </p:txBody>
      </p:sp>
      <p:graphicFrame>
        <p:nvGraphicFramePr>
          <p:cNvPr id="474" name="Google Shape;450;p7"/>
          <p:cNvGraphicFramePr/>
          <p:nvPr/>
        </p:nvGraphicFramePr>
        <p:xfrm>
          <a:off x="3857400" y="3386880"/>
          <a:ext cx="126720" cy="1647000"/>
        </p:xfrm>
        <a:graphic>
          <a:graphicData uri="http://schemas.openxmlformats.org/drawingml/2006/table">
            <a:tbl>
              <a:tblPr/>
              <a:tblGrid>
                <a:gridCol w="126720"/>
              </a:tblGrid>
              <a:tr h="27432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r h="27432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r h="27432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r h="27432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r h="27432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r h="27540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bl>
          </a:graphicData>
        </a:graphic>
      </p:graphicFrame>
      <p:sp>
        <p:nvSpPr>
          <p:cNvPr id="475" name="Google Shape;451;p7"/>
          <p:cNvSpPr/>
          <p:nvPr/>
        </p:nvSpPr>
        <p:spPr>
          <a:xfrm>
            <a:off x="3429000" y="4237560"/>
            <a:ext cx="375120" cy="360"/>
          </a:xfrm>
          <a:custGeom>
            <a:avLst/>
            <a:gdLst/>
            <a:ahLst/>
            <a:rect l="l" t="t" r="r" b="b"/>
            <a:pathLst>
              <a:path w="21600" h="21600">
                <a:moveTo>
                  <a:pt x="0" y="0"/>
                </a:moveTo>
                <a:lnTo>
                  <a:pt x="21600" y="21600"/>
                </a:lnTo>
              </a:path>
            </a:pathLst>
          </a:custGeom>
          <a:noFill/>
          <a:ln w="9525">
            <a:solidFill>
              <a:srgbClr val="000000"/>
            </a:solidFill>
            <a:round/>
            <a:tailEnd len="med" type="triangle" w="med"/>
          </a:ln>
        </p:spPr>
        <p:style>
          <a:lnRef idx="0"/>
          <a:fillRef idx="0"/>
          <a:effectRef idx="0"/>
          <a:fontRef idx="minor"/>
        </p:style>
      </p:sp>
      <p:sp>
        <p:nvSpPr>
          <p:cNvPr id="476" name="Google Shape;452;p7"/>
          <p:cNvSpPr/>
          <p:nvPr/>
        </p:nvSpPr>
        <p:spPr>
          <a:xfrm>
            <a:off x="3319920" y="5027400"/>
            <a:ext cx="1415520" cy="41652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Probability (</a:t>
            </a:r>
            <a:r>
              <a:rPr b="1" lang="en-US" sz="1000" spc="-1" strike="noStrike">
                <a:solidFill>
                  <a:srgbClr val="000000"/>
                </a:solidFill>
                <a:latin typeface="Arial"/>
                <a:ea typeface="Arial"/>
              </a:rPr>
              <a:t>p</a:t>
            </a:r>
            <a:r>
              <a:rPr b="1" lang="en-US" sz="1000" spc="-1" strike="noStrike" baseline="30000">
                <a:solidFill>
                  <a:srgbClr val="202124"/>
                </a:solidFill>
                <a:latin typeface="Arial"/>
                <a:ea typeface="Arial"/>
              </a:rPr>
              <a:t>∞</a:t>
            </a:r>
            <a:r>
              <a:rPr b="0" lang="en-US" sz="1000" spc="-1" strike="noStrike">
                <a:solidFill>
                  <a:srgbClr val="202124"/>
                </a:solidFill>
                <a:latin typeface="Arial"/>
                <a:ea typeface="Arial"/>
              </a:rPr>
              <a:t>)</a:t>
            </a:r>
            <a:endParaRPr b="0" lang="en-US" sz="1000" spc="-1" strike="noStrike">
              <a:latin typeface="Arial"/>
            </a:endParaRPr>
          </a:p>
          <a:p>
            <a:pPr>
              <a:lnSpc>
                <a:spcPct val="100000"/>
              </a:lnSpc>
              <a:buNone/>
              <a:tabLst>
                <a:tab algn="l" pos="0"/>
              </a:tabLst>
            </a:pPr>
            <a:r>
              <a:rPr b="1" lang="en-US" sz="1000" spc="-1" strike="noStrike">
                <a:solidFill>
                  <a:srgbClr val="000000"/>
                </a:solidFill>
                <a:latin typeface="Arial"/>
                <a:ea typeface="Arial"/>
              </a:rPr>
              <a:t>p</a:t>
            </a:r>
            <a:r>
              <a:rPr b="1" lang="en-US" sz="1000" spc="-1" strike="noStrike" baseline="30000">
                <a:solidFill>
                  <a:srgbClr val="202124"/>
                </a:solidFill>
                <a:latin typeface="Arial"/>
                <a:ea typeface="Arial"/>
              </a:rPr>
              <a:t>∞</a:t>
            </a:r>
            <a:r>
              <a:rPr b="1" lang="en-US" sz="1000" spc="-1" strike="noStrike">
                <a:solidFill>
                  <a:srgbClr val="202124"/>
                </a:solidFill>
                <a:latin typeface="Arial"/>
                <a:ea typeface="Arial"/>
              </a:rPr>
              <a:t>= β(I – (1- β)W)</a:t>
            </a:r>
            <a:r>
              <a:rPr b="1" lang="en-US" sz="1000" spc="-1" strike="noStrike" baseline="30000">
                <a:solidFill>
                  <a:srgbClr val="202124"/>
                </a:solidFill>
                <a:latin typeface="Arial"/>
                <a:ea typeface="Arial"/>
              </a:rPr>
              <a:t>-1</a:t>
            </a:r>
            <a:r>
              <a:rPr b="1" lang="en-US" sz="1000" spc="-1" strike="noStrike">
                <a:solidFill>
                  <a:srgbClr val="202124"/>
                </a:solidFill>
                <a:latin typeface="Arial"/>
                <a:ea typeface="Arial"/>
              </a:rPr>
              <a:t>p</a:t>
            </a:r>
            <a:r>
              <a:rPr b="1" lang="en-US" sz="1000" spc="-1" strike="noStrike" baseline="-25000">
                <a:solidFill>
                  <a:srgbClr val="202124"/>
                </a:solidFill>
                <a:latin typeface="Arial"/>
                <a:ea typeface="Arial"/>
              </a:rPr>
              <a:t>0</a:t>
            </a:r>
            <a:endParaRPr b="0" lang="en-US" sz="1000" spc="-1" strike="noStrike">
              <a:latin typeface="Arial"/>
            </a:endParaRPr>
          </a:p>
        </p:txBody>
      </p:sp>
      <p:graphicFrame>
        <p:nvGraphicFramePr>
          <p:cNvPr id="477" name="Google Shape;453;p7"/>
          <p:cNvGraphicFramePr/>
          <p:nvPr/>
        </p:nvGraphicFramePr>
        <p:xfrm>
          <a:off x="4291560" y="3391560"/>
          <a:ext cx="126720" cy="1629360"/>
        </p:xfrm>
        <a:graphic>
          <a:graphicData uri="http://schemas.openxmlformats.org/drawingml/2006/table">
            <a:tbl>
              <a:tblPr/>
              <a:tblGrid>
                <a:gridCol w="126720"/>
              </a:tblGrid>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2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bl>
          </a:graphicData>
        </a:graphic>
      </p:graphicFrame>
      <p:sp>
        <p:nvSpPr>
          <p:cNvPr id="478" name="Google Shape;454;p7"/>
          <p:cNvSpPr/>
          <p:nvPr/>
        </p:nvSpPr>
        <p:spPr>
          <a:xfrm>
            <a:off x="4027680" y="4123800"/>
            <a:ext cx="2692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c00000"/>
                </a:solidFill>
                <a:latin typeface="Arial"/>
                <a:ea typeface="Arial"/>
              </a:rPr>
              <a:t>X</a:t>
            </a:r>
            <a:endParaRPr b="0" lang="en-US" sz="1000" spc="-1" strike="noStrike">
              <a:latin typeface="Arial"/>
            </a:endParaRPr>
          </a:p>
        </p:txBody>
      </p:sp>
      <p:sp>
        <p:nvSpPr>
          <p:cNvPr id="479" name="Google Shape;455;p7"/>
          <p:cNvSpPr/>
          <p:nvPr/>
        </p:nvSpPr>
        <p:spPr>
          <a:xfrm>
            <a:off x="3942720" y="3038760"/>
            <a:ext cx="815760" cy="39564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Expression</a:t>
            </a:r>
            <a:endParaRPr b="0" lang="en-US" sz="1000" spc="-1" strike="noStrike">
              <a:latin typeface="Arial"/>
            </a:endParaRPr>
          </a:p>
          <a:p>
            <a:pPr algn="ctr">
              <a:lnSpc>
                <a:spcPct val="100000"/>
              </a:lnSpc>
              <a:buNone/>
              <a:tabLst>
                <a:tab algn="l" pos="0"/>
              </a:tabLst>
            </a:pPr>
            <a:r>
              <a:rPr b="0" lang="en-US" sz="1000" spc="-1" strike="noStrike">
                <a:solidFill>
                  <a:srgbClr val="000000"/>
                </a:solidFill>
                <a:latin typeface="Arial"/>
                <a:ea typeface="Arial"/>
              </a:rPr>
              <a:t>Profile</a:t>
            </a:r>
            <a:endParaRPr b="0" lang="en-US" sz="1000" spc="-1" strike="noStrike">
              <a:latin typeface="Arial"/>
            </a:endParaRPr>
          </a:p>
        </p:txBody>
      </p:sp>
      <p:sp>
        <p:nvSpPr>
          <p:cNvPr id="480" name="Google Shape;456;p7"/>
          <p:cNvSpPr/>
          <p:nvPr/>
        </p:nvSpPr>
        <p:spPr>
          <a:xfrm>
            <a:off x="2793600" y="3404880"/>
            <a:ext cx="67320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Pathway</a:t>
            </a:r>
            <a:endParaRPr b="0" lang="en-US" sz="1000" spc="-1" strike="noStrike">
              <a:latin typeface="Arial"/>
            </a:endParaRPr>
          </a:p>
        </p:txBody>
      </p:sp>
      <p:sp>
        <p:nvSpPr>
          <p:cNvPr id="481" name="Google Shape;457;p7"/>
          <p:cNvSpPr/>
          <p:nvPr/>
        </p:nvSpPr>
        <p:spPr>
          <a:xfrm>
            <a:off x="4481640" y="4098960"/>
            <a:ext cx="236880" cy="276480"/>
          </a:xfrm>
          <a:prstGeom prst="rect">
            <a:avLst/>
          </a:prstGeom>
          <a:blipFill rotWithShape="0">
            <a:blip r:embed="rId4"/>
            <a:srcRect/>
            <a:stretch/>
          </a:blipFill>
          <a:ln w="0">
            <a:noFill/>
          </a:ln>
        </p:spPr>
        <p:style>
          <a:lnRef idx="0"/>
          <a:fillRef idx="0"/>
          <a:effectRef idx="0"/>
          <a:fontRef idx="minor"/>
        </p:style>
        <p:txBody>
          <a:bodyPr anchor="t">
            <a:noAutofit/>
          </a:bodyPr>
          <a:p>
            <a:pPr>
              <a:lnSpc>
                <a:spcPct val="100000"/>
              </a:lnSpc>
              <a:buNone/>
              <a:tabLst>
                <a:tab algn="l" pos="0"/>
              </a:tabLst>
            </a:pPr>
            <a:r>
              <a:rPr b="0" lang="en-US" sz="1800" spc="-1" strike="noStrike">
                <a:solidFill>
                  <a:srgbClr val="000000"/>
                </a:solidFill>
                <a:latin typeface="Arial"/>
                <a:ea typeface="Arial"/>
              </a:rPr>
              <a:t> </a:t>
            </a:r>
            <a:endParaRPr b="0" lang="en-US" sz="1800" spc="-1" strike="noStrike">
              <a:latin typeface="Arial"/>
            </a:endParaRPr>
          </a:p>
        </p:txBody>
      </p:sp>
      <p:graphicFrame>
        <p:nvGraphicFramePr>
          <p:cNvPr id="482" name="Google Shape;458;p7"/>
          <p:cNvGraphicFramePr/>
          <p:nvPr/>
        </p:nvGraphicFramePr>
        <p:xfrm>
          <a:off x="4790160" y="3404880"/>
          <a:ext cx="135360" cy="1629360"/>
        </p:xfrm>
        <a:graphic>
          <a:graphicData uri="http://schemas.openxmlformats.org/drawingml/2006/table">
            <a:tbl>
              <a:tblPr/>
              <a:tblGrid>
                <a:gridCol w="135360"/>
              </a:tblGrid>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r h="27216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bl>
          </a:graphicData>
        </a:graphic>
      </p:graphicFrame>
      <p:sp>
        <p:nvSpPr>
          <p:cNvPr id="483" name="Google Shape;459;p7"/>
          <p:cNvSpPr/>
          <p:nvPr/>
        </p:nvSpPr>
        <p:spPr>
          <a:xfrm>
            <a:off x="4986360" y="4237560"/>
            <a:ext cx="856800" cy="360"/>
          </a:xfrm>
          <a:custGeom>
            <a:avLst/>
            <a:gdLst/>
            <a:ahLst/>
            <a:rect l="l" t="t" r="r" b="b"/>
            <a:pathLst>
              <a:path w="21600" h="21600">
                <a:moveTo>
                  <a:pt x="0" y="0"/>
                </a:moveTo>
                <a:lnTo>
                  <a:pt x="21600" y="21600"/>
                </a:lnTo>
              </a:path>
            </a:pathLst>
          </a:custGeom>
          <a:noFill/>
          <a:ln w="9525">
            <a:solidFill>
              <a:srgbClr val="000000"/>
            </a:solidFill>
            <a:round/>
            <a:tailEnd len="med" type="triangle" w="med"/>
          </a:ln>
        </p:spPr>
        <p:style>
          <a:lnRef idx="0"/>
          <a:fillRef idx="0"/>
          <a:effectRef idx="0"/>
          <a:fontRef idx="minor"/>
        </p:style>
      </p:sp>
      <p:sp>
        <p:nvSpPr>
          <p:cNvPr id="484" name="Google Shape;460;p7"/>
          <p:cNvSpPr/>
          <p:nvPr/>
        </p:nvSpPr>
        <p:spPr>
          <a:xfrm flipH="1" rot="10800000">
            <a:off x="5321520" y="3398760"/>
            <a:ext cx="366120" cy="1647000"/>
          </a:xfrm>
          <a:prstGeom prst="triangle">
            <a:avLst>
              <a:gd name="adj" fmla="val 0"/>
            </a:avLst>
          </a:prstGeom>
          <a:solidFill>
            <a:srgbClr val="ffc000"/>
          </a:solidFill>
          <a:ln w="9525">
            <a:solidFill>
              <a:srgbClr val="4a7dba"/>
            </a:solidFill>
            <a:round/>
          </a:ln>
          <a:effectLst>
            <a:outerShdw blurRad="39960" dir="5400000" dist="23040" rotWithShape="0">
              <a:srgbClr val="000000">
                <a:alpha val="35000"/>
              </a:srgbClr>
            </a:outerShdw>
          </a:effectLst>
        </p:spPr>
        <p:style>
          <a:lnRef idx="0"/>
          <a:fillRef idx="0"/>
          <a:effectRef idx="0"/>
          <a:fontRef idx="minor"/>
        </p:style>
      </p:sp>
      <p:sp>
        <p:nvSpPr>
          <p:cNvPr id="485" name="Google Shape;461;p7"/>
          <p:cNvSpPr/>
          <p:nvPr/>
        </p:nvSpPr>
        <p:spPr>
          <a:xfrm rot="16866000">
            <a:off x="5118840" y="3961800"/>
            <a:ext cx="6202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AUcell</a:t>
            </a:r>
            <a:endParaRPr b="0" lang="en-US" sz="1000" spc="-1" strike="noStrike">
              <a:latin typeface="Arial"/>
            </a:endParaRPr>
          </a:p>
        </p:txBody>
      </p:sp>
      <p:sp>
        <p:nvSpPr>
          <p:cNvPr id="486" name="Google Shape;462;p7"/>
          <p:cNvSpPr/>
          <p:nvPr/>
        </p:nvSpPr>
        <p:spPr>
          <a:xfrm>
            <a:off x="6060960" y="4174920"/>
            <a:ext cx="339840" cy="155880"/>
          </a:xfrm>
          <a:prstGeom prst="rect">
            <a:avLst/>
          </a:prstGeom>
          <a:solidFill>
            <a:srgbClr val="f1b584"/>
          </a:solidFill>
          <a:ln w="25400">
            <a:solidFill>
              <a:srgbClr val="000000"/>
            </a:solidFill>
            <a:round/>
          </a:ln>
        </p:spPr>
        <p:style>
          <a:lnRef idx="0"/>
          <a:fillRef idx="0"/>
          <a:effectRef idx="0"/>
          <a:fontRef idx="minor"/>
        </p:style>
      </p:sp>
      <p:sp>
        <p:nvSpPr>
          <p:cNvPr id="487" name="Google Shape;463;p7"/>
          <p:cNvSpPr/>
          <p:nvPr/>
        </p:nvSpPr>
        <p:spPr>
          <a:xfrm>
            <a:off x="5555520" y="4339440"/>
            <a:ext cx="13186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Distance = 1 - AUC </a:t>
            </a:r>
            <a:endParaRPr b="0" lang="en-US" sz="1000" spc="-1" strike="noStrike">
              <a:latin typeface="Arial"/>
            </a:endParaRPr>
          </a:p>
        </p:txBody>
      </p:sp>
      <p:pic>
        <p:nvPicPr>
          <p:cNvPr id="488" name="Google Shape;464;p7" descr=""/>
          <p:cNvPicPr/>
          <p:nvPr/>
        </p:nvPicPr>
        <p:blipFill>
          <a:blip r:embed="rId5"/>
          <a:stretch/>
        </p:blipFill>
        <p:spPr>
          <a:xfrm>
            <a:off x="8280" y="5770440"/>
            <a:ext cx="6804720" cy="3267360"/>
          </a:xfrm>
          <a:prstGeom prst="rect">
            <a:avLst/>
          </a:prstGeom>
          <a:ln w="0">
            <a:noFill/>
          </a:ln>
        </p:spPr>
      </p:pic>
      <p:sp>
        <p:nvSpPr>
          <p:cNvPr id="489" name="Google Shape;465;p7"/>
          <p:cNvSpPr/>
          <p:nvPr/>
        </p:nvSpPr>
        <p:spPr>
          <a:xfrm>
            <a:off x="0" y="558684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C</a:t>
            </a:r>
            <a:endParaRPr b="0" lang="en-US" sz="1400" spc="-1" strike="noStrike">
              <a:latin typeface="Arial"/>
            </a:endParaRPr>
          </a:p>
        </p:txBody>
      </p:sp>
      <p:sp>
        <p:nvSpPr>
          <p:cNvPr id="490" name="Google Shape;466;p7"/>
          <p:cNvSpPr/>
          <p:nvPr/>
        </p:nvSpPr>
        <p:spPr>
          <a:xfrm>
            <a:off x="2716920" y="5553720"/>
            <a:ext cx="11170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000" spc="-1" strike="noStrike">
                <a:solidFill>
                  <a:srgbClr val="000000"/>
                </a:solidFill>
                <a:latin typeface="Arial"/>
                <a:ea typeface="Arial"/>
              </a:rPr>
              <a:t>GATNET Model</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91" name="Google Shape;472;p8" descr="A diagram of a graph&#10;&#10;Description automatically generated"/>
          <p:cNvPicPr/>
          <p:nvPr/>
        </p:nvPicPr>
        <p:blipFill>
          <a:blip r:embed="rId1"/>
          <a:stretch/>
        </p:blipFill>
        <p:spPr>
          <a:xfrm>
            <a:off x="5259600" y="113760"/>
            <a:ext cx="1604160" cy="1561680"/>
          </a:xfrm>
          <a:prstGeom prst="rect">
            <a:avLst/>
          </a:prstGeom>
          <a:ln w="0">
            <a:noFill/>
          </a:ln>
        </p:spPr>
      </p:pic>
      <p:pic>
        <p:nvPicPr>
          <p:cNvPr id="492" name="Google Shape;473;p8" descr="A diagram of a graph&#10;&#10;Description automatically generated"/>
          <p:cNvPicPr/>
          <p:nvPr/>
        </p:nvPicPr>
        <p:blipFill>
          <a:blip r:embed="rId2"/>
          <a:stretch/>
        </p:blipFill>
        <p:spPr>
          <a:xfrm>
            <a:off x="5268240" y="1928880"/>
            <a:ext cx="1578600" cy="1535760"/>
          </a:xfrm>
          <a:prstGeom prst="rect">
            <a:avLst/>
          </a:prstGeom>
          <a:ln w="0">
            <a:noFill/>
          </a:ln>
        </p:spPr>
      </p:pic>
      <p:pic>
        <p:nvPicPr>
          <p:cNvPr id="493" name="Google Shape;474;p8" descr=""/>
          <p:cNvPicPr/>
          <p:nvPr/>
        </p:nvPicPr>
        <p:blipFill>
          <a:blip r:embed="rId3"/>
          <a:stretch/>
        </p:blipFill>
        <p:spPr>
          <a:xfrm>
            <a:off x="3684240" y="105120"/>
            <a:ext cx="1578600" cy="1561680"/>
          </a:xfrm>
          <a:prstGeom prst="rect">
            <a:avLst/>
          </a:prstGeom>
          <a:ln w="0">
            <a:noFill/>
          </a:ln>
        </p:spPr>
      </p:pic>
      <p:pic>
        <p:nvPicPr>
          <p:cNvPr id="494" name="Google Shape;475;p8" descr="A diagram of a graph&#10;&#10;Description automatically generated"/>
          <p:cNvPicPr/>
          <p:nvPr/>
        </p:nvPicPr>
        <p:blipFill>
          <a:blip r:embed="rId4"/>
          <a:stretch/>
        </p:blipFill>
        <p:spPr>
          <a:xfrm>
            <a:off x="2185920" y="129960"/>
            <a:ext cx="1492920" cy="1520640"/>
          </a:xfrm>
          <a:prstGeom prst="rect">
            <a:avLst/>
          </a:prstGeom>
          <a:ln w="0">
            <a:noFill/>
          </a:ln>
        </p:spPr>
      </p:pic>
      <p:pic>
        <p:nvPicPr>
          <p:cNvPr id="495" name="Google Shape;476;p8" descr=""/>
          <p:cNvPicPr/>
          <p:nvPr/>
        </p:nvPicPr>
        <p:blipFill>
          <a:blip r:embed="rId5"/>
          <a:stretch/>
        </p:blipFill>
        <p:spPr>
          <a:xfrm>
            <a:off x="2520" y="95760"/>
            <a:ext cx="2186280" cy="1709280"/>
          </a:xfrm>
          <a:prstGeom prst="rect">
            <a:avLst/>
          </a:prstGeom>
          <a:ln w="0">
            <a:noFill/>
          </a:ln>
        </p:spPr>
      </p:pic>
      <p:sp>
        <p:nvSpPr>
          <p:cNvPr id="496" name="Google Shape;477;p8"/>
          <p:cNvSpPr/>
          <p:nvPr/>
        </p:nvSpPr>
        <p:spPr>
          <a:xfrm>
            <a:off x="-83160" y="-7992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A</a:t>
            </a:r>
            <a:endParaRPr b="0" lang="en-US" sz="1400" spc="-1" strike="noStrike">
              <a:latin typeface="Arial"/>
            </a:endParaRPr>
          </a:p>
        </p:txBody>
      </p:sp>
      <p:sp>
        <p:nvSpPr>
          <p:cNvPr id="497" name="Google Shape;478;p8"/>
          <p:cNvSpPr/>
          <p:nvPr/>
        </p:nvSpPr>
        <p:spPr>
          <a:xfrm>
            <a:off x="2059920" y="-6912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B</a:t>
            </a:r>
            <a:endParaRPr b="0" lang="en-US" sz="1400" spc="-1" strike="noStrike">
              <a:latin typeface="Arial"/>
            </a:endParaRPr>
          </a:p>
        </p:txBody>
      </p:sp>
      <p:sp>
        <p:nvSpPr>
          <p:cNvPr id="498" name="Google Shape;479;p8"/>
          <p:cNvSpPr/>
          <p:nvPr/>
        </p:nvSpPr>
        <p:spPr>
          <a:xfrm>
            <a:off x="3592440" y="-5832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C</a:t>
            </a:r>
            <a:endParaRPr b="0" lang="en-US" sz="1400" spc="-1" strike="noStrike">
              <a:latin typeface="Arial"/>
            </a:endParaRPr>
          </a:p>
        </p:txBody>
      </p:sp>
      <p:sp>
        <p:nvSpPr>
          <p:cNvPr id="499" name="Google Shape;480;p8"/>
          <p:cNvSpPr/>
          <p:nvPr/>
        </p:nvSpPr>
        <p:spPr>
          <a:xfrm>
            <a:off x="5158800" y="-5832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D</a:t>
            </a:r>
            <a:endParaRPr b="0" lang="en-US" sz="1400" spc="-1" strike="noStrike">
              <a:latin typeface="Arial"/>
            </a:endParaRPr>
          </a:p>
        </p:txBody>
      </p:sp>
      <p:grpSp>
        <p:nvGrpSpPr>
          <p:cNvPr id="500" name="Google Shape;481;p8"/>
          <p:cNvGrpSpPr/>
          <p:nvPr/>
        </p:nvGrpSpPr>
        <p:grpSpPr>
          <a:xfrm>
            <a:off x="173520" y="1871280"/>
            <a:ext cx="461520" cy="605160"/>
            <a:chOff x="173520" y="1871280"/>
            <a:chExt cx="461520" cy="605160"/>
          </a:xfrm>
        </p:grpSpPr>
        <p:sp>
          <p:nvSpPr>
            <p:cNvPr id="501" name="Google Shape;482;p8"/>
            <p:cNvSpPr/>
            <p:nvPr/>
          </p:nvSpPr>
          <p:spPr>
            <a:xfrm rot="10800000">
              <a:off x="173520" y="1871280"/>
              <a:ext cx="360" cy="604800"/>
            </a:xfrm>
            <a:custGeom>
              <a:avLst/>
              <a:gdLst/>
              <a:ahLst/>
              <a:rect l="l" t="t" r="r" b="b"/>
              <a:pathLst>
                <a:path w="21600" h="21600">
                  <a:moveTo>
                    <a:pt x="0" y="0"/>
                  </a:moveTo>
                  <a:lnTo>
                    <a:pt x="21600" y="21600"/>
                  </a:lnTo>
                </a:path>
              </a:pathLst>
            </a:custGeom>
            <a:noFill/>
            <a:ln w="9525">
              <a:solidFill>
                <a:srgbClr val="000000"/>
              </a:solidFill>
              <a:round/>
              <a:tailEnd len="med" type="stealth" w="med"/>
            </a:ln>
          </p:spPr>
          <p:style>
            <a:lnRef idx="0"/>
            <a:fillRef idx="0"/>
            <a:effectRef idx="0"/>
            <a:fontRef idx="minor"/>
          </p:style>
        </p:sp>
        <p:sp>
          <p:nvSpPr>
            <p:cNvPr id="502" name="Google Shape;483;p8"/>
            <p:cNvSpPr/>
            <p:nvPr/>
          </p:nvSpPr>
          <p:spPr>
            <a:xfrm>
              <a:off x="181080" y="2476080"/>
              <a:ext cx="453960" cy="360"/>
            </a:xfrm>
            <a:custGeom>
              <a:avLst/>
              <a:gdLst/>
              <a:ahLst/>
              <a:rect l="l" t="t" r="r" b="b"/>
              <a:pathLst>
                <a:path w="21600" h="21600">
                  <a:moveTo>
                    <a:pt x="0" y="0"/>
                  </a:moveTo>
                  <a:lnTo>
                    <a:pt x="21600" y="21600"/>
                  </a:lnTo>
                </a:path>
              </a:pathLst>
            </a:custGeom>
            <a:noFill/>
            <a:ln w="9525">
              <a:solidFill>
                <a:srgbClr val="000000"/>
              </a:solidFill>
              <a:round/>
              <a:tailEnd len="med" type="stealth" w="med"/>
            </a:ln>
          </p:spPr>
          <p:style>
            <a:lnRef idx="0"/>
            <a:fillRef idx="0"/>
            <a:effectRef idx="0"/>
            <a:fontRef idx="minor"/>
          </p:style>
        </p:sp>
      </p:grpSp>
      <p:sp>
        <p:nvSpPr>
          <p:cNvPr id="503" name="Google Shape;484;p8"/>
          <p:cNvSpPr/>
          <p:nvPr/>
        </p:nvSpPr>
        <p:spPr>
          <a:xfrm>
            <a:off x="-24120" y="2473920"/>
            <a:ext cx="800640" cy="21276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800" spc="-1" strike="noStrike">
                <a:solidFill>
                  <a:srgbClr val="000000"/>
                </a:solidFill>
                <a:latin typeface="Arial"/>
                <a:ea typeface="Arial"/>
              </a:rPr>
              <a:t>True AUC</a:t>
            </a:r>
            <a:endParaRPr b="0" lang="en-US" sz="800" spc="-1" strike="noStrike">
              <a:latin typeface="Arial"/>
            </a:endParaRPr>
          </a:p>
        </p:txBody>
      </p:sp>
      <p:sp>
        <p:nvSpPr>
          <p:cNvPr id="504" name="Google Shape;485;p8"/>
          <p:cNvSpPr/>
          <p:nvPr/>
        </p:nvSpPr>
        <p:spPr>
          <a:xfrm rot="16200000">
            <a:off x="-356040" y="2082960"/>
            <a:ext cx="888840" cy="21276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800" spc="-1" strike="noStrike">
                <a:solidFill>
                  <a:srgbClr val="000000"/>
                </a:solidFill>
                <a:latin typeface="Arial"/>
                <a:ea typeface="Arial"/>
              </a:rPr>
              <a:t>Predicted AUC</a:t>
            </a:r>
            <a:endParaRPr b="0" lang="en-US" sz="800" spc="-1" strike="noStrike">
              <a:latin typeface="Arial"/>
            </a:endParaRPr>
          </a:p>
        </p:txBody>
      </p:sp>
      <p:sp>
        <p:nvSpPr>
          <p:cNvPr id="505" name="Google Shape;486;p8"/>
          <p:cNvSpPr/>
          <p:nvPr/>
        </p:nvSpPr>
        <p:spPr>
          <a:xfrm>
            <a:off x="6017760" y="8827560"/>
            <a:ext cx="87984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Figure 4</a:t>
            </a:r>
            <a:endParaRPr b="0" lang="en-US" sz="1400" spc="-1" strike="noStrike">
              <a:latin typeface="Arial"/>
            </a:endParaRPr>
          </a:p>
        </p:txBody>
      </p:sp>
      <p:sp>
        <p:nvSpPr>
          <p:cNvPr id="506" name="Google Shape;487;p8"/>
          <p:cNvSpPr/>
          <p:nvPr/>
        </p:nvSpPr>
        <p:spPr>
          <a:xfrm>
            <a:off x="595440" y="1671120"/>
            <a:ext cx="30456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E</a:t>
            </a:r>
            <a:endParaRPr b="0" lang="en-US" sz="1400" spc="-1" strike="noStrike">
              <a:latin typeface="Arial"/>
            </a:endParaRPr>
          </a:p>
        </p:txBody>
      </p:sp>
      <p:sp>
        <p:nvSpPr>
          <p:cNvPr id="507" name="Google Shape;488;p8"/>
          <p:cNvSpPr/>
          <p:nvPr/>
        </p:nvSpPr>
        <p:spPr>
          <a:xfrm>
            <a:off x="2098440" y="1685520"/>
            <a:ext cx="29340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F</a:t>
            </a:r>
            <a:endParaRPr b="0" lang="en-US" sz="1400" spc="-1" strike="noStrike">
              <a:latin typeface="Arial"/>
            </a:endParaRPr>
          </a:p>
        </p:txBody>
      </p:sp>
      <p:sp>
        <p:nvSpPr>
          <p:cNvPr id="508" name="Google Shape;489;p8"/>
          <p:cNvSpPr/>
          <p:nvPr/>
        </p:nvSpPr>
        <p:spPr>
          <a:xfrm>
            <a:off x="3636000" y="1689480"/>
            <a:ext cx="32364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G</a:t>
            </a:r>
            <a:endParaRPr b="0" lang="en-US" sz="1400" spc="-1" strike="noStrike">
              <a:latin typeface="Arial"/>
            </a:endParaRPr>
          </a:p>
        </p:txBody>
      </p:sp>
      <p:sp>
        <p:nvSpPr>
          <p:cNvPr id="509" name="Google Shape;490;p8"/>
          <p:cNvSpPr/>
          <p:nvPr/>
        </p:nvSpPr>
        <p:spPr>
          <a:xfrm>
            <a:off x="5181120" y="169812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H</a:t>
            </a:r>
            <a:endParaRPr b="0" lang="en-US" sz="1400" spc="-1" strike="noStrike">
              <a:latin typeface="Arial"/>
            </a:endParaRPr>
          </a:p>
        </p:txBody>
      </p:sp>
      <p:pic>
        <p:nvPicPr>
          <p:cNvPr id="510" name="Google Shape;491;p8" descr="A diagram of a graph&#10;&#10;Description automatically generated"/>
          <p:cNvPicPr/>
          <p:nvPr/>
        </p:nvPicPr>
        <p:blipFill>
          <a:blip r:embed="rId6"/>
          <a:stretch/>
        </p:blipFill>
        <p:spPr>
          <a:xfrm>
            <a:off x="696240" y="1937520"/>
            <a:ext cx="1492920" cy="1458720"/>
          </a:xfrm>
          <a:prstGeom prst="rect">
            <a:avLst/>
          </a:prstGeom>
          <a:ln w="0">
            <a:noFill/>
          </a:ln>
        </p:spPr>
      </p:pic>
      <p:pic>
        <p:nvPicPr>
          <p:cNvPr id="511" name="Google Shape;492;p8" descr="A diagram of a graph&#10;&#10;Description automatically generated"/>
          <p:cNvPicPr/>
          <p:nvPr/>
        </p:nvPicPr>
        <p:blipFill>
          <a:blip r:embed="rId7"/>
          <a:stretch/>
        </p:blipFill>
        <p:spPr>
          <a:xfrm>
            <a:off x="2194560" y="1911600"/>
            <a:ext cx="1552680" cy="1553040"/>
          </a:xfrm>
          <a:prstGeom prst="rect">
            <a:avLst/>
          </a:prstGeom>
          <a:ln w="0">
            <a:noFill/>
          </a:ln>
        </p:spPr>
      </p:pic>
      <p:pic>
        <p:nvPicPr>
          <p:cNvPr id="512" name="Google Shape;493;p8" descr="A diagram of a catboost&#10;&#10;Description automatically generated"/>
          <p:cNvPicPr/>
          <p:nvPr/>
        </p:nvPicPr>
        <p:blipFill>
          <a:blip r:embed="rId8"/>
          <a:stretch/>
        </p:blipFill>
        <p:spPr>
          <a:xfrm>
            <a:off x="3778200" y="1906200"/>
            <a:ext cx="1475640" cy="1572480"/>
          </a:xfrm>
          <a:prstGeom prst="rect">
            <a:avLst/>
          </a:prstGeom>
          <a:ln w="0">
            <a:noFill/>
          </a:ln>
        </p:spPr>
      </p:pic>
      <p:sp>
        <p:nvSpPr>
          <p:cNvPr id="513" name="Google Shape;494;p8"/>
          <p:cNvSpPr/>
          <p:nvPr/>
        </p:nvSpPr>
        <p:spPr>
          <a:xfrm>
            <a:off x="180360" y="4907160"/>
            <a:ext cx="32616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L</a:t>
            </a:r>
            <a:endParaRPr b="0" lang="en-US" sz="1400" spc="-1" strike="noStrike">
              <a:latin typeface="Arial"/>
            </a:endParaRPr>
          </a:p>
        </p:txBody>
      </p:sp>
      <p:sp>
        <p:nvSpPr>
          <p:cNvPr id="514" name="Google Shape;495;p8"/>
          <p:cNvSpPr/>
          <p:nvPr/>
        </p:nvSpPr>
        <p:spPr>
          <a:xfrm>
            <a:off x="3308760" y="4950000"/>
            <a:ext cx="32616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M</a:t>
            </a:r>
            <a:endParaRPr b="0" lang="en-US" sz="1400" spc="-1" strike="noStrike">
              <a:latin typeface="Arial"/>
            </a:endParaRPr>
          </a:p>
        </p:txBody>
      </p:sp>
      <p:sp>
        <p:nvSpPr>
          <p:cNvPr id="515" name="Google Shape;496;p8"/>
          <p:cNvSpPr/>
          <p:nvPr/>
        </p:nvSpPr>
        <p:spPr>
          <a:xfrm>
            <a:off x="747720" y="4984560"/>
            <a:ext cx="2277000" cy="25848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100" spc="-1" strike="noStrike">
                <a:solidFill>
                  <a:srgbClr val="000000"/>
                </a:solidFill>
                <a:latin typeface="Arial"/>
                <a:ea typeface="Arial"/>
              </a:rPr>
              <a:t>Top Best Patient Predictions</a:t>
            </a:r>
            <a:endParaRPr b="0" lang="en-US" sz="1100" spc="-1" strike="noStrike">
              <a:latin typeface="Arial"/>
            </a:endParaRPr>
          </a:p>
        </p:txBody>
      </p:sp>
      <p:sp>
        <p:nvSpPr>
          <p:cNvPr id="516" name="Google Shape;497;p8"/>
          <p:cNvSpPr/>
          <p:nvPr/>
        </p:nvSpPr>
        <p:spPr>
          <a:xfrm>
            <a:off x="3867120" y="5001840"/>
            <a:ext cx="2277000" cy="25848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100" spc="-1" strike="noStrike">
                <a:solidFill>
                  <a:srgbClr val="000000"/>
                </a:solidFill>
                <a:latin typeface="Arial"/>
                <a:ea typeface="Arial"/>
              </a:rPr>
              <a:t>Bottom Worse Patient Predictions</a:t>
            </a:r>
            <a:endParaRPr b="0" lang="en-US" sz="1100" spc="-1" strike="noStrike">
              <a:latin typeface="Arial"/>
            </a:endParaRPr>
          </a:p>
        </p:txBody>
      </p:sp>
      <p:sp>
        <p:nvSpPr>
          <p:cNvPr id="517" name="Google Shape;498;p8"/>
          <p:cNvSpPr/>
          <p:nvPr/>
        </p:nvSpPr>
        <p:spPr>
          <a:xfrm>
            <a:off x="747720" y="8903520"/>
            <a:ext cx="2277000" cy="25848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100" spc="-1" strike="noStrike">
                <a:solidFill>
                  <a:srgbClr val="000000"/>
                </a:solidFill>
                <a:latin typeface="Arial"/>
                <a:ea typeface="Arial"/>
              </a:rPr>
              <a:t>Top Best Drug Predictions</a:t>
            </a:r>
            <a:endParaRPr b="0" lang="en-US" sz="1100" spc="-1" strike="noStrike">
              <a:latin typeface="Arial"/>
            </a:endParaRPr>
          </a:p>
        </p:txBody>
      </p:sp>
      <p:sp>
        <p:nvSpPr>
          <p:cNvPr id="518" name="Google Shape;499;p8"/>
          <p:cNvSpPr/>
          <p:nvPr/>
        </p:nvSpPr>
        <p:spPr>
          <a:xfrm>
            <a:off x="3970440" y="8903520"/>
            <a:ext cx="2277000" cy="25848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100" spc="-1" strike="noStrike">
                <a:solidFill>
                  <a:srgbClr val="000000"/>
                </a:solidFill>
                <a:latin typeface="Arial"/>
                <a:ea typeface="Arial"/>
              </a:rPr>
              <a:t>Bottom Worse Drug Predictions</a:t>
            </a:r>
            <a:endParaRPr b="0" lang="en-US" sz="1100" spc="-1" strike="noStrike">
              <a:latin typeface="Arial"/>
            </a:endParaRPr>
          </a:p>
        </p:txBody>
      </p:sp>
      <p:pic>
        <p:nvPicPr>
          <p:cNvPr id="519" name="Google Shape;500;p8" descr="A diagram of a graph&#10;&#10;Description automatically generated"/>
          <p:cNvPicPr/>
          <p:nvPr/>
        </p:nvPicPr>
        <p:blipFill>
          <a:blip r:embed="rId9"/>
          <a:stretch/>
        </p:blipFill>
        <p:spPr>
          <a:xfrm>
            <a:off x="1421280" y="3519000"/>
            <a:ext cx="1505160" cy="1478520"/>
          </a:xfrm>
          <a:prstGeom prst="rect">
            <a:avLst/>
          </a:prstGeom>
          <a:ln w="0">
            <a:noFill/>
          </a:ln>
        </p:spPr>
      </p:pic>
      <p:sp>
        <p:nvSpPr>
          <p:cNvPr id="520" name="Google Shape;501;p8"/>
          <p:cNvSpPr/>
          <p:nvPr/>
        </p:nvSpPr>
        <p:spPr>
          <a:xfrm>
            <a:off x="1176480" y="3365280"/>
            <a:ext cx="23400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I</a:t>
            </a:r>
            <a:endParaRPr b="0" lang="en-US" sz="1400" spc="-1" strike="noStrike">
              <a:latin typeface="Arial"/>
            </a:endParaRPr>
          </a:p>
        </p:txBody>
      </p:sp>
      <p:pic>
        <p:nvPicPr>
          <p:cNvPr id="521" name="Google Shape;502;p8" descr="A diagram of a graph&#10;&#10;Description automatically generated"/>
          <p:cNvPicPr/>
          <p:nvPr/>
        </p:nvPicPr>
        <p:blipFill>
          <a:blip r:embed="rId10"/>
          <a:stretch/>
        </p:blipFill>
        <p:spPr>
          <a:xfrm>
            <a:off x="3217680" y="3519720"/>
            <a:ext cx="1505160" cy="1468440"/>
          </a:xfrm>
          <a:prstGeom prst="rect">
            <a:avLst/>
          </a:prstGeom>
          <a:ln w="0">
            <a:noFill/>
          </a:ln>
        </p:spPr>
      </p:pic>
      <p:sp>
        <p:nvSpPr>
          <p:cNvPr id="522" name="Google Shape;503;p8"/>
          <p:cNvSpPr/>
          <p:nvPr/>
        </p:nvSpPr>
        <p:spPr>
          <a:xfrm>
            <a:off x="2972520" y="3399480"/>
            <a:ext cx="2836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J</a:t>
            </a:r>
            <a:endParaRPr b="0" lang="en-US" sz="1400" spc="-1" strike="noStrike">
              <a:latin typeface="Arial"/>
            </a:endParaRPr>
          </a:p>
        </p:txBody>
      </p:sp>
      <p:sp>
        <p:nvSpPr>
          <p:cNvPr id="523" name="Google Shape;504;p8"/>
          <p:cNvSpPr/>
          <p:nvPr/>
        </p:nvSpPr>
        <p:spPr>
          <a:xfrm>
            <a:off x="4880520" y="341676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K</a:t>
            </a:r>
            <a:endParaRPr b="0" lang="en-US" sz="1400" spc="-1" strike="noStrike">
              <a:latin typeface="Arial"/>
            </a:endParaRPr>
          </a:p>
        </p:txBody>
      </p:sp>
      <p:pic>
        <p:nvPicPr>
          <p:cNvPr id="524" name="Google Shape;505;p8" descr=""/>
          <p:cNvPicPr/>
          <p:nvPr/>
        </p:nvPicPr>
        <p:blipFill>
          <a:blip r:embed="rId11"/>
          <a:stretch/>
        </p:blipFill>
        <p:spPr>
          <a:xfrm>
            <a:off x="5185440" y="3521160"/>
            <a:ext cx="1488240" cy="1465560"/>
          </a:xfrm>
          <a:prstGeom prst="rect">
            <a:avLst/>
          </a:prstGeom>
          <a:ln w="0">
            <a:noFill/>
          </a:ln>
        </p:spPr>
      </p:pic>
      <p:pic>
        <p:nvPicPr>
          <p:cNvPr id="525" name="Google Shape;506;p8" descr=""/>
          <p:cNvPicPr/>
          <p:nvPr/>
        </p:nvPicPr>
        <p:blipFill>
          <a:blip r:embed="rId12"/>
          <a:stretch/>
        </p:blipFill>
        <p:spPr>
          <a:xfrm>
            <a:off x="596520" y="5168880"/>
            <a:ext cx="5939640" cy="373032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Google Shape;511;p9"/>
          <p:cNvSpPr/>
          <p:nvPr/>
        </p:nvSpPr>
        <p:spPr>
          <a:xfrm>
            <a:off x="6017760" y="8827560"/>
            <a:ext cx="87984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Figure 5</a:t>
            </a:r>
            <a:endParaRPr b="0" lang="en-US" sz="1400" spc="-1" strike="noStrike">
              <a:latin typeface="Arial"/>
            </a:endParaRPr>
          </a:p>
        </p:txBody>
      </p:sp>
      <p:pic>
        <p:nvPicPr>
          <p:cNvPr id="527" name="Google Shape;512;p9" descr=""/>
          <p:cNvPicPr/>
          <p:nvPr/>
        </p:nvPicPr>
        <p:blipFill>
          <a:blip r:embed="rId1"/>
          <a:stretch/>
        </p:blipFill>
        <p:spPr>
          <a:xfrm>
            <a:off x="3600" y="112680"/>
            <a:ext cx="6816240" cy="624564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8" name="Google Shape;517;p10"/>
          <p:cNvSpPr/>
          <p:nvPr/>
        </p:nvSpPr>
        <p:spPr>
          <a:xfrm>
            <a:off x="4634280" y="8836200"/>
            <a:ext cx="222336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Supplementary Figure 1</a:t>
            </a:r>
            <a:endParaRPr b="0" lang="en-US" sz="1400" spc="-1" strike="noStrike">
              <a:latin typeface="Arial"/>
            </a:endParaRPr>
          </a:p>
        </p:txBody>
      </p:sp>
      <p:pic>
        <p:nvPicPr>
          <p:cNvPr id="529" name="Google Shape;518;p10" descr=""/>
          <p:cNvPicPr/>
          <p:nvPr/>
        </p:nvPicPr>
        <p:blipFill>
          <a:blip r:embed="rId1"/>
          <a:stretch/>
        </p:blipFill>
        <p:spPr>
          <a:xfrm>
            <a:off x="190800" y="77040"/>
            <a:ext cx="2742840" cy="3321360"/>
          </a:xfrm>
          <a:prstGeom prst="rect">
            <a:avLst/>
          </a:prstGeom>
          <a:ln w="0">
            <a:noFill/>
          </a:ln>
        </p:spPr>
      </p:pic>
      <p:sp>
        <p:nvSpPr>
          <p:cNvPr id="530" name="Google Shape;519;p10"/>
          <p:cNvSpPr/>
          <p:nvPr/>
        </p:nvSpPr>
        <p:spPr>
          <a:xfrm>
            <a:off x="-59760" y="-25560"/>
            <a:ext cx="34560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A</a:t>
            </a:r>
            <a:endParaRPr b="0" lang="en-US" sz="1400" spc="-1" strike="noStrike">
              <a:latin typeface="Arial"/>
            </a:endParaRPr>
          </a:p>
        </p:txBody>
      </p:sp>
      <p:sp>
        <p:nvSpPr>
          <p:cNvPr id="531" name="Google Shape;520;p10"/>
          <p:cNvSpPr/>
          <p:nvPr/>
        </p:nvSpPr>
        <p:spPr>
          <a:xfrm>
            <a:off x="-59760" y="3364920"/>
            <a:ext cx="34560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B</a:t>
            </a:r>
            <a:endParaRPr b="0" lang="en-US" sz="1400" spc="-1" strike="noStrike">
              <a:latin typeface="Arial"/>
            </a:endParaRPr>
          </a:p>
        </p:txBody>
      </p:sp>
      <p:pic>
        <p:nvPicPr>
          <p:cNvPr id="532" name="Google Shape;521;p10" descr=""/>
          <p:cNvPicPr/>
          <p:nvPr/>
        </p:nvPicPr>
        <p:blipFill>
          <a:blip r:embed="rId2"/>
          <a:stretch/>
        </p:blipFill>
        <p:spPr>
          <a:xfrm>
            <a:off x="62640" y="3692880"/>
            <a:ext cx="4994640" cy="2674080"/>
          </a:xfrm>
          <a:prstGeom prst="rect">
            <a:avLst/>
          </a:prstGeom>
          <a:ln w="0">
            <a:noFill/>
          </a:ln>
        </p:spPr>
      </p:pic>
      <p:sp>
        <p:nvSpPr>
          <p:cNvPr id="533" name="Google Shape;522;p10"/>
          <p:cNvSpPr/>
          <p:nvPr/>
        </p:nvSpPr>
        <p:spPr>
          <a:xfrm>
            <a:off x="3056400" y="-25560"/>
            <a:ext cx="34560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C</a:t>
            </a:r>
            <a:endParaRPr b="0" lang="en-US" sz="1400" spc="-1" strike="noStrike">
              <a:latin typeface="Arial"/>
            </a:endParaRPr>
          </a:p>
        </p:txBody>
      </p:sp>
      <p:pic>
        <p:nvPicPr>
          <p:cNvPr id="534" name="Google Shape;523;p10" descr=""/>
          <p:cNvPicPr/>
          <p:nvPr/>
        </p:nvPicPr>
        <p:blipFill>
          <a:blip r:embed="rId3"/>
          <a:stretch/>
        </p:blipFill>
        <p:spPr>
          <a:xfrm>
            <a:off x="3093480" y="191160"/>
            <a:ext cx="3744720" cy="2014920"/>
          </a:xfrm>
          <a:prstGeom prst="rect">
            <a:avLst/>
          </a:prstGeom>
          <a:ln w="0">
            <a:noFill/>
          </a:ln>
        </p:spPr>
      </p:pic>
      <p:pic>
        <p:nvPicPr>
          <p:cNvPr id="535" name="Google Shape;524;p10" descr=""/>
          <p:cNvPicPr/>
          <p:nvPr/>
        </p:nvPicPr>
        <p:blipFill>
          <a:blip r:embed="rId4"/>
          <a:stretch/>
        </p:blipFill>
        <p:spPr>
          <a:xfrm>
            <a:off x="62640" y="6503040"/>
            <a:ext cx="5063040" cy="2456640"/>
          </a:xfrm>
          <a:prstGeom prst="rect">
            <a:avLst/>
          </a:prstGeom>
          <a:ln w="0">
            <a:noFill/>
          </a:ln>
        </p:spPr>
      </p:pic>
      <p:sp>
        <p:nvSpPr>
          <p:cNvPr id="536" name="Google Shape;525;p10"/>
          <p:cNvSpPr/>
          <p:nvPr/>
        </p:nvSpPr>
        <p:spPr>
          <a:xfrm>
            <a:off x="-25560" y="6292800"/>
            <a:ext cx="34560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37" name="Google Shape;531;p11" descr="A diagram of a catboost&#10;&#10;Description automatically generated"/>
          <p:cNvPicPr/>
          <p:nvPr/>
        </p:nvPicPr>
        <p:blipFill>
          <a:blip r:embed="rId1"/>
          <a:stretch/>
        </p:blipFill>
        <p:spPr>
          <a:xfrm>
            <a:off x="2768040" y="2162880"/>
            <a:ext cx="1826640" cy="1778400"/>
          </a:xfrm>
          <a:prstGeom prst="rect">
            <a:avLst/>
          </a:prstGeom>
          <a:ln w="0">
            <a:noFill/>
          </a:ln>
        </p:spPr>
      </p:pic>
      <p:pic>
        <p:nvPicPr>
          <p:cNvPr id="538" name="Google Shape;532;p11" descr="A diagram of a graph&#10;&#10;Description automatically generated"/>
          <p:cNvPicPr/>
          <p:nvPr/>
        </p:nvPicPr>
        <p:blipFill>
          <a:blip r:embed="rId2"/>
          <a:stretch/>
        </p:blipFill>
        <p:spPr>
          <a:xfrm>
            <a:off x="944280" y="2196000"/>
            <a:ext cx="1766880" cy="1729440"/>
          </a:xfrm>
          <a:prstGeom prst="rect">
            <a:avLst/>
          </a:prstGeom>
          <a:ln w="0">
            <a:noFill/>
          </a:ln>
        </p:spPr>
      </p:pic>
      <p:pic>
        <p:nvPicPr>
          <p:cNvPr id="539" name="Google Shape;533;p11" descr="A diagram of a graph&#10;&#10;Description automatically generated"/>
          <p:cNvPicPr/>
          <p:nvPr/>
        </p:nvPicPr>
        <p:blipFill>
          <a:blip r:embed="rId3"/>
          <a:stretch/>
        </p:blipFill>
        <p:spPr>
          <a:xfrm>
            <a:off x="5113800" y="131760"/>
            <a:ext cx="1732680" cy="1679400"/>
          </a:xfrm>
          <a:prstGeom prst="rect">
            <a:avLst/>
          </a:prstGeom>
          <a:ln w="0">
            <a:noFill/>
          </a:ln>
        </p:spPr>
      </p:pic>
      <p:pic>
        <p:nvPicPr>
          <p:cNvPr id="540" name="Google Shape;534;p11" descr="A diagram of a graph&#10;&#10;Description automatically generated"/>
          <p:cNvPicPr/>
          <p:nvPr/>
        </p:nvPicPr>
        <p:blipFill>
          <a:blip r:embed="rId4"/>
          <a:stretch/>
        </p:blipFill>
        <p:spPr>
          <a:xfrm>
            <a:off x="3367440" y="130680"/>
            <a:ext cx="1621080" cy="1630080"/>
          </a:xfrm>
          <a:prstGeom prst="rect">
            <a:avLst/>
          </a:prstGeom>
          <a:ln w="0">
            <a:noFill/>
          </a:ln>
        </p:spPr>
      </p:pic>
      <p:pic>
        <p:nvPicPr>
          <p:cNvPr id="541" name="Google Shape;535;p11" descr="A diagram of a graph&#10;&#10;Description automatically generated"/>
          <p:cNvPicPr/>
          <p:nvPr/>
        </p:nvPicPr>
        <p:blipFill>
          <a:blip r:embed="rId5"/>
          <a:stretch/>
        </p:blipFill>
        <p:spPr>
          <a:xfrm>
            <a:off x="1680840" y="96480"/>
            <a:ext cx="1621080" cy="1664280"/>
          </a:xfrm>
          <a:prstGeom prst="rect">
            <a:avLst/>
          </a:prstGeom>
          <a:ln w="0">
            <a:noFill/>
          </a:ln>
        </p:spPr>
      </p:pic>
      <p:pic>
        <p:nvPicPr>
          <p:cNvPr id="542" name="Google Shape;536;p11" descr="A diagram of a graph&#10;&#10;Description automatically generated"/>
          <p:cNvPicPr/>
          <p:nvPr/>
        </p:nvPicPr>
        <p:blipFill>
          <a:blip r:embed="rId6"/>
          <a:stretch/>
        </p:blipFill>
        <p:spPr>
          <a:xfrm>
            <a:off x="2520" y="127800"/>
            <a:ext cx="1621080" cy="1635840"/>
          </a:xfrm>
          <a:prstGeom prst="rect">
            <a:avLst/>
          </a:prstGeom>
          <a:ln w="0">
            <a:noFill/>
          </a:ln>
        </p:spPr>
      </p:pic>
      <p:pic>
        <p:nvPicPr>
          <p:cNvPr id="543" name="Google Shape;537;p11" descr="A picture containing text, screenshot, line, font&#10;&#10;Description automatically generated"/>
          <p:cNvPicPr/>
          <p:nvPr/>
        </p:nvPicPr>
        <p:blipFill>
          <a:blip r:embed="rId7"/>
          <a:stretch/>
        </p:blipFill>
        <p:spPr>
          <a:xfrm>
            <a:off x="5179320" y="7584840"/>
            <a:ext cx="1669320" cy="1561320"/>
          </a:xfrm>
          <a:prstGeom prst="rect">
            <a:avLst/>
          </a:prstGeom>
          <a:ln w="0">
            <a:noFill/>
          </a:ln>
        </p:spPr>
      </p:pic>
      <p:pic>
        <p:nvPicPr>
          <p:cNvPr id="544" name="Google Shape;538;p11" descr="A picture containing text, screenshot, line, font&#10;&#10;Description automatically generated"/>
          <p:cNvPicPr/>
          <p:nvPr/>
        </p:nvPicPr>
        <p:blipFill>
          <a:blip r:embed="rId8"/>
          <a:stretch/>
        </p:blipFill>
        <p:spPr>
          <a:xfrm>
            <a:off x="3458520" y="7572240"/>
            <a:ext cx="1612080" cy="1553760"/>
          </a:xfrm>
          <a:prstGeom prst="rect">
            <a:avLst/>
          </a:prstGeom>
          <a:ln w="0">
            <a:noFill/>
          </a:ln>
        </p:spPr>
      </p:pic>
      <p:pic>
        <p:nvPicPr>
          <p:cNvPr id="545" name="Google Shape;539;p11" descr="A picture containing text, screenshot, line, font&#10;&#10;Description automatically generated"/>
          <p:cNvPicPr/>
          <p:nvPr/>
        </p:nvPicPr>
        <p:blipFill>
          <a:blip r:embed="rId9"/>
          <a:stretch/>
        </p:blipFill>
        <p:spPr>
          <a:xfrm>
            <a:off x="99000" y="7622280"/>
            <a:ext cx="1677600" cy="1502640"/>
          </a:xfrm>
          <a:prstGeom prst="rect">
            <a:avLst/>
          </a:prstGeom>
          <a:ln w="0">
            <a:noFill/>
          </a:ln>
        </p:spPr>
      </p:pic>
      <p:pic>
        <p:nvPicPr>
          <p:cNvPr id="546" name="Google Shape;540;p11" descr="A picture containing text, screenshot, font, line&#10;&#10;Description automatically generated"/>
          <p:cNvPicPr/>
          <p:nvPr/>
        </p:nvPicPr>
        <p:blipFill>
          <a:blip r:embed="rId10"/>
          <a:stretch/>
        </p:blipFill>
        <p:spPr>
          <a:xfrm>
            <a:off x="3434040" y="5931360"/>
            <a:ext cx="1677600" cy="1557720"/>
          </a:xfrm>
          <a:prstGeom prst="rect">
            <a:avLst/>
          </a:prstGeom>
          <a:ln w="0">
            <a:noFill/>
          </a:ln>
        </p:spPr>
      </p:pic>
      <p:pic>
        <p:nvPicPr>
          <p:cNvPr id="547" name="Google Shape;541;p11" descr="A picture containing text, screenshot, font, line&#10;&#10;Description automatically generated"/>
          <p:cNvPicPr/>
          <p:nvPr/>
        </p:nvPicPr>
        <p:blipFill>
          <a:blip r:embed="rId11"/>
          <a:stretch/>
        </p:blipFill>
        <p:spPr>
          <a:xfrm>
            <a:off x="5130000" y="5916960"/>
            <a:ext cx="1726920" cy="1619640"/>
          </a:xfrm>
          <a:prstGeom prst="rect">
            <a:avLst/>
          </a:prstGeom>
          <a:ln w="0">
            <a:noFill/>
          </a:ln>
        </p:spPr>
      </p:pic>
      <p:pic>
        <p:nvPicPr>
          <p:cNvPr id="548" name="Google Shape;542;p11" descr="A picture containing text, screenshot, font, line&#10;&#10;Description automatically generated"/>
          <p:cNvPicPr/>
          <p:nvPr/>
        </p:nvPicPr>
        <p:blipFill>
          <a:blip r:embed="rId12"/>
          <a:stretch/>
        </p:blipFill>
        <p:spPr>
          <a:xfrm>
            <a:off x="1754280" y="5931360"/>
            <a:ext cx="1677600" cy="1582200"/>
          </a:xfrm>
          <a:prstGeom prst="rect">
            <a:avLst/>
          </a:prstGeom>
          <a:ln w="0">
            <a:noFill/>
          </a:ln>
        </p:spPr>
      </p:pic>
      <p:pic>
        <p:nvPicPr>
          <p:cNvPr id="549" name="Google Shape;543;p11" descr="A picture containing text, screenshot, line, font&#10;&#10;Description automatically generated"/>
          <p:cNvPicPr/>
          <p:nvPr/>
        </p:nvPicPr>
        <p:blipFill>
          <a:blip r:embed="rId13"/>
          <a:stretch/>
        </p:blipFill>
        <p:spPr>
          <a:xfrm>
            <a:off x="82800" y="5904720"/>
            <a:ext cx="1677600" cy="1586880"/>
          </a:xfrm>
          <a:prstGeom prst="rect">
            <a:avLst/>
          </a:prstGeom>
          <a:ln w="0">
            <a:noFill/>
          </a:ln>
        </p:spPr>
      </p:pic>
      <p:pic>
        <p:nvPicPr>
          <p:cNvPr id="550" name="Google Shape;544;p11" descr="A picture containing text, screenshot, font, line&#10;&#10;Description automatically generated"/>
          <p:cNvPicPr/>
          <p:nvPr/>
        </p:nvPicPr>
        <p:blipFill>
          <a:blip r:embed="rId14"/>
          <a:stretch/>
        </p:blipFill>
        <p:spPr>
          <a:xfrm>
            <a:off x="5187240" y="4224960"/>
            <a:ext cx="1694160" cy="1586880"/>
          </a:xfrm>
          <a:prstGeom prst="rect">
            <a:avLst/>
          </a:prstGeom>
          <a:ln w="0">
            <a:noFill/>
          </a:ln>
        </p:spPr>
      </p:pic>
      <p:pic>
        <p:nvPicPr>
          <p:cNvPr id="551" name="Google Shape;545;p11" descr="A picture containing text, screenshot, font, line&#10;&#10;Description automatically generated"/>
          <p:cNvPicPr/>
          <p:nvPr/>
        </p:nvPicPr>
        <p:blipFill>
          <a:blip r:embed="rId15"/>
          <a:stretch/>
        </p:blipFill>
        <p:spPr>
          <a:xfrm>
            <a:off x="3483000" y="4233240"/>
            <a:ext cx="1628640" cy="1586880"/>
          </a:xfrm>
          <a:prstGeom prst="rect">
            <a:avLst/>
          </a:prstGeom>
          <a:ln w="0">
            <a:noFill/>
          </a:ln>
        </p:spPr>
      </p:pic>
      <p:pic>
        <p:nvPicPr>
          <p:cNvPr id="552" name="Google Shape;546;p11" descr="A picture containing text, screenshot, line, font&#10;&#10;Description automatically generated"/>
          <p:cNvPicPr/>
          <p:nvPr/>
        </p:nvPicPr>
        <p:blipFill>
          <a:blip r:embed="rId16"/>
          <a:stretch/>
        </p:blipFill>
        <p:spPr>
          <a:xfrm>
            <a:off x="1762560" y="4233240"/>
            <a:ext cx="1653120" cy="1586880"/>
          </a:xfrm>
          <a:prstGeom prst="rect">
            <a:avLst/>
          </a:prstGeom>
          <a:ln w="0">
            <a:noFill/>
          </a:ln>
        </p:spPr>
      </p:pic>
      <p:pic>
        <p:nvPicPr>
          <p:cNvPr id="553" name="Google Shape;547;p11" descr="A picture containing text, screenshot, font, line&#10;&#10;Description automatically generated"/>
          <p:cNvPicPr/>
          <p:nvPr/>
        </p:nvPicPr>
        <p:blipFill>
          <a:blip r:embed="rId17"/>
          <a:stretch/>
        </p:blipFill>
        <p:spPr>
          <a:xfrm>
            <a:off x="107280" y="4233240"/>
            <a:ext cx="1653120" cy="1586880"/>
          </a:xfrm>
          <a:prstGeom prst="rect">
            <a:avLst/>
          </a:prstGeom>
          <a:ln w="0">
            <a:noFill/>
          </a:ln>
        </p:spPr>
      </p:pic>
      <p:sp>
        <p:nvSpPr>
          <p:cNvPr id="554" name="Google Shape;548;p11"/>
          <p:cNvSpPr/>
          <p:nvPr/>
        </p:nvSpPr>
        <p:spPr>
          <a:xfrm>
            <a:off x="-90360" y="-6696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A</a:t>
            </a:r>
            <a:endParaRPr b="0" lang="en-US" sz="1400" spc="-1" strike="noStrike">
              <a:latin typeface="Arial"/>
            </a:endParaRPr>
          </a:p>
        </p:txBody>
      </p:sp>
      <p:sp>
        <p:nvSpPr>
          <p:cNvPr id="555" name="Google Shape;549;p11"/>
          <p:cNvSpPr/>
          <p:nvPr/>
        </p:nvSpPr>
        <p:spPr>
          <a:xfrm>
            <a:off x="1553400" y="-6696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B</a:t>
            </a:r>
            <a:endParaRPr b="0" lang="en-US" sz="1400" spc="-1" strike="noStrike">
              <a:latin typeface="Arial"/>
            </a:endParaRPr>
          </a:p>
        </p:txBody>
      </p:sp>
      <p:sp>
        <p:nvSpPr>
          <p:cNvPr id="556" name="Google Shape;550;p11"/>
          <p:cNvSpPr/>
          <p:nvPr/>
        </p:nvSpPr>
        <p:spPr>
          <a:xfrm>
            <a:off x="3265560" y="-5724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C</a:t>
            </a:r>
            <a:endParaRPr b="0" lang="en-US" sz="1400" spc="-1" strike="noStrike">
              <a:latin typeface="Arial"/>
            </a:endParaRPr>
          </a:p>
        </p:txBody>
      </p:sp>
      <p:grpSp>
        <p:nvGrpSpPr>
          <p:cNvPr id="557" name="Google Shape;551;p11"/>
          <p:cNvGrpSpPr/>
          <p:nvPr/>
        </p:nvGrpSpPr>
        <p:grpSpPr>
          <a:xfrm>
            <a:off x="-87120" y="2475720"/>
            <a:ext cx="959400" cy="898560"/>
            <a:chOff x="-87120" y="2475720"/>
            <a:chExt cx="959400" cy="898560"/>
          </a:xfrm>
        </p:grpSpPr>
        <p:grpSp>
          <p:nvGrpSpPr>
            <p:cNvPr id="558" name="Google Shape;552;p11"/>
            <p:cNvGrpSpPr/>
            <p:nvPr/>
          </p:nvGrpSpPr>
          <p:grpSpPr>
            <a:xfrm>
              <a:off x="186480" y="2533320"/>
              <a:ext cx="453960" cy="605160"/>
              <a:chOff x="186480" y="2533320"/>
              <a:chExt cx="453960" cy="605160"/>
            </a:xfrm>
          </p:grpSpPr>
          <p:sp>
            <p:nvSpPr>
              <p:cNvPr id="559" name="Google Shape;553;p11"/>
              <p:cNvSpPr/>
              <p:nvPr/>
            </p:nvSpPr>
            <p:spPr>
              <a:xfrm rot="10800000">
                <a:off x="187560" y="2533320"/>
                <a:ext cx="360" cy="604800"/>
              </a:xfrm>
              <a:custGeom>
                <a:avLst/>
                <a:gdLst/>
                <a:ahLst/>
                <a:rect l="l" t="t" r="r" b="b"/>
                <a:pathLst>
                  <a:path w="21600" h="21600">
                    <a:moveTo>
                      <a:pt x="0" y="0"/>
                    </a:moveTo>
                    <a:lnTo>
                      <a:pt x="21600" y="21600"/>
                    </a:lnTo>
                  </a:path>
                </a:pathLst>
              </a:custGeom>
              <a:noFill/>
              <a:ln w="9525">
                <a:solidFill>
                  <a:srgbClr val="000000"/>
                </a:solidFill>
                <a:round/>
                <a:tailEnd len="med" type="stealth" w="med"/>
              </a:ln>
            </p:spPr>
            <p:style>
              <a:lnRef idx="0"/>
              <a:fillRef idx="0"/>
              <a:effectRef idx="0"/>
              <a:fontRef idx="minor"/>
            </p:style>
          </p:sp>
          <p:sp>
            <p:nvSpPr>
              <p:cNvPr id="560" name="Google Shape;554;p11"/>
              <p:cNvSpPr/>
              <p:nvPr/>
            </p:nvSpPr>
            <p:spPr>
              <a:xfrm>
                <a:off x="186480" y="3138120"/>
                <a:ext cx="453960" cy="360"/>
              </a:xfrm>
              <a:custGeom>
                <a:avLst/>
                <a:gdLst/>
                <a:ahLst/>
                <a:rect l="l" t="t" r="r" b="b"/>
                <a:pathLst>
                  <a:path w="21600" h="21600">
                    <a:moveTo>
                      <a:pt x="0" y="0"/>
                    </a:moveTo>
                    <a:lnTo>
                      <a:pt x="21600" y="21600"/>
                    </a:lnTo>
                  </a:path>
                </a:pathLst>
              </a:custGeom>
              <a:noFill/>
              <a:ln w="9525">
                <a:solidFill>
                  <a:srgbClr val="000000"/>
                </a:solidFill>
                <a:round/>
                <a:tailEnd len="med" type="stealth" w="med"/>
              </a:ln>
            </p:spPr>
            <p:style>
              <a:lnRef idx="0"/>
              <a:fillRef idx="0"/>
              <a:effectRef idx="0"/>
              <a:fontRef idx="minor"/>
            </p:style>
          </p:sp>
        </p:grpSp>
        <p:sp>
          <p:nvSpPr>
            <p:cNvPr id="561" name="Google Shape;555;p11"/>
            <p:cNvSpPr/>
            <p:nvPr/>
          </p:nvSpPr>
          <p:spPr>
            <a:xfrm>
              <a:off x="-87120" y="3161520"/>
              <a:ext cx="959400" cy="21276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800" spc="-1" strike="noStrike">
                  <a:solidFill>
                    <a:srgbClr val="000000"/>
                  </a:solidFill>
                  <a:latin typeface="Arial"/>
                  <a:ea typeface="Arial"/>
                </a:rPr>
                <a:t>True AUC</a:t>
              </a:r>
              <a:endParaRPr b="0" lang="en-US" sz="800" spc="-1" strike="noStrike">
                <a:latin typeface="Arial"/>
              </a:endParaRPr>
            </a:p>
          </p:txBody>
        </p:sp>
        <p:sp>
          <p:nvSpPr>
            <p:cNvPr id="562" name="Google Shape;556;p11"/>
            <p:cNvSpPr/>
            <p:nvPr/>
          </p:nvSpPr>
          <p:spPr>
            <a:xfrm rot="16200000">
              <a:off x="-354960" y="2800800"/>
              <a:ext cx="862920" cy="21276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800" spc="-1" strike="noStrike">
                  <a:solidFill>
                    <a:srgbClr val="000000"/>
                  </a:solidFill>
                  <a:latin typeface="Arial"/>
                  <a:ea typeface="Arial"/>
                </a:rPr>
                <a:t>Predicted AUC</a:t>
              </a:r>
              <a:endParaRPr b="0" lang="en-US" sz="800" spc="-1" strike="noStrike">
                <a:latin typeface="Arial"/>
              </a:endParaRPr>
            </a:p>
          </p:txBody>
        </p:sp>
      </p:grpSp>
      <p:sp>
        <p:nvSpPr>
          <p:cNvPr id="563" name="Google Shape;557;p11"/>
          <p:cNvSpPr/>
          <p:nvPr/>
        </p:nvSpPr>
        <p:spPr>
          <a:xfrm>
            <a:off x="4635360" y="1822680"/>
            <a:ext cx="222336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Supplementary Figure 2</a:t>
            </a:r>
            <a:endParaRPr b="0" lang="en-US" sz="1400" spc="-1" strike="noStrike">
              <a:latin typeface="Arial"/>
            </a:endParaRPr>
          </a:p>
        </p:txBody>
      </p:sp>
      <p:sp>
        <p:nvSpPr>
          <p:cNvPr id="564" name="Google Shape;558;p11"/>
          <p:cNvSpPr/>
          <p:nvPr/>
        </p:nvSpPr>
        <p:spPr>
          <a:xfrm>
            <a:off x="4922640" y="-5724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D</a:t>
            </a:r>
            <a:endParaRPr b="0" lang="en-US" sz="1400" spc="-1" strike="noStrike">
              <a:latin typeface="Arial"/>
            </a:endParaRPr>
          </a:p>
        </p:txBody>
      </p:sp>
      <p:sp>
        <p:nvSpPr>
          <p:cNvPr id="565" name="Google Shape;559;p11"/>
          <p:cNvSpPr/>
          <p:nvPr/>
        </p:nvSpPr>
        <p:spPr>
          <a:xfrm>
            <a:off x="819720" y="2010960"/>
            <a:ext cx="30456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E</a:t>
            </a:r>
            <a:endParaRPr b="0" lang="en-US" sz="1400" spc="-1" strike="noStrike">
              <a:latin typeface="Arial"/>
            </a:endParaRPr>
          </a:p>
        </p:txBody>
      </p:sp>
      <p:sp>
        <p:nvSpPr>
          <p:cNvPr id="566" name="Google Shape;560;p11"/>
          <p:cNvSpPr/>
          <p:nvPr/>
        </p:nvSpPr>
        <p:spPr>
          <a:xfrm>
            <a:off x="2604600" y="2010960"/>
            <a:ext cx="29340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F</a:t>
            </a:r>
            <a:endParaRPr b="0" lang="en-US" sz="1400" spc="-1" strike="noStrike">
              <a:latin typeface="Arial"/>
            </a:endParaRPr>
          </a:p>
        </p:txBody>
      </p:sp>
      <p:sp>
        <p:nvSpPr>
          <p:cNvPr id="567" name="Google Shape;561;p11"/>
          <p:cNvSpPr/>
          <p:nvPr/>
        </p:nvSpPr>
        <p:spPr>
          <a:xfrm>
            <a:off x="4521240" y="2010960"/>
            <a:ext cx="32364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G</a:t>
            </a:r>
            <a:endParaRPr b="0" lang="en-US" sz="1400" spc="-1" strike="noStrike">
              <a:latin typeface="Arial"/>
            </a:endParaRPr>
          </a:p>
        </p:txBody>
      </p:sp>
      <p:sp>
        <p:nvSpPr>
          <p:cNvPr id="568" name="Google Shape;562;p11"/>
          <p:cNvSpPr/>
          <p:nvPr/>
        </p:nvSpPr>
        <p:spPr>
          <a:xfrm>
            <a:off x="0" y="4049640"/>
            <a:ext cx="6857640" cy="360"/>
          </a:xfrm>
          <a:custGeom>
            <a:avLst/>
            <a:gdLst/>
            <a:ahLst/>
            <a:rect l="l" t="t" r="r" b="b"/>
            <a:pathLst>
              <a:path w="21600" h="21600">
                <a:moveTo>
                  <a:pt x="0" y="0"/>
                </a:moveTo>
                <a:lnTo>
                  <a:pt x="21600" y="21600"/>
                </a:lnTo>
              </a:path>
            </a:pathLst>
          </a:custGeom>
          <a:noFill/>
          <a:ln w="12700">
            <a:solidFill>
              <a:srgbClr val="000000"/>
            </a:solidFill>
            <a:round/>
          </a:ln>
        </p:spPr>
        <p:style>
          <a:lnRef idx="0"/>
          <a:fillRef idx="0"/>
          <a:effectRef idx="0"/>
          <a:fontRef idx="minor"/>
        </p:style>
      </p:sp>
      <p:sp>
        <p:nvSpPr>
          <p:cNvPr id="569" name="Google Shape;563;p11"/>
          <p:cNvSpPr/>
          <p:nvPr/>
        </p:nvSpPr>
        <p:spPr>
          <a:xfrm>
            <a:off x="-64080" y="405648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H</a:t>
            </a:r>
            <a:endParaRPr b="0" lang="en-US" sz="1400" spc="-1" strike="noStrike">
              <a:latin typeface="Arial"/>
            </a:endParaRPr>
          </a:p>
        </p:txBody>
      </p:sp>
      <p:sp>
        <p:nvSpPr>
          <p:cNvPr id="570" name="Google Shape;564;p11"/>
          <p:cNvSpPr/>
          <p:nvPr/>
        </p:nvSpPr>
        <p:spPr>
          <a:xfrm>
            <a:off x="1626120" y="407736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I</a:t>
            </a:r>
            <a:endParaRPr b="0" lang="en-US" sz="1400" spc="-1" strike="noStrike">
              <a:latin typeface="Arial"/>
            </a:endParaRPr>
          </a:p>
        </p:txBody>
      </p:sp>
      <p:sp>
        <p:nvSpPr>
          <p:cNvPr id="571" name="Google Shape;565;p11"/>
          <p:cNvSpPr/>
          <p:nvPr/>
        </p:nvSpPr>
        <p:spPr>
          <a:xfrm>
            <a:off x="3280320" y="407592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J</a:t>
            </a:r>
            <a:endParaRPr b="0" lang="en-US" sz="1400" spc="-1" strike="noStrike">
              <a:latin typeface="Arial"/>
            </a:endParaRPr>
          </a:p>
        </p:txBody>
      </p:sp>
      <p:sp>
        <p:nvSpPr>
          <p:cNvPr id="572" name="Google Shape;566;p11"/>
          <p:cNvSpPr/>
          <p:nvPr/>
        </p:nvSpPr>
        <p:spPr>
          <a:xfrm>
            <a:off x="4966920" y="410580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K</a:t>
            </a:r>
            <a:endParaRPr b="0" lang="en-US" sz="1400" spc="-1" strike="noStrike">
              <a:latin typeface="Arial"/>
            </a:endParaRPr>
          </a:p>
        </p:txBody>
      </p:sp>
      <p:sp>
        <p:nvSpPr>
          <p:cNvPr id="573" name="Google Shape;567;p11"/>
          <p:cNvSpPr/>
          <p:nvPr/>
        </p:nvSpPr>
        <p:spPr>
          <a:xfrm>
            <a:off x="-56520" y="5764320"/>
            <a:ext cx="29340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L</a:t>
            </a:r>
            <a:endParaRPr b="0" lang="en-US" sz="1400" spc="-1" strike="noStrike">
              <a:latin typeface="Arial"/>
            </a:endParaRPr>
          </a:p>
        </p:txBody>
      </p:sp>
      <p:sp>
        <p:nvSpPr>
          <p:cNvPr id="574" name="Google Shape;568;p11"/>
          <p:cNvSpPr/>
          <p:nvPr/>
        </p:nvSpPr>
        <p:spPr>
          <a:xfrm>
            <a:off x="1591560" y="5765400"/>
            <a:ext cx="33336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M</a:t>
            </a:r>
            <a:endParaRPr b="0" lang="en-US" sz="1400" spc="-1" strike="noStrike">
              <a:latin typeface="Arial"/>
            </a:endParaRPr>
          </a:p>
        </p:txBody>
      </p:sp>
      <p:sp>
        <p:nvSpPr>
          <p:cNvPr id="575" name="Google Shape;569;p11"/>
          <p:cNvSpPr/>
          <p:nvPr/>
        </p:nvSpPr>
        <p:spPr>
          <a:xfrm>
            <a:off x="3354480" y="575532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N</a:t>
            </a:r>
            <a:endParaRPr b="0" lang="en-US" sz="1400" spc="-1" strike="noStrike">
              <a:latin typeface="Arial"/>
            </a:endParaRPr>
          </a:p>
        </p:txBody>
      </p:sp>
      <p:sp>
        <p:nvSpPr>
          <p:cNvPr id="576" name="Google Shape;570;p11"/>
          <p:cNvSpPr/>
          <p:nvPr/>
        </p:nvSpPr>
        <p:spPr>
          <a:xfrm>
            <a:off x="5001480" y="5763600"/>
            <a:ext cx="32364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O</a:t>
            </a:r>
            <a:endParaRPr b="0" lang="en-US" sz="1400" spc="-1" strike="noStrike">
              <a:latin typeface="Arial"/>
            </a:endParaRPr>
          </a:p>
        </p:txBody>
      </p:sp>
      <p:sp>
        <p:nvSpPr>
          <p:cNvPr id="577" name="Google Shape;571;p11"/>
          <p:cNvSpPr/>
          <p:nvPr/>
        </p:nvSpPr>
        <p:spPr>
          <a:xfrm>
            <a:off x="-45720" y="7394040"/>
            <a:ext cx="30456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P</a:t>
            </a:r>
            <a:endParaRPr b="0" lang="en-US" sz="1400" spc="-1" strike="noStrike">
              <a:latin typeface="Arial"/>
            </a:endParaRPr>
          </a:p>
        </p:txBody>
      </p:sp>
      <p:sp>
        <p:nvSpPr>
          <p:cNvPr id="578" name="Google Shape;572;p11"/>
          <p:cNvSpPr/>
          <p:nvPr/>
        </p:nvSpPr>
        <p:spPr>
          <a:xfrm>
            <a:off x="1601280" y="7418520"/>
            <a:ext cx="32364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Q</a:t>
            </a:r>
            <a:endParaRPr b="0" lang="en-US" sz="1400" spc="-1" strike="noStrike">
              <a:latin typeface="Arial"/>
            </a:endParaRPr>
          </a:p>
        </p:txBody>
      </p:sp>
      <p:sp>
        <p:nvSpPr>
          <p:cNvPr id="579" name="Google Shape;573;p11"/>
          <p:cNvSpPr/>
          <p:nvPr/>
        </p:nvSpPr>
        <p:spPr>
          <a:xfrm>
            <a:off x="3362760" y="739404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R</a:t>
            </a:r>
            <a:endParaRPr b="0" lang="en-US" sz="1400" spc="-1" strike="noStrike">
              <a:latin typeface="Arial"/>
            </a:endParaRPr>
          </a:p>
        </p:txBody>
      </p:sp>
      <p:sp>
        <p:nvSpPr>
          <p:cNvPr id="580" name="Google Shape;574;p11"/>
          <p:cNvSpPr/>
          <p:nvPr/>
        </p:nvSpPr>
        <p:spPr>
          <a:xfrm>
            <a:off x="5001480" y="7418520"/>
            <a:ext cx="30456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S</a:t>
            </a:r>
            <a:endParaRPr b="0" lang="en-US" sz="1400" spc="-1" strike="noStrike">
              <a:latin typeface="Arial"/>
            </a:endParaRPr>
          </a:p>
        </p:txBody>
      </p:sp>
      <p:pic>
        <p:nvPicPr>
          <p:cNvPr id="581" name="Google Shape;575;p11" descr="A picture containing text, screenshot, font, line&#10;&#10;Description automatically generated"/>
          <p:cNvPicPr/>
          <p:nvPr/>
        </p:nvPicPr>
        <p:blipFill>
          <a:blip r:embed="rId18"/>
          <a:stretch/>
        </p:blipFill>
        <p:spPr>
          <a:xfrm>
            <a:off x="1828080" y="7602840"/>
            <a:ext cx="1587600" cy="1541160"/>
          </a:xfrm>
          <a:prstGeom prst="rect">
            <a:avLst/>
          </a:prstGeom>
          <a:ln w="0">
            <a:noFill/>
          </a:ln>
        </p:spPr>
      </p:pic>
      <p:pic>
        <p:nvPicPr>
          <p:cNvPr id="582" name="Google Shape;576;p11" descr="A diagram of a graph&#10;&#10;Description automatically generated"/>
          <p:cNvPicPr/>
          <p:nvPr/>
        </p:nvPicPr>
        <p:blipFill>
          <a:blip r:embed="rId19"/>
          <a:stretch/>
        </p:blipFill>
        <p:spPr>
          <a:xfrm>
            <a:off x="4745880" y="2134440"/>
            <a:ext cx="1869480" cy="179280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83" name="Google Shape;581;p12" descr="A graph of value and numbers&#10;&#10;Description automatically generated"/>
          <p:cNvPicPr/>
          <p:nvPr/>
        </p:nvPicPr>
        <p:blipFill>
          <a:blip r:embed="rId1"/>
          <a:stretch/>
        </p:blipFill>
        <p:spPr>
          <a:xfrm>
            <a:off x="3607200" y="104040"/>
            <a:ext cx="3016800" cy="3952440"/>
          </a:xfrm>
          <a:prstGeom prst="rect">
            <a:avLst/>
          </a:prstGeom>
          <a:ln w="0">
            <a:noFill/>
          </a:ln>
        </p:spPr>
      </p:pic>
      <p:pic>
        <p:nvPicPr>
          <p:cNvPr id="584" name="Google Shape;582;p12" descr="A graph of a number of numbers and a bar graph&#10;&#10;Description automatically generated"/>
          <p:cNvPicPr/>
          <p:nvPr/>
        </p:nvPicPr>
        <p:blipFill>
          <a:blip r:embed="rId2"/>
          <a:stretch/>
        </p:blipFill>
        <p:spPr>
          <a:xfrm>
            <a:off x="110880" y="100080"/>
            <a:ext cx="2679840" cy="4114440"/>
          </a:xfrm>
          <a:prstGeom prst="rect">
            <a:avLst/>
          </a:prstGeom>
          <a:ln w="0">
            <a:noFill/>
          </a:ln>
        </p:spPr>
      </p:pic>
      <p:sp>
        <p:nvSpPr>
          <p:cNvPr id="585" name="Google Shape;583;p12"/>
          <p:cNvSpPr/>
          <p:nvPr/>
        </p:nvSpPr>
        <p:spPr>
          <a:xfrm>
            <a:off x="-46800" y="-5580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A</a:t>
            </a:r>
            <a:endParaRPr b="0" lang="en-US" sz="1400" spc="-1" strike="noStrike">
              <a:latin typeface="Arial"/>
            </a:endParaRPr>
          </a:p>
        </p:txBody>
      </p:sp>
      <p:sp>
        <p:nvSpPr>
          <p:cNvPr id="586" name="Google Shape;584;p12"/>
          <p:cNvSpPr/>
          <p:nvPr/>
        </p:nvSpPr>
        <p:spPr>
          <a:xfrm>
            <a:off x="3452760" y="-6516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B</a:t>
            </a:r>
            <a:endParaRPr b="0" lang="en-US" sz="1400" spc="-1" strike="noStrike">
              <a:latin typeface="Arial"/>
            </a:endParaRPr>
          </a:p>
        </p:txBody>
      </p:sp>
      <p:sp>
        <p:nvSpPr>
          <p:cNvPr id="587" name="Google Shape;585;p12"/>
          <p:cNvSpPr/>
          <p:nvPr/>
        </p:nvSpPr>
        <p:spPr>
          <a:xfrm>
            <a:off x="4691520" y="8838000"/>
            <a:ext cx="264132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Supplementary Figure 3</a:t>
            </a:r>
            <a:endParaRPr b="0" lang="en-US" sz="1400" spc="-1" strike="noStrike">
              <a:latin typeface="Arial"/>
            </a:endParaRPr>
          </a:p>
        </p:txBody>
      </p:sp>
      <p:sp>
        <p:nvSpPr>
          <p:cNvPr id="588" name="Google Shape;586;p12"/>
          <p:cNvSpPr/>
          <p:nvPr/>
        </p:nvSpPr>
        <p:spPr>
          <a:xfrm>
            <a:off x="1562760" y="434304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C</a:t>
            </a:r>
            <a:endParaRPr b="0" lang="en-US" sz="1400" spc="-1" strike="noStrike">
              <a:latin typeface="Arial"/>
            </a:endParaRPr>
          </a:p>
        </p:txBody>
      </p:sp>
      <p:pic>
        <p:nvPicPr>
          <p:cNvPr id="589" name="Google Shape;587;p12" descr="A blue and yellow graph&#10;&#10;Description automatically generated"/>
          <p:cNvPicPr/>
          <p:nvPr/>
        </p:nvPicPr>
        <p:blipFill>
          <a:blip r:embed="rId3"/>
          <a:stretch/>
        </p:blipFill>
        <p:spPr>
          <a:xfrm>
            <a:off x="1856880" y="4458240"/>
            <a:ext cx="2733120" cy="4653720"/>
          </a:xfrm>
          <a:prstGeom prst="rect">
            <a:avLst/>
          </a:prstGeom>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aphicFrame>
        <p:nvGraphicFramePr>
          <p:cNvPr id="590" name="Google Shape;593;p14"/>
          <p:cNvGraphicFramePr/>
          <p:nvPr/>
        </p:nvGraphicFramePr>
        <p:xfrm>
          <a:off x="0" y="0"/>
          <a:ext cx="6857640" cy="6160680"/>
        </p:xfrm>
        <a:graphic>
          <a:graphicData uri="http://schemas.openxmlformats.org/drawingml/2006/table">
            <a:tbl>
              <a:tblPr/>
              <a:tblGrid>
                <a:gridCol w="1117440"/>
                <a:gridCol w="681120"/>
                <a:gridCol w="558720"/>
                <a:gridCol w="489960"/>
                <a:gridCol w="504360"/>
                <a:gridCol w="475560"/>
                <a:gridCol w="444960"/>
                <a:gridCol w="368280"/>
                <a:gridCol w="524520"/>
                <a:gridCol w="524520"/>
                <a:gridCol w="583200"/>
                <a:gridCol w="585000"/>
              </a:tblGrid>
              <a:tr h="395640">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Methods</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Features Used</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CV (MAE)</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Test (MAE)</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CV (RMSE)</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Test (RMSE)</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CV (r2)</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Test (r2)</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CV Pearson (r ) </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Test Pearson (r )</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CV Spearman (r )</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1" lang="en-US" sz="900" spc="-1" strike="noStrike">
                          <a:solidFill>
                            <a:srgbClr val="000000"/>
                          </a:solidFill>
                          <a:latin typeface="Arial"/>
                          <a:ea typeface="Arial"/>
                        </a:rPr>
                        <a:t>Test Spearman (r )</a:t>
                      </a:r>
                      <a:endParaRPr b="0" lang="en-US" sz="9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Ridge Regressor</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LS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30.224 +/- 1.972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44.859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40.342 +/- 2.906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60.005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0.555 +/- 0.052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0.281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0.744 +/- 0.034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0.742 +/- 0.032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0.556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Ridge Regressor</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MFP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29.925 +/- 1.917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43.476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40.103 +/- 2.891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57.257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0.559 +/- 0.052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0.336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0.747 +/- 0.034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0.579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0.745 +/- 0.033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0.578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Linear SVR</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LS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30.125 +/- 1.955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44.968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40.249 +/- 2.898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60.366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0.556 +/- 0.051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0.278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0.745 +/- 0.034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0.527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0.743 +/- 0.032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0.557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Linear SVR</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MFP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29.934 +/- 1.922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43.894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40.088 +/- 2.894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57.731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0.559 +/- 0.052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0.328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0.747 +/- 0.034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0.572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0.745 +/- 0.033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0.571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RF</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LS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21.824 +/- 0.973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39.626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29.865 +/- 1.514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52.277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0.787 +/- 0.021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0.442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0.887 +/- 0.012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0.665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0.886 +/- 0.009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0.656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RF</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MFP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20.749 +/- 1.221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40.156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28.287 +/- 1.834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52.528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0.817 +/- 0.021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0.904 +/- 0.012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0.661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0.9 +/- 0.01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XGBoost</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LS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24.288 +/- 1.212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39.843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31.939 +/- 1.755 </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52.339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0.728 +/- 0.038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0.853 +/- 0.022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0.835 +/- 0.022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XGBoost</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MFP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22.937 +/- 1.009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40.534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30.101 +/- 1.445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52.876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0.782 +/- 0.037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0.884 +/- 0.21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0.867 +/- 0.022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LightGBM</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LS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21.02 +/- 1.48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39.044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31.919 +/- 2.432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52.032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0.725 +/- 0.036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0.439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0.851 +/- 0.021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0.663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0.85 +/- 0.017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0.652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LightGBM</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MFP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23.232 +/- 1.079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40.071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31.123 +/- 1.651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52.554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0.752 +/- 0.037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0.867 +/- 0.021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0.854 +/- 0.021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Catboost</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LS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26.35 +/- 1.559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39.24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37.256 +/- 2.51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52.449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0.623 +/- 0.044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0.789 +/- 0.028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0.789 +/- 0.024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Catboost</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MFP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21.529 +/- 1.119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39.497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28.748 +/- 1.63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52.091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0.786 +/- 0.029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0.441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0.887 +/- 0.016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0.664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0.872 +/- 0.016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0.656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DNN</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LS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23.511 +/- 1.431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45.151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32.091 +/- 2.1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58.69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0.718 +/- 0.032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0.32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0.847 +/- 0.019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0.565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0.836 +/- 0.018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0.552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DNN</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MFP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18.189 +/- 1.05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42.647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25.422 +/- 1.582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56.177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0.824 +/- 0.018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0.356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0.908 +/- 0.01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0.596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0.899 +/- 0.01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0.587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4848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Graph Attention Network + FFNN</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SMILES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26.312 +/- 0.370</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40.697</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37.113 +/- 0.644</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54.904</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0.643 +/- 0.0069</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0.393</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0.802 +/- 0.0042</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0.627</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0.800 +/- 0.0057</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0.617</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r>
              <a:tr h="34848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CNN + FFNN</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SMILES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26.026 +/- 0.228</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40.85</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37.031 +/- 0.489</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55.6</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0.646 +/- 0.0067</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0.397</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0.803 +/- 0.0043</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0.63</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0.800 +/- 0.0041</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0.627</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r>
              <a:tr h="348480">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LSTM + FFNN</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gn="r">
                        <a:lnSpc>
                          <a:spcPct val="100000"/>
                        </a:lnSpc>
                        <a:buNone/>
                        <a:tabLst>
                          <a:tab algn="l" pos="0"/>
                        </a:tabLst>
                      </a:pPr>
                      <a:r>
                        <a:rPr b="0" lang="en-US" sz="800" spc="-1" strike="noStrike">
                          <a:solidFill>
                            <a:srgbClr val="000000"/>
                          </a:solidFill>
                          <a:latin typeface="Arial"/>
                          <a:ea typeface="Arial"/>
                        </a:rPr>
                        <a:t>SMILES + Cell Line</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26.267 +/- 0.420</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40.70</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36.871 +/- 0.611</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55.14</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0.645 +/- 0.0076</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0.389</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0.803 +/- 0.0047</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0.624</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0.799 +/- 0.0056</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c>
                  <a:txBody>
                    <a:bodyPr lIns="7920" rIns="7920" tIns="5400" bIns="5400" anchor="b">
                      <a:noAutofit/>
                    </a:bodyPr>
                    <a:p>
                      <a:pPr>
                        <a:lnSpc>
                          <a:spcPct val="100000"/>
                        </a:lnSpc>
                        <a:buNone/>
                        <a:tabLst>
                          <a:tab algn="l" pos="0"/>
                        </a:tabLst>
                      </a:pPr>
                      <a:r>
                        <a:rPr b="0" lang="en-US" sz="800" spc="-1" strike="noStrike">
                          <a:solidFill>
                            <a:srgbClr val="000000"/>
                          </a:solidFill>
                          <a:latin typeface="Arial"/>
                          <a:ea typeface="Arial"/>
                        </a:rPr>
                        <a:t>0.618</a:t>
                      </a:r>
                      <a:endParaRPr b="0" lang="en-US" sz="800" spc="-1" strike="noStrike">
                        <a:latin typeface="Arial"/>
                      </a:endParaRPr>
                    </a:p>
                  </a:txBody>
                  <a:tcPr anchor="b" marL="7920" marR="7920">
                    <a:lnL w="9360">
                      <a:solidFill>
                        <a:srgbClr val="cccccc"/>
                      </a:solidFill>
                    </a:lnL>
                    <a:lnR w="9360">
                      <a:solidFill>
                        <a:srgbClr val="cccccc"/>
                      </a:solidFill>
                    </a:lnR>
                    <a:lnT w="9360">
                      <a:solidFill>
                        <a:srgbClr val="cccccc"/>
                      </a:solidFill>
                    </a:lnT>
                    <a:lnB w="9360">
                      <a:solidFill>
                        <a:srgbClr val="cccccc"/>
                      </a:solidFill>
                    </a:lnB>
                    <a:noFill/>
                  </a:tcPr>
                </a:tc>
              </a:tr>
            </a:tbl>
          </a:graphicData>
        </a:graphic>
      </p:graphicFrame>
      <p:sp>
        <p:nvSpPr>
          <p:cNvPr id="591" name="Google Shape;594;p14"/>
          <p:cNvSpPr/>
          <p:nvPr/>
        </p:nvSpPr>
        <p:spPr>
          <a:xfrm>
            <a:off x="0" y="7545960"/>
            <a:ext cx="454320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000" spc="-1" strike="noStrike">
                <a:solidFill>
                  <a:srgbClr val="000000"/>
                </a:solidFill>
                <a:latin typeface="Arial"/>
                <a:ea typeface="Arial"/>
              </a:rPr>
              <a:t>Table 1: </a:t>
            </a:r>
            <a:r>
              <a:rPr b="1" lang="en-US" sz="1000" spc="-1" strike="noStrike">
                <a:solidFill>
                  <a:srgbClr val="000000"/>
                </a:solidFill>
                <a:latin typeface="Arial"/>
                <a:ea typeface="Arial"/>
              </a:rPr>
              <a:t>Performance comparison of different machine learning models</a:t>
            </a:r>
            <a:r>
              <a:rPr b="1" lang="en-US" sz="1000" spc="-1" strike="noStrike">
                <a:solidFill>
                  <a:srgbClr val="000000"/>
                </a:solidFill>
                <a:latin typeface="Arial"/>
                <a:ea typeface="Arial"/>
              </a:rPr>
              <a:t> </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aphicFrame>
        <p:nvGraphicFramePr>
          <p:cNvPr id="592" name="Google Shape;599;p15"/>
          <p:cNvGraphicFramePr/>
          <p:nvPr/>
        </p:nvGraphicFramePr>
        <p:xfrm>
          <a:off x="0" y="0"/>
          <a:ext cx="6865560" cy="8242920"/>
        </p:xfrm>
        <a:graphic>
          <a:graphicData uri="http://schemas.openxmlformats.org/drawingml/2006/table">
            <a:tbl>
              <a:tblPr/>
              <a:tblGrid>
                <a:gridCol w="942120"/>
                <a:gridCol w="825840"/>
                <a:gridCol w="524160"/>
                <a:gridCol w="585360"/>
                <a:gridCol w="475200"/>
                <a:gridCol w="528480"/>
                <a:gridCol w="451080"/>
                <a:gridCol w="565200"/>
                <a:gridCol w="590400"/>
                <a:gridCol w="676080"/>
                <a:gridCol w="701640"/>
              </a:tblGrid>
              <a:tr h="360000">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Features Used</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CV (MAE)</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noFill/>
                  </a:tcPr>
                </a:tc>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Test (MAE)</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noFill/>
                  </a:tcPr>
                </a:tc>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CV (RMSE)</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noFill/>
                  </a:tcPr>
                </a:tc>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Test (RMSE)</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noFill/>
                  </a:tcPr>
                </a:tc>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CV (r2)</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noFill/>
                  </a:tcPr>
                </a:tc>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Test (r2)</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noFill/>
                  </a:tcPr>
                </a:tc>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CV (Pearson r)</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noFill/>
                  </a:tcPr>
                </a:tc>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Test (Pearson r)</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noFill/>
                  </a:tcPr>
                </a:tc>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CV (Spearman r)</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noFill/>
                  </a:tcPr>
                </a:tc>
                <a:tc>
                  <a:txBody>
                    <a:bodyPr lIns="12600" rIns="12600" tIns="8280" bIns="8280" anchor="b">
                      <a:noAutofit/>
                    </a:bodyPr>
                    <a:p>
                      <a:pPr algn="r">
                        <a:lnSpc>
                          <a:spcPct val="100000"/>
                        </a:lnSpc>
                        <a:buNone/>
                        <a:tabLst>
                          <a:tab algn="l" pos="0"/>
                        </a:tabLst>
                      </a:pPr>
                      <a:r>
                        <a:rPr b="1" lang="en-US" sz="800" spc="-1" strike="noStrike">
                          <a:solidFill>
                            <a:srgbClr val="000000"/>
                          </a:solidFill>
                          <a:latin typeface="Arial"/>
                          <a:ea typeface="Arial"/>
                        </a:rPr>
                        <a:t>Test (Spearman r)</a:t>
                      </a:r>
                      <a:endParaRPr b="0" lang="en-US" sz="800" spc="-1" strike="noStrike">
                        <a:latin typeface="Arial"/>
                      </a:endParaRPr>
                    </a:p>
                  </a:txBody>
                  <a:tcPr anchor="b" marL="12600" marR="12600">
                    <a:lnL w="9360">
                      <a:solidFill>
                        <a:srgbClr val="cccccc"/>
                      </a:solidFill>
                    </a:lnL>
                    <a:lnR w="9360">
                      <a:solidFill>
                        <a:srgbClr val="cccccc"/>
                      </a:solidFill>
                    </a:lnR>
                    <a:lnT w="9360">
                      <a:solidFill>
                        <a:srgbClr val="cccccc"/>
                      </a:solidFill>
                    </a:lnT>
                    <a:lnB w="9360">
                      <a:solidFill>
                        <a:srgbClr val="cccccc"/>
                      </a:solidFill>
                    </a:lnB>
                    <a:noFill/>
                  </a:tcPr>
                </a:tc>
              </a:tr>
              <a:tr h="36000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AUC</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27.458 +/- 1.207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40.465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38.85 +/- 1.856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54.114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0.591 +/- 0.054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0.406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0.768 +/- 0.035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0.637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0.774 +/- 0.028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0.626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6000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Onco +Var + AUC</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20.862 +/- 1.39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39.542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31.731 +/- 2.305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52.46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0.728 +/- 0.037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0.853 +/- 0.022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0.852 +/- 0.017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6000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Pathways + AUC</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19.556 +/- 1.005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40.149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30.409 +/- 1.866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53.287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0.751 +/- 0.03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0.412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0.866 +/- 0.017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0.867 +/- 0.014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0.628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6000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Modules + AUC</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20.996 +/- 1.183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39.337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31.81 +/- 2.001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52.509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0.728 +/- 0.033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0.429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0.853 +/- 0.019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0.854 +/- 0.015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6000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Mutations + AUC</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22.004 +/- 1.185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39.604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32.911 +/- 1.944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52.854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0.709 +/- 0.038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0.429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0.842 +/- 0.022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0.843 +/- 0.018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37404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AUC + Pathways + Modules</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25.35 +/- 1.324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39.398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36.136 +/- 2.137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52.482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0.646 +/- 0.044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0.803 +/- 0.027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0.804 +/- 0.023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63576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AUC + Pathways + Mutations</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25.59 +/- 1.377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39.507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36.397 +/- 2.138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52.792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0.641 +/- 0.044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 +/- 0.027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0.801 +/- 0023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63576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AUC + Pathways + Onco +Var</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24.765 +/- 1.473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39.718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35.574 +/- 2.351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52.744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0.658 +/- 0.042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0.427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0.81 +/- 0.026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0.81 +/- 0.021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635760">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MFP + AUC + Modules + Mutations</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25.858 +/- 1.415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38.94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36.688 +/- 2.168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52.229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0.635 +/- 0.045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0.441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0.796 +/- 0.028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0.664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0.797 +/- 0.023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0.656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63576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AUC + Modules + Onco + Var</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24.768 +/- 1.405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39.517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35.575 +/- 2.239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52.653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0.657 +/- 0.042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0.81 +/- 0.026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0.809 +/- 0.021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63576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AUC + Mutations + Onco + Var</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24.749 +/- 1.477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39.289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35.578 +/- 2.396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52.387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0.657 +/- 0.044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0.81 +/- 0.027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0.661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0.81 +/- 0.022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63576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AUC + Mutations + Modules + Onco + Var</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24.743 +/- 1.51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39.177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35.559 +/- 2.445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52.323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0.657 +/- 0.043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0.44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0.81 +/- 0.026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0.664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0.81 +/- 0.021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1" lang="en-US" sz="800" spc="-1" strike="noStrike">
                          <a:solidFill>
                            <a:srgbClr val="000000"/>
                          </a:solidFill>
                          <a:latin typeface="Arial"/>
                          <a:ea typeface="Arial"/>
                        </a:rPr>
                        <a:t>0.655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63576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AUC + Mutations + Pathways + Onco + Var</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25.675 +/- 1.556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39.803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36.518 +/- 2.458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53.268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0.638 +/- 0.045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0.419</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0.798 +/- 0.028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0.797 +/- 0.023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0.638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63576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AUC + Modules + Pathways + Onco + Var</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24.718 +/- 1.461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39.422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35.531 +/- 2.354</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52.581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0.658 +/- 0.046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0.811 +/- 0.028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0.81 +/- 0.023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0.648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r h="635760">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MFP + AUC + Mutations + Modules + Pathways</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27.653 +/- 1.425</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39.403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38.459 +/- 2.177</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52.601</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0.599 +/- 0.48</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0.436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0.774 +/- 0.03</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0.775 +/- 0.026</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solidFill>
                      <a:srgbClr val="ffffff"/>
                    </a:solidFill>
                  </a:tcPr>
                </a:tc>
                <a:tc>
                  <a:txBody>
                    <a:bodyPr lIns="22680" rIns="22680" tIns="15120" bIns="15120" anchor="b">
                      <a:noAutofit/>
                    </a:bodyPr>
                    <a:p>
                      <a:pPr algn="r">
                        <a:lnSpc>
                          <a:spcPct val="100000"/>
                        </a:lnSpc>
                        <a:buNone/>
                        <a:tabLst>
                          <a:tab algn="l" pos="0"/>
                        </a:tabLst>
                      </a:pPr>
                      <a:r>
                        <a:rPr b="0" lang="en-US" sz="800" spc="-1" strike="noStrike">
                          <a:solidFill>
                            <a:srgbClr val="000000"/>
                          </a:solidFill>
                          <a:latin typeface="Arial"/>
                          <a:ea typeface="Arial"/>
                        </a:rPr>
                        <a:t>0.652</a:t>
                      </a:r>
                      <a:endParaRPr b="0" lang="en-US" sz="800" spc="-1" strike="noStrike">
                        <a:latin typeface="Arial"/>
                      </a:endParaRPr>
                    </a:p>
                  </a:txBody>
                  <a:tcPr anchor="b" marL="22680" marR="22680">
                    <a:lnL w="9360">
                      <a:solidFill>
                        <a:srgbClr val="cccccc"/>
                      </a:solidFill>
                    </a:lnL>
                    <a:lnR w="9360">
                      <a:solidFill>
                        <a:srgbClr val="cccccc"/>
                      </a:solidFill>
                    </a:lnR>
                    <a:lnT w="9360">
                      <a:solidFill>
                        <a:srgbClr val="cccccc"/>
                      </a:solidFill>
                    </a:lnT>
                    <a:lnB w="9360">
                      <a:solidFill>
                        <a:srgbClr val="cccccc"/>
                      </a:solidFill>
                    </a:lnB>
                    <a:noFill/>
                  </a:tcPr>
                </a:tc>
              </a:tr>
            </a:tbl>
          </a:graphicData>
        </a:graphic>
      </p:graphicFrame>
      <p:sp>
        <p:nvSpPr>
          <p:cNvPr id="593" name="Google Shape;600;p15"/>
          <p:cNvSpPr/>
          <p:nvPr/>
        </p:nvSpPr>
        <p:spPr>
          <a:xfrm>
            <a:off x="253080" y="8318160"/>
            <a:ext cx="68576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000" spc="-1" strike="noStrike">
                <a:solidFill>
                  <a:srgbClr val="000000"/>
                </a:solidFill>
                <a:latin typeface="Arial"/>
                <a:ea typeface="Arial"/>
              </a:rPr>
              <a:t>Supplementary Table 1</a:t>
            </a:r>
            <a:r>
              <a:rPr b="0" lang="en-US" sz="1000" spc="-1" strike="noStrike">
                <a:solidFill>
                  <a:srgbClr val="000000"/>
                </a:solidFill>
                <a:latin typeface="Arial"/>
                <a:ea typeface="Arial"/>
              </a:rPr>
              <a:t>: </a:t>
            </a:r>
            <a:r>
              <a:rPr b="1" lang="en-US" sz="1000" spc="-1" strike="noStrike">
                <a:solidFill>
                  <a:srgbClr val="000000"/>
                </a:solidFill>
                <a:latin typeface="Arial"/>
                <a:ea typeface="Arial"/>
              </a:rPr>
              <a:t>Ablation study of different feature sets used for the optimal model construction.</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594" name="Google Shape;606;p16"/>
          <p:cNvSpPr/>
          <p:nvPr/>
        </p:nvSpPr>
        <p:spPr>
          <a:xfrm>
            <a:off x="-47160" y="0"/>
            <a:ext cx="6873480" cy="578268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100" spc="-1" strike="noStrike">
                <a:solidFill>
                  <a:srgbClr val="000000"/>
                </a:solidFill>
                <a:latin typeface="Arial"/>
                <a:ea typeface="Arial"/>
              </a:rPr>
              <a:t>Background: </a:t>
            </a:r>
            <a:endParaRPr b="0" lang="en-US" sz="1100" spc="-1" strike="noStrike">
              <a:latin typeface="Arial"/>
            </a:endParaRPr>
          </a:p>
          <a:p>
            <a:pPr>
              <a:lnSpc>
                <a:spcPct val="100000"/>
              </a:lnSpc>
              <a:buNone/>
              <a:tabLst>
                <a:tab algn="l" pos="0"/>
              </a:tabLst>
            </a:pPr>
            <a:r>
              <a:rPr b="0" lang="en-US" sz="1100" spc="-1" strike="noStrike">
                <a:solidFill>
                  <a:srgbClr val="000000"/>
                </a:solidFill>
                <a:latin typeface="Arial"/>
                <a:ea typeface="Arial"/>
              </a:rPr>
              <a:t>1. 699 cell lines from CCLE with 19,177 gene expression profiles. This information was downloaded from Cancer Dependency Map Public 21Q3. We filtered the original data consisting of 1,377 cell lines 🡪 699 cell lines to keep only those cell lines with COSMIC ids to match the drug-response dataset from GDSC portal. We include 10 features related to cell line metadata including age, gender, type, name of cell line etc. for the cancer cell lines. </a:t>
            </a:r>
            <a:endParaRPr b="0" lang="en-US" sz="1100" spc="-1" strike="noStrike">
              <a:latin typeface="Arial"/>
            </a:endParaRPr>
          </a:p>
          <a:p>
            <a:pPr>
              <a:lnSpc>
                <a:spcPct val="100000"/>
              </a:lnSpc>
              <a:buNone/>
              <a:tabLst>
                <a:tab algn="l" pos="0"/>
              </a:tabLst>
            </a:pPr>
            <a:endParaRPr b="0" lang="en-US" sz="1100" spc="-1" strike="noStrike">
              <a:latin typeface="Arial"/>
            </a:endParaRPr>
          </a:p>
          <a:p>
            <a:pPr>
              <a:lnSpc>
                <a:spcPct val="100000"/>
              </a:lnSpc>
              <a:buNone/>
              <a:tabLst>
                <a:tab algn="l" pos="0"/>
              </a:tabLst>
            </a:pPr>
            <a:r>
              <a:rPr b="0" lang="en-US" sz="1100" spc="-1" strike="noStrike">
                <a:solidFill>
                  <a:srgbClr val="000000"/>
                </a:solidFill>
                <a:latin typeface="Arial"/>
                <a:ea typeface="Arial"/>
              </a:rPr>
              <a:t>2. Genes of interest include genes which are part of several inflammasome/inflammatory cell death pathways including:</a:t>
            </a:r>
            <a:endParaRPr b="0" lang="en-US" sz="1100" spc="-1" strike="noStrike">
              <a:latin typeface="Arial"/>
            </a:endParaRPr>
          </a:p>
          <a:p>
            <a:pPr>
              <a:lnSpc>
                <a:spcPct val="100000"/>
              </a:lnSpc>
              <a:buNone/>
              <a:tabLst>
                <a:tab algn="l" pos="0"/>
              </a:tabLst>
            </a:pPr>
            <a:r>
              <a:rPr b="0" lang="en-US" sz="1100" spc="-1" strike="noStrike">
                <a:solidFill>
                  <a:srgbClr val="000000"/>
                </a:solidFill>
                <a:latin typeface="Arial"/>
                <a:ea typeface="Arial"/>
              </a:rPr>
              <a:t>a) Reactome inflammasome, b) KEGG nod like signaling pathway, c) GO biological process inflammasome complex, d) Reactome pyroptosis, e) Necroptotic signaling pathway from GO, f) PANoptosis pathway, g) Immunogenic cell death pathway (ICR) 🡪 total of 170 (167 of which are present in the 19,177 genes)</a:t>
            </a:r>
            <a:endParaRPr b="0" lang="en-US" sz="1100" spc="-1" strike="noStrike">
              <a:latin typeface="Arial"/>
            </a:endParaRPr>
          </a:p>
          <a:p>
            <a:pPr>
              <a:lnSpc>
                <a:spcPct val="100000"/>
              </a:lnSpc>
              <a:buNone/>
              <a:tabLst>
                <a:tab algn="l" pos="0"/>
              </a:tabLst>
            </a:pPr>
            <a:endParaRPr b="0" lang="en-US" sz="1100" spc="-1" strike="noStrike">
              <a:latin typeface="Arial"/>
            </a:endParaRPr>
          </a:p>
          <a:p>
            <a:pPr>
              <a:lnSpc>
                <a:spcPct val="100000"/>
              </a:lnSpc>
              <a:buNone/>
              <a:tabLst>
                <a:tab algn="l" pos="0"/>
              </a:tabLst>
            </a:pPr>
            <a:r>
              <a:rPr b="0" lang="en-US" sz="1100" spc="-1" strike="noStrike">
                <a:solidFill>
                  <a:srgbClr val="000000"/>
                </a:solidFill>
                <a:latin typeface="Arial"/>
                <a:ea typeface="Arial"/>
              </a:rPr>
              <a:t>3. Seven pathways considered for inflammatory cell death as mentioned above.</a:t>
            </a:r>
            <a:endParaRPr b="0" lang="en-US" sz="1100" spc="-1" strike="noStrike">
              <a:latin typeface="Arial"/>
            </a:endParaRPr>
          </a:p>
          <a:p>
            <a:pPr>
              <a:lnSpc>
                <a:spcPct val="100000"/>
              </a:lnSpc>
              <a:buNone/>
              <a:tabLst>
                <a:tab algn="l" pos="0"/>
              </a:tabLst>
            </a:pPr>
            <a:endParaRPr b="0" lang="en-US" sz="1100" spc="-1" strike="noStrike">
              <a:latin typeface="Arial"/>
            </a:endParaRPr>
          </a:p>
          <a:p>
            <a:pPr>
              <a:lnSpc>
                <a:spcPct val="100000"/>
              </a:lnSpc>
              <a:buNone/>
              <a:tabLst>
                <a:tab algn="l" pos="0"/>
              </a:tabLst>
            </a:pPr>
            <a:r>
              <a:rPr b="0" lang="en-US" sz="1100" spc="-1" strike="noStrike">
                <a:solidFill>
                  <a:srgbClr val="000000"/>
                </a:solidFill>
                <a:latin typeface="Arial"/>
                <a:ea typeface="Arial"/>
              </a:rPr>
              <a:t>4. We got the mutation profile and copy number variation profile for the 170 genes of interest. The mutation profile and copy number variation was obtained from Harmonizome database from Mayan lab.</a:t>
            </a:r>
            <a:endParaRPr b="0" lang="en-US" sz="1100" spc="-1" strike="noStrike">
              <a:latin typeface="Arial"/>
            </a:endParaRPr>
          </a:p>
          <a:p>
            <a:pPr>
              <a:lnSpc>
                <a:spcPct val="100000"/>
              </a:lnSpc>
              <a:buNone/>
              <a:tabLst>
                <a:tab algn="l" pos="0"/>
              </a:tabLst>
            </a:pPr>
            <a:endParaRPr b="0" lang="en-US" sz="1100" spc="-1" strike="noStrike">
              <a:latin typeface="Arial"/>
            </a:endParaRPr>
          </a:p>
          <a:p>
            <a:pPr>
              <a:lnSpc>
                <a:spcPct val="100000"/>
              </a:lnSpc>
              <a:buNone/>
              <a:tabLst>
                <a:tab algn="l" pos="0"/>
              </a:tabLst>
            </a:pPr>
            <a:r>
              <a:rPr b="0" lang="en-US" sz="1100" spc="-1" strike="noStrike">
                <a:solidFill>
                  <a:srgbClr val="000000"/>
                </a:solidFill>
                <a:latin typeface="Arial"/>
                <a:ea typeface="Arial"/>
              </a:rPr>
              <a:t>5. We removed genes which had no variation in expression, mutation or CNV across cell lines including:</a:t>
            </a:r>
            <a:endParaRPr b="0" lang="en-US" sz="1100" spc="-1" strike="noStrike">
              <a:latin typeface="Arial"/>
            </a:endParaRPr>
          </a:p>
          <a:p>
            <a:pPr>
              <a:lnSpc>
                <a:spcPct val="100000"/>
              </a:lnSpc>
              <a:buNone/>
              <a:tabLst>
                <a:tab algn="l" pos="0"/>
              </a:tabLst>
            </a:pPr>
            <a:r>
              <a:rPr b="0" lang="en-US" sz="1100" spc="-1" strike="noStrike">
                <a:solidFill>
                  <a:srgbClr val="000000"/>
                </a:solidFill>
                <a:latin typeface="Arial"/>
                <a:ea typeface="Arial"/>
              </a:rPr>
              <a:t>Mutation_ERBIN, Mutation_NLRP2B, Mutation_STMP1, Mutation_PYDC2, Mutation_CARD18, CNV_ERBIN, CNV_NLRP2B, CNV_STMP1</a:t>
            </a:r>
            <a:endParaRPr b="0" lang="en-US" sz="1100" spc="-1" strike="noStrike">
              <a:latin typeface="Arial"/>
            </a:endParaRPr>
          </a:p>
          <a:p>
            <a:pPr>
              <a:lnSpc>
                <a:spcPct val="100000"/>
              </a:lnSpc>
              <a:buNone/>
              <a:tabLst>
                <a:tab algn="l" pos="0"/>
              </a:tabLst>
            </a:pPr>
            <a:endParaRPr b="0" lang="en-US" sz="1100" spc="-1" strike="noStrike">
              <a:latin typeface="Arial"/>
            </a:endParaRPr>
          </a:p>
          <a:p>
            <a:pPr>
              <a:lnSpc>
                <a:spcPct val="100000"/>
              </a:lnSpc>
              <a:buNone/>
              <a:tabLst>
                <a:tab algn="l" pos="0"/>
              </a:tabLst>
            </a:pPr>
            <a:r>
              <a:rPr b="0" lang="en-US" sz="1100" spc="-1" strike="noStrike">
                <a:solidFill>
                  <a:srgbClr val="000000"/>
                </a:solidFill>
                <a:latin typeface="Arial"/>
                <a:ea typeface="Arial"/>
              </a:rPr>
              <a:t>6. Total Features include: </a:t>
            </a:r>
            <a:endParaRPr b="0" lang="en-US" sz="1100" spc="-1" strike="noStrike">
              <a:latin typeface="Arial"/>
            </a:endParaRPr>
          </a:p>
          <a:p>
            <a:pPr marL="228600" indent="-228600">
              <a:lnSpc>
                <a:spcPct val="100000"/>
              </a:lnSpc>
              <a:buClr>
                <a:srgbClr val="000000"/>
              </a:buClr>
              <a:buFont typeface="Arial"/>
              <a:buAutoNum type="alphaLcParenR"/>
              <a:tabLst>
                <a:tab algn="l" pos="0"/>
              </a:tabLst>
            </a:pPr>
            <a:r>
              <a:rPr b="0" lang="en-US" sz="1100" spc="-1" strike="noStrike">
                <a:solidFill>
                  <a:srgbClr val="000000"/>
                </a:solidFill>
                <a:latin typeface="Arial"/>
                <a:ea typeface="Arial"/>
              </a:rPr>
              <a:t>Cell Line Features (10); b) Pathways (7); c) Expression (167); d) Mutation (162); e) CNV (164) </a:t>
            </a:r>
            <a:endParaRPr b="0" lang="en-US" sz="1100" spc="-1" strike="noStrike">
              <a:latin typeface="Arial"/>
            </a:endParaRPr>
          </a:p>
          <a:p>
            <a:pPr>
              <a:lnSpc>
                <a:spcPct val="100000"/>
              </a:lnSpc>
              <a:buNone/>
              <a:tabLst>
                <a:tab algn="l" pos="0"/>
              </a:tabLst>
            </a:pPr>
            <a:endParaRPr b="0" lang="en-US" sz="1100" spc="-1" strike="noStrike">
              <a:latin typeface="Arial"/>
            </a:endParaRPr>
          </a:p>
          <a:p>
            <a:pPr>
              <a:lnSpc>
                <a:spcPct val="100000"/>
              </a:lnSpc>
              <a:buNone/>
              <a:tabLst>
                <a:tab algn="l" pos="0"/>
              </a:tabLst>
            </a:pPr>
            <a:r>
              <a:rPr b="0" lang="en-US" sz="1100" spc="-1" strike="noStrike">
                <a:solidFill>
                  <a:srgbClr val="000000"/>
                </a:solidFill>
                <a:latin typeface="Arial"/>
                <a:ea typeface="Arial"/>
              </a:rPr>
              <a:t>7. The dose response information is obtained from GDSC portal. It contains drug response for a particular cell line with prediction variables: IC50score and Z-score. In the GDSC portal, the Z-score is used to determine sensitive and resistant drugs with cut-offs of -2 and 2 respectively. We use the –log10(IC50score) as our y variable (term to predict). It contains 398 unique drugs and 989 cell lines.</a:t>
            </a:r>
            <a:endParaRPr b="0" lang="en-US" sz="1100" spc="-1" strike="noStrike">
              <a:latin typeface="Arial"/>
            </a:endParaRPr>
          </a:p>
          <a:p>
            <a:pPr>
              <a:lnSpc>
                <a:spcPct val="100000"/>
              </a:lnSpc>
              <a:buNone/>
              <a:tabLst>
                <a:tab algn="l" pos="0"/>
              </a:tabLst>
            </a:pPr>
            <a:endParaRPr b="0" lang="en-US" sz="1100" spc="-1" strike="noStrike">
              <a:latin typeface="Arial"/>
            </a:endParaRPr>
          </a:p>
          <a:p>
            <a:pPr>
              <a:lnSpc>
                <a:spcPct val="100000"/>
              </a:lnSpc>
              <a:buNone/>
              <a:tabLst>
                <a:tab algn="l" pos="0"/>
              </a:tabLst>
            </a:pPr>
            <a:r>
              <a:rPr b="0" lang="en-US" sz="1100" spc="-1" strike="noStrike">
                <a:solidFill>
                  <a:srgbClr val="000000"/>
                </a:solidFill>
                <a:latin typeface="Arial"/>
                <a:ea typeface="Arial"/>
              </a:rPr>
              <a:t>8. The viability information is also obtained from GDSC portal. It contains cell viability at different dosage levels. </a:t>
            </a:r>
            <a:r>
              <a:rPr b="1" lang="en-US" sz="1100" spc="-1" strike="noStrike">
                <a:solidFill>
                  <a:srgbClr val="000000"/>
                </a:solidFill>
                <a:latin typeface="Arial"/>
                <a:ea typeface="Arial"/>
              </a:rPr>
              <a:t>Currently not used.</a:t>
            </a:r>
            <a:endParaRPr b="0" lang="en-US" sz="1100" spc="-1" strike="noStrike">
              <a:latin typeface="Arial"/>
            </a:endParaRPr>
          </a:p>
          <a:p>
            <a:pPr>
              <a:lnSpc>
                <a:spcPct val="100000"/>
              </a:lnSpc>
              <a:buNone/>
              <a:tabLst>
                <a:tab algn="l" pos="0"/>
              </a:tabLst>
            </a:pPr>
            <a:endParaRPr b="0" lang="en-US" sz="1100" spc="-1" strike="noStrike">
              <a:latin typeface="Arial"/>
            </a:endParaRPr>
          </a:p>
          <a:p>
            <a:pPr>
              <a:lnSpc>
                <a:spcPct val="100000"/>
              </a:lnSpc>
              <a:buNone/>
              <a:tabLst>
                <a:tab algn="l" pos="0"/>
              </a:tabLst>
            </a:pPr>
            <a:endParaRPr b="0" lang="en-US" sz="1100" spc="-1" strike="noStrike">
              <a:latin typeface="Arial"/>
            </a:endParaRPr>
          </a:p>
        </p:txBody>
      </p:sp>
      <p:sp>
        <p:nvSpPr>
          <p:cNvPr id="595" name="Google Shape;607;p16"/>
          <p:cNvSpPr/>
          <p:nvPr/>
        </p:nvSpPr>
        <p:spPr>
          <a:xfrm>
            <a:off x="-23760" y="5769360"/>
            <a:ext cx="6826320" cy="126288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100" spc="-1" strike="noStrike">
                <a:solidFill>
                  <a:srgbClr val="000000"/>
                </a:solidFill>
                <a:latin typeface="Arial"/>
                <a:ea typeface="Arial"/>
              </a:rPr>
              <a:t>Methods:</a:t>
            </a:r>
            <a:endParaRPr b="0" lang="en-US" sz="1100" spc="-1" strike="noStrike">
              <a:latin typeface="Arial"/>
            </a:endParaRPr>
          </a:p>
          <a:p>
            <a:pPr marL="228600" indent="-228600">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The gene expression profile for each cell line is quantile normalized (19,177 genes), scaled and converted to z-scores.</a:t>
            </a:r>
            <a:endParaRPr b="0" lang="en-US" sz="1100" spc="-1" strike="noStrike">
              <a:latin typeface="Arial"/>
            </a:endParaRPr>
          </a:p>
          <a:p>
            <a:pPr marL="228600" indent="-228600">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 </a:t>
            </a:r>
            <a:r>
              <a:rPr b="0" lang="en-US" sz="1100" spc="-1" strike="noStrike">
                <a:solidFill>
                  <a:srgbClr val="000000"/>
                </a:solidFill>
                <a:latin typeface="Arial"/>
                <a:ea typeface="Arial"/>
              </a:rPr>
              <a:t>T-sne plots are made for 699 cell lines with cancer types based on expression profiles as well as the features we have engineered.</a:t>
            </a:r>
            <a:endParaRPr b="0" lang="en-US" sz="1100" spc="-1" strike="noStrike">
              <a:latin typeface="Arial"/>
            </a:endParaRPr>
          </a:p>
          <a:p>
            <a:pPr marL="228600" indent="-228600">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A complexheatmap visualization of the different features used and how they look across the 699 cancer cell lines.</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596" name="Google Shape;612;p17"/>
          <p:cNvSpPr/>
          <p:nvPr/>
        </p:nvSpPr>
        <p:spPr>
          <a:xfrm>
            <a:off x="0" y="0"/>
            <a:ext cx="6857640" cy="7624080"/>
          </a:xfrm>
          <a:prstGeom prst="rect">
            <a:avLst/>
          </a:prstGeom>
          <a:noFill/>
          <a:ln w="0">
            <a:noFill/>
          </a:ln>
        </p:spPr>
        <p:style>
          <a:lnRef idx="0"/>
          <a:fillRef idx="0"/>
          <a:effectRef idx="0"/>
          <a:fontRef idx="minor"/>
        </p:style>
        <p:txBody>
          <a:bodyPr anchor="t">
            <a:spAutoFit/>
          </a:bodyPr>
          <a:p>
            <a:pPr marL="283320" indent="-283320" algn="just">
              <a:lnSpc>
                <a:spcPct val="100000"/>
              </a:lnSpc>
              <a:buNone/>
              <a:tabLst>
                <a:tab algn="l" pos="0"/>
              </a:tabLst>
            </a:pPr>
            <a:r>
              <a:rPr b="1" lang="en-US" sz="1100" spc="-1" strike="noStrike">
                <a:solidFill>
                  <a:srgbClr val="000000"/>
                </a:solidFill>
                <a:latin typeface="Arial"/>
                <a:ea typeface="Arial"/>
              </a:rPr>
              <a:t>Background: </a:t>
            </a:r>
            <a:endParaRPr b="0" lang="en-US" sz="1100" spc="-1" strike="noStrike">
              <a:latin typeface="Arial"/>
            </a:endParaRPr>
          </a:p>
          <a:p>
            <a:pPr marL="2833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We obtained drug information for 399 drugs from GDSC portal and the cell line information for 699 cell lines from CCLE.</a:t>
            </a:r>
            <a:endParaRPr b="0" lang="en-US" sz="1100" spc="-1" strike="noStrike">
              <a:latin typeface="Arial"/>
            </a:endParaRPr>
          </a:p>
          <a:p>
            <a:pPr marL="283320" indent="-283320" algn="just">
              <a:lnSpc>
                <a:spcPct val="100000"/>
              </a:lnSpc>
              <a:buNone/>
              <a:tabLst>
                <a:tab algn="l" pos="0"/>
              </a:tabLst>
            </a:pPr>
            <a:r>
              <a:rPr b="0" lang="en-US" sz="1100" spc="-1" strike="noStrike">
                <a:solidFill>
                  <a:srgbClr val="000000"/>
                </a:solidFill>
                <a:latin typeface="Arial"/>
                <a:ea typeface="Arial"/>
              </a:rPr>
              <a:t>2. </a:t>
            </a:r>
            <a:r>
              <a:rPr b="0" lang="en-US" sz="1100" spc="-1" strike="noStrike">
                <a:solidFill>
                  <a:srgbClr val="000000"/>
                </a:solidFill>
                <a:latin typeface="Arial"/>
                <a:ea typeface="Arial"/>
              </a:rPr>
              <a:t>	</a:t>
            </a:r>
            <a:r>
              <a:rPr b="0" lang="en-US" sz="1100" spc="-1" strike="noStrike">
                <a:solidFill>
                  <a:srgbClr val="000000"/>
                </a:solidFill>
                <a:latin typeface="Arial"/>
                <a:ea typeface="Arial"/>
              </a:rPr>
              <a:t>We curated and added each drug’s target from resources like Drug Bank, its SMILES, Inchikey, Molecular weight, molecular formula representations from PubChem, CheMBL and NCBI API.</a:t>
            </a:r>
            <a:endParaRPr b="0" lang="en-US" sz="1100" spc="-1" strike="noStrike">
              <a:latin typeface="Arial"/>
            </a:endParaRPr>
          </a:p>
          <a:p>
            <a:pPr marL="283320" indent="-283320" algn="just">
              <a:lnSpc>
                <a:spcPct val="100000"/>
              </a:lnSpc>
              <a:buNone/>
              <a:tabLst>
                <a:tab algn="l" pos="0"/>
              </a:tabLst>
            </a:pPr>
            <a:r>
              <a:rPr b="0" lang="en-US" sz="1100" spc="-1" strike="noStrike">
                <a:solidFill>
                  <a:srgbClr val="000000"/>
                </a:solidFill>
                <a:latin typeface="Arial"/>
                <a:ea typeface="Arial"/>
              </a:rPr>
              <a:t>3. </a:t>
            </a:r>
            <a:r>
              <a:rPr b="0" lang="en-US" sz="1100" spc="-1" strike="noStrike">
                <a:solidFill>
                  <a:srgbClr val="000000"/>
                </a:solidFill>
                <a:latin typeface="Arial"/>
                <a:ea typeface="Arial"/>
              </a:rPr>
              <a:t>	</a:t>
            </a:r>
            <a:r>
              <a:rPr b="0" lang="en-US" sz="1100" spc="-1" strike="noStrike">
                <a:solidFill>
                  <a:srgbClr val="000000"/>
                </a:solidFill>
                <a:latin typeface="Arial"/>
                <a:ea typeface="Arial"/>
              </a:rPr>
              <a:t>There are a total of 373 unique drugs available from this dataset.</a:t>
            </a:r>
            <a:endParaRPr b="0" lang="en-US" sz="1100" spc="-1" strike="noStrike">
              <a:latin typeface="Arial"/>
            </a:endParaRPr>
          </a:p>
          <a:p>
            <a:pPr marL="283320" indent="-283320" algn="just">
              <a:lnSpc>
                <a:spcPct val="100000"/>
              </a:lnSpc>
              <a:buNone/>
              <a:tabLst>
                <a:tab algn="l" pos="0"/>
              </a:tabLst>
            </a:pPr>
            <a:r>
              <a:rPr b="0" lang="en-US" sz="1100" spc="-1" strike="noStrike">
                <a:solidFill>
                  <a:srgbClr val="000000"/>
                </a:solidFill>
                <a:latin typeface="Arial"/>
                <a:ea typeface="Arial"/>
              </a:rPr>
              <a:t>4.</a:t>
            </a:r>
            <a:r>
              <a:rPr b="0" lang="en-US" sz="1100" spc="-1" strike="noStrike">
                <a:solidFill>
                  <a:srgbClr val="000000"/>
                </a:solidFill>
                <a:latin typeface="Arial"/>
                <a:ea typeface="Arial"/>
              </a:rPr>
              <a:t>	</a:t>
            </a:r>
            <a:r>
              <a:rPr b="0" lang="en-US" sz="1100" spc="-1" strike="noStrike">
                <a:solidFill>
                  <a:srgbClr val="000000"/>
                </a:solidFill>
                <a:latin typeface="Arial"/>
                <a:ea typeface="Arial"/>
              </a:rPr>
              <a:t>We find a total of 379,005 drug-cell line sensitivity profiles from GDSC portal (GDSC 1 &amp; 2 combined).</a:t>
            </a:r>
            <a:endParaRPr b="0" lang="en-US" sz="1100" spc="-1" strike="noStrike">
              <a:latin typeface="Arial"/>
            </a:endParaRPr>
          </a:p>
          <a:p>
            <a:pPr marL="283320" indent="-283320" algn="just">
              <a:lnSpc>
                <a:spcPct val="100000"/>
              </a:lnSpc>
              <a:buClr>
                <a:srgbClr val="000000"/>
              </a:buClr>
              <a:buFont typeface="Arial"/>
              <a:buAutoNum type="arabicPeriod" startAt="5"/>
              <a:tabLst>
                <a:tab algn="l" pos="0"/>
              </a:tabLst>
            </a:pPr>
            <a:r>
              <a:rPr b="0" lang="en-US" sz="1100" spc="-1" strike="noStrike">
                <a:solidFill>
                  <a:srgbClr val="000000"/>
                </a:solidFill>
                <a:latin typeface="Arial"/>
                <a:ea typeface="Arial"/>
              </a:rPr>
              <a:t>After filtering, removing duplicates and combined drug plus cell line features, we end up with a total of 151,636 drug-cell line combination profiles consisting of 253 drugs and 693 cell lines.</a:t>
            </a:r>
            <a:endParaRPr b="0" lang="en-US" sz="1100" spc="-1" strike="noStrike">
              <a:latin typeface="Arial"/>
            </a:endParaRPr>
          </a:p>
          <a:p>
            <a:pPr marL="283320" indent="-283320" algn="just">
              <a:lnSpc>
                <a:spcPct val="100000"/>
              </a:lnSpc>
              <a:buNone/>
              <a:tabLst>
                <a:tab algn="l" pos="0"/>
              </a:tabLst>
            </a:pPr>
            <a:endParaRPr b="0" lang="en-US" sz="1100" spc="-1" strike="noStrike">
              <a:latin typeface="Arial"/>
            </a:endParaRPr>
          </a:p>
          <a:p>
            <a:pPr marL="283320" indent="-283320" algn="just">
              <a:lnSpc>
                <a:spcPct val="100000"/>
              </a:lnSpc>
              <a:buNone/>
              <a:tabLst>
                <a:tab algn="l" pos="0"/>
              </a:tabLst>
            </a:pPr>
            <a:r>
              <a:rPr b="1" lang="en-US" sz="1100" spc="-1" strike="noStrike">
                <a:solidFill>
                  <a:srgbClr val="000000"/>
                </a:solidFill>
                <a:latin typeface="Arial"/>
                <a:ea typeface="Arial"/>
              </a:rPr>
              <a:t>Method:</a:t>
            </a:r>
            <a:endParaRPr b="0" lang="en-US" sz="1100" spc="-1" strike="noStrike">
              <a:latin typeface="Arial"/>
            </a:endParaRPr>
          </a:p>
          <a:p>
            <a:pPr marL="2833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We perform inner joins with drug profiles and cell line profiles to get drug-cell features used for the predictive models.</a:t>
            </a:r>
            <a:endParaRPr b="0" lang="en-US" sz="1100" spc="-1" strike="noStrike">
              <a:latin typeface="Arial"/>
            </a:endParaRPr>
          </a:p>
          <a:p>
            <a:pPr marL="2833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For each drug, we have its known targets. We perform a random walk with restart to get a random walk score for each drug using ‘diffusr’ package in R. It provides the probability of a drug impacting all the genes in our cell line’s expression profile. This affinity is based on topology and doesn’t consider individual gene’s expression in a particular cell line. To get a cell line specific affinity, we multiply the random walk scores with corresponding genes’ expression levels.  Using this information and the gene set for each pathway, we estimate the distance of a drug from each of the 7 inflammasome related pathways using ‘AUCell’ package in R.</a:t>
            </a:r>
            <a:endParaRPr b="0" lang="en-US" sz="1100" spc="-1" strike="noStrike">
              <a:latin typeface="Arial"/>
            </a:endParaRPr>
          </a:p>
          <a:p>
            <a:pPr marL="2833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For each drug, we can estimate its molecular fingerprint representation using the RDKIT package in python.</a:t>
            </a:r>
            <a:endParaRPr b="0" lang="en-US" sz="1100" spc="-1" strike="noStrike">
              <a:latin typeface="Arial"/>
            </a:endParaRPr>
          </a:p>
          <a:p>
            <a:pPr marL="2833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For each drug, we can also estimate its representation using a transfer-learning based approach. We pass the drug SMILES to a TF-LSTM autoencoder trained on over 2 million drug SMILES and obtain a embedding vector representation of the drug which can be fed to a machine learning algorithm.</a:t>
            </a:r>
            <a:endParaRPr b="0" lang="en-US" sz="1100" spc="-1" strike="noStrike">
              <a:latin typeface="Arial"/>
            </a:endParaRPr>
          </a:p>
          <a:p>
            <a:pPr marL="2833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All the cell line information (expression, mutation, copy number) + drug information (vector representation) + pathway enrichments (pathway activation based on expression) and distance of a pathway from a drug’s known targets are used as features to predict the drug response.</a:t>
            </a:r>
            <a:endParaRPr b="0" lang="en-US" sz="1100" spc="-1" strike="noStrike">
              <a:latin typeface="Arial"/>
            </a:endParaRPr>
          </a:p>
          <a:p>
            <a:pPr marL="2833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We used a variety of machine learning methods including:</a:t>
            </a:r>
            <a:endParaRPr b="0" lang="en-US" sz="1100" spc="-1" strike="noStrike">
              <a:latin typeface="Arial"/>
            </a:endParaRPr>
          </a:p>
          <a:p>
            <a:pPr lvl="1" marL="7405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Linear Regression</a:t>
            </a:r>
            <a:endParaRPr b="0" lang="en-US" sz="1100" spc="-1" strike="noStrike">
              <a:latin typeface="Arial"/>
            </a:endParaRPr>
          </a:p>
          <a:p>
            <a:pPr lvl="1" marL="7405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Elastic Net</a:t>
            </a:r>
            <a:endParaRPr b="0" lang="en-US" sz="1100" spc="-1" strike="noStrike">
              <a:latin typeface="Arial"/>
            </a:endParaRPr>
          </a:p>
          <a:p>
            <a:pPr lvl="1" marL="7405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SVM</a:t>
            </a:r>
            <a:endParaRPr b="0" lang="en-US" sz="1100" spc="-1" strike="noStrike">
              <a:latin typeface="Arial"/>
            </a:endParaRPr>
          </a:p>
          <a:p>
            <a:pPr lvl="1" marL="7405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Random Forests</a:t>
            </a:r>
            <a:endParaRPr b="0" lang="en-US" sz="1100" spc="-1" strike="noStrike">
              <a:latin typeface="Arial"/>
            </a:endParaRPr>
          </a:p>
          <a:p>
            <a:pPr lvl="1" marL="7405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Xgboost</a:t>
            </a:r>
            <a:endParaRPr b="0" lang="en-US" sz="1100" spc="-1" strike="noStrike">
              <a:latin typeface="Arial"/>
            </a:endParaRPr>
          </a:p>
          <a:p>
            <a:pPr lvl="1" marL="7405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LightGBM</a:t>
            </a:r>
            <a:endParaRPr b="0" lang="en-US" sz="1100" spc="-1" strike="noStrike">
              <a:latin typeface="Arial"/>
            </a:endParaRPr>
          </a:p>
          <a:p>
            <a:pPr lvl="1" marL="7405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Feed Forward Neural Networks (DNN)</a:t>
            </a:r>
            <a:endParaRPr b="0" lang="en-US" sz="1100" spc="-1" strike="noStrike">
              <a:latin typeface="Arial"/>
            </a:endParaRPr>
          </a:p>
          <a:p>
            <a:pPr lvl="1" marL="7405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Graph Attention Network (GAT) + DNN</a:t>
            </a:r>
            <a:endParaRPr b="0" lang="en-US" sz="1100" spc="-1" strike="noStrike">
              <a:latin typeface="Arial"/>
            </a:endParaRPr>
          </a:p>
          <a:p>
            <a:pPr lvl="1" marL="7405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Convolutional Neural Network (CNN) + DNN</a:t>
            </a:r>
            <a:endParaRPr b="0" lang="en-US" sz="1100" spc="-1" strike="noStrike">
              <a:latin typeface="Arial"/>
            </a:endParaRPr>
          </a:p>
          <a:p>
            <a:pPr lvl="1" marL="7405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Long-Short Term Memory (LSTM) + DNN</a:t>
            </a:r>
            <a:endParaRPr b="0" lang="en-US" sz="1100" spc="-1" strike="noStrike">
              <a:latin typeface="Arial"/>
            </a:endParaRPr>
          </a:p>
          <a:p>
            <a:pPr marL="2833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We built different models on training set (565 cell lines) and test on a complete independent test set (128 cell lines on which no training is performed)</a:t>
            </a:r>
            <a:endParaRPr b="0" lang="en-US" sz="1100" spc="-1" strike="noStrike">
              <a:latin typeface="Arial"/>
            </a:endParaRPr>
          </a:p>
          <a:p>
            <a:pPr marL="283320" indent="-283320" algn="just">
              <a:lnSpc>
                <a:spcPct val="100000"/>
              </a:lnSpc>
              <a:buClr>
                <a:srgbClr val="000000"/>
              </a:buClr>
              <a:buFont typeface="Arial"/>
              <a:buAutoNum type="arabicPeriod"/>
              <a:tabLst>
                <a:tab algn="l" pos="0"/>
              </a:tabLst>
            </a:pPr>
            <a:r>
              <a:rPr b="0" lang="en-US" sz="1100" spc="-1" strike="noStrike">
                <a:solidFill>
                  <a:srgbClr val="000000"/>
                </a:solidFill>
                <a:latin typeface="Arial"/>
                <a:ea typeface="Arial"/>
              </a:rPr>
              <a:t>We highlight the variable importance (i.e. the top features) driving the prediction for each of these different machine learning models and performance is highlighted in Table.</a:t>
            </a:r>
            <a:endParaRPr b="0" lang="en-US" sz="1100" spc="-1" strike="noStrike">
              <a:latin typeface="Arial"/>
            </a:endParaRPr>
          </a:p>
          <a:p>
            <a:pPr marL="283320" indent="-213480" algn="just">
              <a:lnSpc>
                <a:spcPct val="100000"/>
              </a:lnSpc>
              <a:buNone/>
              <a:tabLst>
                <a:tab algn="l" pos="0"/>
              </a:tabLst>
            </a:pPr>
            <a:endParaRPr b="0" lang="en-US" sz="1100" spc="-1" strike="noStrike">
              <a:latin typeface="Arial"/>
            </a:endParaRPr>
          </a:p>
          <a:p>
            <a:pPr marL="457200" algn="just">
              <a:lnSpc>
                <a:spcPct val="100000"/>
              </a:lnSpc>
              <a:buNone/>
              <a:tabLst>
                <a:tab algn="l" pos="0"/>
              </a:tabLst>
            </a:pP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597" name="Google Shape;617;p18"/>
          <p:cNvSpPr/>
          <p:nvPr/>
        </p:nvSpPr>
        <p:spPr>
          <a:xfrm>
            <a:off x="2776680" y="3587760"/>
            <a:ext cx="706320" cy="680040"/>
          </a:xfrm>
          <a:prstGeom prst="ellipse">
            <a:avLst/>
          </a:prstGeom>
          <a:gradFill rotWithShape="0">
            <a:gsLst>
              <a:gs pos="0">
                <a:srgbClr val="81d2ff"/>
              </a:gs>
              <a:gs pos="100000">
                <a:srgbClr val="b3e1ff"/>
              </a:gs>
            </a:gsLst>
            <a:lin ang="2700000"/>
          </a:gradFill>
          <a:ln w="9525">
            <a:solidFill>
              <a:srgbClr val="4a7dba"/>
            </a:solidFill>
            <a:round/>
          </a:ln>
          <a:effectLst>
            <a:outerShdw blurRad="39960" dir="5400000" dist="23040" rotWithShape="0">
              <a:srgbClr val="000000">
                <a:alpha val="35000"/>
              </a:srgbClr>
            </a:outerShdw>
          </a:effectLst>
        </p:spPr>
        <p:style>
          <a:lnRef idx="0"/>
          <a:fillRef idx="0"/>
          <a:effectRef idx="0"/>
          <a:fontRef idx="minor"/>
        </p:style>
      </p:sp>
      <p:grpSp>
        <p:nvGrpSpPr>
          <p:cNvPr id="598" name="Google Shape;618;p18"/>
          <p:cNvGrpSpPr/>
          <p:nvPr/>
        </p:nvGrpSpPr>
        <p:grpSpPr>
          <a:xfrm>
            <a:off x="66960" y="4957920"/>
            <a:ext cx="496800" cy="451080"/>
            <a:chOff x="66960" y="4957920"/>
            <a:chExt cx="496800" cy="451080"/>
          </a:xfrm>
        </p:grpSpPr>
        <p:pic>
          <p:nvPicPr>
            <p:cNvPr id="599" name="Google Shape;619;p18" descr=""/>
            <p:cNvPicPr/>
            <p:nvPr/>
          </p:nvPicPr>
          <p:blipFill>
            <a:blip r:embed="rId1"/>
            <a:srcRect l="74396" t="36322" r="16223" b="52831"/>
            <a:stretch/>
          </p:blipFill>
          <p:spPr>
            <a:xfrm rot="21282600">
              <a:off x="79920" y="4974480"/>
              <a:ext cx="375120" cy="303480"/>
            </a:xfrm>
            <a:prstGeom prst="rect">
              <a:avLst/>
            </a:prstGeom>
            <a:ln w="0">
              <a:noFill/>
            </a:ln>
          </p:spPr>
        </p:pic>
        <p:sp>
          <p:nvSpPr>
            <p:cNvPr id="600" name="Google Shape;620;p18"/>
            <p:cNvSpPr/>
            <p:nvPr/>
          </p:nvSpPr>
          <p:spPr>
            <a:xfrm rot="19921800">
              <a:off x="246240" y="5238360"/>
              <a:ext cx="311400" cy="103680"/>
            </a:xfrm>
            <a:prstGeom prst="rect">
              <a:avLst/>
            </a:prstGeom>
            <a:solidFill>
              <a:schemeClr val="lt1"/>
            </a:solidFill>
            <a:ln w="0">
              <a:noFill/>
            </a:ln>
          </p:spPr>
          <p:style>
            <a:lnRef idx="0"/>
            <a:fillRef idx="0"/>
            <a:effectRef idx="0"/>
            <a:fontRef idx="minor"/>
          </p:style>
        </p:sp>
      </p:grpSp>
      <p:sp>
        <p:nvSpPr>
          <p:cNvPr id="601" name="Google Shape;621;p18"/>
          <p:cNvSpPr/>
          <p:nvPr/>
        </p:nvSpPr>
        <p:spPr>
          <a:xfrm>
            <a:off x="5627520" y="8826480"/>
            <a:ext cx="127764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Unused Data</a:t>
            </a:r>
            <a:endParaRPr b="0" lang="en-US" sz="1400" spc="-1" strike="noStrike">
              <a:latin typeface="Arial"/>
            </a:endParaRPr>
          </a:p>
        </p:txBody>
      </p:sp>
      <p:sp>
        <p:nvSpPr>
          <p:cNvPr id="602" name="Google Shape;622;p18"/>
          <p:cNvSpPr/>
          <p:nvPr/>
        </p:nvSpPr>
        <p:spPr>
          <a:xfrm>
            <a:off x="2341800" y="0"/>
            <a:ext cx="1293120" cy="243360"/>
          </a:xfrm>
          <a:prstGeom prst="rect">
            <a:avLst/>
          </a:prstGeom>
          <a:solidFill>
            <a:schemeClr val="lt1"/>
          </a:solidFill>
          <a:ln w="0">
            <a:noFill/>
          </a:ln>
        </p:spPr>
        <p:style>
          <a:lnRef idx="0"/>
          <a:fillRef idx="0"/>
          <a:effectRef idx="0"/>
          <a:fontRef idx="minor"/>
        </p:style>
        <p:txBody>
          <a:bodyPr anchor="t">
            <a:spAutoFit/>
          </a:bodyPr>
          <a:p>
            <a:pPr>
              <a:lnSpc>
                <a:spcPct val="100000"/>
              </a:lnSpc>
              <a:buNone/>
              <a:tabLst>
                <a:tab algn="l" pos="0"/>
              </a:tabLst>
            </a:pPr>
            <a:r>
              <a:rPr b="1" lang="en-US" sz="1000" spc="-1" strike="noStrike">
                <a:solidFill>
                  <a:srgbClr val="000000"/>
                </a:solidFill>
                <a:latin typeface="Arial"/>
                <a:ea typeface="Arial"/>
              </a:rPr>
              <a:t>Transfer Learning</a:t>
            </a:r>
            <a:endParaRPr b="0" lang="en-US" sz="1000" spc="-1" strike="noStrike">
              <a:latin typeface="Arial"/>
            </a:endParaRPr>
          </a:p>
        </p:txBody>
      </p:sp>
      <p:pic>
        <p:nvPicPr>
          <p:cNvPr id="603" name="Google Shape;623;p18" descr="A screenshot of a computer&#10;&#10;Description automatically generated with low confidence"/>
          <p:cNvPicPr/>
          <p:nvPr/>
        </p:nvPicPr>
        <p:blipFill>
          <a:blip r:embed="rId2"/>
          <a:stretch/>
        </p:blipFill>
        <p:spPr>
          <a:xfrm>
            <a:off x="1665000" y="32040"/>
            <a:ext cx="5073120" cy="2432160"/>
          </a:xfrm>
          <a:prstGeom prst="rect">
            <a:avLst/>
          </a:prstGeom>
          <a:ln w="0">
            <a:noFill/>
          </a:ln>
        </p:spPr>
      </p:pic>
      <p:sp>
        <p:nvSpPr>
          <p:cNvPr id="604" name="Google Shape;624;p18"/>
          <p:cNvSpPr/>
          <p:nvPr/>
        </p:nvSpPr>
        <p:spPr>
          <a:xfrm flipH="1">
            <a:off x="4734720" y="1615320"/>
            <a:ext cx="250200" cy="902880"/>
          </a:xfrm>
          <a:custGeom>
            <a:avLst/>
            <a:gdLst/>
            <a:ahLst/>
            <a:rect l="l" t="t" r="r" b="b"/>
            <a:pathLst>
              <a:path w="21600" h="21600">
                <a:moveTo>
                  <a:pt x="0" y="0"/>
                </a:moveTo>
                <a:lnTo>
                  <a:pt x="21600" y="21600"/>
                </a:lnTo>
              </a:path>
            </a:pathLst>
          </a:custGeom>
          <a:noFill/>
          <a:ln w="12700">
            <a:solidFill>
              <a:srgbClr val="000000"/>
            </a:solidFill>
            <a:round/>
            <a:tailEnd len="med" type="triangle" w="med"/>
          </a:ln>
        </p:spPr>
        <p:style>
          <a:lnRef idx="0"/>
          <a:fillRef idx="0"/>
          <a:effectRef idx="0"/>
          <a:fontRef idx="minor"/>
        </p:style>
      </p:sp>
      <p:graphicFrame>
        <p:nvGraphicFramePr>
          <p:cNvPr id="605" name="Google Shape;625;p18"/>
          <p:cNvGraphicFramePr/>
          <p:nvPr/>
        </p:nvGraphicFramePr>
        <p:xfrm>
          <a:off x="3849120" y="2574720"/>
          <a:ext cx="1136880" cy="101160"/>
        </p:xfrm>
        <a:graphic>
          <a:graphicData uri="http://schemas.openxmlformats.org/drawingml/2006/table">
            <a:tbl>
              <a:tblPr/>
              <a:tblGrid>
                <a:gridCol w="227160"/>
                <a:gridCol w="227160"/>
                <a:gridCol w="227160"/>
                <a:gridCol w="227160"/>
                <a:gridCol w="22824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eeece1"/>
                    </a:solidFill>
                  </a:tcPr>
                </a:tc>
              </a:tr>
            </a:tbl>
          </a:graphicData>
        </a:graphic>
      </p:graphicFrame>
      <p:sp>
        <p:nvSpPr>
          <p:cNvPr id="606" name="Google Shape;626;p18"/>
          <p:cNvSpPr/>
          <p:nvPr/>
        </p:nvSpPr>
        <p:spPr>
          <a:xfrm>
            <a:off x="3783600" y="2634120"/>
            <a:ext cx="12326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Embedding Vector</a:t>
            </a:r>
            <a:endParaRPr b="0" lang="en-US" sz="1000" spc="-1" strike="noStrike">
              <a:latin typeface="Arial"/>
            </a:endParaRPr>
          </a:p>
        </p:txBody>
      </p:sp>
      <p:sp>
        <p:nvSpPr>
          <p:cNvPr id="607" name="Google Shape;627;p18"/>
          <p:cNvSpPr/>
          <p:nvPr/>
        </p:nvSpPr>
        <p:spPr>
          <a:xfrm>
            <a:off x="2939760" y="2412720"/>
            <a:ext cx="61272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Input</a:t>
            </a:r>
            <a:endParaRPr b="0" lang="en-US" sz="1000" spc="-1" strike="noStrike">
              <a:latin typeface="Arial"/>
            </a:endParaRPr>
          </a:p>
        </p:txBody>
      </p:sp>
      <p:sp>
        <p:nvSpPr>
          <p:cNvPr id="608" name="Google Shape;628;p18"/>
          <p:cNvSpPr/>
          <p:nvPr/>
        </p:nvSpPr>
        <p:spPr>
          <a:xfrm>
            <a:off x="5598720" y="2451960"/>
            <a:ext cx="12326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TF– LSTM Model</a:t>
            </a:r>
            <a:endParaRPr b="0" lang="en-US" sz="1000" spc="-1" strike="noStrike">
              <a:latin typeface="Arial"/>
            </a:endParaRPr>
          </a:p>
        </p:txBody>
      </p:sp>
      <p:sp>
        <p:nvSpPr>
          <p:cNvPr id="609" name="Google Shape;629;p18"/>
          <p:cNvSpPr/>
          <p:nvPr/>
        </p:nvSpPr>
        <p:spPr>
          <a:xfrm>
            <a:off x="4903560" y="-48600"/>
            <a:ext cx="6836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Output</a:t>
            </a:r>
            <a:endParaRPr b="0" lang="en-US" sz="1000" spc="-1" strike="noStrike">
              <a:latin typeface="Arial"/>
            </a:endParaRPr>
          </a:p>
        </p:txBody>
      </p:sp>
      <p:sp>
        <p:nvSpPr>
          <p:cNvPr id="610" name="Google Shape;630;p18"/>
          <p:cNvSpPr/>
          <p:nvPr/>
        </p:nvSpPr>
        <p:spPr>
          <a:xfrm>
            <a:off x="0" y="241920"/>
            <a:ext cx="1984680" cy="117792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u="sng">
                <a:solidFill>
                  <a:srgbClr val="000000"/>
                </a:solidFill>
                <a:uFillTx/>
                <a:latin typeface="Arial"/>
                <a:ea typeface="Arial"/>
              </a:rPr>
              <a:t>DeepRepurpose:</a:t>
            </a:r>
            <a:endParaRPr b="0" lang="en-US" sz="1000" spc="-1" strike="noStrike">
              <a:latin typeface="Arial"/>
            </a:endParaRPr>
          </a:p>
          <a:p>
            <a:pPr marL="171360" indent="-171360">
              <a:lnSpc>
                <a:spcPct val="100000"/>
              </a:lnSpc>
              <a:buClr>
                <a:srgbClr val="000000"/>
              </a:buClr>
              <a:buFont typeface="Arial"/>
              <a:buChar char="•"/>
              <a:tabLst>
                <a:tab algn="l" pos="0"/>
              </a:tabLst>
            </a:pPr>
            <a:r>
              <a:rPr b="0" lang="en-US" sz="1000" spc="-1" strike="noStrike">
                <a:solidFill>
                  <a:srgbClr val="000000"/>
                </a:solidFill>
                <a:latin typeface="Arial"/>
                <a:ea typeface="Arial"/>
              </a:rPr>
              <a:t>TF-LSTM model trained on 2.5 million compounds from PubChem + MOSES.</a:t>
            </a:r>
            <a:endParaRPr b="0" lang="en-US" sz="1000" spc="-1" strike="noStrike">
              <a:latin typeface="Arial"/>
            </a:endParaRPr>
          </a:p>
          <a:p>
            <a:pPr marL="171360" indent="-171360">
              <a:lnSpc>
                <a:spcPct val="100000"/>
              </a:lnSpc>
              <a:buClr>
                <a:srgbClr val="000000"/>
              </a:buClr>
              <a:buFont typeface="Arial"/>
              <a:buChar char="•"/>
              <a:tabLst>
                <a:tab algn="l" pos="0"/>
              </a:tabLst>
            </a:pPr>
            <a:r>
              <a:rPr b="0" lang="en-US" sz="1000" spc="-1" strike="noStrike">
                <a:solidFill>
                  <a:srgbClr val="000000"/>
                </a:solidFill>
                <a:latin typeface="Arial"/>
                <a:ea typeface="Arial"/>
              </a:rPr>
              <a:t>96.7% reconstructed compounds are valid.</a:t>
            </a:r>
            <a:endParaRPr b="0" lang="en-US" sz="1000" spc="-1" strike="noStrike">
              <a:latin typeface="Arial"/>
            </a:endParaRPr>
          </a:p>
          <a:p>
            <a:pPr marL="171360" indent="-171360">
              <a:lnSpc>
                <a:spcPct val="100000"/>
              </a:lnSpc>
              <a:buClr>
                <a:srgbClr val="000000"/>
              </a:buClr>
              <a:buFont typeface="Arial"/>
              <a:buChar char="•"/>
              <a:tabLst>
                <a:tab algn="l" pos="0"/>
              </a:tabLst>
            </a:pPr>
            <a:r>
              <a:rPr b="0" lang="en-US" sz="1000" spc="-1" strike="noStrike">
                <a:solidFill>
                  <a:srgbClr val="000000"/>
                </a:solidFill>
                <a:latin typeface="Arial Narrow"/>
                <a:ea typeface="Arial Narrow"/>
              </a:rPr>
              <a:t>μ</a:t>
            </a:r>
            <a:r>
              <a:rPr b="0" lang="en-US" sz="1000" spc="-1" strike="noStrike" baseline="-25000">
                <a:solidFill>
                  <a:srgbClr val="000000"/>
                </a:solidFill>
                <a:latin typeface="Arial"/>
                <a:ea typeface="Arial"/>
              </a:rPr>
              <a:t>error</a:t>
            </a:r>
            <a:r>
              <a:rPr b="0" lang="en-US" sz="1000" spc="-1" strike="noStrike">
                <a:solidFill>
                  <a:srgbClr val="000000"/>
                </a:solidFill>
                <a:latin typeface="Arial"/>
                <a:ea typeface="Arial"/>
              </a:rPr>
              <a:t> per sample is 0.001</a:t>
            </a:r>
            <a:endParaRPr b="0" lang="en-US" sz="1000" spc="-1" strike="noStrike">
              <a:latin typeface="Arial"/>
            </a:endParaRPr>
          </a:p>
        </p:txBody>
      </p:sp>
      <p:sp>
        <p:nvSpPr>
          <p:cNvPr id="611" name="Google Shape;631;p18"/>
          <p:cNvSpPr/>
          <p:nvPr/>
        </p:nvSpPr>
        <p:spPr>
          <a:xfrm>
            <a:off x="0" y="-3060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A</a:t>
            </a:r>
            <a:endParaRPr b="0" lang="en-US" sz="1400" spc="-1" strike="noStrike">
              <a:latin typeface="Arial"/>
            </a:endParaRPr>
          </a:p>
        </p:txBody>
      </p:sp>
      <p:sp>
        <p:nvSpPr>
          <p:cNvPr id="612" name="Google Shape;632;p18"/>
          <p:cNvSpPr/>
          <p:nvPr/>
        </p:nvSpPr>
        <p:spPr>
          <a:xfrm>
            <a:off x="0" y="2888280"/>
            <a:ext cx="6857640" cy="360"/>
          </a:xfrm>
          <a:custGeom>
            <a:avLst/>
            <a:gdLst/>
            <a:ahLst/>
            <a:rect l="l" t="t" r="r" b="b"/>
            <a:pathLst>
              <a:path w="21600" h="21600">
                <a:moveTo>
                  <a:pt x="0" y="0"/>
                </a:moveTo>
                <a:lnTo>
                  <a:pt x="21600" y="21600"/>
                </a:lnTo>
              </a:path>
            </a:pathLst>
          </a:custGeom>
          <a:noFill/>
          <a:ln w="9525">
            <a:solidFill>
              <a:srgbClr val="000000"/>
            </a:solidFill>
            <a:round/>
          </a:ln>
        </p:spPr>
        <p:style>
          <a:lnRef idx="0"/>
          <a:fillRef idx="0"/>
          <a:effectRef idx="0"/>
          <a:fontRef idx="minor"/>
        </p:style>
      </p:sp>
      <p:sp>
        <p:nvSpPr>
          <p:cNvPr id="613" name="Google Shape;633;p18"/>
          <p:cNvSpPr/>
          <p:nvPr/>
        </p:nvSpPr>
        <p:spPr>
          <a:xfrm>
            <a:off x="0" y="5672520"/>
            <a:ext cx="6857640" cy="360"/>
          </a:xfrm>
          <a:custGeom>
            <a:avLst/>
            <a:gdLst/>
            <a:ahLst/>
            <a:rect l="l" t="t" r="r" b="b"/>
            <a:pathLst>
              <a:path w="21600" h="21600">
                <a:moveTo>
                  <a:pt x="0" y="0"/>
                </a:moveTo>
                <a:lnTo>
                  <a:pt x="21600" y="21600"/>
                </a:lnTo>
              </a:path>
            </a:pathLst>
          </a:custGeom>
          <a:noFill/>
          <a:ln w="9525">
            <a:solidFill>
              <a:srgbClr val="000000"/>
            </a:solidFill>
            <a:round/>
          </a:ln>
        </p:spPr>
        <p:style>
          <a:lnRef idx="0"/>
          <a:fillRef idx="0"/>
          <a:effectRef idx="0"/>
          <a:fontRef idx="minor"/>
        </p:style>
      </p:sp>
      <p:sp>
        <p:nvSpPr>
          <p:cNvPr id="614" name="Google Shape;634;p18"/>
          <p:cNvSpPr/>
          <p:nvPr/>
        </p:nvSpPr>
        <p:spPr>
          <a:xfrm>
            <a:off x="0" y="295452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B</a:t>
            </a:r>
            <a:endParaRPr b="0" lang="en-US" sz="1400" spc="-1" strike="noStrike">
              <a:latin typeface="Arial"/>
            </a:endParaRPr>
          </a:p>
        </p:txBody>
      </p:sp>
      <p:pic>
        <p:nvPicPr>
          <p:cNvPr id="615" name="Google Shape;635;p18" descr=""/>
          <p:cNvPicPr/>
          <p:nvPr/>
        </p:nvPicPr>
        <p:blipFill>
          <a:blip r:embed="rId3"/>
          <a:stretch/>
        </p:blipFill>
        <p:spPr>
          <a:xfrm>
            <a:off x="-178200" y="3174480"/>
            <a:ext cx="3730680" cy="2154600"/>
          </a:xfrm>
          <a:prstGeom prst="rect">
            <a:avLst/>
          </a:prstGeom>
          <a:ln w="0">
            <a:noFill/>
          </a:ln>
        </p:spPr>
      </p:pic>
      <p:sp>
        <p:nvSpPr>
          <p:cNvPr id="616" name="Google Shape;636;p18"/>
          <p:cNvSpPr/>
          <p:nvPr/>
        </p:nvSpPr>
        <p:spPr>
          <a:xfrm>
            <a:off x="-62640" y="5272920"/>
            <a:ext cx="9298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Drug Targets</a:t>
            </a:r>
            <a:endParaRPr b="0" lang="en-US" sz="1000" spc="-1" strike="noStrike">
              <a:latin typeface="Arial"/>
            </a:endParaRPr>
          </a:p>
        </p:txBody>
      </p:sp>
      <p:sp>
        <p:nvSpPr>
          <p:cNvPr id="617" name="Google Shape;637;p18"/>
          <p:cNvSpPr/>
          <p:nvPr/>
        </p:nvSpPr>
        <p:spPr>
          <a:xfrm rot="10800000">
            <a:off x="314280" y="4728600"/>
            <a:ext cx="360" cy="311760"/>
          </a:xfrm>
          <a:custGeom>
            <a:avLst/>
            <a:gdLst/>
            <a:ahLst/>
            <a:rect l="l" t="t" r="r" b="b"/>
            <a:pathLst>
              <a:path w="21600" h="21600">
                <a:moveTo>
                  <a:pt x="0" y="0"/>
                </a:moveTo>
                <a:lnTo>
                  <a:pt x="21600" y="21600"/>
                </a:lnTo>
              </a:path>
            </a:pathLst>
          </a:custGeom>
          <a:noFill/>
          <a:ln w="9525">
            <a:solidFill>
              <a:srgbClr val="000000"/>
            </a:solidFill>
            <a:round/>
            <a:tailEnd len="med" type="triangle" w="med"/>
          </a:ln>
        </p:spPr>
        <p:style>
          <a:lnRef idx="0"/>
          <a:fillRef idx="0"/>
          <a:effectRef idx="0"/>
          <a:fontRef idx="minor"/>
        </p:style>
      </p:sp>
      <p:sp>
        <p:nvSpPr>
          <p:cNvPr id="618" name="Google Shape;638;p18"/>
          <p:cNvSpPr/>
          <p:nvPr/>
        </p:nvSpPr>
        <p:spPr>
          <a:xfrm>
            <a:off x="1451880" y="5039640"/>
            <a:ext cx="1779120" cy="39564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Random Walk with Restart </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on the STRING PPI network</a:t>
            </a:r>
            <a:endParaRPr b="0" lang="en-US" sz="1000" spc="-1" strike="noStrike">
              <a:latin typeface="Arial"/>
            </a:endParaRPr>
          </a:p>
        </p:txBody>
      </p:sp>
      <p:sp>
        <p:nvSpPr>
          <p:cNvPr id="619" name="Google Shape;639;p18"/>
          <p:cNvSpPr/>
          <p:nvPr/>
        </p:nvSpPr>
        <p:spPr>
          <a:xfrm>
            <a:off x="2270520" y="2876040"/>
            <a:ext cx="195876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000" spc="-1" strike="noStrike">
                <a:solidFill>
                  <a:srgbClr val="000000"/>
                </a:solidFill>
                <a:latin typeface="Arial"/>
                <a:ea typeface="Arial"/>
              </a:rPr>
              <a:t>Pathway Distance Estimation</a:t>
            </a:r>
            <a:endParaRPr b="0" lang="en-US" sz="1000" spc="-1" strike="noStrike">
              <a:latin typeface="Arial"/>
            </a:endParaRPr>
          </a:p>
        </p:txBody>
      </p:sp>
      <p:graphicFrame>
        <p:nvGraphicFramePr>
          <p:cNvPr id="620" name="Google Shape;640;p18"/>
          <p:cNvGraphicFramePr/>
          <p:nvPr/>
        </p:nvGraphicFramePr>
        <p:xfrm>
          <a:off x="3857400" y="3386880"/>
          <a:ext cx="126720" cy="1647000"/>
        </p:xfrm>
        <a:graphic>
          <a:graphicData uri="http://schemas.openxmlformats.org/drawingml/2006/table">
            <a:tbl>
              <a:tblPr/>
              <a:tblGrid>
                <a:gridCol w="126720"/>
              </a:tblGrid>
              <a:tr h="27432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r h="27432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r h="27432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r h="27432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r h="27432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r h="27540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c00000"/>
                        </a:gs>
                        <a:gs pos="100000">
                          <a:srgbClr val="ffffff"/>
                        </a:gs>
                      </a:gsLst>
                      <a:lin ang="16200000"/>
                    </a:gradFill>
                  </a:tcPr>
                </a:tc>
              </a:tr>
            </a:tbl>
          </a:graphicData>
        </a:graphic>
      </p:graphicFrame>
      <p:sp>
        <p:nvSpPr>
          <p:cNvPr id="621" name="Google Shape;641;p18"/>
          <p:cNvSpPr/>
          <p:nvPr/>
        </p:nvSpPr>
        <p:spPr>
          <a:xfrm>
            <a:off x="3429000" y="4237560"/>
            <a:ext cx="375120" cy="360"/>
          </a:xfrm>
          <a:custGeom>
            <a:avLst/>
            <a:gdLst/>
            <a:ahLst/>
            <a:rect l="l" t="t" r="r" b="b"/>
            <a:pathLst>
              <a:path w="21600" h="21600">
                <a:moveTo>
                  <a:pt x="0" y="0"/>
                </a:moveTo>
                <a:lnTo>
                  <a:pt x="21600" y="21600"/>
                </a:lnTo>
              </a:path>
            </a:pathLst>
          </a:custGeom>
          <a:noFill/>
          <a:ln w="9525">
            <a:solidFill>
              <a:srgbClr val="000000"/>
            </a:solidFill>
            <a:round/>
            <a:tailEnd len="med" type="triangle" w="med"/>
          </a:ln>
        </p:spPr>
        <p:style>
          <a:lnRef idx="0"/>
          <a:fillRef idx="0"/>
          <a:effectRef idx="0"/>
          <a:fontRef idx="minor"/>
        </p:style>
      </p:sp>
      <p:sp>
        <p:nvSpPr>
          <p:cNvPr id="622" name="Google Shape;642;p18"/>
          <p:cNvSpPr/>
          <p:nvPr/>
        </p:nvSpPr>
        <p:spPr>
          <a:xfrm>
            <a:off x="3319920" y="5027400"/>
            <a:ext cx="1415520" cy="41652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Probability (</a:t>
            </a:r>
            <a:r>
              <a:rPr b="1" lang="en-US" sz="1000" spc="-1" strike="noStrike">
                <a:solidFill>
                  <a:srgbClr val="000000"/>
                </a:solidFill>
                <a:latin typeface="Arial"/>
                <a:ea typeface="Arial"/>
              </a:rPr>
              <a:t>p</a:t>
            </a:r>
            <a:r>
              <a:rPr b="1" lang="en-US" sz="1000" spc="-1" strike="noStrike" baseline="30000">
                <a:solidFill>
                  <a:srgbClr val="202124"/>
                </a:solidFill>
                <a:latin typeface="Arial"/>
                <a:ea typeface="Arial"/>
              </a:rPr>
              <a:t>∞</a:t>
            </a:r>
            <a:r>
              <a:rPr b="0" lang="en-US" sz="1000" spc="-1" strike="noStrike">
                <a:solidFill>
                  <a:srgbClr val="202124"/>
                </a:solidFill>
                <a:latin typeface="Arial"/>
                <a:ea typeface="Arial"/>
              </a:rPr>
              <a:t>)</a:t>
            </a:r>
            <a:endParaRPr b="0" lang="en-US" sz="1000" spc="-1" strike="noStrike">
              <a:latin typeface="Arial"/>
            </a:endParaRPr>
          </a:p>
          <a:p>
            <a:pPr>
              <a:lnSpc>
                <a:spcPct val="100000"/>
              </a:lnSpc>
              <a:buNone/>
              <a:tabLst>
                <a:tab algn="l" pos="0"/>
              </a:tabLst>
            </a:pPr>
            <a:r>
              <a:rPr b="1" lang="en-US" sz="1000" spc="-1" strike="noStrike">
                <a:solidFill>
                  <a:srgbClr val="000000"/>
                </a:solidFill>
                <a:latin typeface="Arial"/>
                <a:ea typeface="Arial"/>
              </a:rPr>
              <a:t>p</a:t>
            </a:r>
            <a:r>
              <a:rPr b="1" lang="en-US" sz="1000" spc="-1" strike="noStrike" baseline="30000">
                <a:solidFill>
                  <a:srgbClr val="202124"/>
                </a:solidFill>
                <a:latin typeface="Arial"/>
                <a:ea typeface="Arial"/>
              </a:rPr>
              <a:t>∞</a:t>
            </a:r>
            <a:r>
              <a:rPr b="1" lang="en-US" sz="1000" spc="-1" strike="noStrike">
                <a:solidFill>
                  <a:srgbClr val="202124"/>
                </a:solidFill>
                <a:latin typeface="Arial"/>
                <a:ea typeface="Arial"/>
              </a:rPr>
              <a:t>= β(I – (1- β)W)</a:t>
            </a:r>
            <a:r>
              <a:rPr b="1" lang="en-US" sz="1000" spc="-1" strike="noStrike" baseline="30000">
                <a:solidFill>
                  <a:srgbClr val="202124"/>
                </a:solidFill>
                <a:latin typeface="Arial"/>
                <a:ea typeface="Arial"/>
              </a:rPr>
              <a:t>-1</a:t>
            </a:r>
            <a:r>
              <a:rPr b="1" lang="en-US" sz="1000" spc="-1" strike="noStrike">
                <a:solidFill>
                  <a:srgbClr val="202124"/>
                </a:solidFill>
                <a:latin typeface="Arial"/>
                <a:ea typeface="Arial"/>
              </a:rPr>
              <a:t>p</a:t>
            </a:r>
            <a:r>
              <a:rPr b="1" lang="en-US" sz="1000" spc="-1" strike="noStrike" baseline="-25000">
                <a:solidFill>
                  <a:srgbClr val="202124"/>
                </a:solidFill>
                <a:latin typeface="Arial"/>
                <a:ea typeface="Arial"/>
              </a:rPr>
              <a:t>0</a:t>
            </a:r>
            <a:endParaRPr b="0" lang="en-US" sz="1000" spc="-1" strike="noStrike">
              <a:latin typeface="Arial"/>
            </a:endParaRPr>
          </a:p>
        </p:txBody>
      </p:sp>
      <p:graphicFrame>
        <p:nvGraphicFramePr>
          <p:cNvPr id="623" name="Google Shape;643;p18"/>
          <p:cNvGraphicFramePr/>
          <p:nvPr/>
        </p:nvGraphicFramePr>
        <p:xfrm>
          <a:off x="4291560" y="3391560"/>
          <a:ext cx="126720" cy="1629360"/>
        </p:xfrm>
        <a:graphic>
          <a:graphicData uri="http://schemas.openxmlformats.org/drawingml/2006/table">
            <a:tbl>
              <a:tblPr/>
              <a:tblGrid>
                <a:gridCol w="126720"/>
              </a:tblGrid>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2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bl>
          </a:graphicData>
        </a:graphic>
      </p:graphicFrame>
      <p:sp>
        <p:nvSpPr>
          <p:cNvPr id="624" name="Google Shape;644;p18"/>
          <p:cNvSpPr/>
          <p:nvPr/>
        </p:nvSpPr>
        <p:spPr>
          <a:xfrm>
            <a:off x="4027680" y="4123800"/>
            <a:ext cx="2692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c00000"/>
                </a:solidFill>
                <a:latin typeface="Arial"/>
                <a:ea typeface="Arial"/>
              </a:rPr>
              <a:t>X</a:t>
            </a:r>
            <a:endParaRPr b="0" lang="en-US" sz="1000" spc="-1" strike="noStrike">
              <a:latin typeface="Arial"/>
            </a:endParaRPr>
          </a:p>
        </p:txBody>
      </p:sp>
      <p:sp>
        <p:nvSpPr>
          <p:cNvPr id="625" name="Google Shape;645;p18"/>
          <p:cNvSpPr/>
          <p:nvPr/>
        </p:nvSpPr>
        <p:spPr>
          <a:xfrm>
            <a:off x="3942720" y="3038760"/>
            <a:ext cx="815760" cy="39564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0" lang="en-US" sz="1000" spc="-1" strike="noStrike">
                <a:solidFill>
                  <a:srgbClr val="000000"/>
                </a:solidFill>
                <a:latin typeface="Arial"/>
                <a:ea typeface="Arial"/>
              </a:rPr>
              <a:t>Expression</a:t>
            </a:r>
            <a:endParaRPr b="0" lang="en-US" sz="1000" spc="-1" strike="noStrike">
              <a:latin typeface="Arial"/>
            </a:endParaRPr>
          </a:p>
          <a:p>
            <a:pPr algn="ctr">
              <a:lnSpc>
                <a:spcPct val="100000"/>
              </a:lnSpc>
              <a:buNone/>
              <a:tabLst>
                <a:tab algn="l" pos="0"/>
              </a:tabLst>
            </a:pPr>
            <a:r>
              <a:rPr b="0" lang="en-US" sz="1000" spc="-1" strike="noStrike">
                <a:solidFill>
                  <a:srgbClr val="000000"/>
                </a:solidFill>
                <a:latin typeface="Arial"/>
                <a:ea typeface="Arial"/>
              </a:rPr>
              <a:t>Profile</a:t>
            </a:r>
            <a:endParaRPr b="0" lang="en-US" sz="1000" spc="-1" strike="noStrike">
              <a:latin typeface="Arial"/>
            </a:endParaRPr>
          </a:p>
        </p:txBody>
      </p:sp>
      <p:sp>
        <p:nvSpPr>
          <p:cNvPr id="626" name="Google Shape;646;p18"/>
          <p:cNvSpPr/>
          <p:nvPr/>
        </p:nvSpPr>
        <p:spPr>
          <a:xfrm>
            <a:off x="2793600" y="3404880"/>
            <a:ext cx="67320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Pathway</a:t>
            </a:r>
            <a:endParaRPr b="0" lang="en-US" sz="1000" spc="-1" strike="noStrike">
              <a:latin typeface="Arial"/>
            </a:endParaRPr>
          </a:p>
        </p:txBody>
      </p:sp>
      <p:sp>
        <p:nvSpPr>
          <p:cNvPr id="627" name="Google Shape;647;p18"/>
          <p:cNvSpPr/>
          <p:nvPr/>
        </p:nvSpPr>
        <p:spPr>
          <a:xfrm>
            <a:off x="4481640" y="4098960"/>
            <a:ext cx="236880" cy="276480"/>
          </a:xfrm>
          <a:prstGeom prst="rect">
            <a:avLst/>
          </a:prstGeom>
          <a:blipFill rotWithShape="0">
            <a:blip r:embed="rId4"/>
            <a:srcRect/>
            <a:stretch/>
          </a:blipFill>
          <a:ln w="0">
            <a:noFill/>
          </a:ln>
        </p:spPr>
        <p:style>
          <a:lnRef idx="0"/>
          <a:fillRef idx="0"/>
          <a:effectRef idx="0"/>
          <a:fontRef idx="minor"/>
        </p:style>
        <p:txBody>
          <a:bodyPr anchor="t">
            <a:noAutofit/>
          </a:bodyPr>
          <a:p>
            <a:pPr>
              <a:lnSpc>
                <a:spcPct val="100000"/>
              </a:lnSpc>
              <a:buNone/>
              <a:tabLst>
                <a:tab algn="l" pos="0"/>
              </a:tabLst>
            </a:pPr>
            <a:r>
              <a:rPr b="0" lang="en-US" sz="1800" spc="-1" strike="noStrike">
                <a:solidFill>
                  <a:srgbClr val="000000"/>
                </a:solidFill>
                <a:latin typeface="Arial"/>
                <a:ea typeface="Arial"/>
              </a:rPr>
              <a:t> </a:t>
            </a:r>
            <a:endParaRPr b="0" lang="en-US" sz="1800" spc="-1" strike="noStrike">
              <a:latin typeface="Arial"/>
            </a:endParaRPr>
          </a:p>
        </p:txBody>
      </p:sp>
      <p:graphicFrame>
        <p:nvGraphicFramePr>
          <p:cNvPr id="628" name="Google Shape;648;p18"/>
          <p:cNvGraphicFramePr/>
          <p:nvPr/>
        </p:nvGraphicFramePr>
        <p:xfrm>
          <a:off x="4790160" y="3404880"/>
          <a:ext cx="135360" cy="1629360"/>
        </p:xfrm>
        <a:graphic>
          <a:graphicData uri="http://schemas.openxmlformats.org/drawingml/2006/table">
            <a:tbl>
              <a:tblPr/>
              <a:tblGrid>
                <a:gridCol w="135360"/>
              </a:tblGrid>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r h="272160">
                <a:tc>
                  <a:tcPr anchor="t" marL="360" marR="360">
                    <a:lnL w="12240">
                      <a:solidFill>
                        <a:srgbClr val="000000"/>
                      </a:solidFill>
                    </a:lnL>
                    <a:lnR w="12240">
                      <a:solidFill>
                        <a:srgbClr val="000000"/>
                      </a:solidFill>
                    </a:lnR>
                    <a:lnT w="12240">
                      <a:solidFill>
                        <a:srgbClr val="000000"/>
                      </a:solidFill>
                    </a:lnT>
                    <a:lnB w="12240">
                      <a:solidFill>
                        <a:srgbClr val="000000"/>
                      </a:solidFill>
                    </a:lnB>
                    <a:gradFill rotWithShape="0">
                      <a:gsLst>
                        <a:gs pos="0">
                          <a:srgbClr val="ff7f7f"/>
                        </a:gs>
                        <a:gs pos="100000">
                          <a:srgbClr val="ffe1e1"/>
                        </a:gs>
                      </a:gsLst>
                      <a:path path="circle">
                        <a:fillToRect l="49000" t="50000" r="51000" b="50000"/>
                      </a:path>
                    </a:gradFill>
                  </a:tcPr>
                </a:tc>
              </a:tr>
            </a:tbl>
          </a:graphicData>
        </a:graphic>
      </p:graphicFrame>
      <p:sp>
        <p:nvSpPr>
          <p:cNvPr id="629" name="Google Shape;649;p18"/>
          <p:cNvSpPr/>
          <p:nvPr/>
        </p:nvSpPr>
        <p:spPr>
          <a:xfrm>
            <a:off x="4986360" y="4237560"/>
            <a:ext cx="856800" cy="360"/>
          </a:xfrm>
          <a:custGeom>
            <a:avLst/>
            <a:gdLst/>
            <a:ahLst/>
            <a:rect l="l" t="t" r="r" b="b"/>
            <a:pathLst>
              <a:path w="21600" h="21600">
                <a:moveTo>
                  <a:pt x="0" y="0"/>
                </a:moveTo>
                <a:lnTo>
                  <a:pt x="21600" y="21600"/>
                </a:lnTo>
              </a:path>
            </a:pathLst>
          </a:custGeom>
          <a:noFill/>
          <a:ln w="9525">
            <a:solidFill>
              <a:srgbClr val="000000"/>
            </a:solidFill>
            <a:round/>
            <a:tailEnd len="med" type="triangle" w="med"/>
          </a:ln>
        </p:spPr>
        <p:style>
          <a:lnRef idx="0"/>
          <a:fillRef idx="0"/>
          <a:effectRef idx="0"/>
          <a:fontRef idx="minor"/>
        </p:style>
      </p:sp>
      <p:sp>
        <p:nvSpPr>
          <p:cNvPr id="630" name="Google Shape;650;p18"/>
          <p:cNvSpPr/>
          <p:nvPr/>
        </p:nvSpPr>
        <p:spPr>
          <a:xfrm flipH="1" rot="10800000">
            <a:off x="5321520" y="3398760"/>
            <a:ext cx="366120" cy="1647000"/>
          </a:xfrm>
          <a:prstGeom prst="triangle">
            <a:avLst>
              <a:gd name="adj" fmla="val 0"/>
            </a:avLst>
          </a:prstGeom>
          <a:solidFill>
            <a:srgbClr val="ffc000"/>
          </a:solidFill>
          <a:ln w="9525">
            <a:solidFill>
              <a:srgbClr val="4a7dba"/>
            </a:solidFill>
            <a:round/>
          </a:ln>
          <a:effectLst>
            <a:outerShdw blurRad="39960" dir="5400000" dist="23040" rotWithShape="0">
              <a:srgbClr val="000000">
                <a:alpha val="35000"/>
              </a:srgbClr>
            </a:outerShdw>
          </a:effectLst>
        </p:spPr>
        <p:style>
          <a:lnRef idx="0"/>
          <a:fillRef idx="0"/>
          <a:effectRef idx="0"/>
          <a:fontRef idx="minor"/>
        </p:style>
      </p:sp>
      <p:sp>
        <p:nvSpPr>
          <p:cNvPr id="631" name="Google Shape;651;p18"/>
          <p:cNvSpPr/>
          <p:nvPr/>
        </p:nvSpPr>
        <p:spPr>
          <a:xfrm rot="16866000">
            <a:off x="5118840" y="3961800"/>
            <a:ext cx="6202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AUcell</a:t>
            </a:r>
            <a:endParaRPr b="0" lang="en-US" sz="1000" spc="-1" strike="noStrike">
              <a:latin typeface="Arial"/>
            </a:endParaRPr>
          </a:p>
        </p:txBody>
      </p:sp>
      <p:sp>
        <p:nvSpPr>
          <p:cNvPr id="632" name="Google Shape;652;p18"/>
          <p:cNvSpPr/>
          <p:nvPr/>
        </p:nvSpPr>
        <p:spPr>
          <a:xfrm>
            <a:off x="6060960" y="4174920"/>
            <a:ext cx="339840" cy="155880"/>
          </a:xfrm>
          <a:prstGeom prst="rect">
            <a:avLst/>
          </a:prstGeom>
          <a:solidFill>
            <a:srgbClr val="f1b584"/>
          </a:solidFill>
          <a:ln w="25400">
            <a:solidFill>
              <a:srgbClr val="000000"/>
            </a:solidFill>
            <a:round/>
          </a:ln>
        </p:spPr>
        <p:style>
          <a:lnRef idx="0"/>
          <a:fillRef idx="0"/>
          <a:effectRef idx="0"/>
          <a:fontRef idx="minor"/>
        </p:style>
      </p:sp>
      <p:sp>
        <p:nvSpPr>
          <p:cNvPr id="633" name="Google Shape;653;p18"/>
          <p:cNvSpPr/>
          <p:nvPr/>
        </p:nvSpPr>
        <p:spPr>
          <a:xfrm>
            <a:off x="5555520" y="4339440"/>
            <a:ext cx="13186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AUC = 1 - Distance</a:t>
            </a:r>
            <a:endParaRPr b="0" lang="en-US" sz="1000" spc="-1" strike="noStrike">
              <a:latin typeface="Arial"/>
            </a:endParaRPr>
          </a:p>
        </p:txBody>
      </p:sp>
      <p:graphicFrame>
        <p:nvGraphicFramePr>
          <p:cNvPr id="634" name="Google Shape;654;p18"/>
          <p:cNvGraphicFramePr/>
          <p:nvPr/>
        </p:nvGraphicFramePr>
        <p:xfrm>
          <a:off x="1451880" y="6401880"/>
          <a:ext cx="126720" cy="1629360"/>
        </p:xfrm>
        <a:graphic>
          <a:graphicData uri="http://schemas.openxmlformats.org/drawingml/2006/table">
            <a:tbl>
              <a:tblPr/>
              <a:tblGrid>
                <a:gridCol w="126720"/>
              </a:tblGrid>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144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r h="272160">
                <a:tc>
                  <a:tcPr anchor="t" marL="360" marR="360">
                    <a:lnL w="12240">
                      <a:solidFill>
                        <a:srgbClr val="000000"/>
                      </a:solidFill>
                    </a:lnL>
                    <a:lnR w="12240">
                      <a:solidFill>
                        <a:srgbClr val="000000"/>
                      </a:solidFill>
                    </a:lnR>
                    <a:lnT w="12240">
                      <a:solidFill>
                        <a:srgbClr val="000000"/>
                      </a:solidFill>
                    </a:lnT>
                    <a:lnB w="12240">
                      <a:solidFill>
                        <a:srgbClr val="000000"/>
                      </a:solidFill>
                    </a:lnB>
                    <a:solidFill>
                      <a:srgbClr val="ff0000">
                        <a:alpha val="50000"/>
                      </a:srgbClr>
                    </a:solidFill>
                  </a:tcPr>
                </a:tc>
              </a:tr>
            </a:tbl>
          </a:graphicData>
        </a:graphic>
      </p:graphicFrame>
      <p:sp>
        <p:nvSpPr>
          <p:cNvPr id="635" name="Google Shape;655;p18"/>
          <p:cNvSpPr/>
          <p:nvPr/>
        </p:nvSpPr>
        <p:spPr>
          <a:xfrm rot="16200000">
            <a:off x="720360" y="7115760"/>
            <a:ext cx="121356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Expression Profile</a:t>
            </a:r>
            <a:endParaRPr b="0" lang="en-US" sz="1000" spc="-1" strike="noStrike">
              <a:latin typeface="Arial"/>
            </a:endParaRPr>
          </a:p>
        </p:txBody>
      </p:sp>
      <p:pic>
        <p:nvPicPr>
          <p:cNvPr id="636" name="Google Shape;656;p18" descr="A group of cupcakes&#10;&#10;Description automatically generated with medium confidence"/>
          <p:cNvPicPr/>
          <p:nvPr/>
        </p:nvPicPr>
        <p:blipFill>
          <a:blip r:embed="rId5"/>
          <a:stretch/>
        </p:blipFill>
        <p:spPr>
          <a:xfrm rot="16200000">
            <a:off x="-864000" y="6905520"/>
            <a:ext cx="2665080" cy="841680"/>
          </a:xfrm>
          <a:prstGeom prst="rect">
            <a:avLst/>
          </a:prstGeom>
          <a:ln w="0">
            <a:noFill/>
          </a:ln>
        </p:spPr>
      </p:pic>
      <p:sp>
        <p:nvSpPr>
          <p:cNvPr id="637" name="Google Shape;657;p18"/>
          <p:cNvSpPr/>
          <p:nvPr/>
        </p:nvSpPr>
        <p:spPr>
          <a:xfrm>
            <a:off x="2259360" y="5681880"/>
            <a:ext cx="122940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000" spc="-1" strike="noStrike">
                <a:solidFill>
                  <a:srgbClr val="000000"/>
                </a:solidFill>
                <a:latin typeface="Arial"/>
                <a:ea typeface="Arial"/>
              </a:rPr>
              <a:t>Immune Profiling</a:t>
            </a:r>
            <a:endParaRPr b="0" lang="en-US" sz="1000" spc="-1" strike="noStrike">
              <a:latin typeface="Arial"/>
            </a:endParaRPr>
          </a:p>
        </p:txBody>
      </p:sp>
      <p:sp>
        <p:nvSpPr>
          <p:cNvPr id="638" name="Google Shape;658;p18"/>
          <p:cNvSpPr/>
          <p:nvPr/>
        </p:nvSpPr>
        <p:spPr>
          <a:xfrm>
            <a:off x="-39240" y="8733960"/>
            <a:ext cx="120708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Immune Celltypes</a:t>
            </a:r>
            <a:endParaRPr b="0" lang="en-US" sz="1000" spc="-1" strike="noStrike">
              <a:latin typeface="Arial"/>
            </a:endParaRPr>
          </a:p>
        </p:txBody>
      </p:sp>
      <p:sp>
        <p:nvSpPr>
          <p:cNvPr id="639" name="Google Shape;659;p18"/>
          <p:cNvSpPr/>
          <p:nvPr/>
        </p:nvSpPr>
        <p:spPr>
          <a:xfrm>
            <a:off x="929160" y="7115760"/>
            <a:ext cx="236880" cy="276480"/>
          </a:xfrm>
          <a:prstGeom prst="rect">
            <a:avLst/>
          </a:prstGeom>
          <a:blipFill rotWithShape="0">
            <a:blip r:embed="rId6"/>
            <a:srcRect/>
            <a:stretch/>
          </a:blipFill>
          <a:ln w="0">
            <a:noFill/>
          </a:ln>
        </p:spPr>
        <p:style>
          <a:lnRef idx="0"/>
          <a:fillRef idx="0"/>
          <a:effectRef idx="0"/>
          <a:fontRef idx="minor"/>
        </p:style>
        <p:txBody>
          <a:bodyPr anchor="t">
            <a:noAutofit/>
          </a:bodyPr>
          <a:p>
            <a:pPr>
              <a:lnSpc>
                <a:spcPct val="100000"/>
              </a:lnSpc>
              <a:buNone/>
              <a:tabLst>
                <a:tab algn="l" pos="0"/>
              </a:tabLst>
            </a:pPr>
            <a:r>
              <a:rPr b="0" lang="en-US" sz="1800" spc="-1" strike="noStrike">
                <a:solidFill>
                  <a:srgbClr val="000000"/>
                </a:solidFill>
                <a:latin typeface="Arial"/>
                <a:ea typeface="Arial"/>
              </a:rPr>
              <a:t> </a:t>
            </a:r>
            <a:endParaRPr b="0" lang="en-US" sz="1800" spc="-1" strike="noStrike">
              <a:latin typeface="Arial"/>
            </a:endParaRPr>
          </a:p>
        </p:txBody>
      </p:sp>
      <p:sp>
        <p:nvSpPr>
          <p:cNvPr id="640" name="Google Shape;660;p18"/>
          <p:cNvSpPr/>
          <p:nvPr/>
        </p:nvSpPr>
        <p:spPr>
          <a:xfrm>
            <a:off x="1579320" y="7228080"/>
            <a:ext cx="1360080" cy="825480"/>
          </a:xfrm>
          <a:custGeom>
            <a:avLst/>
            <a:gdLst/>
            <a:ahLst/>
            <a:rect l="l" t="t" r="r" b="b"/>
            <a:pathLst>
              <a:path w="21600" h="21600">
                <a:moveTo>
                  <a:pt x="0" y="0"/>
                </a:moveTo>
                <a:lnTo>
                  <a:pt x="21600" y="21600"/>
                </a:lnTo>
              </a:path>
            </a:pathLst>
          </a:custGeom>
          <a:noFill/>
          <a:ln w="9525">
            <a:solidFill>
              <a:srgbClr val="000000"/>
            </a:solidFill>
            <a:round/>
            <a:tailEnd len="med" type="triangle" w="med"/>
          </a:ln>
        </p:spPr>
        <p:style>
          <a:lnRef idx="0"/>
          <a:fillRef idx="0"/>
          <a:effectRef idx="0"/>
          <a:fontRef idx="minor"/>
        </p:style>
      </p:sp>
      <p:sp>
        <p:nvSpPr>
          <p:cNvPr id="641" name="Google Shape;661;p18"/>
          <p:cNvSpPr/>
          <p:nvPr/>
        </p:nvSpPr>
        <p:spPr>
          <a:xfrm rot="1810200">
            <a:off x="1771200" y="7473240"/>
            <a:ext cx="1141560" cy="39564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De-convolution</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MCPcounter</a:t>
            </a:r>
            <a:endParaRPr b="0" lang="en-US" sz="1000" spc="-1" strike="noStrike">
              <a:latin typeface="Arial"/>
            </a:endParaRPr>
          </a:p>
        </p:txBody>
      </p:sp>
      <p:graphicFrame>
        <p:nvGraphicFramePr>
          <p:cNvPr id="642" name="Google Shape;662;p18"/>
          <p:cNvGraphicFramePr/>
          <p:nvPr/>
        </p:nvGraphicFramePr>
        <p:xfrm>
          <a:off x="3131640" y="8160840"/>
          <a:ext cx="1986480" cy="101160"/>
        </p:xfrm>
        <a:graphic>
          <a:graphicData uri="http://schemas.openxmlformats.org/drawingml/2006/table">
            <a:tbl>
              <a:tblPr/>
              <a:tblGrid>
                <a:gridCol w="370080"/>
                <a:gridCol w="403920"/>
                <a:gridCol w="403920"/>
                <a:gridCol w="403920"/>
                <a:gridCol w="40464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4bacc6">
                        <a:alpha val="50000"/>
                      </a:srgbClr>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4bacc6">
                        <a:alpha val="50000"/>
                      </a:srgbClr>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4bacc6">
                        <a:alpha val="50000"/>
                      </a:srgbClr>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a5d5e2"/>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4bacc6">
                        <a:alpha val="50000"/>
                      </a:srgbClr>
                    </a:solidFill>
                  </a:tcPr>
                </a:tc>
              </a:tr>
            </a:tbl>
          </a:graphicData>
        </a:graphic>
      </p:graphicFrame>
      <p:sp>
        <p:nvSpPr>
          <p:cNvPr id="643" name="Google Shape;663;p18"/>
          <p:cNvSpPr/>
          <p:nvPr/>
        </p:nvSpPr>
        <p:spPr>
          <a:xfrm>
            <a:off x="3271680" y="8227440"/>
            <a:ext cx="146340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Immune Cell Fractions</a:t>
            </a:r>
            <a:endParaRPr b="0" lang="en-US" sz="1000" spc="-1" strike="noStrike">
              <a:latin typeface="Arial"/>
            </a:endParaRPr>
          </a:p>
        </p:txBody>
      </p:sp>
      <p:sp>
        <p:nvSpPr>
          <p:cNvPr id="644" name="Google Shape;664;p18"/>
          <p:cNvSpPr/>
          <p:nvPr/>
        </p:nvSpPr>
        <p:spPr>
          <a:xfrm flipH="1" rot="10800000">
            <a:off x="1573200" y="6435720"/>
            <a:ext cx="1414440" cy="765000"/>
          </a:xfrm>
          <a:custGeom>
            <a:avLst/>
            <a:gdLst/>
            <a:ahLst/>
            <a:rect l="l" t="t" r="r" b="b"/>
            <a:pathLst>
              <a:path w="21600" h="21600">
                <a:moveTo>
                  <a:pt x="0" y="0"/>
                </a:moveTo>
                <a:lnTo>
                  <a:pt x="21600" y="21600"/>
                </a:lnTo>
              </a:path>
            </a:pathLst>
          </a:custGeom>
          <a:noFill/>
          <a:ln w="9525">
            <a:solidFill>
              <a:srgbClr val="000000"/>
            </a:solidFill>
            <a:round/>
            <a:tailEnd len="med" type="triangle" w="med"/>
          </a:ln>
        </p:spPr>
        <p:style>
          <a:lnRef idx="0"/>
          <a:fillRef idx="0"/>
          <a:effectRef idx="0"/>
          <a:fontRef idx="minor"/>
        </p:style>
      </p:sp>
      <p:sp>
        <p:nvSpPr>
          <p:cNvPr id="645" name="Google Shape;665;p18"/>
          <p:cNvSpPr/>
          <p:nvPr/>
        </p:nvSpPr>
        <p:spPr>
          <a:xfrm rot="19855200">
            <a:off x="1794240" y="6612120"/>
            <a:ext cx="1027440" cy="39564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Thorsson et al,</a:t>
            </a:r>
            <a:endParaRPr b="0" lang="en-US" sz="1000" spc="-1" strike="noStrike">
              <a:latin typeface="Arial"/>
            </a:endParaRPr>
          </a:p>
          <a:p>
            <a:pPr>
              <a:lnSpc>
                <a:spcPct val="100000"/>
              </a:lnSpc>
              <a:buNone/>
              <a:tabLst>
                <a:tab algn="l" pos="0"/>
              </a:tabLst>
            </a:pPr>
            <a:r>
              <a:rPr b="0" lang="en-US" sz="1000" spc="-1" strike="noStrike">
                <a:solidFill>
                  <a:srgbClr val="000000"/>
                </a:solidFill>
                <a:latin typeface="Arial"/>
                <a:ea typeface="Arial"/>
              </a:rPr>
              <a:t>Immunity 2018</a:t>
            </a:r>
            <a:endParaRPr b="0" lang="en-US" sz="1000" spc="-1" strike="noStrike">
              <a:latin typeface="Arial"/>
            </a:endParaRPr>
          </a:p>
        </p:txBody>
      </p:sp>
      <p:sp>
        <p:nvSpPr>
          <p:cNvPr id="646" name="Google Shape;666;p18"/>
          <p:cNvSpPr/>
          <p:nvPr/>
        </p:nvSpPr>
        <p:spPr>
          <a:xfrm>
            <a:off x="3231720" y="6435000"/>
            <a:ext cx="1009080" cy="360"/>
          </a:xfrm>
          <a:custGeom>
            <a:avLst/>
            <a:gdLst/>
            <a:ahLst/>
            <a:rect l="l" t="t" r="r" b="b"/>
            <a:pathLst>
              <a:path w="21600" h="21600">
                <a:moveTo>
                  <a:pt x="0" y="0"/>
                </a:moveTo>
                <a:lnTo>
                  <a:pt x="21600" y="21600"/>
                </a:lnTo>
              </a:path>
            </a:pathLst>
          </a:custGeom>
          <a:noFill/>
          <a:ln w="9525">
            <a:solidFill>
              <a:srgbClr val="000000"/>
            </a:solidFill>
            <a:round/>
            <a:tailEnd len="med" type="triangle" w="med"/>
          </a:ln>
        </p:spPr>
        <p:style>
          <a:lnRef idx="0"/>
          <a:fillRef idx="0"/>
          <a:effectRef idx="0"/>
          <a:fontRef idx="minor"/>
        </p:style>
      </p:sp>
      <p:sp>
        <p:nvSpPr>
          <p:cNvPr id="647" name="Google Shape;667;p18"/>
          <p:cNvSpPr/>
          <p:nvPr/>
        </p:nvSpPr>
        <p:spPr>
          <a:xfrm>
            <a:off x="3319920" y="6401880"/>
            <a:ext cx="71640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SSGSEA</a:t>
            </a:r>
            <a:endParaRPr b="0" lang="en-US" sz="1000" spc="-1" strike="noStrike">
              <a:latin typeface="Arial"/>
            </a:endParaRPr>
          </a:p>
        </p:txBody>
      </p:sp>
      <p:graphicFrame>
        <p:nvGraphicFramePr>
          <p:cNvPr id="648" name="Google Shape;668;p18"/>
          <p:cNvGraphicFramePr/>
          <p:nvPr/>
        </p:nvGraphicFramePr>
        <p:xfrm>
          <a:off x="4427280" y="6394680"/>
          <a:ext cx="1973520" cy="101160"/>
        </p:xfrm>
        <a:graphic>
          <a:graphicData uri="http://schemas.openxmlformats.org/drawingml/2006/table">
            <a:tbl>
              <a:tblPr/>
              <a:tblGrid>
                <a:gridCol w="367560"/>
                <a:gridCol w="401400"/>
                <a:gridCol w="401400"/>
                <a:gridCol w="401400"/>
                <a:gridCol w="401760"/>
              </a:tblGrid>
              <a:tr h="101520">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98c2cd"/>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98c2cd"/>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98c2cd"/>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98c2cd"/>
                    </a:solidFill>
                  </a:tcPr>
                </a:tc>
                <a:tc>
                  <a:tcPr anchor="t" marL="91440" marR="91440">
                    <a:lnL w="12240">
                      <a:solidFill>
                        <a:srgbClr val="000000"/>
                      </a:solidFill>
                    </a:lnL>
                    <a:lnR w="12240">
                      <a:solidFill>
                        <a:srgbClr val="000000"/>
                      </a:solidFill>
                    </a:lnR>
                    <a:lnT w="12240">
                      <a:solidFill>
                        <a:srgbClr val="000000"/>
                      </a:solidFill>
                    </a:lnT>
                    <a:lnB w="12240">
                      <a:solidFill>
                        <a:srgbClr val="000000"/>
                      </a:solidFill>
                    </a:lnB>
                    <a:solidFill>
                      <a:srgbClr val="98c2cd"/>
                    </a:solidFill>
                  </a:tcPr>
                </a:tc>
              </a:tr>
            </a:tbl>
          </a:graphicData>
        </a:graphic>
      </p:graphicFrame>
      <p:sp>
        <p:nvSpPr>
          <p:cNvPr id="649" name="Google Shape;669;p18"/>
          <p:cNvSpPr/>
          <p:nvPr/>
        </p:nvSpPr>
        <p:spPr>
          <a:xfrm>
            <a:off x="4590360" y="6439680"/>
            <a:ext cx="1554840" cy="24336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0" lang="en-US" sz="1000" spc="-1" strike="noStrike">
                <a:solidFill>
                  <a:srgbClr val="000000"/>
                </a:solidFill>
                <a:latin typeface="Arial"/>
                <a:ea typeface="Arial"/>
              </a:rPr>
              <a:t>Immune Cell Activations</a:t>
            </a:r>
            <a:endParaRPr b="0" lang="en-US" sz="1000" spc="-1" strike="noStrike">
              <a:latin typeface="Arial"/>
            </a:endParaRPr>
          </a:p>
        </p:txBody>
      </p:sp>
      <p:sp>
        <p:nvSpPr>
          <p:cNvPr id="650" name="Google Shape;670;p18"/>
          <p:cNvSpPr/>
          <p:nvPr/>
        </p:nvSpPr>
        <p:spPr>
          <a:xfrm>
            <a:off x="-2880" y="5671440"/>
            <a:ext cx="314280" cy="304200"/>
          </a:xfrm>
          <a:prstGeom prst="rect">
            <a:avLst/>
          </a:prstGeom>
          <a:noFill/>
          <a:ln w="0">
            <a:noFill/>
          </a:ln>
        </p:spPr>
        <p:style>
          <a:lnRef idx="0"/>
          <a:fillRef idx="0"/>
          <a:effectRef idx="0"/>
          <a:fontRef idx="minor"/>
        </p:style>
        <p:txBody>
          <a:bodyPr anchor="t">
            <a:spAutoFit/>
          </a:bodyPr>
          <a:p>
            <a:pPr>
              <a:lnSpc>
                <a:spcPct val="100000"/>
              </a:lnSpc>
              <a:buNone/>
              <a:tabLst>
                <a:tab algn="l" pos="0"/>
              </a:tabLst>
            </a:pPr>
            <a:r>
              <a:rPr b="1" lang="en-US" sz="1400" spc="-1" strike="noStrike">
                <a:solidFill>
                  <a:srgbClr val="000000"/>
                </a:solidFill>
                <a:latin typeface="Arial"/>
                <a:ea typeface="Arial"/>
              </a:rPr>
              <a:t>C</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51" name="Google Shape;676;p19" descr=""/>
          <p:cNvPicPr/>
          <p:nvPr/>
        </p:nvPicPr>
        <p:blipFill>
          <a:blip r:embed="rId1"/>
          <a:stretch/>
        </p:blipFill>
        <p:spPr>
          <a:xfrm>
            <a:off x="0" y="134640"/>
            <a:ext cx="6857640" cy="8874720"/>
          </a:xfrm>
          <a:prstGeom prst="rect">
            <a:avLst/>
          </a:prstGeom>
          <a:ln w="0">
            <a:noFill/>
          </a:ln>
        </p:spPr>
      </p:pic>
      <p:sp>
        <p:nvSpPr>
          <p:cNvPr id="652" name="Google Shape;677;p19"/>
          <p:cNvSpPr/>
          <p:nvPr/>
        </p:nvSpPr>
        <p:spPr>
          <a:xfrm>
            <a:off x="627120" y="134640"/>
            <a:ext cx="5603400" cy="304200"/>
          </a:xfrm>
          <a:prstGeom prst="rect">
            <a:avLst/>
          </a:prstGeom>
          <a:noFill/>
          <a:ln w="0">
            <a:noFill/>
          </a:ln>
        </p:spPr>
        <p:style>
          <a:lnRef idx="0"/>
          <a:fillRef idx="0"/>
          <a:effectRef idx="0"/>
          <a:fontRef idx="minor"/>
        </p:style>
        <p:txBody>
          <a:bodyPr anchor="t">
            <a:spAutoFit/>
          </a:bodyPr>
          <a:p>
            <a:pPr algn="ctr">
              <a:lnSpc>
                <a:spcPct val="100000"/>
              </a:lnSpc>
              <a:buNone/>
              <a:tabLst>
                <a:tab algn="l" pos="0"/>
              </a:tabLst>
            </a:pPr>
            <a:r>
              <a:rPr b="1" lang="en-US" sz="1400" spc="-1" strike="noStrike">
                <a:solidFill>
                  <a:srgbClr val="ff0000"/>
                </a:solidFill>
                <a:latin typeface="Arial"/>
                <a:ea typeface="Arial"/>
              </a:rPr>
              <a:t>Research Article Checklist should be placed after presentation</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10</TotalTime>
  <Application>LibreOffice/7.3.7.2$Linux_X86_64 LibreOffice_project/30$Build-2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2020-05-30T15:26:25Z</dcterms:created>
  <dc:creator>Microsoft Office User</dc:creator>
  <dc:description/>
  <dc:language>en-US</dc:language>
  <cp:lastModifiedBy/>
  <dcterms:modified xsi:type="dcterms:W3CDTF">2025-05-11T19:28:19Z</dcterms:modified>
  <cp:revision>2</cp:revision>
  <dc:subject/>
  <dc:title/>
</cp:coreProperties>
</file>